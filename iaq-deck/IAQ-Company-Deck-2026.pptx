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embeddedFontLst>
    <p:embeddedFont>
      <p:font typeface="League Spartan" pitchFamily="34" charset="0"/>
      <p:regular r:id="rId74"/>
    </p:embeddedFont>
    <p:embeddedFont>
      <p:font typeface="League Spartan Medium" pitchFamily="34" charset="0"/>
      <p:regular r:id="rId75"/>
    </p:embeddedFont>
    <p:embeddedFont>
      <p:font typeface="League Spartan SemiBold" pitchFamily="34" charset="0"/>
      <p:regular r:id="rId76"/>
    </p:embeddedFont>
    <p:embeddedFont>
      <p:font typeface="Poppins Medium" pitchFamily="34" charset="0"/>
      <p:regular r:id="rId77"/>
    </p:embeddedFont>
    <p:embeddedFont>
      <p:font typeface="Poppins SemiBold" pitchFamily="34" charset="0"/>
      <p:regular r:id="rId78"/>
    </p:embeddedFont>
    <p:embeddedFont>
      <p:font typeface="Poppins" pitchFamily="34" charset="0"/>
      <p:bold r:id="rId79"/>
    </p:embeddedFont>
    <p:embeddedFont>
      <p:font typeface="Urbanist" pitchFamily="34" charset="0"/>
      <p:regular r:id="rId80"/>
    </p:embeddedFont>
    <p:embeddedFont>
      <p:font typeface="Urbanist Medium" pitchFamily="34" charset="0"/>
      <p:regular r:id="rId81"/>
    </p:embeddedFont>
    <p:embeddedFont>
      <p:font typeface="Urbanist SemiBold" pitchFamily="34" charset="0"/>
      <p:regular r:id="rId8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font" Target="fonts/font74.fntdata"/><Relationship Id="rId75" Type="http://schemas.openxmlformats.org/officeDocument/2006/relationships/font" Target="fonts/font75.fntdata"/><Relationship Id="rId76" Type="http://schemas.openxmlformats.org/officeDocument/2006/relationships/font" Target="fonts/font76.fntdata"/><Relationship Id="rId77" Type="http://schemas.openxmlformats.org/officeDocument/2006/relationships/font" Target="fonts/font77.fntdata"/><Relationship Id="rId78" Type="http://schemas.openxmlformats.org/officeDocument/2006/relationships/font" Target="fonts/font78.fntdata"/><Relationship Id="rId79" Type="http://schemas.openxmlformats.org/officeDocument/2006/relationships/font" Target="fonts/font79.fntdata"/><Relationship Id="rId80" Type="http://schemas.openxmlformats.org/officeDocument/2006/relationships/font" Target="fonts/font80.fntdata"/><Relationship Id="rId81" Type="http://schemas.openxmlformats.org/officeDocument/2006/relationships/font" Target="fonts/font81.fntdata"/><Relationship Id="rId82" Type="http://schemas.openxmlformats.org/officeDocument/2006/relationships/font" Target="fonts/font8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7.jpg"/><Relationship Id="rId4" Type="http://schemas.openxmlformats.org/officeDocument/2006/relationships/image" Target="../media/image38.png"/><Relationship Id="rId5" Type="http://schemas.openxmlformats.org/officeDocument/2006/relationships/image" Target="../media/image39.jpg"/><Relationship Id="rId6" Type="http://schemas.openxmlformats.org/officeDocument/2006/relationships/image" Target="../media/image40.png"/><Relationship Id="rId7" Type="http://schemas.openxmlformats.org/officeDocument/2006/relationships/image" Target="../media/image41.jpg"/><Relationship Id="rId8" Type="http://schemas.openxmlformats.org/officeDocument/2006/relationships/image" Target="../media/image42.png"/><Relationship Id="rId9" Type="http://schemas.openxmlformats.org/officeDocument/2006/relationships/image" Target="../media/image43.jpg"/><Relationship Id="rId10" Type="http://schemas.openxmlformats.org/officeDocument/2006/relationships/image" Target="../media/image44.png"/><Relationship Id="rId11" Type="http://schemas.openxmlformats.org/officeDocument/2006/relationships/image" Target="../media/image45.jpg"/><Relationship Id="rId12" Type="http://schemas.openxmlformats.org/officeDocument/2006/relationships/image" Target="../media/image46.png"/><Relationship Id="rId13" Type="http://schemas.openxmlformats.org/officeDocument/2006/relationships/image" Target="../media/image47.jpg"/><Relationship Id="rId14" Type="http://schemas.openxmlformats.org/officeDocument/2006/relationships/image" Target="../media/image4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9.jpg"/><Relationship Id="rId4" Type="http://schemas.openxmlformats.org/officeDocument/2006/relationships/image" Target="../media/image50.jpg"/><Relationship Id="rId5" Type="http://schemas.openxmlformats.org/officeDocument/2006/relationships/image" Target="../media/image5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Relationship Id="rId11" Type="http://schemas.openxmlformats.org/officeDocument/2006/relationships/image" Target="../media/image60.png"/><Relationship Id="rId12" Type="http://schemas.openxmlformats.org/officeDocument/2006/relationships/image" Target="../media/image6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Relationship Id="rId15" Type="http://schemas.openxmlformats.org/officeDocument/2006/relationships/image" Target="../media/image6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5.jpg"/><Relationship Id="rId4" Type="http://schemas.openxmlformats.org/officeDocument/2006/relationships/image" Target="../media/image66.png"/><Relationship Id="rId5" Type="http://schemas.openxmlformats.org/officeDocument/2006/relationships/image" Target="../media/image67.jpg"/><Relationship Id="rId6" Type="http://schemas.openxmlformats.org/officeDocument/2006/relationships/image" Target="../media/image68.png"/><Relationship Id="rId7" Type="http://schemas.openxmlformats.org/officeDocument/2006/relationships/image" Target="../media/image69.jpg"/><Relationship Id="rId8" Type="http://schemas.openxmlformats.org/officeDocument/2006/relationships/image" Target="../media/image70.png"/><Relationship Id="rId9" Type="http://schemas.openxmlformats.org/officeDocument/2006/relationships/image" Target="../media/image71.jpg"/><Relationship Id="rId10" Type="http://schemas.openxmlformats.org/officeDocument/2006/relationships/image" Target="../media/image72.png"/><Relationship Id="rId11" Type="http://schemas.openxmlformats.org/officeDocument/2006/relationships/image" Target="../media/image73.jpg"/><Relationship Id="rId12" Type="http://schemas.openxmlformats.org/officeDocument/2006/relationships/image" Target="../media/image74.png"/><Relationship Id="rId13" Type="http://schemas.openxmlformats.org/officeDocument/2006/relationships/image" Target="../media/image75.jpg"/><Relationship Id="rId14" Type="http://schemas.openxmlformats.org/officeDocument/2006/relationships/image" Target="../media/image76.png"/><Relationship Id="rId15" Type="http://schemas.openxmlformats.org/officeDocument/2006/relationships/image" Target="../media/image77.jpg"/><Relationship Id="rId16" Type="http://schemas.openxmlformats.org/officeDocument/2006/relationships/image" Target="../media/image78.png"/><Relationship Id="rId17" Type="http://schemas.openxmlformats.org/officeDocument/2006/relationships/image" Target="../media/image7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1.jpg"/><Relationship Id="rId4" Type="http://schemas.openxmlformats.org/officeDocument/2006/relationships/image" Target="../media/image82.jpg"/><Relationship Id="rId5" Type="http://schemas.openxmlformats.org/officeDocument/2006/relationships/image" Target="../media/image8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5.jpg"/><Relationship Id="rId4" Type="http://schemas.openxmlformats.org/officeDocument/2006/relationships/image" Target="../media/image8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7.jpg"/><Relationship Id="rId4" Type="http://schemas.openxmlformats.org/officeDocument/2006/relationships/image" Target="../media/image6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9.jpg"/><Relationship Id="rId4" Type="http://schemas.openxmlformats.org/officeDocument/2006/relationships/image" Target="../media/image8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9.jpg"/><Relationship Id="rId4" Type="http://schemas.openxmlformats.org/officeDocument/2006/relationships/image" Target="../media/image9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1.jpg"/><Relationship Id="rId4" Type="http://schemas.openxmlformats.org/officeDocument/2006/relationships/image" Target="../media/image9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3.jpg"/><Relationship Id="rId4" Type="http://schemas.openxmlformats.org/officeDocument/2006/relationships/image" Target="../media/image9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4.jpg"/><Relationship Id="rId4" Type="http://schemas.openxmlformats.org/officeDocument/2006/relationships/image" Target="../media/image7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1.jpg"/><Relationship Id="rId4" Type="http://schemas.openxmlformats.org/officeDocument/2006/relationships/image" Target="../media/image9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6.jpg"/><Relationship Id="rId4" Type="http://schemas.openxmlformats.org/officeDocument/2006/relationships/image" Target="../media/image9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8.jpg"/><Relationship Id="rId4" Type="http://schemas.openxmlformats.org/officeDocument/2006/relationships/image" Target="../media/image9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0.jpg"/><Relationship Id="rId4" Type="http://schemas.openxmlformats.org/officeDocument/2006/relationships/image" Target="../media/image10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2.jpg"/><Relationship Id="rId4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4.jpg"/><Relationship Id="rId4" Type="http://schemas.openxmlformats.org/officeDocument/2006/relationships/image" Target="../media/image10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6.jpg"/><Relationship Id="rId4" Type="http://schemas.openxmlformats.org/officeDocument/2006/relationships/image" Target="../media/image10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8.jpg"/><Relationship Id="rId4" Type="http://schemas.openxmlformats.org/officeDocument/2006/relationships/image" Target="../media/image10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0.jpg"/><Relationship Id="rId4" Type="http://schemas.openxmlformats.org/officeDocument/2006/relationships/image" Target="../media/image11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2.jpg"/><Relationship Id="rId4" Type="http://schemas.openxmlformats.org/officeDocument/2006/relationships/image" Target="../media/image11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4.jpg"/><Relationship Id="rId4" Type="http://schemas.openxmlformats.org/officeDocument/2006/relationships/image" Target="../media/image11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6.jpg"/><Relationship Id="rId4" Type="http://schemas.openxmlformats.org/officeDocument/2006/relationships/image" Target="../media/image11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8.jpg"/><Relationship Id="rId4" Type="http://schemas.openxmlformats.org/officeDocument/2006/relationships/image" Target="../media/image119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0.jpg"/><Relationship Id="rId4" Type="http://schemas.openxmlformats.org/officeDocument/2006/relationships/image" Target="../media/image12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2.jpg"/><Relationship Id="rId4" Type="http://schemas.openxmlformats.org/officeDocument/2006/relationships/image" Target="../media/image123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4.jpg"/><Relationship Id="rId4" Type="http://schemas.openxmlformats.org/officeDocument/2006/relationships/image" Target="../media/image12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6.jpg"/><Relationship Id="rId4" Type="http://schemas.openxmlformats.org/officeDocument/2006/relationships/image" Target="../media/image127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8.jpg"/><Relationship Id="rId4" Type="http://schemas.openxmlformats.org/officeDocument/2006/relationships/image" Target="../media/image12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0.jpg"/><Relationship Id="rId4" Type="http://schemas.openxmlformats.org/officeDocument/2006/relationships/image" Target="../media/image13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2.jpg"/><Relationship Id="rId4" Type="http://schemas.openxmlformats.org/officeDocument/2006/relationships/image" Target="../media/image133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4.jpg"/><Relationship Id="rId4" Type="http://schemas.openxmlformats.org/officeDocument/2006/relationships/image" Target="../media/image135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6.jpg"/><Relationship Id="rId4" Type="http://schemas.openxmlformats.org/officeDocument/2006/relationships/image" Target="../media/image137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8.jpg"/><Relationship Id="rId4" Type="http://schemas.openxmlformats.org/officeDocument/2006/relationships/image" Target="../media/image13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0.jpg"/><Relationship Id="rId4" Type="http://schemas.openxmlformats.org/officeDocument/2006/relationships/image" Target="../media/image14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2.jpg"/><Relationship Id="rId4" Type="http://schemas.openxmlformats.org/officeDocument/2006/relationships/image" Target="../media/image143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4.jpg"/><Relationship Id="rId4" Type="http://schemas.openxmlformats.org/officeDocument/2006/relationships/image" Target="../media/image145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6.jpg"/><Relationship Id="rId4" Type="http://schemas.openxmlformats.org/officeDocument/2006/relationships/image" Target="../media/image147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8.jpg"/><Relationship Id="rId4" Type="http://schemas.openxmlformats.org/officeDocument/2006/relationships/image" Target="../media/image149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0.jpg"/><Relationship Id="rId4" Type="http://schemas.openxmlformats.org/officeDocument/2006/relationships/image" Target="../media/image1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2.jpg"/><Relationship Id="rId4" Type="http://schemas.openxmlformats.org/officeDocument/2006/relationships/image" Target="../media/image15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4.jpg"/><Relationship Id="rId4" Type="http://schemas.openxmlformats.org/officeDocument/2006/relationships/image" Target="../media/image155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6.jpg"/><Relationship Id="rId4" Type="http://schemas.openxmlformats.org/officeDocument/2006/relationships/image" Target="../media/image157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8.jpg"/><Relationship Id="rId4" Type="http://schemas.openxmlformats.org/officeDocument/2006/relationships/image" Target="../media/image159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0.jpg"/><Relationship Id="rId4" Type="http://schemas.openxmlformats.org/officeDocument/2006/relationships/image" Target="../media/image16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2.jpg"/><Relationship Id="rId4" Type="http://schemas.openxmlformats.org/officeDocument/2006/relationships/image" Target="../media/image163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4.jpg"/><Relationship Id="rId4" Type="http://schemas.openxmlformats.org/officeDocument/2006/relationships/image" Target="../media/image165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6.jpg"/><Relationship Id="rId4" Type="http://schemas.openxmlformats.org/officeDocument/2006/relationships/image" Target="../media/image167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8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0.jpg"/><Relationship Id="rId4" Type="http://schemas.openxmlformats.org/officeDocument/2006/relationships/image" Target="../media/image171.jpg"/><Relationship Id="rId5" Type="http://schemas.openxmlformats.org/officeDocument/2006/relationships/image" Target="../media/image17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3.jpg"/><Relationship Id="rId4" Type="http://schemas.openxmlformats.org/officeDocument/2006/relationships/image" Target="../media/image174.jpg"/><Relationship Id="rId5" Type="http://schemas.openxmlformats.org/officeDocument/2006/relationships/image" Target="../media/image175.jpg"/><Relationship Id="rId6" Type="http://schemas.openxmlformats.org/officeDocument/2006/relationships/image" Target="../media/image17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jpg"/><Relationship Id="rId3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8.jpg"/><Relationship Id="rId4" Type="http://schemas.openxmlformats.org/officeDocument/2006/relationships/image" Target="../media/image179.png"/><Relationship Id="rId5" Type="http://schemas.openxmlformats.org/officeDocument/2006/relationships/image" Target="../media/image180.png"/><Relationship Id="rId6" Type="http://schemas.openxmlformats.org/officeDocument/2006/relationships/image" Target="../media/image181.png"/><Relationship Id="rId7" Type="http://schemas.openxmlformats.org/officeDocument/2006/relationships/image" Target="../media/image182.png"/><Relationship Id="rId8" Type="http://schemas.openxmlformats.org/officeDocument/2006/relationships/image" Target="../media/image183.png"/><Relationship Id="rId9" Type="http://schemas.openxmlformats.org/officeDocument/2006/relationships/image" Target="../media/image184.png"/><Relationship Id="rId10" Type="http://schemas.openxmlformats.org/officeDocument/2006/relationships/image" Target="../media/image18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6.png"/><Relationship Id="rId4" Type="http://schemas.openxmlformats.org/officeDocument/2006/relationships/image" Target="../media/image187.png"/><Relationship Id="rId5" Type="http://schemas.openxmlformats.org/officeDocument/2006/relationships/image" Target="../media/image188.png"/><Relationship Id="rId6" Type="http://schemas.openxmlformats.org/officeDocument/2006/relationships/image" Target="../media/image189.png"/><Relationship Id="rId7" Type="http://schemas.openxmlformats.org/officeDocument/2006/relationships/image" Target="../media/image190.png"/><Relationship Id="rId8" Type="http://schemas.openxmlformats.org/officeDocument/2006/relationships/image" Target="../media/image19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76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228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3048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3810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4572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5334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096000"/>
            <a:ext cx="4445000" cy="9525"/>
          </a:xfrm>
          <a:prstGeom prst="rect">
            <a:avLst/>
          </a:prstGeom>
          <a:solidFill>
            <a:srgbClr val="FFFFFF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cover-site.jpg"/>
          <p:cNvPicPr>
            <a:picLocks noChangeAspect="1"/>
          </p:cNvPicPr>
          <p:nvPr/>
        </p:nvPicPr>
        <p:blipFill>
          <a:blip r:embed="rId2"/>
          <a:srcRect t="4121" b="4121"/>
          <a:stretch>
            <a:fillRect/>
          </a:stretch>
        </p:blipFill>
        <p:spPr>
          <a:xfrm>
            <a:off x="4445000" y="0"/>
            <a:ext cx="7747000" cy="6858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9600" y="304800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60400"/>
            <a:ext cx="383540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38900"/>
            <a:ext cx="20216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62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PRESENTATION SLIDE · EDITION 2026</a:t>
            </a:r>
          </a:p>
        </p:txBody>
      </p:sp>
      <p:pic>
        <p:nvPicPr>
          <p:cNvPr id="26" name="Picture 25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117600"/>
            <a:ext cx="1905000" cy="952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9600" y="2920308"/>
            <a:ext cx="648989" cy="1035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0" b="1" i="0" spc="-29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889" y="3385147"/>
            <a:ext cx="833539" cy="2939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years of delivery</a:t>
            </a:r>
          </a:p>
          <a:p>
            <a:pPr algn="l">
              <a:lnSpc>
                <a:spcPts val="1215"/>
              </a:lnSpc>
            </a:pPr>
            <a:r>
              <a:rPr sz="9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since 1995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3966769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1" i="0" spc="-4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Engineering the facilities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245572"/>
            <a:ext cx="350520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800" b="0" i="0" spc="-40">
                <a:solidFill>
                  <a:srgbClr val="E7EBF0"/>
                </a:solidFill>
                <a:latin typeface="Poppins Medium"/>
                <a:ea typeface="Poppins Medium"/>
                <a:cs typeface="Poppins Medium"/>
              </a:rPr>
              <a:t>advanced industry runs 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775" y="4718050"/>
            <a:ext cx="33724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4778375"/>
            <a:ext cx="34359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EPC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6217" y="4718050"/>
            <a:ext cx="2305545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042" y="4778375"/>
            <a:ext cx="2311895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Process Critical Utilities &amp; Total Tool Installation Solutions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775" y="5026025"/>
            <a:ext cx="981272" cy="231775"/>
          </a:xfrm>
          <a:prstGeom prst="rect">
            <a:avLst/>
          </a:prstGeom>
          <a:noFill/>
          <a:ln w="635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086350"/>
            <a:ext cx="987622" cy="101600"/>
          </a:xfrm>
          <a:prstGeom prst="rect">
            <a:avLst/>
          </a:prstGeom>
          <a:noFill/>
        </p:spPr>
        <p:txBody>
          <a:bodyPr wrap="none" lIns="88900" rIns="88900" tIns="0" bIns="0" anchor="ctr">
            <a:noAutofit/>
          </a:bodyPr>
          <a:lstStyle/>
          <a:p>
            <a:pPr algn="l"/>
            <a:r>
              <a:rPr sz="68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Energy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413375"/>
            <a:ext cx="3505200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For cleanroom critical industries: semiconductor, data centre, EV battery, pharmaceutical and energy.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861050"/>
            <a:ext cx="35052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969000"/>
            <a:ext cx="35052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6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ISO 9001 · ISO 14001 · ISO 45001 · CIDB G7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parts. Every section is numbered, named and opens with a one-line summary.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1925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817" y="1682750"/>
            <a:ext cx="304621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817" y="1907781"/>
            <a:ext cx="304621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are, how we are built, and what we deliver.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About IAQ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IAQ at a Glance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400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Milestones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1400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Global Footprint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400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Core Values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Business Units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1400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Delivery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Scope of Services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01.9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1400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Industry Focus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7233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7233" y="161925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25403" y="1682750"/>
            <a:ext cx="298926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25403" y="1907781"/>
            <a:ext cx="2989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work itself, grouped by industry and region.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7233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033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Portfolio Overview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77233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77233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9033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Malaysia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7233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7233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033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Singapore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77233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7233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9033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Data Centre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7233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7233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09033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EV Battery · Europe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77233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77233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033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· Europe &amp; Morocco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77233" y="37603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77233" y="38238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9033" y="38238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Semiconductor &amp; Display · China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77233" y="40080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7233" y="40715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033" y="40715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Photovoltaics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77233" y="42556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77233" y="43191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09033" y="43191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Pharmaceutical &amp; Medical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77233" y="45033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377233" y="45668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033" y="45668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District Cooling &amp; Energy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77233" y="47509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77233" y="48144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02.11+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9033" y="48144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Full Project Reference List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44866" y="2141144"/>
            <a:ext cx="3437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44866" y="161925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03063" y="1682750"/>
            <a:ext cx="2979242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03063" y="1907781"/>
            <a:ext cx="297924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standards every project is held to.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44866" y="23379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76666" y="23379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ESG Commitments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44866" y="25221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44866" y="25856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76666" y="25856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Certifications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44866" y="27697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44866" y="28332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76666" y="28332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Builder of the Year 2024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44866" y="30174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44866" y="30809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76666" y="30809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Safety &amp; Recognition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44866" y="326509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44866" y="332859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76666" y="332859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Closing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44866" y="3512744"/>
            <a:ext cx="3437433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44866" y="3576244"/>
            <a:ext cx="355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65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03.6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76666" y="3576244"/>
            <a:ext cx="30056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Medium"/>
                <a:ea typeface="Urbanist Medium"/>
                <a:cs typeface="Urbanist Medium"/>
              </a:rPr>
              <a:t>Contacts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02 / 67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678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01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The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01.1 TO 01.9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Established 1995 · 31 years in total facility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530+ people across 7 global offices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9001 · ISO 14001 · ISO 45001 certified</a:t>
            </a:r>
          </a:p>
        </p:txBody>
      </p:sp>
      <p:pic>
        <p:nvPicPr>
          <p:cNvPr id="15" name="Picture 14" descr="company-off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03 / 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115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115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2750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About IAQ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Who we are and what we build. The delivery models are in 01.7.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4826000" cy="10372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Established 1995.</a:t>
            </a:r>
          </a:p>
          <a:p>
            <a:pPr algn="l">
              <a:lnSpc>
                <a:spcPts val="2484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A trailblazer in total facility solutions.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94102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Engineering, procurement, construction and maintenance for the industries where contamination, uptime and safety decide the outcome, from semiconductor wafer fabs to gigafactories, data centres and pharmaceutical plants.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80994"/>
            <a:ext cx="4826000" cy="549872"/>
          </a:xfrm>
          <a:prstGeom prst="rect">
            <a:avLst/>
          </a:prstGeom>
          <a:solidFill>
            <a:srgbClr val="101A2B">
              <a:alpha val="43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3633394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3595294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IAQ Technology International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3822598"/>
            <a:ext cx="11176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1200" y="3784498"/>
            <a:ext cx="3314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200001031412 (534019-T)</a:t>
            </a:r>
          </a:p>
        </p:txBody>
      </p:sp>
      <p:pic>
        <p:nvPicPr>
          <p:cNvPr id="17" name="Picture 16" descr="about-facilit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1701800"/>
            <a:ext cx="5981700" cy="299085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09600" y="4857750"/>
            <a:ext cx="48260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vi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5273675"/>
            <a:ext cx="660400" cy="66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12900" y="5306714"/>
            <a:ext cx="36322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2900" y="5583536"/>
            <a:ext cx="36322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To be a regional facility solutions provider with engineering excellence that facilitates technological innovation and advancement in quality of life.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00700" y="4857750"/>
            <a:ext cx="5981700" cy="1492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icon-mi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200" y="5273675"/>
            <a:ext cx="660400" cy="660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04000" y="5306714"/>
            <a:ext cx="4787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Mission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4000" y="5583536"/>
            <a:ext cx="4787900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Providing innovative, sustainable facility and engineering solutions benefitting our clients and stakeholders, driven by our leadership, employees and partners globally.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04 / 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IAQ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company in six numbers, the delivery cycle behind them, and the certifications that stand behind both.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822450" cy="1632744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58092"/>
            <a:ext cx="330200" cy="330200"/>
          </a:xfrm>
          <a:prstGeom prst="ellipse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21a75c4aa5e0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" y="2134292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3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YEARS 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84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81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799ada602348c6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300" y="2134292"/>
            <a:ext cx="177800" cy="177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781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530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1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EMPLOYEES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72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069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87e6c0d13f89a4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100" y="2134292"/>
            <a:ext cx="177800" cy="177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069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69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42db20855d65e2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900" y="2134292"/>
            <a:ext cx="177800" cy="177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35700" y="2388292"/>
            <a:ext cx="154305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57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BUILT-UP AREA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4800" y="1701800"/>
            <a:ext cx="182245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645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1f8802463176fa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0700" y="2134292"/>
            <a:ext cx="177800" cy="177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064500" y="2388292"/>
            <a:ext cx="1543050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4500" y="2888653"/>
            <a:ext cx="15430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GLOBAL OFFICES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53600" y="1701800"/>
            <a:ext cx="1828800" cy="1632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93300" y="2058092"/>
            <a:ext cx="330200" cy="330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81937597fe2cdc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2134292"/>
            <a:ext cx="177800" cy="177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893300" y="2388292"/>
            <a:ext cx="1549400" cy="4635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40"/>
              </a:lnSpc>
            </a:pPr>
            <a:r>
              <a:rPr sz="2600" b="1" i="0" spc="-78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20</a:t>
            </a:r>
            <a:r>
              <a:rPr sz="900" b="0" i="0" spc="-9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/ yr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93300" y="2888653"/>
            <a:ext cx="15494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0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CARBON FOOTPRINT REDUCED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525044"/>
            <a:ext cx="10972800" cy="22343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09600" y="3525044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5500" y="3860006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DELIVERY CYCLE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400" y="3747294"/>
            <a:ext cx="7112000" cy="3000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12"/>
              </a:lnSpc>
            </a:pPr>
            <a:r>
              <a:rPr sz="8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 proudly Malaysian company on three continents, delivering mission-critical cleanroom facilities where contamination control, precision and compliance are absolute.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61483" y="4617441"/>
            <a:ext cx="14020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583633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77753362ed25791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6508" y="4499966"/>
            <a:ext cx="234950" cy="23495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994198" y="4331691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94198" y="4357091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98588" y="4992091"/>
            <a:ext cx="890784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81023" y="5268912"/>
            <a:ext cx="92600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consultation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87444" y="4617441"/>
            <a:ext cx="14020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09594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df6d379be916080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52469" y="4499966"/>
            <a:ext cx="234950" cy="2349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4101008" y="4331691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01008" y="4357091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0098" y="4992091"/>
            <a:ext cx="979684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Procurement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59359" y="5268912"/>
            <a:ext cx="102125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Sourcing &amp; supply chain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13405" y="4617441"/>
            <a:ext cx="14020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835548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b6fe31dd6a33f2d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78423" y="4499966"/>
            <a:ext cx="234950" cy="23495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229350" y="4331691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29350" y="4357091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08834" y="4992091"/>
            <a:ext cx="97423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Construction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5714" y="5268912"/>
            <a:ext cx="1120381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Self-performed packages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39366" y="4617441"/>
            <a:ext cx="14020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961509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89b3e3c20fbc437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04384" y="4499966"/>
            <a:ext cx="234950" cy="2349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356600" y="4331691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56600" y="4357091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47222" y="4992091"/>
            <a:ext cx="549275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Testing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2503" y="5268912"/>
            <a:ext cx="117882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Commissioning &amp; handover</a:t>
            </a:r>
          </a:p>
        </p:txBody>
      </p:sp>
      <p:sp>
        <p:nvSpPr>
          <p:cNvPr id="72" name="Oval 71"/>
          <p:cNvSpPr/>
          <p:nvPr/>
        </p:nvSpPr>
        <p:spPr>
          <a:xfrm>
            <a:off x="10087470" y="4357091"/>
            <a:ext cx="520700" cy="520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3" name="Picture 72" descr="3340857edafe70a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30345" y="4499966"/>
            <a:ext cx="234950" cy="23495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10480777" y="4331691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80777" y="4357091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51034" y="4992091"/>
            <a:ext cx="993673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0" i="0" spc="-24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Maintenance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87039" y="5268912"/>
            <a:ext cx="1121569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Operate, service, optimise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5949848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CERTIFICATION &amp; RECOGNITION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9600" y="6121298"/>
            <a:ext cx="1345508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9600" y="6203848"/>
            <a:ext cx="1345508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9001:2015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031308" y="6121298"/>
            <a:ext cx="137983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031308" y="6203848"/>
            <a:ext cx="137983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14001:2015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487344" y="6121298"/>
            <a:ext cx="1399381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7344" y="6203848"/>
            <a:ext cx="1399381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INTERTEK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ISO 45001:2018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62925" y="6121298"/>
            <a:ext cx="940492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962925" y="6203848"/>
            <a:ext cx="940492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CIDB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979617" y="6121298"/>
            <a:ext cx="894753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979617" y="6203848"/>
            <a:ext cx="894753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PKK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GRADE G7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0570" y="6121298"/>
            <a:ext cx="1701006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50570" y="6203848"/>
            <a:ext cx="1701006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HIGHWIRE SAFETY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GOLD AWARD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727777" y="6121298"/>
            <a:ext cx="1818284" cy="228702"/>
          </a:xfrm>
          <a:prstGeom prst="rect">
            <a:avLst/>
          </a:prstGeom>
          <a:solidFill>
            <a:srgbClr val="101A2B">
              <a:alpha val="55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727777" y="6203848"/>
            <a:ext cx="1818284" cy="76200"/>
          </a:xfrm>
          <a:prstGeom prst="rect">
            <a:avLst/>
          </a:prstGeom>
          <a:noFill/>
        </p:spPr>
        <p:txBody>
          <a:bodyPr wrap="square" lIns="114300" rIns="11430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MCIEA 2024 </a:t>
            </a:r>
            <a:r>
              <a:rPr sz="650" b="0" i="0" spc="91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BUILDER OF THE YEAR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05 / 67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Milestones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IAQ's own timeline, 1995 to 2026: the offices opened along the way, and the projects that marked each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03450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701800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OFFICES OPENED</a:t>
            </a:r>
          </a:p>
        </p:txBody>
      </p:sp>
      <p:pic>
        <p:nvPicPr>
          <p:cNvPr id="12" name="Picture 11" descr="d8e638e5dfea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36750"/>
            <a:ext cx="215900" cy="107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9000" y="1847850"/>
            <a:ext cx="38239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2006600"/>
            <a:ext cx="382391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pic>
        <p:nvPicPr>
          <p:cNvPr id="15" name="Picture 14" descr="36915e38abb37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171" y="1918792"/>
            <a:ext cx="212671" cy="1438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62956" y="1847850"/>
            <a:ext cx="36810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Morocco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2956" y="2006600"/>
            <a:ext cx="36810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2000</a:t>
            </a:r>
          </a:p>
        </p:txBody>
      </p:sp>
      <p:pic>
        <p:nvPicPr>
          <p:cNvPr id="18" name="Picture 17" descr="d9e1aaea8eb2d2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4840" y="1918792"/>
            <a:ext cx="212671" cy="1438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22625" y="1847850"/>
            <a:ext cx="24775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China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22625" y="2006600"/>
            <a:ext cx="247752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2006</a:t>
            </a:r>
          </a:p>
        </p:txBody>
      </p:sp>
      <p:pic>
        <p:nvPicPr>
          <p:cNvPr id="21" name="Picture 20" descr="a41ff103a2c805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222" y="1923256"/>
            <a:ext cx="208540" cy="13493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61942" y="1847850"/>
            <a:ext cx="28664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Poland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942" y="2006600"/>
            <a:ext cx="286645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2007</a:t>
            </a:r>
          </a:p>
        </p:txBody>
      </p:sp>
      <p:pic>
        <p:nvPicPr>
          <p:cNvPr id="24" name="Picture 23" descr="ccab05aa1cd926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2368" y="1918792"/>
            <a:ext cx="212671" cy="14386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0153" y="1847850"/>
            <a:ext cx="2847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France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153" y="2006600"/>
            <a:ext cx="2847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2008</a:t>
            </a:r>
          </a:p>
        </p:txBody>
      </p:sp>
      <p:pic>
        <p:nvPicPr>
          <p:cNvPr id="27" name="Picture 26" descr="3484b1595ff1e2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0758" y="1923256"/>
            <a:ext cx="208540" cy="1349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16478" y="1847850"/>
            <a:ext cx="3492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6478" y="2006600"/>
            <a:ext cx="34925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pic>
        <p:nvPicPr>
          <p:cNvPr id="30" name="Picture 29" descr="669b9a824696c9c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9508" y="1918792"/>
            <a:ext cx="212671" cy="14386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57294" y="1847850"/>
            <a:ext cx="43934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7294" y="2006600"/>
            <a:ext cx="439344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pic>
        <p:nvPicPr>
          <p:cNvPr id="33" name="Picture 32" descr="a1bc6b949f166d8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12483" y="1923256"/>
            <a:ext cx="208540" cy="13493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788203" y="1847850"/>
            <a:ext cx="4025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8203" y="2006600"/>
            <a:ext cx="402533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pic>
        <p:nvPicPr>
          <p:cNvPr id="36" name="Picture 35" descr="593927064182df0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04516" y="1918792"/>
            <a:ext cx="212671" cy="14386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982302" y="1847850"/>
            <a:ext cx="5764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2302" y="2006600"/>
            <a:ext cx="576459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pic>
        <p:nvPicPr>
          <p:cNvPr id="39" name="Picture 38" descr="b7ef0ae251f8b27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2541" y="1918792"/>
            <a:ext cx="212671" cy="14386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1350327" y="1847850"/>
            <a:ext cx="23157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50327" y="2006600"/>
            <a:ext cx="231578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42" name="Oval 41"/>
          <p:cNvSpPr/>
          <p:nvPr/>
        </p:nvSpPr>
        <p:spPr>
          <a:xfrm>
            <a:off x="609600" y="2384425"/>
            <a:ext cx="57150" cy="571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2349500"/>
            <a:ext cx="804170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E2A3D"/>
                </a:solidFill>
                <a:latin typeface="League Spartan SemiBold"/>
                <a:ea typeface="League Spartan SemiBold"/>
                <a:cs typeface="League Spartan SemiBold"/>
              </a:rPr>
              <a:t>EPCC PROJECTS</a:t>
            </a:r>
          </a:p>
        </p:txBody>
      </p:sp>
      <p:sp>
        <p:nvSpPr>
          <p:cNvPr id="44" name="Oval 43"/>
          <p:cNvSpPr/>
          <p:nvPr/>
        </p:nvSpPr>
        <p:spPr>
          <a:xfrm>
            <a:off x="1553470" y="2384425"/>
            <a:ext cx="57150" cy="571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3470" y="2349500"/>
            <a:ext cx="926008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12A150"/>
                </a:solidFill>
                <a:latin typeface="League Spartan SemiBold"/>
                <a:ea typeface="League Spartan SemiBold"/>
                <a:cs typeface="League Spartan SemiBold"/>
              </a:rPr>
              <a:t>ENERGY PROJECTS</a:t>
            </a:r>
          </a:p>
        </p:txBody>
      </p:sp>
      <p:sp>
        <p:nvSpPr>
          <p:cNvPr id="46" name="Oval 45"/>
          <p:cNvSpPr/>
          <p:nvPr/>
        </p:nvSpPr>
        <p:spPr>
          <a:xfrm>
            <a:off x="2619178" y="2384425"/>
            <a:ext cx="57150" cy="571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9178" y="2349500"/>
            <a:ext cx="1173162" cy="69850"/>
          </a:xfrm>
          <a:prstGeom prst="rect">
            <a:avLst/>
          </a:prstGeom>
          <a:noFill/>
        </p:spPr>
        <p:txBody>
          <a:bodyPr wrap="none" lIns="107950" rIns="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7A3DB8"/>
                </a:solidFill>
                <a:latin typeface="League Spartan SemiBold"/>
                <a:ea typeface="League Spartan SemiBold"/>
                <a:cs typeface="League Spartan SemiBold"/>
              </a:rPr>
              <a:t>TOOL UTILITY PROJECTS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73355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66800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6800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Established as a cleanroom specialist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550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55733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4940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1995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07259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840509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40509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ST Microelectronics, Class 10K cleanroom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4050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331047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2310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80969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614219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614219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Western Digital PJ, Class 10 cleanroom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14219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104756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96819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54672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387922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87922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MEMC Ipoh, Class 1 cleanroom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7922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87845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70522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28381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161631" y="3176289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1631" y="3135014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MRT Project tunnel station M&amp;E</a:t>
            </a:r>
          </a:p>
        </p:txBody>
      </p:sp>
      <p:sp>
        <p:nvSpPr>
          <p:cNvPr id="75" name="Oval 74"/>
          <p:cNvSpPr/>
          <p:nvPr/>
        </p:nvSpPr>
        <p:spPr>
          <a:xfrm>
            <a:off x="4161631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61631" y="343207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(EPC) Infineon MKZ, Class 1K cleanroom</a:t>
            </a:r>
          </a:p>
        </p:txBody>
      </p:sp>
      <p:sp>
        <p:nvSpPr>
          <p:cNvPr id="77" name="Oval 76"/>
          <p:cNvSpPr/>
          <p:nvPr/>
        </p:nvSpPr>
        <p:spPr>
          <a:xfrm>
            <a:off x="4161631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61631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SilTerra FAB</a:t>
            </a:r>
          </a:p>
        </p:txBody>
      </p:sp>
      <p:sp>
        <p:nvSpPr>
          <p:cNvPr id="79" name="Oval 78"/>
          <p:cNvSpPr/>
          <p:nvPr/>
        </p:nvSpPr>
        <p:spPr>
          <a:xfrm>
            <a:off x="4161631" y="3947516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1631" y="3906241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(PCC) Rapid Project Siemens powerplant piping works</a:t>
            </a:r>
          </a:p>
        </p:txBody>
      </p:sp>
      <p:sp>
        <p:nvSpPr>
          <p:cNvPr id="81" name="Oval 80"/>
          <p:cNvSpPr/>
          <p:nvPr/>
        </p:nvSpPr>
        <p:spPr>
          <a:xfrm>
            <a:off x="4161631" y="4244581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61631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(BOT) Pagoh Edu Hub DCS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16163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52169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4423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02091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935341" y="503763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935341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(GC) KLCC DCC Plant, largest DCC plant in Malaysia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5341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2587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417941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5800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709050" y="424458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709050" y="420330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Ain Medicare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09050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199588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91650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2017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149605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482855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855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(GC) Vital HC</a:t>
            </a:r>
          </a:p>
        </p:txBody>
      </p:sp>
      <p:sp>
        <p:nvSpPr>
          <p:cNvPr id="101" name="Oval 100"/>
          <p:cNvSpPr/>
          <p:nvPr/>
        </p:nvSpPr>
        <p:spPr>
          <a:xfrm>
            <a:off x="6482855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482855" y="5173466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Robert Bosch</a:t>
            </a:r>
          </a:p>
        </p:txBody>
      </p:sp>
      <p:sp>
        <p:nvSpPr>
          <p:cNvPr id="103" name="Oval 102"/>
          <p:cNvSpPr/>
          <p:nvPr/>
        </p:nvSpPr>
        <p:spPr>
          <a:xfrm>
            <a:off x="6482855" y="5391842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82855" y="5350567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PCC) P Project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482855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97339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96545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923314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256564" y="3473348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56564" y="3432073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Microsoft Data Center</a:t>
            </a:r>
          </a:p>
        </p:txBody>
      </p:sp>
      <p:sp>
        <p:nvSpPr>
          <p:cNvPr id="111" name="Oval 110"/>
          <p:cNvSpPr/>
          <p:nvPr/>
        </p:nvSpPr>
        <p:spPr>
          <a:xfrm>
            <a:off x="7256564" y="3650456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56564" y="360918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SilTerra expansion</a:t>
            </a:r>
          </a:p>
        </p:txBody>
      </p:sp>
      <p:sp>
        <p:nvSpPr>
          <p:cNvPr id="113" name="Oval 112"/>
          <p:cNvSpPr/>
          <p:nvPr/>
        </p:nvSpPr>
        <p:spPr>
          <a:xfrm>
            <a:off x="7256564" y="382756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56564" y="3786289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(EPCM / D&amp;B) Soitec PR1A expansion</a:t>
            </a:r>
          </a:p>
        </p:txBody>
      </p:sp>
      <p:sp>
        <p:nvSpPr>
          <p:cNvPr id="115" name="Oval 114"/>
          <p:cNvSpPr/>
          <p:nvPr/>
        </p:nvSpPr>
        <p:spPr>
          <a:xfrm>
            <a:off x="7256564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256564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EPCM) Infineon IFKM3 expansion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256564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747102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39164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697017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030267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030267" y="499635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XFAB 40K expansion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03026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20805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51286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470727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803977" y="412462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803977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Progressive Build P Project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803977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294514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286577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44436" y="48439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77686" y="5037633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577686" y="4996358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(GC / D&amp;B) Hasegawa</a:t>
            </a:r>
          </a:p>
        </p:txBody>
      </p:sp>
      <p:sp>
        <p:nvSpPr>
          <p:cNvPr id="135" name="Oval 134"/>
          <p:cNvSpPr/>
          <p:nvPr/>
        </p:nvSpPr>
        <p:spPr>
          <a:xfrm>
            <a:off x="9577686" y="5214741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577686" y="5173466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(PCC) 160MW hyperscale data centre</a:t>
            </a:r>
          </a:p>
        </p:txBody>
      </p:sp>
      <p:sp>
        <p:nvSpPr>
          <p:cNvPr id="137" name="Oval 136"/>
          <p:cNvSpPr/>
          <p:nvPr/>
        </p:nvSpPr>
        <p:spPr>
          <a:xfrm>
            <a:off x="9577686" y="5511800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7686" y="5470525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(EPCC) ESCM Germany</a:t>
            </a:r>
          </a:p>
        </p:txBody>
      </p:sp>
      <p:sp>
        <p:nvSpPr>
          <p:cNvPr id="139" name="Oval 138"/>
          <p:cNvSpPr/>
          <p:nvPr/>
        </p:nvSpPr>
        <p:spPr>
          <a:xfrm>
            <a:off x="9577686" y="5688908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577686" y="5647633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KLCC DCS chiller upgrading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577686" y="4659808"/>
            <a:ext cx="133350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06822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60286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1018145" y="4323258"/>
            <a:ext cx="9525" cy="152400"/>
          </a:xfrm>
          <a:prstGeom prst="rect">
            <a:avLst/>
          </a:prstGeom>
          <a:solidFill>
            <a:srgbClr val="EC2326">
              <a:alpha val="4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351395" y="3770414"/>
            <a:ext cx="31750" cy="31750"/>
          </a:xfrm>
          <a:prstGeom prst="ellipse">
            <a:avLst/>
          </a:prstGeom>
          <a:solidFill>
            <a:srgbClr val="1E2A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351395" y="3729139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(D&amp;B) Tata Dholera DF1</a:t>
            </a:r>
          </a:p>
        </p:txBody>
      </p:sp>
      <p:sp>
        <p:nvSpPr>
          <p:cNvPr id="147" name="Oval 146"/>
          <p:cNvSpPr/>
          <p:nvPr/>
        </p:nvSpPr>
        <p:spPr>
          <a:xfrm>
            <a:off x="10351395" y="3947516"/>
            <a:ext cx="31750" cy="31750"/>
          </a:xfrm>
          <a:prstGeom prst="ellipse">
            <a:avLst/>
          </a:prstGeom>
          <a:solidFill>
            <a:srgbClr val="7A3D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351395" y="3906241"/>
            <a:ext cx="1333500" cy="1079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7A3DB8"/>
                </a:solidFill>
                <a:latin typeface="Urbanist Medium"/>
                <a:ea typeface="Urbanist Medium"/>
                <a:cs typeface="Urbanist Medium"/>
              </a:rPr>
              <a:t>(EPCM / HU) Micron MSH</a:t>
            </a:r>
          </a:p>
        </p:txBody>
      </p:sp>
      <p:sp>
        <p:nvSpPr>
          <p:cNvPr id="149" name="Oval 148"/>
          <p:cNvSpPr/>
          <p:nvPr/>
        </p:nvSpPr>
        <p:spPr>
          <a:xfrm>
            <a:off x="10351395" y="4124623"/>
            <a:ext cx="31750" cy="31750"/>
          </a:xfrm>
          <a:prstGeom prst="ellipse">
            <a:avLst/>
          </a:prstGeom>
          <a:solidFill>
            <a:srgbClr val="12A1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351395" y="4083348"/>
            <a:ext cx="1333500" cy="227908"/>
          </a:xfrm>
          <a:prstGeom prst="rect">
            <a:avLst/>
          </a:prstGeom>
          <a:noFill/>
        </p:spPr>
        <p:txBody>
          <a:bodyPr wrap="square" lIns="88900" rIns="0" tIns="0" bIns="0" anchor="ctr">
            <a:noAutofit/>
          </a:bodyPr>
          <a:lstStyle/>
          <a:p>
            <a:pPr algn="l">
              <a:lnSpc>
                <a:spcPts val="944"/>
              </a:lnSpc>
            </a:pPr>
            <a:r>
              <a:rPr sz="700" b="0" i="0">
                <a:solidFill>
                  <a:srgbClr val="12A150"/>
                </a:solidFill>
                <a:latin typeface="Urbanist Medium"/>
                <a:ea typeface="Urbanist Medium"/>
                <a:cs typeface="Urbanist Medium"/>
              </a:rPr>
              <a:t>(EPCC) GDC Putrajaya chiller upgrading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351395" y="4659808"/>
            <a:ext cx="666750" cy="12700"/>
          </a:xfrm>
          <a:prstGeom prst="rect">
            <a:avLst/>
          </a:prstGeom>
          <a:solidFill>
            <a:srgbClr val="EC2326">
              <a:alpha val="2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841933" y="4483595"/>
            <a:ext cx="352425" cy="352425"/>
          </a:xfrm>
          <a:prstGeom prst="ellipse">
            <a:avLst/>
          </a:prstGeom>
          <a:solidFill>
            <a:srgbClr val="F6F7F9"/>
          </a:solidFill>
          <a:ln w="15875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833995" y="4615358"/>
            <a:ext cx="368300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80" b="0" i="0" spc="1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2026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06 / 67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288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288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009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Global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markets, from the Malaysian headquarters outward.</a:t>
            </a:r>
          </a:p>
        </p:txBody>
      </p:sp>
      <p:pic>
        <p:nvPicPr>
          <p:cNvPr id="10" name="Picture 9" descr="map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590108"/>
            <a:ext cx="5270500" cy="2871591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1643361" y="4010222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81461" y="4048322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3861" y="4041972"/>
            <a:ext cx="74959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UNITED STATES</a:t>
            </a:r>
          </a:p>
        </p:txBody>
      </p:sp>
      <p:sp>
        <p:nvSpPr>
          <p:cNvPr id="14" name="Oval 13"/>
          <p:cNvSpPr/>
          <p:nvPr/>
        </p:nvSpPr>
        <p:spPr>
          <a:xfrm>
            <a:off x="2881909" y="3437338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20009" y="3475438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3895" y="3367488"/>
            <a:ext cx="423564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IRELAND</a:t>
            </a:r>
          </a:p>
        </p:txBody>
      </p:sp>
      <p:sp>
        <p:nvSpPr>
          <p:cNvPr id="17" name="Oval 16"/>
          <p:cNvSpPr/>
          <p:nvPr/>
        </p:nvSpPr>
        <p:spPr>
          <a:xfrm>
            <a:off x="3169145" y="3234931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07245" y="3273031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13634" y="3203181"/>
            <a:ext cx="411061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SWEDEN</a:t>
            </a:r>
          </a:p>
        </p:txBody>
      </p:sp>
      <p:sp>
        <p:nvSpPr>
          <p:cNvPr id="20" name="Oval 19"/>
          <p:cNvSpPr/>
          <p:nvPr/>
        </p:nvSpPr>
        <p:spPr>
          <a:xfrm>
            <a:off x="3158630" y="3491903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196730" y="3530003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1458" y="3657003"/>
            <a:ext cx="49272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GERMANY</a:t>
            </a:r>
          </a:p>
        </p:txBody>
      </p:sp>
      <p:sp>
        <p:nvSpPr>
          <p:cNvPr id="23" name="Oval 22"/>
          <p:cNvSpPr/>
          <p:nvPr/>
        </p:nvSpPr>
        <p:spPr>
          <a:xfrm>
            <a:off x="4104678" y="4102100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42778" y="4140200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5178" y="4133850"/>
            <a:ext cx="280492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INDIA</a:t>
            </a:r>
          </a:p>
        </p:txBody>
      </p:sp>
      <p:sp>
        <p:nvSpPr>
          <p:cNvPr id="26" name="Oval 25"/>
          <p:cNvSpPr/>
          <p:nvPr/>
        </p:nvSpPr>
        <p:spPr>
          <a:xfrm>
            <a:off x="4499966" y="412799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8066" y="416609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466" y="4045445"/>
            <a:ext cx="498475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9" name="Oval 28"/>
          <p:cNvSpPr/>
          <p:nvPr/>
        </p:nvSpPr>
        <p:spPr>
          <a:xfrm>
            <a:off x="4507808" y="4143775"/>
            <a:ext cx="146050" cy="146050"/>
          </a:xfrm>
          <a:prstGeom prst="ellipse">
            <a:avLst/>
          </a:prstGeom>
          <a:solidFill>
            <a:srgbClr val="EC2326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45908" y="4181875"/>
            <a:ext cx="69850" cy="69850"/>
          </a:xfrm>
          <a:prstGeom prst="ellipse">
            <a:avLst/>
          </a:prstGeom>
          <a:solidFill>
            <a:srgbClr val="EC2326"/>
          </a:solidFill>
          <a:ln w="12700">
            <a:solidFill>
              <a:srgbClr val="F6F7F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8308" y="4315225"/>
            <a:ext cx="57825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98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pic>
        <p:nvPicPr>
          <p:cNvPr id="32" name="Picture 31" descr="d732deedda998c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000" y="2318645"/>
            <a:ext cx="292100" cy="1460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29400" y="2293245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1995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7400" y="2299595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Malaysia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7400" y="2482456"/>
            <a:ext cx="4445000" cy="2477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51"/>
              </a:lnSpc>
            </a:pPr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Turnkey design, procurement, construction and commissioning for hi-tech clients. Selangor (HQ), Penang, Johor and Kuching.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23000" y="2838253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2c277a8d47ac4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9" y="2952553"/>
            <a:ext cx="289582" cy="18256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629400" y="2927153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7400" y="2933503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Sweden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7400" y="3116364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Gigafactory construction for EV battery manufacture, part of Europe’s clean and digital transition.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23000" y="3338709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c36c0a20ee0fb2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4621" y="3453009"/>
            <a:ext cx="288859" cy="19466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629400" y="3427609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7400" y="3433959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Singapore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7400" y="3616820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services to global clients in the semiconductor industry.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3000" y="3839172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d61d50bfbd66426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4259" y="3953472"/>
            <a:ext cx="289582" cy="18256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29400" y="3928072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7400" y="3934422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Germany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37400" y="4117283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services following the semiconductor industry expansion in Europe.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23000" y="4339628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480a93db4bbe9fe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4621" y="4453928"/>
            <a:ext cx="288859" cy="19466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29400" y="4428528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7400" y="4434878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India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7400" y="4617739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D&amp;B turnkey delivery for India’s first wafer fab.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23000" y="4840091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f872ae0da7726dc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4621" y="4954391"/>
            <a:ext cx="288859" cy="19466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29400" y="4928991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7400" y="4935341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United States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7400" y="5118202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Entry to the US following the localisation of advanced technology facilities.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23000" y="5340547"/>
            <a:ext cx="53594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b8d461d3ed08853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24621" y="5454847"/>
            <a:ext cx="288859" cy="194666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629400" y="5429447"/>
            <a:ext cx="39370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1" i="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37400" y="5435797"/>
            <a:ext cx="444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Ireland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7400" y="5618658"/>
            <a:ext cx="44450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Incorporated to support a client’s wafer fabrication project.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45250"/>
            <a:ext cx="4051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07 / 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Core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Six commitments that govern how every project is run. Not words, but working rules.</a:t>
            </a:r>
          </a:p>
        </p:txBody>
      </p:sp>
      <p:pic>
        <p:nvPicPr>
          <p:cNvPr id="10" name="Picture 9" descr="val-safety.jpg"/>
          <p:cNvPicPr>
            <a:picLocks noChangeAspect="1"/>
          </p:cNvPicPr>
          <p:nvPr/>
        </p:nvPicPr>
        <p:blipFill>
          <a:blip r:embed="rId3"/>
          <a:srcRect t="3858" b="3858"/>
          <a:stretch>
            <a:fillRect/>
          </a:stretch>
        </p:blipFill>
        <p:spPr>
          <a:xfrm>
            <a:off x="609600" y="1701800"/>
            <a:ext cx="3522066" cy="135483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305663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305663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7550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300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99854683d601e2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075" y="2983605"/>
            <a:ext cx="184150" cy="1841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27748" y="3088380"/>
            <a:ext cx="276917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300" y="331063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300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services and works are carried out to the highest standard of safety and ethics.</a:t>
            </a:r>
          </a:p>
        </p:txBody>
      </p:sp>
      <p:pic>
        <p:nvPicPr>
          <p:cNvPr id="19" name="Picture 18" descr="val-quality.jpg"/>
          <p:cNvPicPr>
            <a:picLocks noChangeAspect="1"/>
          </p:cNvPicPr>
          <p:nvPr/>
        </p:nvPicPr>
        <p:blipFill>
          <a:blip r:embed="rId5"/>
          <a:srcRect t="3860" b="3860"/>
          <a:stretch>
            <a:fillRect/>
          </a:stretch>
        </p:blipFill>
        <p:spPr>
          <a:xfrm>
            <a:off x="4334866" y="1701800"/>
            <a:ext cx="3522167" cy="135483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334866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866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42816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74566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6ec4f700394a58e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341" y="2983605"/>
            <a:ext cx="184150" cy="184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96162" y="3088380"/>
            <a:ext cx="333870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4566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 Consistency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4566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We take pride in the quality of solutions delivered, to achieve maximum client satisfaction.</a:t>
            </a:r>
          </a:p>
        </p:txBody>
      </p:sp>
      <p:pic>
        <p:nvPicPr>
          <p:cNvPr id="28" name="Picture 27" descr="val-integrity.jpg"/>
          <p:cNvPicPr>
            <a:picLocks noChangeAspect="1"/>
          </p:cNvPicPr>
          <p:nvPr/>
        </p:nvPicPr>
        <p:blipFill>
          <a:blip r:embed="rId7"/>
          <a:srcRect t="3860" b="3860"/>
          <a:stretch>
            <a:fillRect/>
          </a:stretch>
        </p:blipFill>
        <p:spPr>
          <a:xfrm>
            <a:off x="8060233" y="1701800"/>
            <a:ext cx="3522167" cy="135483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060233" y="305663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0233" y="305663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68183" y="284708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99933" y="287883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3" name="Picture 32" descr="55ebaca750fd997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708" y="2983605"/>
            <a:ext cx="184150" cy="1841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111509" y="3088380"/>
            <a:ext cx="3438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9933" y="331063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Honesty and Integrity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933" y="353377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core code of conduct, fostering trust, accountability, professionalism and ethical practice.</a:t>
            </a:r>
          </a:p>
        </p:txBody>
      </p:sp>
      <p:pic>
        <p:nvPicPr>
          <p:cNvPr id="37" name="Picture 36" descr="val-efficiency.jpg"/>
          <p:cNvPicPr>
            <a:picLocks noChangeAspect="1"/>
          </p:cNvPicPr>
          <p:nvPr/>
        </p:nvPicPr>
        <p:blipFill>
          <a:blip r:embed="rId9"/>
          <a:srcRect t="3858" b="3858"/>
          <a:stretch>
            <a:fillRect/>
          </a:stretch>
        </p:blipFill>
        <p:spPr>
          <a:xfrm>
            <a:off x="609600" y="4121150"/>
            <a:ext cx="3522066" cy="135483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09600" y="5475980"/>
            <a:ext cx="3522066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9600" y="5475980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7550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49300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38706b2873ba3ef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4075" y="5402955"/>
            <a:ext cx="184150" cy="184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639744" y="5507730"/>
            <a:ext cx="364928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00" y="5729980"/>
            <a:ext cx="3242666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Efficiency &amp; Proficiency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300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Committed to maximising available resources to achieve the best result collectively.</a:t>
            </a:r>
          </a:p>
        </p:txBody>
      </p:sp>
      <p:pic>
        <p:nvPicPr>
          <p:cNvPr id="46" name="Picture 45" descr="value-5.jpg"/>
          <p:cNvPicPr>
            <a:picLocks noChangeAspect="1"/>
          </p:cNvPicPr>
          <p:nvPr/>
        </p:nvPicPr>
        <p:blipFill>
          <a:blip r:embed="rId11"/>
          <a:srcRect t="30332" b="30332"/>
          <a:stretch>
            <a:fillRect/>
          </a:stretch>
        </p:blipFill>
        <p:spPr>
          <a:xfrm>
            <a:off x="4334866" y="4121150"/>
            <a:ext cx="3522167" cy="1354830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4334866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34866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442816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474566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ad40577d8b8373a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9341" y="5402955"/>
            <a:ext cx="184150" cy="1841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373042" y="5507730"/>
            <a:ext cx="356991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4566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 Capabilities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4566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Our way of working revolves around engineering principles, developing precise and sustainable solutions.</a:t>
            </a:r>
          </a:p>
        </p:txBody>
      </p:sp>
      <p:pic>
        <p:nvPicPr>
          <p:cNvPr id="55" name="Picture 54" descr="val-excellence.jpg"/>
          <p:cNvPicPr>
            <a:picLocks noChangeAspect="1"/>
          </p:cNvPicPr>
          <p:nvPr/>
        </p:nvPicPr>
        <p:blipFill>
          <a:blip r:embed="rId13"/>
          <a:srcRect t="3860" b="3860"/>
          <a:stretch>
            <a:fillRect/>
          </a:stretch>
        </p:blipFill>
        <p:spPr>
          <a:xfrm>
            <a:off x="8060233" y="4121150"/>
            <a:ext cx="3522167" cy="1354830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8060233" y="5475980"/>
            <a:ext cx="3522167" cy="8740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60233" y="5475980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168183" y="526643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99933" y="5298180"/>
            <a:ext cx="393700" cy="3937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0" name="Picture 59" descr="1654ba9e054b8e3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04708" y="5402955"/>
            <a:ext cx="184150" cy="18415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1102181" y="5507730"/>
            <a:ext cx="353219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92">
                <a:solidFill>
                  <a:srgbClr val="EC2326">
                    <a:alpha val="13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9933" y="5729980"/>
            <a:ext cx="3242767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50" b="0" i="0" spc="-21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Pursuit of Excellence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9933" y="5953125"/>
            <a:ext cx="2667000" cy="2524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87"/>
              </a:lnSpc>
            </a:pPr>
            <a:r>
              <a:rPr sz="7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Devoted to excellence in all our works, providing sustainable solutions to complex challenges.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08 / 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Business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delivery capabilities under one group, covering the full chain.</a:t>
            </a:r>
          </a:p>
        </p:txBody>
      </p:sp>
      <p:pic>
        <p:nvPicPr>
          <p:cNvPr id="10" name="Picture 9" descr="bu-epc.jpg"/>
          <p:cNvPicPr>
            <a:picLocks noChangeAspect="1"/>
          </p:cNvPicPr>
          <p:nvPr/>
        </p:nvPicPr>
        <p:blipFill>
          <a:blip r:embed="rId3"/>
          <a:srcRect l="2737" r="2737"/>
          <a:stretch>
            <a:fillRect/>
          </a:stretch>
        </p:blipFill>
        <p:spPr>
          <a:xfrm>
            <a:off x="609600" y="1701800"/>
            <a:ext cx="3539033" cy="281543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SOLUTIONS SDN BHD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and Construction (EPC)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from conception to operation, completion and maintenance. Every stage managed, from initial design through commissioning, so clients in hi-tech industries can bring their visions to life.</a:t>
            </a:r>
          </a:p>
        </p:txBody>
      </p:sp>
      <p:pic>
        <p:nvPicPr>
          <p:cNvPr id="17" name="Picture 16" descr="bu-utilities.jpg"/>
          <p:cNvPicPr>
            <a:picLocks noChangeAspect="1"/>
          </p:cNvPicPr>
          <p:nvPr/>
        </p:nvPicPr>
        <p:blipFill>
          <a:blip r:embed="rId4"/>
          <a:srcRect l="2737" r="2737"/>
          <a:stretch>
            <a:fillRect/>
          </a:stretch>
        </p:blipFill>
        <p:spPr>
          <a:xfrm>
            <a:off x="4326433" y="1701800"/>
            <a:ext cx="3539033" cy="281543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26433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26433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8833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UTILITY SOLUTIONS SDN BHD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8833" y="5323681"/>
            <a:ext cx="3234233" cy="3710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22"/>
              </a:lnSpc>
            </a:pPr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Critical Utilities &amp; Total Tool Installation Solutions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8833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EPCM partner for semiconductor manufacturing: process-critical utility infrastructure and total tool installation, bridging facility readiness and manufacturing start-up to accelerate fab ramp-up.</a:t>
            </a:r>
          </a:p>
        </p:txBody>
      </p:sp>
      <p:pic>
        <p:nvPicPr>
          <p:cNvPr id="24" name="Picture 23" descr="bu-energy.jpg"/>
          <p:cNvPicPr>
            <a:picLocks noChangeAspect="1"/>
          </p:cNvPicPr>
          <p:nvPr/>
        </p:nvPicPr>
        <p:blipFill>
          <a:blip r:embed="rId5"/>
          <a:srcRect l="2737" r="2737"/>
          <a:stretch>
            <a:fillRect/>
          </a:stretch>
        </p:blipFill>
        <p:spPr>
          <a:xfrm>
            <a:off x="8043266" y="1701800"/>
            <a:ext cx="3539033" cy="2815431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43266" y="4695031"/>
            <a:ext cx="3539033" cy="16549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3266" y="4695031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95666" y="4802981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5666" y="5171281"/>
            <a:ext cx="323423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IAQ ENERGY FACILITY MANAGEMENT SDN BHD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5666" y="5323681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5666" y="5586813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Energy management solutions that optimise operations and reduce carbon footprint, keeping facilities running at the highest levels of efficiency and sustainability.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4072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09 / 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7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7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99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Delivery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three models IAQ contracts under, across the full life of a facility.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23281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0400" y="1847850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 &amp; Construction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400" y="2139950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Management of engineering, procurement and construction for semiconductor manufacturing, bridging facility readiness and manufacturing start-up to accelerate fab ramp-up.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30400" y="2417762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30400" y="2481262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0595" y="2417762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0595" y="2481262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65512" y="2417762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5512" y="2481262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1806" y="2417762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1806" y="2481262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4334" y="2417762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4334" y="2481262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30400" y="2684462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SilTerra expansion · Soitec PR1A expansion · Infineon IFKM3 expansion · Micron MSH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3388519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9600" y="3388519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810000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EPCC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0400" y="3534569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Engineering, Procurement, Construction &amp; Commissioning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30400" y="3826669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Full turnkey delivery from conception to operation, completion and maintenance, with every stage managed from initial design through commissioning.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30400" y="4104481"/>
            <a:ext cx="718445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0400" y="4167981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80595" y="4104481"/>
            <a:ext cx="753167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80595" y="4167981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12" y="4104481"/>
            <a:ext cx="794544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65512" y="4167981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91806" y="4104481"/>
            <a:ext cx="840778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1806" y="4167981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64334" y="4104481"/>
            <a:ext cx="617836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64334" y="4167981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0400" y="4371181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ST Microelectronics · SilTerra FAB · ESCM Germany · KLCC DCS chiller upgrading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075238"/>
            <a:ext cx="10972800" cy="127476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9600" y="5075238"/>
            <a:ext cx="1117600" cy="1274762"/>
          </a:xfrm>
          <a:prstGeom prst="rect">
            <a:avLst/>
          </a:prstGeom>
          <a:solidFill>
            <a:srgbClr val="EC2326">
              <a:alpha val="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9600" y="5496719"/>
            <a:ext cx="1117600" cy="42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 i="0" spc="-84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EFM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0400" y="5221288"/>
            <a:ext cx="9448800" cy="222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50" b="0" i="0" spc="-25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Energy Facility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30400" y="5513388"/>
            <a:ext cx="944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Ongoing energy and facility management that optimises operations and reduces carbon footprint, keeping facilities at the highest levels of efficiency.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30400" y="5791200"/>
            <a:ext cx="718445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30400" y="5854700"/>
            <a:ext cx="718445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ENGINEERING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80595" y="5791200"/>
            <a:ext cx="753167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80595" y="5854700"/>
            <a:ext cx="753167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PROCUREMENT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65512" y="5791200"/>
            <a:ext cx="794544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65512" y="5854700"/>
            <a:ext cx="794544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1806" y="5791200"/>
            <a:ext cx="840778" cy="1841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91806" y="5854700"/>
            <a:ext cx="840778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COMMISSIONING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64334" y="5791200"/>
            <a:ext cx="617836" cy="1841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4334" y="5854700"/>
            <a:ext cx="617836" cy="69850"/>
          </a:xfrm>
          <a:prstGeom prst="rect">
            <a:avLst/>
          </a:prstGeom>
          <a:noFill/>
        </p:spPr>
        <p:txBody>
          <a:bodyPr wrap="none" lIns="82550" rIns="82550" tIns="0" bIns="0" anchor="ctr">
            <a:noAutofit/>
          </a:bodyPr>
          <a:lstStyle/>
          <a:p>
            <a:pPr algn="l"/>
            <a:r>
              <a:rPr sz="580" b="0" i="0" spc="69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OPERATION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30400" y="6057900"/>
            <a:ext cx="94488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5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KLCC DCC Plant · GDC Putrajaya chiller upgrading · Pagoh Edu Hub DCS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445250"/>
            <a:ext cx="3866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10 / 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5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5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78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Scope of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Eight packages self-performed under one contract, and the process utilities behind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300" y="2028133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da8d41caea5492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75" y="2094808"/>
            <a:ext cx="146050" cy="146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3950" y="2032495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Civil, Structural &amp; Architectural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3950" y="2193728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Greenfield and brownfield CSA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7334" y="1733550"/>
            <a:ext cx="15656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2800" y="1701800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92500" y="2028133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ae22bd08728a4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175" y="2094808"/>
            <a:ext cx="146050" cy="1460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67150" y="2032495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Air Conditioning 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150" y="2193728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ACMV, make-up air, recirculation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8384" y="1733550"/>
            <a:ext cx="188716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0" y="1701800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35700" y="2028133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ac4ca0be191b78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375" y="2094808"/>
            <a:ext cx="146050" cy="1460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10350" y="2032495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HT &amp; LV Electrical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0350" y="2193728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 to 33kV substations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55933" y="1733550"/>
            <a:ext cx="194367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39200" y="1701800"/>
            <a:ext cx="274320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78900" y="2028133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a7c08c4c7d4cab8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5575" y="2094808"/>
            <a:ext cx="146050" cy="146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353550" y="2032495"/>
            <a:ext cx="208915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Fire Protection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3550" y="2193728"/>
            <a:ext cx="208915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Detection, suppression, compliance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3577" y="1733550"/>
            <a:ext cx="20627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2633859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9600" y="2633859"/>
            <a:ext cx="27368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9300" y="2963367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9f09b59a62c30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975" y="3030042"/>
            <a:ext cx="146050" cy="1460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23950" y="2967730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Cleanroom System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950" y="3128962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ISO 3 to ISO 8 · Class 1 to Class 100K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2091" y="2671959"/>
            <a:ext cx="201809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2800" y="2633859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52800" y="2633859"/>
            <a:ext cx="27368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492500" y="2963367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c322ac7972c4161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9175" y="3030042"/>
            <a:ext cx="146050" cy="14605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867150" y="2967730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Process Utilities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67150" y="3128962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Water, chemical, gas and exhaust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7475" y="2671959"/>
            <a:ext cx="19963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0" y="2633859"/>
            <a:ext cx="273685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96000" y="2633859"/>
            <a:ext cx="27368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235700" y="2963367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1" name="Picture 50" descr="1a44b2f84078105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375" y="3030042"/>
            <a:ext cx="146050" cy="14605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10350" y="2967730"/>
            <a:ext cx="208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Facility Monitoring &amp; Control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0350" y="3128962"/>
            <a:ext cx="20828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FMCS, BMS, PA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67439" y="2671959"/>
            <a:ext cx="18286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39200" y="2633859"/>
            <a:ext cx="2743200" cy="932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39200" y="2633859"/>
            <a:ext cx="27432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978900" y="2963367"/>
            <a:ext cx="279400" cy="279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98faeb8cf2bd326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5575" y="3030042"/>
            <a:ext cx="146050" cy="14605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353550" y="2967730"/>
            <a:ext cx="208915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8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Tools Hookup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53550" y="3128962"/>
            <a:ext cx="208915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tool install and hookup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298339" y="2671959"/>
            <a:ext cx="201511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1" i="0" spc="-52">
                <a:solidFill>
                  <a:srgbClr val="EC2326">
                    <a:alpha val="14000"/>
                  </a:srgbClr>
                </a:solidFill>
                <a:latin typeface="Poppins"/>
                <a:ea typeface="Poppins"/>
                <a:cs typeface="Poppins"/>
              </a:rPr>
              <a:t>08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756425"/>
            <a:ext cx="10972800" cy="259358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09600" y="3756425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2800" y="3990581"/>
            <a:ext cx="1905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PROCESS CRITICAL UTILITIES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3700" y="3965975"/>
            <a:ext cx="69850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Delivered by IAQ Utility Solutions as an EPCM package: the utility infrastructure a fab runs on, and the tool installations that bring it to production.</a:t>
            </a:r>
          </a:p>
        </p:txBody>
      </p:sp>
      <p:sp>
        <p:nvSpPr>
          <p:cNvPr id="66" name="Oval 65"/>
          <p:cNvSpPr/>
          <p:nvPr/>
        </p:nvSpPr>
        <p:spPr>
          <a:xfrm>
            <a:off x="8175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7" name="Picture 66" descr="d44943f6672bce4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8525" y="4587081"/>
            <a:ext cx="171450" cy="17145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128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Water Solutions</a:t>
            </a:r>
          </a:p>
        </p:txBody>
      </p:sp>
      <p:sp>
        <p:nvSpPr>
          <p:cNvPr id="69" name="Oval 68"/>
          <p:cNvSpPr/>
          <p:nvPr/>
        </p:nvSpPr>
        <p:spPr>
          <a:xfrm>
            <a:off x="8128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28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UPW plant &amp; distribution</a:t>
            </a:r>
          </a:p>
        </p:txBody>
      </p:sp>
      <p:sp>
        <p:nvSpPr>
          <p:cNvPr id="71" name="Oval 70"/>
          <p:cNvSpPr/>
          <p:nvPr/>
        </p:nvSpPr>
        <p:spPr>
          <a:xfrm>
            <a:off x="8128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28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Process waste drains, WWT</a:t>
            </a:r>
          </a:p>
        </p:txBody>
      </p:sp>
      <p:sp>
        <p:nvSpPr>
          <p:cNvPr id="73" name="Oval 72"/>
          <p:cNvSpPr/>
          <p:nvPr/>
        </p:nvSpPr>
        <p:spPr>
          <a:xfrm>
            <a:off x="8128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28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Reclaim and ZLD</a:t>
            </a:r>
          </a:p>
        </p:txBody>
      </p:sp>
      <p:sp>
        <p:nvSpPr>
          <p:cNvPr id="75" name="Oval 74"/>
          <p:cNvSpPr/>
          <p:nvPr/>
        </p:nvSpPr>
        <p:spPr>
          <a:xfrm>
            <a:off x="812800" y="5814911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2800" y="5776811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Chemical storage &amp; dispensing</a:t>
            </a:r>
          </a:p>
        </p:txBody>
      </p:sp>
      <p:sp>
        <p:nvSpPr>
          <p:cNvPr id="77" name="Oval 76"/>
          <p:cNvSpPr/>
          <p:nvPr/>
        </p:nvSpPr>
        <p:spPr>
          <a:xfrm>
            <a:off x="29638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8" name="Picture 77" descr="f19e7fc0f2f0d68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4825" y="4587081"/>
            <a:ext cx="171450" cy="17145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9591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Chemical &amp; Slurry Solutions</a:t>
            </a:r>
          </a:p>
        </p:txBody>
      </p:sp>
      <p:sp>
        <p:nvSpPr>
          <p:cNvPr id="80" name="Oval 79"/>
          <p:cNvSpPr/>
          <p:nvPr/>
        </p:nvSpPr>
        <p:spPr>
          <a:xfrm>
            <a:off x="29591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9591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Bulk chemical</a:t>
            </a:r>
          </a:p>
        </p:txBody>
      </p:sp>
      <p:sp>
        <p:nvSpPr>
          <p:cNvPr id="82" name="Oval 81"/>
          <p:cNvSpPr/>
          <p:nvPr/>
        </p:nvSpPr>
        <p:spPr>
          <a:xfrm>
            <a:off x="29591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9591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Blending systems</a:t>
            </a:r>
          </a:p>
        </p:txBody>
      </p:sp>
      <p:sp>
        <p:nvSpPr>
          <p:cNvPr id="84" name="Oval 83"/>
          <p:cNvSpPr/>
          <p:nvPr/>
        </p:nvSpPr>
        <p:spPr>
          <a:xfrm>
            <a:off x="29591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9591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Dispense systems</a:t>
            </a:r>
          </a:p>
        </p:txBody>
      </p:sp>
      <p:sp>
        <p:nvSpPr>
          <p:cNvPr id="86" name="Oval 85"/>
          <p:cNvSpPr/>
          <p:nvPr/>
        </p:nvSpPr>
        <p:spPr>
          <a:xfrm>
            <a:off x="51101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7" name="Picture 86" descr="ffc9a8098b60f95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91125" y="4587081"/>
            <a:ext cx="171450" cy="17145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1054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Gas Solutions</a:t>
            </a:r>
          </a:p>
        </p:txBody>
      </p:sp>
      <p:sp>
        <p:nvSpPr>
          <p:cNvPr id="89" name="Oval 88"/>
          <p:cNvSpPr/>
          <p:nvPr/>
        </p:nvSpPr>
        <p:spPr>
          <a:xfrm>
            <a:off x="51054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054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Bulk gas</a:t>
            </a:r>
          </a:p>
        </p:txBody>
      </p:sp>
      <p:sp>
        <p:nvSpPr>
          <p:cNvPr id="91" name="Oval 90"/>
          <p:cNvSpPr/>
          <p:nvPr/>
        </p:nvSpPr>
        <p:spPr>
          <a:xfrm>
            <a:off x="51054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54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Specialty gas &amp; abatement</a:t>
            </a:r>
          </a:p>
        </p:txBody>
      </p:sp>
      <p:sp>
        <p:nvSpPr>
          <p:cNvPr id="93" name="Oval 92"/>
          <p:cNvSpPr/>
          <p:nvPr/>
        </p:nvSpPr>
        <p:spPr>
          <a:xfrm>
            <a:off x="51054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054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Bunker: NH₃, SiH₄, H₂</a:t>
            </a:r>
          </a:p>
        </p:txBody>
      </p:sp>
      <p:sp>
        <p:nvSpPr>
          <p:cNvPr id="95" name="Oval 94"/>
          <p:cNvSpPr/>
          <p:nvPr/>
        </p:nvSpPr>
        <p:spPr>
          <a:xfrm>
            <a:off x="5105400" y="5814911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05400" y="5776811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Liquid dispense system</a:t>
            </a:r>
          </a:p>
        </p:txBody>
      </p:sp>
      <p:sp>
        <p:nvSpPr>
          <p:cNvPr id="97" name="Oval 96"/>
          <p:cNvSpPr/>
          <p:nvPr/>
        </p:nvSpPr>
        <p:spPr>
          <a:xfrm>
            <a:off x="72564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a604ab0c34e6e72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37425" y="4587081"/>
            <a:ext cx="171450" cy="17145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2517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Process Exhaust Solutions</a:t>
            </a:r>
          </a:p>
        </p:txBody>
      </p:sp>
      <p:sp>
        <p:nvSpPr>
          <p:cNvPr id="100" name="Oval 99"/>
          <p:cNvSpPr/>
          <p:nvPr/>
        </p:nvSpPr>
        <p:spPr>
          <a:xfrm>
            <a:off x="72517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2517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General and acid</a:t>
            </a:r>
          </a:p>
        </p:txBody>
      </p:sp>
      <p:sp>
        <p:nvSpPr>
          <p:cNvPr id="102" name="Oval 101"/>
          <p:cNvSpPr/>
          <p:nvPr/>
        </p:nvSpPr>
        <p:spPr>
          <a:xfrm>
            <a:off x="72517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2517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Caustic and solvent</a:t>
            </a:r>
          </a:p>
        </p:txBody>
      </p:sp>
      <p:sp>
        <p:nvSpPr>
          <p:cNvPr id="104" name="Oval 103"/>
          <p:cNvSpPr/>
          <p:nvPr/>
        </p:nvSpPr>
        <p:spPr>
          <a:xfrm>
            <a:off x="72517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2517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Calamity exhaust</a:t>
            </a:r>
          </a:p>
        </p:txBody>
      </p:sp>
      <p:sp>
        <p:nvSpPr>
          <p:cNvPr id="106" name="Oval 105"/>
          <p:cNvSpPr/>
          <p:nvPr/>
        </p:nvSpPr>
        <p:spPr>
          <a:xfrm>
            <a:off x="9402762" y="4506119"/>
            <a:ext cx="333375" cy="3333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7" name="Picture 106" descr="4af77b587d43a1e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483725" y="4587081"/>
            <a:ext cx="171450" cy="17145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398000" y="4920456"/>
            <a:ext cx="19812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 spc="-19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Tool Installations</a:t>
            </a:r>
          </a:p>
        </p:txBody>
      </p:sp>
      <p:sp>
        <p:nvSpPr>
          <p:cNvPr id="109" name="Oval 108"/>
          <p:cNvSpPr/>
          <p:nvPr/>
        </p:nvSpPr>
        <p:spPr>
          <a:xfrm>
            <a:off x="9398000" y="5211267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398000" y="5173167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Progressive hook up</a:t>
            </a:r>
          </a:p>
        </p:txBody>
      </p:sp>
      <p:sp>
        <p:nvSpPr>
          <p:cNvPr id="111" name="Oval 110"/>
          <p:cNvSpPr/>
          <p:nvPr/>
        </p:nvSpPr>
        <p:spPr>
          <a:xfrm>
            <a:off x="9398000" y="5412480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398000" y="5374380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Gas detection &amp; monitoring</a:t>
            </a:r>
          </a:p>
        </p:txBody>
      </p:sp>
      <p:sp>
        <p:nvSpPr>
          <p:cNvPr id="113" name="Oval 112"/>
          <p:cNvSpPr/>
          <p:nvPr/>
        </p:nvSpPr>
        <p:spPr>
          <a:xfrm>
            <a:off x="9398000" y="5613698"/>
            <a:ext cx="31750" cy="3175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98000" y="5575598"/>
            <a:ext cx="1981200" cy="120650"/>
          </a:xfrm>
          <a:prstGeom prst="rect">
            <a:avLst/>
          </a:prstGeom>
          <a:noFill/>
        </p:spPr>
        <p:txBody>
          <a:bodyPr wrap="none" lIns="8890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Electrical power &amp; controls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9600" y="6445250"/>
            <a:ext cx="36334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11 / 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838263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7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7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Industry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Seven sectors, one discipline: contamination control under code and class.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t="14386" b="14386"/>
          <a:stretch>
            <a:fillRect/>
          </a:stretch>
        </p:blipFill>
        <p:spPr>
          <a:xfrm>
            <a:off x="609600" y="1701800"/>
            <a:ext cx="2628900" cy="125611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096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2d759c1b963bb9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" y="3103963"/>
            <a:ext cx="279400" cy="279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66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Semiconductor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&amp; assembly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09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microsoft-kul03.jpg"/>
          <p:cNvPicPr>
            <a:picLocks noChangeAspect="1"/>
          </p:cNvPicPr>
          <p:nvPr/>
        </p:nvPicPr>
        <p:blipFill>
          <a:blip r:embed="rId5"/>
          <a:srcRect t="14184" b="14184"/>
          <a:stretch>
            <a:fillRect/>
          </a:stretch>
        </p:blipFill>
        <p:spPr>
          <a:xfrm>
            <a:off x="3390900" y="1701800"/>
            <a:ext cx="2628900" cy="125611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33909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7b5162a93860da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7900" y="3103963"/>
            <a:ext cx="279400" cy="279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179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Data Centre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79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cooling, security, uptime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northvolt.jpg"/>
          <p:cNvPicPr>
            <a:picLocks noChangeAspect="1"/>
          </p:cNvPicPr>
          <p:nvPr/>
        </p:nvPicPr>
        <p:blipFill>
          <a:blip r:embed="rId7"/>
          <a:srcRect t="14308" b="14308"/>
          <a:stretch>
            <a:fillRect/>
          </a:stretch>
        </p:blipFill>
        <p:spPr>
          <a:xfrm>
            <a:off x="6172200" y="1701800"/>
            <a:ext cx="2628900" cy="125611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722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2254e19f3fd52c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9200" y="3103963"/>
            <a:ext cx="279400" cy="27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992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EV Battery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92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rooms, moisture control, explosion proofing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53500" y="17018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klcc-dcp.jpg"/>
          <p:cNvPicPr>
            <a:picLocks noChangeAspect="1"/>
          </p:cNvPicPr>
          <p:nvPr/>
        </p:nvPicPr>
        <p:blipFill>
          <a:blip r:embed="rId9"/>
          <a:srcRect t="14308" b="14308"/>
          <a:stretch>
            <a:fillRect/>
          </a:stretch>
        </p:blipFill>
        <p:spPr>
          <a:xfrm>
            <a:off x="8953500" y="1701800"/>
            <a:ext cx="2628900" cy="1256113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8953500" y="29579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42abb2a0250a263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0500" y="3103963"/>
            <a:ext cx="279400" cy="279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80500" y="34976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District Cooling &amp; Heating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0500" y="36919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Urban energy plant and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first-solar.jpg"/>
          <p:cNvPicPr>
            <a:picLocks noChangeAspect="1"/>
          </p:cNvPicPr>
          <p:nvPr/>
        </p:nvPicPr>
        <p:blipFill>
          <a:blip r:embed="rId11"/>
          <a:srcRect t="14400" b="14400"/>
          <a:stretch>
            <a:fillRect/>
          </a:stretch>
        </p:blipFill>
        <p:spPr>
          <a:xfrm>
            <a:off x="609600" y="4102100"/>
            <a:ext cx="2628900" cy="1256113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096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15d111e96fdac7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600" y="5504263"/>
            <a:ext cx="279400" cy="279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366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Photovoltaics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6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Cell and module lines, toxic material handling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909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pharmaniaga.jpg"/>
          <p:cNvPicPr>
            <a:picLocks noChangeAspect="1"/>
          </p:cNvPicPr>
          <p:nvPr/>
        </p:nvPicPr>
        <p:blipFill>
          <a:blip r:embed="rId13"/>
          <a:srcRect t="14164" b="14164"/>
          <a:stretch>
            <a:fillRect/>
          </a:stretch>
        </p:blipFill>
        <p:spPr>
          <a:xfrm>
            <a:off x="3390900" y="4102100"/>
            <a:ext cx="2628900" cy="1256113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33909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8ffbfbf647a81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5504263"/>
            <a:ext cx="279400" cy="279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5179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Pharmaceuticals &amp; Hospitals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179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grades, regulated environments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72200" y="4102100"/>
            <a:ext cx="2628900" cy="2247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ind-food.jpg"/>
          <p:cNvPicPr>
            <a:picLocks noChangeAspect="1"/>
          </p:cNvPicPr>
          <p:nvPr/>
        </p:nvPicPr>
        <p:blipFill>
          <a:blip r:embed="rId15"/>
          <a:srcRect t="14355" b="14355"/>
          <a:stretch>
            <a:fillRect/>
          </a:stretch>
        </p:blipFill>
        <p:spPr>
          <a:xfrm>
            <a:off x="6172200" y="4102100"/>
            <a:ext cx="2628900" cy="1256113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172200" y="5358213"/>
            <a:ext cx="26289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9" name="Picture 48" descr="733fe00a3df82e6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99200" y="5504263"/>
            <a:ext cx="279400" cy="279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299200" y="5897963"/>
            <a:ext cx="23749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Food &amp; Beverage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9200" y="6092228"/>
            <a:ext cx="237490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Hygienic design, quality and safety standards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53500" y="4102100"/>
            <a:ext cx="2628900" cy="22479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3" name="Picture 52" descr="fd352321f5524ec4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69400" y="4779067"/>
            <a:ext cx="355600" cy="3556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169400" y="5268017"/>
            <a:ext cx="1132878" cy="184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</a:rPr>
              <a:t>Your facility next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69400" y="5538489"/>
            <a:ext cx="148242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Total facility solutions, end to end.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12 / 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8161" y="6429375"/>
            <a:ext cx="7441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THE COMPANY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76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02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Project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02.1 TO 02.47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235+ projects completed across three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Over 1.5 million m² of cleanroom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3 to ISO 8 · Class 1 to Class 100K</a:t>
            </a:r>
          </a:p>
        </p:txBody>
      </p:sp>
      <p:pic>
        <p:nvPicPr>
          <p:cNvPr id="15" name="Picture 14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13 / 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29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29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41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Portfolio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the reference book breaks down by region, and which sections cover what.</a:t>
            </a:r>
          </a:p>
        </p:txBody>
      </p:sp>
      <p:pic>
        <p:nvPicPr>
          <p:cNvPr id="10" name="Picture 9" descr="map-my-s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" y="1882625"/>
            <a:ext cx="3395066" cy="251738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80833"/>
            <a:ext cx="3522066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80833"/>
            <a:ext cx="35220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300" y="4720533"/>
            <a:ext cx="32426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02.2 TO 02.4 · 02.8 TO 02.10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300" y="4834833"/>
            <a:ext cx="324266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300" y="5071669"/>
            <a:ext cx="3242666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data centre, pharmaceutical, photovoltaics, district cooling and energy.</a:t>
            </a:r>
          </a:p>
        </p:txBody>
      </p:sp>
      <p:pic>
        <p:nvPicPr>
          <p:cNvPr id="16" name="Picture 15" descr="map-europ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366" y="1809445"/>
            <a:ext cx="3395167" cy="266374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34866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4866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4566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02.5 TO 02.6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4566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Europe &amp; Morocco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4566" y="5071669"/>
            <a:ext cx="3242767" cy="2730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00"/>
              </a:lnSpc>
            </a:pPr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EV battery gigafactories, wafer fabs and advanced semiconductor in Sweden, Norway, France, Poland and Morocco.</a:t>
            </a:r>
          </a:p>
        </p:txBody>
      </p:sp>
      <p:pic>
        <p:nvPicPr>
          <p:cNvPr id="22" name="Picture 21" descr="map-chin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733" y="1870680"/>
            <a:ext cx="3395167" cy="2541272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60233" y="4580833"/>
            <a:ext cx="3522167" cy="95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0233" y="4580833"/>
            <a:ext cx="35221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9933" y="4720533"/>
            <a:ext cx="324276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9933" y="4834833"/>
            <a:ext cx="324276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933" y="5071669"/>
            <a:ext cx="3242767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Semiconductor, display, pharmaceutical, automotive and R&amp;D facilities.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235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PROJECTS COMPLETED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9133" y="5698433"/>
            <a:ext cx="3513633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070"/>
              </a:lnSpc>
            </a:pPr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1.5</a:t>
            </a:r>
            <a:r>
              <a:rPr sz="1300" b="0" i="0" spc="-13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mil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39133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8666" y="5698433"/>
            <a:ext cx="3513633" cy="406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300" b="1" i="0" spc="-69">
                <a:solidFill>
                  <a:srgbClr val="101A2B"/>
                </a:solidFill>
                <a:latin typeface="Poppins"/>
                <a:ea typeface="Poppins"/>
                <a:cs typeface="Poppin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8666" y="6107309"/>
            <a:ext cx="35136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CONTRACT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8666" y="6240659"/>
            <a:ext cx="3513633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 Medium"/>
                <a:ea typeface="Urbanist Medium"/>
                <a:cs typeface="Urbanist Medium"/>
              </a:rPr>
              <a:t>GC · EPCC · EPCM · PCC · Tool Hookup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41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41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61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Malaysia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Wafer fab, advanced packaging, test and assembly. The full reference list follows from 02.11.</a:t>
            </a:r>
          </a:p>
        </p:txBody>
      </p:sp>
      <p:pic>
        <p:nvPicPr>
          <p:cNvPr id="10" name="Picture 9" descr="infineon-kulim.jpg"/>
          <p:cNvPicPr>
            <a:picLocks noChangeAspect="1"/>
          </p:cNvPicPr>
          <p:nvPr/>
        </p:nvPicPr>
        <p:blipFill>
          <a:blip r:embed="rId3"/>
          <a:srcRect t="12732" b="12732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KEDAH · GREENFIELD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Kulim Wafer Fab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 for WP06, KLM3 Expansion, 35,000 m² cleanroom area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cleanroom and mechanical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· 6 · 7 (CLASS 10 · 100 · 1K · 10K)</a:t>
            </a:r>
          </a:p>
        </p:txBody>
      </p:sp>
      <p:pic>
        <p:nvPicPr>
          <p:cNvPr id="29" name="Picture 28" descr="p-project.jpg"/>
          <p:cNvPicPr>
            <a:picLocks noChangeAspect="1"/>
          </p:cNvPicPr>
          <p:nvPr/>
        </p:nvPicPr>
        <p:blipFill>
          <a:blip r:embed="rId4"/>
          <a:srcRect t="12472" b="12472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ADVANCED PACKAGING · 75,000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Progressive-built EPCM contract model for the client's advanced packaging facility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GC: CSA, MEP, process utilities, chemical &amp; gases system, waste treatment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TO 7 (CLASS 10 TO 10K)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15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49567" y="6429375"/>
            <a:ext cx="15327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MALAYSIA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Design &amp; build EPCM in Singapore since 2023.</a:t>
            </a:r>
          </a:p>
        </p:txBody>
      </p:sp>
      <p:pic>
        <p:nvPicPr>
          <p:cNvPr id="10" name="Picture 9" descr="teksend.jpg"/>
          <p:cNvPicPr>
            <a:picLocks noChangeAspect="1"/>
          </p:cNvPicPr>
          <p:nvPr/>
        </p:nvPicPr>
        <p:blipFill>
          <a:blip r:embed="rId3"/>
          <a:srcRect t="12773" b="12773"/>
          <a:stretch>
            <a:fillRect/>
          </a:stretch>
        </p:blipFill>
        <p:spPr>
          <a:xfrm>
            <a:off x="609600" y="174059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13942"/>
            <a:ext cx="5346700" cy="18971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PHOTOMASK FACILITY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Teksend Photomask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49530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006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495300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0062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495300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0062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022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Addition and alteration to an existing two-storey building with cleanroom facilities and ancillary office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388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340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7150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ACMV, electrical, process utility, BMS, PA, WWT, UPW, tool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9118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60071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600075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micron-msh.jpg"/>
          <p:cNvPicPr>
            <a:picLocks noChangeAspect="1"/>
          </p:cNvPicPr>
          <p:nvPr/>
        </p:nvPicPr>
        <p:blipFill>
          <a:blip r:embed="rId4"/>
          <a:srcRect t="12525" b="12525"/>
          <a:stretch>
            <a:fillRect/>
          </a:stretch>
        </p:blipFill>
        <p:spPr>
          <a:xfrm>
            <a:off x="6235700" y="174059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13942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139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56634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PROGRESSIVE TOOL HOOKUP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68699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MSH Tool HU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495300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0062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8100" y="53213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27900" y="53022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2,000 progressive tool hookup services for MSH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88100" y="54991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8100" y="55943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27900" y="55753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Progressive tool hook 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16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57791" y="6429375"/>
            <a:ext cx="162450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SINGAPORE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024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024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144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Data Centre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Hyperscale and colocation, 9.6 MW to 160 MW.</a:t>
            </a:r>
          </a:p>
        </p:txBody>
      </p:sp>
      <p:pic>
        <p:nvPicPr>
          <p:cNvPr id="10" name="Picture 9" descr="hyperscale-dc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94022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160 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Hyperscale Data Centre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Office, data halls and mechanical utility building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18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Construction, completion, testing &amp; commissioning for mechanical packages 1 &amp; 2</a:t>
            </a:r>
          </a:p>
        </p:txBody>
      </p:sp>
      <p:pic>
        <p:nvPicPr>
          <p:cNvPr id="22" name="Picture 21" descr="microsoft-kul03.jpg"/>
          <p:cNvPicPr>
            <a:picLocks noChangeAspect="1"/>
          </p:cNvPicPr>
          <p:nvPr/>
        </p:nvPicPr>
        <p:blipFill>
          <a:blip r:embed="rId4"/>
          <a:srcRect t="12521" b="12521"/>
          <a:stretch>
            <a:fillRect/>
          </a:stretch>
        </p:blipFill>
        <p:spPr>
          <a:xfrm>
            <a:off x="6235700" y="1940223"/>
            <a:ext cx="5346700" cy="267335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613573"/>
            <a:ext cx="5346700" cy="14979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61357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8100" y="476597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KUL03 PHASE 1 · 9.6 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488662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Microsoft DTC-KUL 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91275" y="515263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8100" y="520025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35666" y="515263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2491" y="520025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55209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7900" y="550188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9.6 MW data centre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8100" y="569873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8100" y="57939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27900" y="57749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CHW and CW piping works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3816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17 / 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0230" y="6429375"/>
            <a:ext cx="70207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DATA CENTRE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EV Battery · Europe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Dry rooms for the gigafactories: moisture control and contamination control at scale.</a:t>
            </a:r>
          </a:p>
        </p:txBody>
      </p:sp>
      <p:pic>
        <p:nvPicPr>
          <p:cNvPr id="10" name="Picture 9" descr="northvolt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SKELLEFTEÅ, SWEDEN · 62,000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Northvolt AB Gigafactory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423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248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Europe gigafactory for lithium-ion battery manufacture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architecture works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7" name="Picture 26" descr="morrow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NORWAY · BATTERY COAST · 8,600 M²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Morrow Batteries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76678" y="502285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73503" y="507047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Norway's Battery Coast project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dry room architectural system, ACMV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ENVIRONMENT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18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31958" y="6429375"/>
            <a:ext cx="11504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EV BATTERY · EUROPE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· Europe &amp; Morocco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Following the fabs into Europe: advanced-node cleanrooms and progressive hookup.</a:t>
            </a:r>
          </a:p>
        </p:txBody>
      </p:sp>
      <p:pic>
        <p:nvPicPr>
          <p:cNvPr id="10" name="Picture 9" descr="confidential-cmos.jpg"/>
          <p:cNvPicPr>
            <a:picLocks noChangeAspect="1"/>
          </p:cNvPicPr>
          <p:nvPr/>
        </p:nvPicPr>
        <p:blipFill>
          <a:blip r:embed="rId3"/>
          <a:srcRect t="12720" b="1272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CLIENT CONFIDENTIAL · WAFER FAB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28/22nm CMOS · 16/12nm FinFET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Design, supply, installation &amp; commissioning of cleanroom facilities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&amp; mechanical general contractor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CLASS 1 TO CLASS 10K</a:t>
            </a:r>
          </a:p>
        </p:txBody>
      </p:sp>
      <p:pic>
        <p:nvPicPr>
          <p:cNvPr id="29" name="Picture 28" descr="st-casablanca.jpg"/>
          <p:cNvPicPr>
            <a:picLocks noChangeAspect="1"/>
          </p:cNvPicPr>
          <p:nvPr/>
        </p:nvPicPr>
        <p:blipFill>
          <a:blip r:embed="rId4"/>
          <a:srcRect t="12798" b="12798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CASABLANCA, MOROCCO · 60,000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60,000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mechanical, electrical, process utilities and hookup works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19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52463" y="6429375"/>
            <a:ext cx="14298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SEMICONDUCTOR · EUROPE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222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222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2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Semiconductor &amp; Display · 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EPCC across semiconductor, display and precision manufacturing.</a:t>
            </a:r>
          </a:p>
        </p:txBody>
      </p:sp>
      <p:pic>
        <p:nvPicPr>
          <p:cNvPr id="10" name="Picture 9" descr="ferrotec-hangzhou.jpg"/>
          <p:cNvPicPr>
            <a:picLocks noChangeAspect="1"/>
          </p:cNvPicPr>
          <p:nvPr/>
        </p:nvPicPr>
        <p:blipFill>
          <a:blip r:embed="rId3"/>
          <a:srcRect t="1798" b="1798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HANGZHOU · 23,400 M²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Ferrotec Semiconductor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23,400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 · 5 (CLASS 10 &amp; 100)</a:t>
            </a:r>
          </a:p>
        </p:txBody>
      </p:sp>
      <p:pic>
        <p:nvPicPr>
          <p:cNvPr id="29" name="Picture 28" descr="infineon-wuxi.jpg"/>
          <p:cNvPicPr>
            <a:picLocks noChangeAspect="1"/>
          </p:cNvPicPr>
          <p:nvPr/>
        </p:nvPicPr>
        <p:blipFill>
          <a:blip r:embed="rId4"/>
          <a:srcRect t="11489" b="11489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WUXI · 8,000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356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24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491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173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8,000 m²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cleanroom, mechanical, electrical and plumbing works and hookup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407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20 / 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50809" y="6429375"/>
            <a:ext cx="3315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CHINA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0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0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Photovoltaics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Solar cell and module manufacturing, including toxic material and waste handling.</a:t>
            </a:r>
          </a:p>
        </p:txBody>
      </p:sp>
      <p:pic>
        <p:nvPicPr>
          <p:cNvPr id="10" name="Picture 9" descr="first-solar.jpg"/>
          <p:cNvPicPr>
            <a:picLocks noChangeAspect="1"/>
          </p:cNvPicPr>
          <p:nvPr/>
        </p:nvPicPr>
        <p:blipFill>
          <a:blip r:embed="rId3"/>
          <a:srcRect t="12747" b="12747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KULIM, 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First Solar Malaysia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5720" y="502285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2545" y="507047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First Solar KMW building in Kulim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mechanical &amp; electrical, KMW building; CSA and M&amp;E for forming gas plant; M&amp;E for SCO1</a:t>
            </a:r>
          </a:p>
        </p:txBody>
      </p:sp>
      <p:pic>
        <p:nvPicPr>
          <p:cNvPr id="26" name="Picture 25" descr="chint-solar.jpg"/>
          <p:cNvPicPr>
            <a:picLocks noChangeAspect="1"/>
          </p:cNvPicPr>
          <p:nvPr/>
        </p:nvPicPr>
        <p:blipFill>
          <a:blip r:embed="rId4"/>
          <a:srcRect t="10386" b="10386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 · 57,000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Chint Solar Technology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0523" y="5022850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7348" y="5070475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61584" y="5022850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8409" y="5070475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Built-up area up to 57,000 m²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ACMV, process utilities and tools hookup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45250"/>
            <a:ext cx="3838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21 / 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6242" y="6429375"/>
            <a:ext cx="8561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PHOTOVOLTAICS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420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420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40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Pharmaceutical &amp; Medical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GMP grades and regulated environments, from parenteral facilities to medical device plants.</a:t>
            </a:r>
          </a:p>
        </p:txBody>
      </p:sp>
      <p:pic>
        <p:nvPicPr>
          <p:cNvPr id="10" name="Picture 9" descr="insulet.jpg"/>
          <p:cNvPicPr>
            <a:picLocks noChangeAspect="1"/>
          </p:cNvPicPr>
          <p:nvPr/>
        </p:nvPicPr>
        <p:blipFill>
          <a:blip r:embed="rId3"/>
          <a:srcRect t="12700" b="12700"/>
          <a:stretch>
            <a:fillRect/>
          </a:stretch>
        </p:blipFill>
        <p:spPr>
          <a:xfrm>
            <a:off x="609600" y="1810442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GREENFIELD · MEDICAL DEVICE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Insulet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2285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07047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9566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6391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58814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5639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Electronic medical device manufacturing plant, greenfield project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 mechanical, cleanroom &amp; electrical package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20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18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9" name="Picture 28" descr="pharmaniaga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235700" y="1810442"/>
            <a:ext cx="5346700" cy="267335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35700" y="4483792"/>
            <a:ext cx="5346700" cy="1757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5700" y="448379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4636192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PUCHONG, SELANGOR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8100" y="4756842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Pharmaniaga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91275" y="5022850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8100" y="5070475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0523" y="502285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7348" y="507047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8100" y="53911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27900" y="537210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Small volume parenteral facility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88100" y="556895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88100" y="566420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7900" y="5645150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air conditioning and mechanical ventilation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8100" y="5842000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8100" y="5937250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27900" y="5930900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· 7 · 8 (CLASS 100 · 10K · 100K)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22 / 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6175" y="6429375"/>
            <a:ext cx="15461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PHARMACEUTICAL &amp; MEDICAL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419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419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5395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District Cooling &amp;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Plant, chillers and co-generation for urban and industrial energy.</a:t>
            </a:r>
          </a:p>
        </p:txBody>
      </p:sp>
      <p:pic>
        <p:nvPicPr>
          <p:cNvPr id="10" name="Picture 9" descr="klcc-dcp.jpg"/>
          <p:cNvPicPr>
            <a:picLocks noChangeAspect="1"/>
          </p:cNvPicPr>
          <p:nvPr/>
        </p:nvPicPr>
        <p:blipFill>
          <a:blip r:embed="rId3"/>
          <a:srcRect t="12651" b="12651"/>
          <a:stretch>
            <a:fillRect/>
          </a:stretch>
        </p:blipFill>
        <p:spPr>
          <a:xfrm>
            <a:off x="609600" y="1870373"/>
            <a:ext cx="5346700" cy="26733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543723"/>
            <a:ext cx="5346700" cy="16241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GAS DISTRICT COOLING (M) SDN BHD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District Cooling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5175" y="5082781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5130406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623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6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2391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19216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1800" y="5444731"/>
            <a:ext cx="41021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LARGEST DISTRICT COOLING CENTRE IN MALAYSIA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5615388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710638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1800" y="5691588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ACMV, electrical &amp; instrumentation, fire protection, process utility, plumbing &amp; sanitary, water treatment, CSA</a:t>
            </a:r>
          </a:p>
        </p:txBody>
      </p:sp>
      <p:pic>
        <p:nvPicPr>
          <p:cNvPr id="26" name="Picture 25" descr="gdc-putrajaya.jpg"/>
          <p:cNvPicPr>
            <a:picLocks noChangeAspect="1"/>
          </p:cNvPicPr>
          <p:nvPr/>
        </p:nvPicPr>
        <p:blipFill>
          <a:blip r:embed="rId4"/>
          <a:srcRect t="12773" b="12773"/>
          <a:stretch>
            <a:fillRect/>
          </a:stretch>
        </p:blipFill>
        <p:spPr>
          <a:xfrm>
            <a:off x="6235700" y="1870373"/>
            <a:ext cx="5346700" cy="267335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543723"/>
            <a:ext cx="5346700" cy="16376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543723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8100" y="4696123"/>
            <a:ext cx="50419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PICC PLANT, PUTRAJAYA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8100" y="4816773"/>
            <a:ext cx="50419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GDC Putrajaya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91275" y="5082781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8100" y="5130406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35666" y="5082781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32491" y="5130406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71820" y="5082781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645" y="5130406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8100" y="545108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DESCRIPTION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27900" y="5432031"/>
            <a:ext cx="41021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For the Putrajaya International Convention Centre (PICC) plant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8100" y="5628881"/>
            <a:ext cx="50419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8100" y="5724131"/>
            <a:ext cx="838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27900" y="5705081"/>
            <a:ext cx="4102100" cy="2603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00"/>
              </a:lnSpc>
            </a:pPr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plant electrification, chiller replacement and associated works at Gas District Cooling Putrajaya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8095" y="6429375"/>
            <a:ext cx="1574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DISTRICT COOLING &amp; ENERGY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701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701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38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1–2 of 73 from IAQ’s own reference list.</a:t>
            </a:r>
          </a:p>
        </p:txBody>
      </p:sp>
      <p:pic>
        <p:nvPicPr>
          <p:cNvPr id="10" name="Picture 9" descr="p2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Micron F10A &amp; F10NX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Interior design &amp; mechanical fit out, F10NX office optimisation</a:t>
            </a:r>
          </a:p>
        </p:txBody>
      </p:sp>
      <p:pic>
        <p:nvPicPr>
          <p:cNvPr id="21" name="Picture 20" descr="p2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Caterpillar Asia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Three storey office renovation, 7T office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3–4 of 73 from IAQ’s own reference list.</a:t>
            </a:r>
          </a:p>
        </p:txBody>
      </p:sp>
      <p:pic>
        <p:nvPicPr>
          <p:cNvPr id="10" name="Picture 9" descr="p2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&amp; build GC, greenfield food flavouring plant, 40,000 m²</a:t>
            </a:r>
          </a:p>
        </p:txBody>
      </p:sp>
      <p:pic>
        <p:nvPicPr>
          <p:cNvPr id="19" name="Picture 18" descr="p2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Kuching 40K Expansion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976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944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Design and build, wafer fab extension, 30K to 40K capacity, 40,000 m²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 &amp;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25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5–6 of 73 from IAQ’s own reference list.</a:t>
            </a:r>
          </a:p>
        </p:txBody>
      </p:sp>
      <p:pic>
        <p:nvPicPr>
          <p:cNvPr id="10" name="Picture 9" descr="p2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PR1A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 consultant, new greenfield plant, 45,000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 &amp; 7</a:t>
            </a:r>
          </a:p>
        </p:txBody>
      </p:sp>
      <p:pic>
        <p:nvPicPr>
          <p:cNvPr id="24" name="Picture 23" descr="p2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Robert Bosch Testing Manufacturing Plant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greenfield testing and manufacturing plant, 25,000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7–8 of 73 from IAQ’s own reference list.</a:t>
            </a:r>
          </a:p>
        </p:txBody>
      </p:sp>
      <p:pic>
        <p:nvPicPr>
          <p:cNvPr id="10" name="Picture 9" descr="p2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Wafer Fab Facility &amp; Expansion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and design &amp; build, FAB1E A/B expansion, new CUB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2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 Project – MEP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275956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282306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SPECIALIST CONTRACTING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Retrofit existing office into mega lab, 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2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9–10 of 73 from IAQ’s own reference list.</a:t>
            </a:r>
          </a:p>
        </p:txBody>
      </p:sp>
      <p:pic>
        <p:nvPicPr>
          <p:cNvPr id="10" name="Picture 9" descr="p2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Instrument,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Facilitation works for residual management, 32,000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2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KUALA LUMPUR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Texas Instrument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DLP cleanroom project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44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51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51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716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11–12 of 73 from IAQ’s own reference list.</a:t>
            </a:r>
          </a:p>
        </p:txBody>
      </p:sp>
      <p:pic>
        <p:nvPicPr>
          <p:cNvPr id="10" name="Picture 9" descr="p2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PETALING JAYA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Western Digital (M)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Phase 2 and 3 renovation, mechanical, electrical and cleanroom</a:t>
            </a:r>
          </a:p>
        </p:txBody>
      </p:sp>
      <p:pic>
        <p:nvPicPr>
          <p:cNvPr id="23" name="Picture 22" descr="p2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PENANG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WD Media (M)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976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944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MA 28 &amp; MA 29, cleanroom, HVAC, FMCS, hookup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29 / 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94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94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633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13–14 of 73 from IAQ’s own reference list.</a:t>
            </a:r>
          </a:p>
        </p:txBody>
      </p:sp>
      <p:pic>
        <p:nvPicPr>
          <p:cNvPr id="10" name="Picture 9" descr="p2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JOHOR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STMicroelectronics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3 storey production factory, cleanroom and ACMV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4" name="Picture 23" descr="p2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MELAKA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Infineon Technologies (M) Sdn Bhd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EPCM-GMP, Block 8 testing, probe &amp; assembly, 43,000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6,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30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31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31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51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15–16 of 73 from IAQ’s own reference list.</a:t>
            </a:r>
          </a:p>
        </p:txBody>
      </p:sp>
      <p:pic>
        <p:nvPicPr>
          <p:cNvPr id="10" name="Picture 9" descr="p3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MEMC Ipoh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7331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74156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 project, MEP, cleanroom, FMCS, CSA and tools hookup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3 TO 7 (CLASS 1–10K)</a:t>
            </a:r>
          </a:p>
        </p:txBody>
      </p:sp>
      <p:pic>
        <p:nvPicPr>
          <p:cNvPr id="26" name="Picture 25" descr="p3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Flextronic Shah Alam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33kV substation, mechanical, cleanroom, civil and structural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81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31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42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42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62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17–18 of 73 from IAQ’s own reference list.</a:t>
            </a:r>
          </a:p>
        </p:txBody>
      </p:sp>
      <p:pic>
        <p:nvPicPr>
          <p:cNvPr id="10" name="Picture 9" descr="p31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AUO Sunpower Melaka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8755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5580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Fab 3A solar cell manufacturing, CSA, utilities, HVAC, electrical</a:t>
            </a:r>
          </a:p>
        </p:txBody>
      </p:sp>
      <p:pic>
        <p:nvPicPr>
          <p:cNvPr id="23" name="Picture 22" descr="p3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Vital Healthcare Sdn Bhd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GC, medical device plant, 33kV substation, MEP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32 / 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56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56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682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19–20 of 73 from IAQ’s own reference list.</a:t>
            </a:r>
          </a:p>
        </p:txBody>
      </p:sp>
      <p:pic>
        <p:nvPicPr>
          <p:cNvPr id="10" name="Picture 9" descr="p3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Ain Medicare Sdn Bhd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CSA, cleanroom and M&amp;E, pharmaceutical building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6" name="Picture 25" descr="p3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Elegant Aura (M) Sdn Bhd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97614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4439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for HVAC and cleanroom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GMP GRADE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3994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33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9161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9161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81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21–22 of 73 from IAQ’s own reference list.</a:t>
            </a:r>
          </a:p>
        </p:txBody>
      </p:sp>
      <p:pic>
        <p:nvPicPr>
          <p:cNvPr id="10" name="Picture 9" descr="p3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SINGAPORE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National University of Singapore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M&amp;E and cleanroom, tissue culture laboratory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pic>
        <p:nvPicPr>
          <p:cNvPr id="22" name="Picture 21" descr="p3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Matrix (M) Sdn Bhd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8366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5191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69427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6252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PCC, CSA, HVAC, electrical, fire protection and process utilities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3977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34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30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30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24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23–24 of 73 from IAQ’s own reference list.</a:t>
            </a:r>
          </a:p>
        </p:txBody>
      </p:sp>
      <p:pic>
        <p:nvPicPr>
          <p:cNvPr id="10" name="Picture 9" descr="p36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T Hasegawa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Spray dryer &amp; microwave tunnel renovation, MDR mechanical, ACMV</a:t>
            </a:r>
          </a:p>
        </p:txBody>
      </p:sp>
      <p:pic>
        <p:nvPicPr>
          <p:cNvPr id="21" name="Picture 20" descr="p37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KLCC KGP KL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8366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5191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452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134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of two electrical centrifugal chillers, KLCC district cooling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25–26 of 73 from IAQ’s own reference list.</a:t>
            </a:r>
          </a:p>
        </p:txBody>
      </p:sp>
      <p:pic>
        <p:nvPicPr>
          <p:cNvPr id="10" name="Picture 9" descr="p38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MCD Chemical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Field erection of mechanical piping system</a:t>
            </a:r>
          </a:p>
        </p:txBody>
      </p:sp>
      <p:pic>
        <p:nvPicPr>
          <p:cNvPr id="19" name="Picture 18" descr="p39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Pagoh Education Hub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EPCC, operation and maintenance of DCS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36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Malaysia &amp; 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27–28 of 73 from IAQ’s own reference list.</a:t>
            </a:r>
          </a:p>
        </p:txBody>
      </p:sp>
      <p:pic>
        <p:nvPicPr>
          <p:cNvPr id="10" name="Picture 9" descr="p39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MALAYSIA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Rapid Petronas Pengerang Co-gen Plant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erection, BoP piping &amp; WCCT, first co-gen plant in SEA</a:t>
            </a:r>
          </a:p>
        </p:txBody>
      </p:sp>
      <p:pic>
        <p:nvPicPr>
          <p:cNvPr id="19" name="Picture 18" descr="p4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Envision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532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500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dry room architecture works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3997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37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 &amp; Morocco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29–30 of 73 from IAQ’s own reference list.</a:t>
            </a:r>
          </a:p>
        </p:txBody>
      </p:sp>
      <p:pic>
        <p:nvPicPr>
          <p:cNvPr id="10" name="Picture 9" descr="p4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ACC Phase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Greenfield, 8,000 m² dry room architectural system, 35,000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DRY ROOM</a:t>
            </a:r>
          </a:p>
        </p:txBody>
      </p:sp>
      <p:pic>
        <p:nvPicPr>
          <p:cNvPr id="24" name="Picture 23" descr="p4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Soitec Semiconductor, Paris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MEP, 11,000 m²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45250"/>
            <a:ext cx="4019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38 / 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 &amp; Morocco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31–32 of 73 from IAQ’s own reference list.</a:t>
            </a:r>
          </a:p>
        </p:txBody>
      </p:sp>
      <p:pic>
        <p:nvPicPr>
          <p:cNvPr id="10" name="Picture 9" descr="p4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FRANCE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Xfab Semiconductor, Paris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MEP and tools hookup, progressive hookup, 5,000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4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MOROCCO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Nemotek, Rabat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cleanroom and MEP works, 11,000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0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39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8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8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06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Europe &amp; Morocco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33–34 of 73 from IAQ’s own reference list.</a:t>
            </a:r>
          </a:p>
        </p:txBody>
      </p:sp>
      <p:pic>
        <p:nvPicPr>
          <p:cNvPr id="10" name="Picture 9" descr="p4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Kimoto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01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mechanical &amp; electrical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6" name="Picture 25" descr="p4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POLAND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Sumika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53223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50048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9378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203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architecture, mechanical &amp; electrical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4030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40 / 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7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7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35–36 of 73 from IAQ’s own reference list.</a:t>
            </a:r>
          </a:p>
        </p:txBody>
      </p:sp>
      <p:pic>
        <p:nvPicPr>
          <p:cNvPr id="10" name="Picture 9" descr="p48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All-Cent RF Technology (Wuxi)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71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39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25,600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4" name="Picture 23" descr="p4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SMIC, Ningbo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3223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0048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EPCC for MEP works, 22,000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7960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41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8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85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05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37–38 of 73 from IAQ’s own reference list.</a:t>
            </a:r>
          </a:p>
        </p:txBody>
      </p:sp>
      <p:pic>
        <p:nvPicPr>
          <p:cNvPr id="10" name="Picture 9" descr="p50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Kunshan Visionox Display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7151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833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cleanroom, MEP and hookup works, 27,000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6" name="Picture 25" descr="p50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GS Magic Drive Inc.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68,000 m²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4, 5, 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4001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42 / 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29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29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1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39–40 of 73 from IAQ’s own reference list.</a:t>
            </a:r>
          </a:p>
        </p:txBody>
      </p:sp>
      <p:pic>
        <p:nvPicPr>
          <p:cNvPr id="10" name="Picture 9" descr="p51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STS Microelectronics (Shenzhen)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Class 1K system, 4,800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(CLASS 1K)</a:t>
            </a:r>
          </a:p>
        </p:txBody>
      </p:sp>
      <p:pic>
        <p:nvPicPr>
          <p:cNvPr id="22" name="Picture 21" descr="p51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Shantou Goworld Display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14,300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43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893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893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13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41–42 of 73 from IAQ’s own reference list.</a:t>
            </a:r>
          </a:p>
        </p:txBody>
      </p:sp>
      <p:pic>
        <p:nvPicPr>
          <p:cNvPr id="10" name="Picture 9" descr="p52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CSR Zhuzhou Electric Locomotive Research Institute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22,000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pic>
        <p:nvPicPr>
          <p:cNvPr id="22" name="Picture 21" descr="p52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M-Flex (Suzhou)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598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44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3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3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5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43–44 of 73 from IAQ’s own reference list.</a:t>
            </a:r>
          </a:p>
        </p:txBody>
      </p:sp>
      <p:pic>
        <p:nvPicPr>
          <p:cNvPr id="10" name="Picture 9" descr="p53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Maxtor Technology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95,000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&amp; 6</a:t>
            </a:r>
          </a:p>
        </p:txBody>
      </p:sp>
      <p:pic>
        <p:nvPicPr>
          <p:cNvPr id="22" name="Picture 21" descr="p53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MMI Industries (Wuxi)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7,200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5, 6, 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45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76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76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8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45–46 of 73 from IAQ’s own reference list.</a:t>
            </a:r>
          </a:p>
        </p:txBody>
      </p:sp>
      <p:pic>
        <p:nvPicPr>
          <p:cNvPr id="10" name="Picture 9" descr="p54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Snap On Asia Manufacturing (Kunshan)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232992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239342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ARCHITECTURE &amp; FIT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CSA, steel structure and MEP, 4,800 m²</a:t>
            </a:r>
          </a:p>
        </p:txBody>
      </p:sp>
      <p:pic>
        <p:nvPicPr>
          <p:cNvPr id="21" name="Picture 20" descr="p54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Huawei Technologies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3,400 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46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29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29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749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47–48 of 73 from IAQ’s own reference list.</a:t>
            </a:r>
          </a:p>
        </p:txBody>
      </p:sp>
      <p:pic>
        <p:nvPicPr>
          <p:cNvPr id="10" name="Picture 9" descr="p55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Golden Concord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222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90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38,500 m²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5 (CLASS 100)</a:t>
            </a:r>
          </a:p>
        </p:txBody>
      </p:sp>
      <p:pic>
        <p:nvPicPr>
          <p:cNvPr id="24" name="Picture 23" descr="p55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Shanghai Roche Pharmaceuticals Ltd.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3975" y="5391944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439569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8366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5191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PCC cleanroom and MEP works, 5,000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 (CLASS 100)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3980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18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18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384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49–50 of 73 from IAQ’s own reference list.</a:t>
            </a:r>
          </a:p>
        </p:txBody>
      </p:sp>
      <p:pic>
        <p:nvPicPr>
          <p:cNvPr id="10" name="Picture 9" descr="p56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Forecyte Bio Limited (Shanghai)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13,800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6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Ascentage Pharma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25,800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74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48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2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26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46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51–52 of 73 from IAQ’s own reference list.</a:t>
            </a:r>
          </a:p>
        </p:txBody>
      </p:sp>
      <p:pic>
        <p:nvPicPr>
          <p:cNvPr id="10" name="Picture 9" descr="p57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Jiangsu Genscript Biotech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6,000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7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Mindray Group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12,000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04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49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08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08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28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53–54 of 73 from IAQ’s own reference list.</a:t>
            </a:r>
          </a:p>
        </p:txBody>
      </p:sp>
      <p:pic>
        <p:nvPicPr>
          <p:cNvPr id="10" name="Picture 9" descr="p58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EpimAb Biotechnology Su Zhou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5,200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C &amp; D</a:t>
            </a:r>
          </a:p>
        </p:txBody>
      </p:sp>
      <p:pic>
        <p:nvPicPr>
          <p:cNvPr id="22" name="Picture 21" descr="p58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Longxiang Pharma Science and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46,000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B, C &amp;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4055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50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07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07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27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55–56 of 73 from IAQ’s own reference list.</a:t>
            </a:r>
          </a:p>
        </p:txBody>
      </p:sp>
      <p:pic>
        <p:nvPicPr>
          <p:cNvPr id="10" name="Picture 9" descr="p59t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Sumitomo Medical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3,000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pic>
        <p:nvPicPr>
          <p:cNvPr id="22" name="Picture 21" descr="p59b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Suzhou Capsugel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and MEP works, 21,500 m²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45250"/>
            <a:ext cx="3820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51 / 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017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017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37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57–58 of 73 from IAQ’s own reference list.</a:t>
            </a:r>
          </a:p>
        </p:txBody>
      </p:sp>
      <p:pic>
        <p:nvPicPr>
          <p:cNvPr id="10" name="Picture 9" descr="p60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AW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45,000 m²</a:t>
            </a:r>
          </a:p>
        </p:txBody>
      </p:sp>
      <p:pic>
        <p:nvPicPr>
          <p:cNvPr id="19" name="Picture 18" descr="p60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AAM Automobile (Changshu)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18,000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52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114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114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266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59–60 of 73 from IAQ’s own reference list.</a:t>
            </a:r>
          </a:p>
        </p:txBody>
      </p:sp>
      <p:pic>
        <p:nvPicPr>
          <p:cNvPr id="10" name="Picture 9" descr="p61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ZF (China) Investment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Electrical system, 44,000 m²</a:t>
            </a:r>
          </a:p>
        </p:txBody>
      </p:sp>
      <p:pic>
        <p:nvPicPr>
          <p:cNvPr id="19" name="Picture 18" descr="p61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Umicore Automotive Catalyst (Su Zhou) Co., Ltd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&amp; electrical system, 6,800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4002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53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8754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8754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74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61–62 of 73 from IAQ’s own reference list.</a:t>
            </a:r>
          </a:p>
        </p:txBody>
      </p:sp>
      <p:pic>
        <p:nvPicPr>
          <p:cNvPr id="10" name="Picture 9" descr="p62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Mary Kay (China) Cosmetics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26,000 m²</a:t>
            </a:r>
          </a:p>
        </p:txBody>
      </p:sp>
      <p:pic>
        <p:nvPicPr>
          <p:cNvPr id="21" name="Picture 20" descr="p62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Celestica (Dongguan-SSL) Technology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8724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9359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EPCC &amp; DESIGN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General contractor, 13,000 m²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445250"/>
            <a:ext cx="3984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54 / 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7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63–64 of 73 from IAQ’s own reference list.</a:t>
            </a:r>
          </a:p>
        </p:txBody>
      </p:sp>
      <p:pic>
        <p:nvPicPr>
          <p:cNvPr id="10" name="Picture 9" descr="p63t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Intercos Cosmetics (Suzhou)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30,000 m²</a:t>
            </a:r>
          </a:p>
        </p:txBody>
      </p:sp>
      <p:pic>
        <p:nvPicPr>
          <p:cNvPr id="21" name="Picture 20" descr="p63b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Voith Fabric (Kunshan) Co., Ltd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EPC for mechanical and electrical system, 11,000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09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55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99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99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197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65–66 of 73 from IAQ’s own reference list.</a:t>
            </a:r>
          </a:p>
        </p:txBody>
      </p:sp>
      <p:pic>
        <p:nvPicPr>
          <p:cNvPr id="10" name="Picture 9" descr="p64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HVOLT Lithium-ion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Air-conditioning system, 79,000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5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Jiang Su Senior Technology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70,000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&amp;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56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481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481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12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67–68 of 73 from IAQ’s own reference list.</a:t>
            </a:r>
          </a:p>
        </p:txBody>
      </p:sp>
      <p:pic>
        <p:nvPicPr>
          <p:cNvPr id="10" name="Picture 9" descr="p65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Jin Neng Clean Energy Technology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20,000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8 (CLASS 100K)</a:t>
            </a:r>
          </a:p>
        </p:txBody>
      </p:sp>
      <p:pic>
        <p:nvPicPr>
          <p:cNvPr id="22" name="Picture 21" descr="p66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Juli New Energy Co., Ltd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53223" y="5391944"/>
            <a:ext cx="96391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50048" y="5439569"/>
            <a:ext cx="97026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PROCESS UTILITIES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74284" y="5391944"/>
            <a:ext cx="79305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1109" y="5439569"/>
            <a:ext cx="79940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TOOL HOOK 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Cleanroom, ACMV, process utilities and tools hookup, 9,600 m²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36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6 &amp; 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445250"/>
            <a:ext cx="40054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57 / 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2236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69–70 of 73 from IAQ’s own reference list.</a:t>
            </a:r>
          </a:p>
        </p:txBody>
      </p:sp>
      <p:pic>
        <p:nvPicPr>
          <p:cNvPr id="10" name="Picture 9" descr="p66b.jpg"/>
          <p:cNvPicPr>
            <a:picLocks noChangeAspect="1"/>
          </p:cNvPicPr>
          <p:nvPr/>
        </p:nvPicPr>
        <p:blipFill>
          <a:blip r:embed="rId3"/>
          <a:srcRect l="7409" r="7409"/>
          <a:stretch>
            <a:fillRect/>
          </a:stretch>
        </p:blipFill>
        <p:spPr>
          <a:xfrm>
            <a:off x="609600" y="1701800"/>
            <a:ext cx="5346700" cy="313838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Baoding Fengfan Storage Battery Co., Ltd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391944"/>
            <a:ext cx="1092098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439569"/>
            <a:ext cx="1098448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CLEANROOM SYSTEMS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7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75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Cleanroom system, 4,000 m²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4700" y="5938044"/>
            <a:ext cx="5016500" cy="635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700" y="603329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CLEANROOM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500" y="6026944"/>
            <a:ext cx="42037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EC2326"/>
                </a:solidFill>
                <a:latin typeface="League Spartan Medium"/>
                <a:ea typeface="League Spartan Medium"/>
                <a:cs typeface="League Spartan Medium"/>
              </a:rPr>
              <a:t>ISO 7 (CLASS 10K)</a:t>
            </a:r>
          </a:p>
        </p:txBody>
      </p:sp>
      <p:pic>
        <p:nvPicPr>
          <p:cNvPr id="22" name="Picture 21" descr="p67t.jpg"/>
          <p:cNvPicPr>
            <a:picLocks noChangeAspect="1"/>
          </p:cNvPicPr>
          <p:nvPr/>
        </p:nvPicPr>
        <p:blipFill>
          <a:blip r:embed="rId4"/>
          <a:srcRect l="7409" r="7409"/>
          <a:stretch>
            <a:fillRect/>
          </a:stretch>
        </p:blipFill>
        <p:spPr>
          <a:xfrm>
            <a:off x="6235700" y="1701800"/>
            <a:ext cx="5346700" cy="313838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235700" y="4840186"/>
            <a:ext cx="5346700" cy="15098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35700" y="4840186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5005286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125936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Unilever R&amp;D Center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3975" y="5391944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439569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0130" y="5391944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6955" y="5439569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760244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13600" y="5741194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37,000 m²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45250"/>
            <a:ext cx="40262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58 / 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878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878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981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Projects 71–72 of 73 from IAQ’s own reference list.</a:t>
            </a:r>
          </a:p>
        </p:txBody>
      </p:sp>
      <p:pic>
        <p:nvPicPr>
          <p:cNvPr id="10" name="Picture 9" descr="p67b.jpg"/>
          <p:cNvPicPr>
            <a:picLocks noChangeAspect="1"/>
          </p:cNvPicPr>
          <p:nvPr/>
        </p:nvPicPr>
        <p:blipFill>
          <a:blip r:embed="rId3"/>
          <a:srcRect l="10662" r="10662"/>
          <a:stretch>
            <a:fillRect/>
          </a:stretch>
        </p:blipFill>
        <p:spPr>
          <a:xfrm>
            <a:off x="609600" y="1701800"/>
            <a:ext cx="5346700" cy="339794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47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7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GE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8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7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40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08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47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75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36,000 m²</a:t>
            </a:r>
          </a:p>
        </p:txBody>
      </p:sp>
      <p:pic>
        <p:nvPicPr>
          <p:cNvPr id="21" name="Picture 20" descr="p68t.jpg"/>
          <p:cNvPicPr>
            <a:picLocks noChangeAspect="1"/>
          </p:cNvPicPr>
          <p:nvPr/>
        </p:nvPicPr>
        <p:blipFill>
          <a:blip r:embed="rId4"/>
          <a:srcRect l="10662" r="10662"/>
          <a:stretch>
            <a:fillRect/>
          </a:stretch>
        </p:blipFill>
        <p:spPr>
          <a:xfrm>
            <a:off x="6235700" y="1701800"/>
            <a:ext cx="5346700" cy="339794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235700" y="5099742"/>
            <a:ext cx="5346700" cy="125025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5099742"/>
            <a:ext cx="53467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64842"/>
            <a:ext cx="5016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85492"/>
            <a:ext cx="501650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Dow Shanghai R&amp;D Center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3975" y="5651500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699125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0130" y="5651500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6955" y="5699125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019800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3600" y="6000750"/>
            <a:ext cx="42037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100,000 m²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59 / 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4068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40680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02.47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000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China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Project 73 of 73 from IAQ’s own reference list.</a:t>
            </a:r>
          </a:p>
        </p:txBody>
      </p:sp>
      <p:pic>
        <p:nvPicPr>
          <p:cNvPr id="10" name="Picture 9" descr="p68b.jpg"/>
          <p:cNvPicPr>
            <a:picLocks noChangeAspect="1"/>
          </p:cNvPicPr>
          <p:nvPr/>
        </p:nvPicPr>
        <p:blipFill>
          <a:blip r:embed="rId3"/>
          <a:srcRect t="7843" b="7843"/>
          <a:stretch>
            <a:fillRect/>
          </a:stretch>
        </p:blipFill>
        <p:spPr>
          <a:xfrm>
            <a:off x="609600" y="2660650"/>
            <a:ext cx="6477000" cy="2730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086600" y="2660650"/>
            <a:ext cx="4495800" cy="2730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2660650"/>
            <a:ext cx="19050" cy="273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59650" y="3562648"/>
            <a:ext cx="396875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9650" y="3683298"/>
            <a:ext cx="39687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Rohm and Haas (China) R&amp;D Center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2825" y="3949306"/>
            <a:ext cx="1079005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9650" y="3996931"/>
            <a:ext cx="1085355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ACMV &amp; MECHANICAL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98980" y="3949306"/>
            <a:ext cx="1577581" cy="168275"/>
          </a:xfrm>
          <a:prstGeom prst="rect">
            <a:avLst/>
          </a:prstGeom>
          <a:solidFill>
            <a:srgbClr val="D2232A">
              <a:alpha val="5500"/>
            </a:srgbClr>
          </a:solidFill>
          <a:ln w="6350">
            <a:solidFill>
              <a:srgbClr val="D2232A">
                <a:alpha val="34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5805" y="3996931"/>
            <a:ext cx="15839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580" b="0" i="0" spc="92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ELECTRICAL &amp; INSTRUMENTATION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59650" y="4317606"/>
            <a:ext cx="7112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08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2450" y="4298556"/>
            <a:ext cx="31559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1E2A3D"/>
                </a:solidFill>
                <a:latin typeface="Urbanist Medium"/>
                <a:ea typeface="Urbanist Medium"/>
                <a:cs typeface="Urbanist Medium"/>
              </a:rPr>
              <a:t>Mechanical and electrical system, 27,000 m²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40739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60 / 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2134" y="6429375"/>
            <a:ext cx="11601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PROJECT REFERENCES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090141"/>
            <a:ext cx="7852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PART 03 OF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99641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299816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Safety, Quality &amp; ESG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53459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SECTIONS 03.1 TO 03.6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126509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2852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Highwire Gold safety award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8210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ISO 45001:2018 occupational health &amp;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678959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 tons per annum carbon footprint reduction</a:t>
            </a:r>
          </a:p>
        </p:txBody>
      </p:sp>
      <p:pic>
        <p:nvPicPr>
          <p:cNvPr id="15" name="Picture 14" descr="esg-safe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304800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445250"/>
            <a:ext cx="383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61 / 67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3030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3030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1502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ESG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Three pillars, applied to operations and to every project we take on.</a:t>
            </a:r>
          </a:p>
        </p:txBody>
      </p:sp>
      <p:pic>
        <p:nvPicPr>
          <p:cNvPr id="10" name="Picture 9" descr="value-2.jpg"/>
          <p:cNvPicPr>
            <a:picLocks noChangeAspect="1"/>
          </p:cNvPicPr>
          <p:nvPr/>
        </p:nvPicPr>
        <p:blipFill>
          <a:blip r:embed="rId3"/>
          <a:srcRect t="4238" b="4238"/>
          <a:stretch>
            <a:fillRect/>
          </a:stretch>
        </p:blipFill>
        <p:spPr>
          <a:xfrm>
            <a:off x="609600" y="1701800"/>
            <a:ext cx="3539033" cy="316746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0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Environmental Responsibility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Minimising environmental footprint through sustainable design and construction. Energy-efficient solutions and eco-friendly technologies, prioritised at design stage.</a:t>
            </a:r>
          </a:p>
        </p:txBody>
      </p:sp>
      <p:pic>
        <p:nvPicPr>
          <p:cNvPr id="16" name="Picture 15" descr="value-3.jpg"/>
          <p:cNvPicPr>
            <a:picLocks noChangeAspect="1"/>
          </p:cNvPicPr>
          <p:nvPr/>
        </p:nvPicPr>
        <p:blipFill>
          <a:blip r:embed="rId4"/>
          <a:srcRect t="5250" b="5250"/>
          <a:stretch>
            <a:fillRect/>
          </a:stretch>
        </p:blipFill>
        <p:spPr>
          <a:xfrm>
            <a:off x="4326433" y="1701800"/>
            <a:ext cx="3539033" cy="316746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26433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433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8833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8833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Social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8833" y="5754688"/>
            <a:ext cx="3234233" cy="2682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The well-being and safety of employees and communities first. A diverse, inclusive work environment and ethical labour practices.</a:t>
            </a:r>
          </a:p>
        </p:txBody>
      </p:sp>
      <p:pic>
        <p:nvPicPr>
          <p:cNvPr id="22" name="Picture 21" descr="value-4.jpg"/>
          <p:cNvPicPr>
            <a:picLocks noChangeAspect="1"/>
          </p:cNvPicPr>
          <p:nvPr/>
        </p:nvPicPr>
        <p:blipFill>
          <a:blip r:embed="rId5"/>
          <a:srcRect t="4995" b="4995"/>
          <a:stretch>
            <a:fillRect/>
          </a:stretch>
        </p:blipFill>
        <p:spPr>
          <a:xfrm>
            <a:off x="8043266" y="1701800"/>
            <a:ext cx="3539033" cy="316746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043266" y="5047063"/>
            <a:ext cx="3539033" cy="1302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3266" y="5047063"/>
            <a:ext cx="3539033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5666" y="5155013"/>
            <a:ext cx="3234233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1" i="0" spc="-60">
                <a:solidFill>
                  <a:srgbClr val="EC2326"/>
                </a:solidFill>
                <a:latin typeface="Poppins"/>
                <a:ea typeface="Poppins"/>
                <a:cs typeface="Poppins"/>
              </a:rPr>
              <a:t>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5666" y="5491563"/>
            <a:ext cx="3234233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Corporate 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5666" y="5754688"/>
            <a:ext cx="3234233" cy="4159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62"/>
              </a:lnSpc>
            </a:pPr>
            <a:r>
              <a:rPr sz="7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Transparency, accountability and ethical decision-making, with the highest standards of compliance, building trust with clients, partners and stakeholders.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4045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62 / 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5173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5173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3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Certifications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Every management system independently registered, and every licence current.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28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ert-iso9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581" y="1778000"/>
            <a:ext cx="2323638" cy="32962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971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9001:2015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71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Quality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71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514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cert-iso1400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482" y="1778000"/>
            <a:ext cx="2333036" cy="329624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657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14001:2015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Environmental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657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0" y="1701800"/>
            <a:ext cx="2489200" cy="39875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cert-iso450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6280" y="1778000"/>
            <a:ext cx="2316639" cy="329624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34300" y="5156797"/>
            <a:ext cx="2260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ISO 45001:2018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4300" y="5339956"/>
            <a:ext cx="2260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Occupational Health &amp; 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5480450"/>
            <a:ext cx="22606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Intertek · valid to June 2029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900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CIDB Grade G7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Unlimited tender capacity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24461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38761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PKK Grade G7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8761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Government works registration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39322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53622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Highwire Gold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3622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Contractor safety performance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54183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68483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Energy Commission Class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8483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Suruhanjaya Tenaga, Malaysia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9044" y="5879802"/>
            <a:ext cx="2113261" cy="4701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8" name="Picture 37" descr="cert-bizsa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7038" y="5981402"/>
            <a:ext cx="283667" cy="13335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583344" y="5987752"/>
            <a:ext cx="1884661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C2326"/>
                </a:solidFill>
                <a:latin typeface="Urbanist SemiBold"/>
                <a:ea typeface="Urbanist SemiBold"/>
                <a:cs typeface="Urbanist SemiBold"/>
              </a:rPr>
              <a:t>bizSAFE Level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83344" y="6132512"/>
            <a:ext cx="1884661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WSH Council, Singapore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45250"/>
            <a:ext cx="4021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63 / 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award-mciea.jpg"/>
          <p:cNvPicPr>
            <a:picLocks noChangeAspect="1"/>
          </p:cNvPicPr>
          <p:nvPr/>
        </p:nvPicPr>
        <p:blipFill>
          <a:blip r:embed="rId2"/>
          <a:srcRect t="80" b="80"/>
          <a:stretch>
            <a:fillRect/>
          </a:stretch>
        </p:blipFill>
        <p:spPr>
          <a:xfrm>
            <a:off x="4381500" y="952500"/>
            <a:ext cx="7810500" cy="5105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381000"/>
            <a:ext cx="3490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25450"/>
            <a:ext cx="34905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253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1" name="Picture 10" descr="iaq-logo-tag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1377950"/>
            <a:ext cx="2413000" cy="1952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37"/>
              </a:lnSpc>
            </a:pPr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MALAYSIAN CONSTRUCTION INDUSTRY EXCELLENCE AWARDS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444625"/>
            <a:ext cx="3175000" cy="1244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0" b="1" i="0" spc="-350">
                <a:solidFill>
                  <a:srgbClr val="FFFFFF"/>
                </a:solidFill>
                <a:latin typeface="Poppins"/>
                <a:ea typeface="Poppins"/>
                <a:cs typeface="Poppins"/>
              </a:rP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463108"/>
            <a:ext cx="3175000" cy="355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000" b="0" i="0" spc="-50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Builder of the Year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912669"/>
            <a:ext cx="29845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3058719"/>
            <a:ext cx="2984500" cy="593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40"/>
              </a:lnSpc>
            </a:pPr>
            <a:r>
              <a:rPr sz="7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The Construction Industry Development Board’s highest recognition for a contractor. Recipients are judged across company performance, project management, technical expertise, innovation, quality, safety and sustainability.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28256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942556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AWARDED 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044156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IAQ Solutions Sdn Bhd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314031"/>
            <a:ext cx="29845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428331"/>
            <a:ext cx="29845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CONFERRED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29931"/>
            <a:ext cx="29845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 spc="-18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CIDB Malaysia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45250"/>
            <a:ext cx="4003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64 / 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3475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34756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8761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Safety &amp;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How our standards are independently verified and recognised.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8388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Judged on the things</a:t>
            </a:r>
          </a:p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that actually matter.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81255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  <a:ea typeface="Urbanist"/>
                <a:cs typeface="Urbanist"/>
              </a:rPr>
              <a:t>MCIEA recipients are assessed by CIDB against seven criteria. They are the same ground our clients audit us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711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650" y="336361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Builder of the Year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5650" y="3532486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MCIEA · CIDB Malaysia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23894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5650" y="3760394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Highwire safety rating, 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650" y="392925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Independent contractor audit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220667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650" y="4157167"/>
            <a:ext cx="612775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  <a:ea typeface="Urbanist SemiBold"/>
                <a:cs typeface="Urbanist SemiBold"/>
              </a:rPr>
              <a:t>ISO 45001:2018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650" y="4326039"/>
            <a:ext cx="6127750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Occupational health &amp; safety management</a:t>
            </a:r>
          </a:p>
        </p:txBody>
      </p:sp>
      <p:pic>
        <p:nvPicPr>
          <p:cNvPr id="21" name="Picture 20" descr="safety-review.jpg"/>
          <p:cNvPicPr>
            <a:picLocks noChangeAspect="1"/>
          </p:cNvPicPr>
          <p:nvPr/>
        </p:nvPicPr>
        <p:blipFill>
          <a:blip r:embed="rId3"/>
          <a:srcRect t="16985" b="16985"/>
          <a:stretch>
            <a:fillRect/>
          </a:stretch>
        </p:blipFill>
        <p:spPr>
          <a:xfrm>
            <a:off x="7391400" y="1701800"/>
            <a:ext cx="4191000" cy="307717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609600" y="4944072"/>
            <a:ext cx="10972800" cy="1405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944072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" y="5115522"/>
            <a:ext cx="108118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  <a:ea typeface="League Spartan SemiBold"/>
                <a:cs typeface="League Spartan SemiBold"/>
              </a:rPr>
              <a:t>THE SEVEN CRITERIA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02838" y="5115522"/>
            <a:ext cx="138906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ASSESSED BY CIDB MALAYSIA</a:t>
            </a:r>
          </a:p>
        </p:txBody>
      </p:sp>
      <p:sp>
        <p:nvSpPr>
          <p:cNvPr id="26" name="Oval 25"/>
          <p:cNvSpPr/>
          <p:nvPr/>
        </p:nvSpPr>
        <p:spPr>
          <a:xfrm>
            <a:off x="80486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fd16e9d4b23be9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5423497"/>
            <a:ext cx="158750" cy="1587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00100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Company 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Standing and delivery record</a:t>
            </a:r>
          </a:p>
        </p:txBody>
      </p:sp>
      <p:sp>
        <p:nvSpPr>
          <p:cNvPr id="31" name="Oval 30"/>
          <p:cNvSpPr/>
          <p:nvPr/>
        </p:nvSpPr>
        <p:spPr>
          <a:xfrm>
            <a:off x="233967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cb5e617e4f6059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0639" y="5423497"/>
            <a:ext cx="158750" cy="15875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34914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4914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Project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34914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Programme, cost and site control</a:t>
            </a:r>
          </a:p>
        </p:txBody>
      </p:sp>
      <p:sp>
        <p:nvSpPr>
          <p:cNvPr id="36" name="Oval 35"/>
          <p:cNvSpPr/>
          <p:nvPr/>
        </p:nvSpPr>
        <p:spPr>
          <a:xfrm>
            <a:off x="387459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2f8ec05e19f30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5555" y="5423497"/>
            <a:ext cx="158750" cy="1587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69830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9830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Technical expertise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9830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Engineering depth and method</a:t>
            </a:r>
          </a:p>
        </p:txBody>
      </p:sp>
      <p:sp>
        <p:nvSpPr>
          <p:cNvPr id="41" name="Oval 40"/>
          <p:cNvSpPr/>
          <p:nvPr/>
        </p:nvSpPr>
        <p:spPr>
          <a:xfrm>
            <a:off x="540950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93740f9917cf46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0470" y="5423497"/>
            <a:ext cx="158750" cy="1587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404745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4745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Innovation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4745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New method and technology</a:t>
            </a:r>
          </a:p>
        </p:txBody>
      </p:sp>
      <p:sp>
        <p:nvSpPr>
          <p:cNvPr id="46" name="Oval 45"/>
          <p:cNvSpPr/>
          <p:nvPr/>
        </p:nvSpPr>
        <p:spPr>
          <a:xfrm>
            <a:off x="6944322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8766c1eb082ad46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5284" y="5423497"/>
            <a:ext cx="158750" cy="1587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939559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9559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Quality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9559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Workmanship against the standard</a:t>
            </a:r>
          </a:p>
        </p:txBody>
      </p:sp>
      <p:sp>
        <p:nvSpPr>
          <p:cNvPr id="51" name="Oval 50"/>
          <p:cNvSpPr/>
          <p:nvPr/>
        </p:nvSpPr>
        <p:spPr>
          <a:xfrm>
            <a:off x="8479238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95c26a6560f2fd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60200" y="5423497"/>
            <a:ext cx="158750" cy="15875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474475" y="5725122"/>
            <a:ext cx="138251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74475" y="5845772"/>
            <a:ext cx="1382516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74475" y="6062859"/>
            <a:ext cx="1382516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Zero-harm practice on every site</a:t>
            </a:r>
          </a:p>
        </p:txBody>
      </p:sp>
      <p:sp>
        <p:nvSpPr>
          <p:cNvPr id="56" name="Oval 55"/>
          <p:cNvSpPr/>
          <p:nvPr/>
        </p:nvSpPr>
        <p:spPr>
          <a:xfrm>
            <a:off x="10014147" y="5342534"/>
            <a:ext cx="320675" cy="320675"/>
          </a:xfrm>
          <a:prstGeom prst="ellipse">
            <a:avLst/>
          </a:prstGeom>
          <a:noFill/>
          <a:ln w="9525">
            <a:solidFill>
              <a:srgbClr val="EC2326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7" name="Picture 56" descr="2efb3ecbb35812e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5109" y="5423497"/>
            <a:ext cx="158750" cy="15875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009384" y="5725122"/>
            <a:ext cx="138241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09384" y="5845772"/>
            <a:ext cx="1382414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19" b="0" i="0" spc="-18">
                <a:solidFill>
                  <a:srgbClr val="101A2B"/>
                </a:solidFill>
                <a:latin typeface="Poppins SemiBold"/>
                <a:ea typeface="Poppins SemiBold"/>
                <a:cs typeface="Poppins SemiBold"/>
              </a:rPr>
              <a:t>Sustainability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09384" y="6062859"/>
            <a:ext cx="1382414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  <a:ea typeface="Urbanist"/>
                <a:cs typeface="Urbanist"/>
              </a:rPr>
              <a:t>Environmental and social outcome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600" y="6445250"/>
            <a:ext cx="4028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  <a:ea typeface="League Spartan Medium"/>
                <a:cs typeface="League Spartan Medium"/>
              </a:rPr>
              <a:t>65 / 67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4954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4954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48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Closing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 the facilities advanced industry runs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67647"/>
            <a:ext cx="8255000" cy="11259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815"/>
              </a:lnSpc>
            </a:pPr>
            <a:r>
              <a:rPr sz="3600" b="0" i="0" spc="-72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We infuse safety, quality, efficiency and excellence into every project.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41616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From engineering design and project management to construction and maintenance, across semiconductor manufacturing, clean energy and every environment in between. IAQ is your trusted partner for total facility solutions.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445250"/>
            <a:ext cx="40471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66 / 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9720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35153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35153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  <a:ea typeface="League Spartan SemiBold"/>
                <a:cs typeface="League Spartan SemiBold"/>
              </a:rPr>
              <a:t>03.6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2730" y="414338"/>
            <a:ext cx="2202263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  <a:ea typeface="League Spartan SemiBold"/>
                <a:cs typeface="League Spartan SemiBold"/>
              </a:rPr>
              <a:t>PART 03 · SAFETY, QUALITY &amp; ESG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  <a:ea typeface="Poppins SemiBold"/>
                <a:cs typeface="Poppins SemiBold"/>
              </a:rPr>
              <a:t>Contacts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For inquiry and business opportunity.</a:t>
            </a:r>
          </a:p>
        </p:txBody>
      </p:sp>
      <p:pic>
        <p:nvPicPr>
          <p:cNvPr id="14" name="Picture 13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85156"/>
            <a:ext cx="1587500" cy="7937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09600" y="2818606"/>
            <a:ext cx="27940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2958306"/>
            <a:ext cx="2794000" cy="477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56"/>
              </a:lnSpc>
            </a:pPr>
            <a:r>
              <a:rPr sz="88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Engineering, procurement, construction and energy management for the industries where contamination, uptime and safety decide the outcome. Established 1995.</a:t>
            </a:r>
          </a:p>
        </p:txBody>
      </p:sp>
      <p:pic>
        <p:nvPicPr>
          <p:cNvPr id="17" name="Picture 16" descr="qr-web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684588"/>
            <a:ext cx="939800" cy="939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4687888"/>
            <a:ext cx="881856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WEBSITE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770438"/>
            <a:ext cx="881856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iaqtechnology.com.my</a:t>
            </a:r>
          </a:p>
        </p:txBody>
      </p:sp>
      <p:pic>
        <p:nvPicPr>
          <p:cNvPr id="20" name="Picture 19" descr="qr-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100" y="3684588"/>
            <a:ext cx="939800" cy="939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89100" y="4687888"/>
            <a:ext cx="983355" cy="635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50" b="0" i="0" spc="110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LINKEDIN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89100" y="4770438"/>
            <a:ext cx="983355" cy="107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Group of Companies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51300" y="2747270"/>
            <a:ext cx="2417166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51300" y="2747270"/>
            <a:ext cx="2417166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16400" y="2969520"/>
            <a:ext cx="208696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BUSINESS DEVELOPMENT DIRECTOR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6400" y="3191770"/>
            <a:ext cx="20869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Nelson Tan Wee Keong</a:t>
            </a:r>
          </a:p>
        </p:txBody>
      </p:sp>
      <p:pic>
        <p:nvPicPr>
          <p:cNvPr id="27" name="Picture 26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400" y="3497066"/>
            <a:ext cx="107950" cy="1079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406900" y="3492995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nelsontan@iaqtechnology.com.my</a:t>
            </a:r>
          </a:p>
        </p:txBody>
      </p:sp>
      <p:pic>
        <p:nvPicPr>
          <p:cNvPr id="29" name="Picture 28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6400" y="3695802"/>
            <a:ext cx="107950" cy="10795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406900" y="3691731"/>
            <a:ext cx="18964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+6012-372 7329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08166" y="2747270"/>
            <a:ext cx="2417267" cy="1276547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8166" y="2747270"/>
            <a:ext cx="2417267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73266" y="2969520"/>
            <a:ext cx="2087067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SENIOR ENGINEER, BUSINESS DEVELOPMENT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73266" y="3191770"/>
            <a:ext cx="2087067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</a:rPr>
              <a:t>Sunny Lim Qin Xiang</a:t>
            </a:r>
          </a:p>
        </p:txBody>
      </p:sp>
      <p:pic>
        <p:nvPicPr>
          <p:cNvPr id="35" name="Picture 34" descr="df3b3bcfaaa03b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266" y="3497066"/>
            <a:ext cx="107950" cy="1079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63766" y="3492995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qinxiang.lim@iaqtechnology.com.my</a:t>
            </a:r>
          </a:p>
        </p:txBody>
      </p:sp>
      <p:pic>
        <p:nvPicPr>
          <p:cNvPr id="37" name="Picture 36" descr="33901769a84154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3266" y="3695802"/>
            <a:ext cx="107950" cy="10795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963766" y="3691731"/>
            <a:ext cx="18965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E7EBF0"/>
                </a:solidFill>
                <a:latin typeface="Urbanist"/>
                <a:ea typeface="Urbanist"/>
                <a:cs typeface="Urbanist"/>
              </a:rPr>
              <a:t>+6016-442 4578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65133" y="2747270"/>
            <a:ext cx="2417166" cy="19050"/>
          </a:xfrm>
          <a:prstGeom prst="rect">
            <a:avLst/>
          </a:prstGeom>
          <a:solidFill>
            <a:srgbClr val="EC2326">
              <a:alpha val="4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575948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65133" y="4017467"/>
            <a:ext cx="2417166" cy="635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5133" y="2747270"/>
            <a:ext cx="6350" cy="1276547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10158" y="2864745"/>
            <a:ext cx="861022" cy="142875"/>
          </a:xfrm>
          <a:prstGeom prst="rect">
            <a:avLst/>
          </a:prstGeom>
          <a:noFill/>
          <a:ln w="6350">
            <a:solidFill>
              <a:srgbClr val="EC2326">
                <a:alpha val="4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06983" y="2906020"/>
            <a:ext cx="867372" cy="57150"/>
          </a:xfrm>
          <a:prstGeom prst="rect">
            <a:avLst/>
          </a:prstGeom>
          <a:noFill/>
        </p:spPr>
        <p:txBody>
          <a:bodyPr wrap="none" lIns="57150" rIns="57150" tIns="0" bIns="0" anchor="ctr">
            <a:noAutofit/>
          </a:bodyPr>
          <a:lstStyle/>
          <a:p>
            <a:pPr algn="l"/>
            <a:r>
              <a:rPr sz="520" b="0" i="0" spc="105">
                <a:solidFill>
                  <a:srgbClr val="EC2326"/>
                </a:solidFill>
                <a:latin typeface="League Spartan SemiBold"/>
                <a:ea typeface="League Spartan SemiBold"/>
                <a:cs typeface="League Spartan SemiBold"/>
              </a:rPr>
              <a:t>TO BE CONFIRMED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36583" y="2969520"/>
            <a:ext cx="2074266" cy="69850"/>
          </a:xfrm>
          <a:prstGeom prst="rect">
            <a:avLst/>
          </a:prstGeom>
          <a:noFill/>
        </p:spPr>
        <p:txBody>
          <a:bodyPr wrap="none" lIns="0" rIns="762000" tIns="0" bIns="0" anchor="ctr">
            <a:noAutofit/>
          </a:bodyPr>
          <a:lstStyle/>
          <a:p>
            <a:pPr algn="l"/>
            <a:r>
              <a:rPr sz="580" b="0" i="0" spc="115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ROLE TO BE ADVISED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36583" y="3191770"/>
            <a:ext cx="2074266" cy="203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50" b="0" i="0" spc="-23">
                <a:solidFill>
                  <a:srgbClr val="96A2B2"/>
                </a:solidFill>
                <a:latin typeface="Poppins SemiBold"/>
                <a:ea typeface="Poppins SemiBold"/>
                <a:cs typeface="Poppins SemiBold"/>
              </a:rPr>
              <a:t>Name to be advised</a:t>
            </a:r>
          </a:p>
        </p:txBody>
      </p:sp>
      <p:pic>
        <p:nvPicPr>
          <p:cNvPr id="47" name="Picture 46" descr="92265448a5d11ed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36583" y="3497066"/>
            <a:ext cx="107950" cy="10795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527083" y="3492995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name@iaqtechnology.com.my</a:t>
            </a:r>
          </a:p>
        </p:txBody>
      </p:sp>
      <p:pic>
        <p:nvPicPr>
          <p:cNvPr id="49" name="Picture 48" descr="a1667763ab6ea07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6583" y="3695802"/>
            <a:ext cx="107950" cy="10795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527083" y="3691731"/>
            <a:ext cx="188376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96A2B2"/>
                </a:solidFill>
                <a:latin typeface="Urbanist"/>
                <a:ea typeface="Urbanist"/>
                <a:cs typeface="Urbanist"/>
              </a:rPr>
              <a:t>+60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221688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9600" y="5380438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REGISTERED NAME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19300" y="5329638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IAQ Technology International Sdn Bhd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532336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9600" y="5652986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REGISTRATION NO.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19300" y="5602186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200001031412 (534019-T)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804891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9600" y="5925541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BUSINESS ENQUIRIES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19300" y="5874741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business@iaqtechnology.com.my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6077445"/>
            <a:ext cx="10972800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6198095"/>
            <a:ext cx="12700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96A2B2"/>
                </a:solidFill>
                <a:latin typeface="League Spartan SemiBold"/>
                <a:ea typeface="League Spartan SemiBold"/>
                <a:cs typeface="League Spartan SemiBold"/>
              </a:rPr>
              <a:t>HEAD OFFICE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19300" y="6147295"/>
            <a:ext cx="95631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 Medium"/>
                <a:ea typeface="Urbanist Medium"/>
                <a:cs typeface="Urbanist Medium"/>
              </a:rPr>
              <a:t>12, Jalan Sungai Jeluh 32/192, Kawasan Perindustrian Kemuning, Seksyen 32, 40460 Shah Alam, Selangor, Malaysia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445250"/>
            <a:ext cx="4024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  <a:ea typeface="League Spartan Medium"/>
                <a:cs typeface="League Spartan Medium"/>
              </a:rPr>
              <a:t>67 / 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09822" y="6429375"/>
            <a:ext cx="12725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  <a:ea typeface="League Spartan"/>
                <a:cs typeface="League Spartan"/>
              </a:rPr>
              <a:t>SAFETY, QUALITY &amp; ESG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