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fntdata" ContentType="application/x-fontdata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</p:sldIdLst>
  <p:sldSz cx="12192000" cy="6858000" type="screen4x3"/>
  <p:notesSz cx="6858000" cy="9144000"/>
  <p:embeddedFontLst>
    <p:embeddedFont>
      <p:font typeface="League Spartan" pitchFamily="34" charset="0"/>
      <p:regular r:id="rId74"/>
    </p:embeddedFont>
    <p:embeddedFont>
      <p:font typeface="League Spartan Medium" pitchFamily="34" charset="0"/>
      <p:regular r:id="rId75"/>
    </p:embeddedFont>
    <p:embeddedFont>
      <p:font typeface="League Spartan SemiBold" pitchFamily="34" charset="0"/>
      <p:regular r:id="rId76"/>
    </p:embeddedFont>
    <p:embeddedFont>
      <p:font typeface="Poppins Medium" pitchFamily="34" charset="0"/>
      <p:regular r:id="rId77"/>
    </p:embeddedFont>
    <p:embeddedFont>
      <p:font typeface="Poppins SemiBold" pitchFamily="34" charset="0"/>
      <p:regular r:id="rId78"/>
    </p:embeddedFont>
    <p:embeddedFont>
      <p:font typeface="Poppins" pitchFamily="34" charset="0"/>
      <p:bold r:id="rId79"/>
    </p:embeddedFont>
    <p:embeddedFont>
      <p:font typeface="Urbanist" pitchFamily="34" charset="0"/>
      <p:regular r:id="rId80"/>
    </p:embeddedFont>
    <p:embeddedFont>
      <p:font typeface="Urbanist Medium" pitchFamily="34" charset="0"/>
      <p:regular r:id="rId81"/>
    </p:embeddedFont>
    <p:embeddedFont>
      <p:font typeface="Urbanist SemiBold" pitchFamily="34" charset="0"/>
      <p:regular r:id="rId8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font" Target="fonts/font74.fntdata"/><Relationship Id="rId75" Type="http://schemas.openxmlformats.org/officeDocument/2006/relationships/font" Target="fonts/font75.fntdata"/><Relationship Id="rId76" Type="http://schemas.openxmlformats.org/officeDocument/2006/relationships/font" Target="fonts/font76.fntdata"/><Relationship Id="rId77" Type="http://schemas.openxmlformats.org/officeDocument/2006/relationships/font" Target="fonts/font77.fntdata"/><Relationship Id="rId78" Type="http://schemas.openxmlformats.org/officeDocument/2006/relationships/font" Target="fonts/font78.fntdata"/><Relationship Id="rId79" Type="http://schemas.openxmlformats.org/officeDocument/2006/relationships/font" Target="fonts/font79.fntdata"/><Relationship Id="rId80" Type="http://schemas.openxmlformats.org/officeDocument/2006/relationships/font" Target="fonts/font80.fntdata"/><Relationship Id="rId81" Type="http://schemas.openxmlformats.org/officeDocument/2006/relationships/font" Target="fonts/font81.fntdata"/><Relationship Id="rId82" Type="http://schemas.openxmlformats.org/officeDocument/2006/relationships/font" Target="fonts/font8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jp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Relationship Id="rId12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Relationship Id="rId10" Type="http://schemas.openxmlformats.org/officeDocument/2006/relationships/image" Target="../media/image3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7.jpg"/><Relationship Id="rId4" Type="http://schemas.openxmlformats.org/officeDocument/2006/relationships/image" Target="../media/image38.png"/><Relationship Id="rId5" Type="http://schemas.openxmlformats.org/officeDocument/2006/relationships/image" Target="../media/image39.jpg"/><Relationship Id="rId6" Type="http://schemas.openxmlformats.org/officeDocument/2006/relationships/image" Target="../media/image40.png"/><Relationship Id="rId7" Type="http://schemas.openxmlformats.org/officeDocument/2006/relationships/image" Target="../media/image41.jpg"/><Relationship Id="rId8" Type="http://schemas.openxmlformats.org/officeDocument/2006/relationships/image" Target="../media/image42.png"/><Relationship Id="rId9" Type="http://schemas.openxmlformats.org/officeDocument/2006/relationships/image" Target="../media/image43.jpg"/><Relationship Id="rId10" Type="http://schemas.openxmlformats.org/officeDocument/2006/relationships/image" Target="../media/image44.png"/><Relationship Id="rId11" Type="http://schemas.openxmlformats.org/officeDocument/2006/relationships/image" Target="../media/image45.jpg"/><Relationship Id="rId12" Type="http://schemas.openxmlformats.org/officeDocument/2006/relationships/image" Target="../media/image46.png"/><Relationship Id="rId13" Type="http://schemas.openxmlformats.org/officeDocument/2006/relationships/image" Target="../media/image47.jpg"/><Relationship Id="rId14" Type="http://schemas.openxmlformats.org/officeDocument/2006/relationships/image" Target="../media/image4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9.jpg"/><Relationship Id="rId4" Type="http://schemas.openxmlformats.org/officeDocument/2006/relationships/image" Target="../media/image50.jpg"/><Relationship Id="rId5" Type="http://schemas.openxmlformats.org/officeDocument/2006/relationships/image" Target="../media/image5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image" Target="../media/image58.png"/><Relationship Id="rId10" Type="http://schemas.openxmlformats.org/officeDocument/2006/relationships/image" Target="../media/image59.png"/><Relationship Id="rId11" Type="http://schemas.openxmlformats.org/officeDocument/2006/relationships/image" Target="../media/image60.png"/><Relationship Id="rId12" Type="http://schemas.openxmlformats.org/officeDocument/2006/relationships/image" Target="../media/image61.png"/><Relationship Id="rId13" Type="http://schemas.openxmlformats.org/officeDocument/2006/relationships/image" Target="../media/image62.png"/><Relationship Id="rId14" Type="http://schemas.openxmlformats.org/officeDocument/2006/relationships/image" Target="../media/image63.png"/><Relationship Id="rId15" Type="http://schemas.openxmlformats.org/officeDocument/2006/relationships/image" Target="../media/image6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5.jpg"/><Relationship Id="rId4" Type="http://schemas.openxmlformats.org/officeDocument/2006/relationships/image" Target="../media/image66.png"/><Relationship Id="rId5" Type="http://schemas.openxmlformats.org/officeDocument/2006/relationships/image" Target="../media/image67.jpg"/><Relationship Id="rId6" Type="http://schemas.openxmlformats.org/officeDocument/2006/relationships/image" Target="../media/image68.png"/><Relationship Id="rId7" Type="http://schemas.openxmlformats.org/officeDocument/2006/relationships/image" Target="../media/image69.jpg"/><Relationship Id="rId8" Type="http://schemas.openxmlformats.org/officeDocument/2006/relationships/image" Target="../media/image70.png"/><Relationship Id="rId9" Type="http://schemas.openxmlformats.org/officeDocument/2006/relationships/image" Target="../media/image71.jpg"/><Relationship Id="rId10" Type="http://schemas.openxmlformats.org/officeDocument/2006/relationships/image" Target="../media/image72.png"/><Relationship Id="rId11" Type="http://schemas.openxmlformats.org/officeDocument/2006/relationships/image" Target="../media/image73.jpg"/><Relationship Id="rId12" Type="http://schemas.openxmlformats.org/officeDocument/2006/relationships/image" Target="../media/image74.png"/><Relationship Id="rId13" Type="http://schemas.openxmlformats.org/officeDocument/2006/relationships/image" Target="../media/image75.jpg"/><Relationship Id="rId14" Type="http://schemas.openxmlformats.org/officeDocument/2006/relationships/image" Target="../media/image76.png"/><Relationship Id="rId15" Type="http://schemas.openxmlformats.org/officeDocument/2006/relationships/image" Target="../media/image77.jpg"/><Relationship Id="rId16" Type="http://schemas.openxmlformats.org/officeDocument/2006/relationships/image" Target="../media/image78.png"/><Relationship Id="rId17" Type="http://schemas.openxmlformats.org/officeDocument/2006/relationships/image" Target="../media/image7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1.jpg"/><Relationship Id="rId4" Type="http://schemas.openxmlformats.org/officeDocument/2006/relationships/image" Target="../media/image82.jpg"/><Relationship Id="rId5" Type="http://schemas.openxmlformats.org/officeDocument/2006/relationships/image" Target="../media/image8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5.jpg"/><Relationship Id="rId4" Type="http://schemas.openxmlformats.org/officeDocument/2006/relationships/image" Target="../media/image8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5.jpg"/><Relationship Id="rId4" Type="http://schemas.openxmlformats.org/officeDocument/2006/relationships/image" Target="../media/image8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7.jpg"/><Relationship Id="rId4" Type="http://schemas.openxmlformats.org/officeDocument/2006/relationships/image" Target="../media/image6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9.jpg"/><Relationship Id="rId4" Type="http://schemas.openxmlformats.org/officeDocument/2006/relationships/image" Target="../media/image8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9.jpg"/><Relationship Id="rId4" Type="http://schemas.openxmlformats.org/officeDocument/2006/relationships/image" Target="../media/image90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1.jpg"/><Relationship Id="rId4" Type="http://schemas.openxmlformats.org/officeDocument/2006/relationships/image" Target="../media/image92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3.jpg"/><Relationship Id="rId4" Type="http://schemas.openxmlformats.org/officeDocument/2006/relationships/image" Target="../media/image93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4.jpg"/><Relationship Id="rId4" Type="http://schemas.openxmlformats.org/officeDocument/2006/relationships/image" Target="../media/image75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1.jpg"/><Relationship Id="rId4" Type="http://schemas.openxmlformats.org/officeDocument/2006/relationships/image" Target="../media/image95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6.jpg"/><Relationship Id="rId4" Type="http://schemas.openxmlformats.org/officeDocument/2006/relationships/image" Target="../media/image97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8.jpg"/><Relationship Id="rId4" Type="http://schemas.openxmlformats.org/officeDocument/2006/relationships/image" Target="../media/image99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0.jpg"/><Relationship Id="rId4" Type="http://schemas.openxmlformats.org/officeDocument/2006/relationships/image" Target="../media/image10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2.jpg"/><Relationship Id="rId4" Type="http://schemas.openxmlformats.org/officeDocument/2006/relationships/image" Target="../media/image103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4.jpg"/><Relationship Id="rId4" Type="http://schemas.openxmlformats.org/officeDocument/2006/relationships/image" Target="../media/image105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6.jpg"/><Relationship Id="rId4" Type="http://schemas.openxmlformats.org/officeDocument/2006/relationships/image" Target="../media/image107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8.jpg"/><Relationship Id="rId4" Type="http://schemas.openxmlformats.org/officeDocument/2006/relationships/image" Target="../media/image109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0.jpg"/><Relationship Id="rId4" Type="http://schemas.openxmlformats.org/officeDocument/2006/relationships/image" Target="../media/image11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2.jpg"/><Relationship Id="rId4" Type="http://schemas.openxmlformats.org/officeDocument/2006/relationships/image" Target="../media/image113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4.jpg"/><Relationship Id="rId4" Type="http://schemas.openxmlformats.org/officeDocument/2006/relationships/image" Target="../media/image115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6.jpg"/><Relationship Id="rId4" Type="http://schemas.openxmlformats.org/officeDocument/2006/relationships/image" Target="../media/image117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8.jpg"/><Relationship Id="rId4" Type="http://schemas.openxmlformats.org/officeDocument/2006/relationships/image" Target="../media/image119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0.jpg"/><Relationship Id="rId4" Type="http://schemas.openxmlformats.org/officeDocument/2006/relationships/image" Target="../media/image12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2.jpg"/><Relationship Id="rId4" Type="http://schemas.openxmlformats.org/officeDocument/2006/relationships/image" Target="../media/image123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4.jpg"/><Relationship Id="rId4" Type="http://schemas.openxmlformats.org/officeDocument/2006/relationships/image" Target="../media/image125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6.jpg"/><Relationship Id="rId4" Type="http://schemas.openxmlformats.org/officeDocument/2006/relationships/image" Target="../media/image127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8.jpg"/><Relationship Id="rId4" Type="http://schemas.openxmlformats.org/officeDocument/2006/relationships/image" Target="../media/image129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0.jpg"/><Relationship Id="rId4" Type="http://schemas.openxmlformats.org/officeDocument/2006/relationships/image" Target="../media/image13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2.jpg"/><Relationship Id="rId4" Type="http://schemas.openxmlformats.org/officeDocument/2006/relationships/image" Target="../media/image133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4.jpg"/><Relationship Id="rId4" Type="http://schemas.openxmlformats.org/officeDocument/2006/relationships/image" Target="../media/image135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6.jpg"/><Relationship Id="rId4" Type="http://schemas.openxmlformats.org/officeDocument/2006/relationships/image" Target="../media/image137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8.jpg"/><Relationship Id="rId4" Type="http://schemas.openxmlformats.org/officeDocument/2006/relationships/image" Target="../media/image139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0.jpg"/><Relationship Id="rId4" Type="http://schemas.openxmlformats.org/officeDocument/2006/relationships/image" Target="../media/image141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2.jpg"/><Relationship Id="rId4" Type="http://schemas.openxmlformats.org/officeDocument/2006/relationships/image" Target="../media/image143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4.jpg"/><Relationship Id="rId4" Type="http://schemas.openxmlformats.org/officeDocument/2006/relationships/image" Target="../media/image145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6.jpg"/><Relationship Id="rId4" Type="http://schemas.openxmlformats.org/officeDocument/2006/relationships/image" Target="../media/image147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8.jpg"/><Relationship Id="rId4" Type="http://schemas.openxmlformats.org/officeDocument/2006/relationships/image" Target="../media/image149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50.jpg"/><Relationship Id="rId4" Type="http://schemas.openxmlformats.org/officeDocument/2006/relationships/image" Target="../media/image1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52.jpg"/><Relationship Id="rId4" Type="http://schemas.openxmlformats.org/officeDocument/2006/relationships/image" Target="../media/image153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54.jpg"/><Relationship Id="rId4" Type="http://schemas.openxmlformats.org/officeDocument/2006/relationships/image" Target="../media/image155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56.jpg"/><Relationship Id="rId4" Type="http://schemas.openxmlformats.org/officeDocument/2006/relationships/image" Target="../media/image157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58.jpg"/><Relationship Id="rId4" Type="http://schemas.openxmlformats.org/officeDocument/2006/relationships/image" Target="../media/image159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0.jpg"/><Relationship Id="rId4" Type="http://schemas.openxmlformats.org/officeDocument/2006/relationships/image" Target="../media/image161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2.jpg"/><Relationship Id="rId4" Type="http://schemas.openxmlformats.org/officeDocument/2006/relationships/image" Target="../media/image163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4.jpg"/><Relationship Id="rId4" Type="http://schemas.openxmlformats.org/officeDocument/2006/relationships/image" Target="../media/image165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6.jpg"/><Relationship Id="rId4" Type="http://schemas.openxmlformats.org/officeDocument/2006/relationships/image" Target="../media/image167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8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9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70.jpg"/><Relationship Id="rId4" Type="http://schemas.openxmlformats.org/officeDocument/2006/relationships/image" Target="../media/image171.jpg"/><Relationship Id="rId5" Type="http://schemas.openxmlformats.org/officeDocument/2006/relationships/image" Target="../media/image172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73.jpg"/><Relationship Id="rId4" Type="http://schemas.openxmlformats.org/officeDocument/2006/relationships/image" Target="../media/image174.jpg"/><Relationship Id="rId5" Type="http://schemas.openxmlformats.org/officeDocument/2006/relationships/image" Target="../media/image175.jpg"/><Relationship Id="rId6" Type="http://schemas.openxmlformats.org/officeDocument/2006/relationships/image" Target="../media/image17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7.jpg"/><Relationship Id="rId3" Type="http://schemas.openxmlformats.org/officeDocument/2006/relationships/image" Target="../media/image2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78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79.png"/><Relationship Id="rId4" Type="http://schemas.openxmlformats.org/officeDocument/2006/relationships/image" Target="../media/image180.png"/><Relationship Id="rId5" Type="http://schemas.openxmlformats.org/officeDocument/2006/relationships/image" Target="../media/image181.png"/><Relationship Id="rId6" Type="http://schemas.openxmlformats.org/officeDocument/2006/relationships/image" Target="../media/image182.png"/><Relationship Id="rId7" Type="http://schemas.openxmlformats.org/officeDocument/2006/relationships/image" Target="../media/image183.png"/><Relationship Id="rId8" Type="http://schemas.openxmlformats.org/officeDocument/2006/relationships/image" Target="../media/image18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FFFFFF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FFFFFF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FFFFFF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FFFFFF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FFFFFF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FFFFFF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4445000" cy="9525"/>
          </a:xfrm>
          <a:prstGeom prst="rect">
            <a:avLst/>
          </a:prstGeom>
          <a:solidFill>
            <a:srgbClr val="FFFFFF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762000"/>
            <a:ext cx="4445000" cy="9525"/>
          </a:xfrm>
          <a:prstGeom prst="rect">
            <a:avLst/>
          </a:prstGeom>
          <a:solidFill>
            <a:srgbClr val="FFFFFF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524000"/>
            <a:ext cx="4445000" cy="9525"/>
          </a:xfrm>
          <a:prstGeom prst="rect">
            <a:avLst/>
          </a:prstGeom>
          <a:solidFill>
            <a:srgbClr val="FFFFFF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4445000" cy="9525"/>
          </a:xfrm>
          <a:prstGeom prst="rect">
            <a:avLst/>
          </a:prstGeom>
          <a:solidFill>
            <a:srgbClr val="FFFFFF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048000"/>
            <a:ext cx="4445000" cy="9525"/>
          </a:xfrm>
          <a:prstGeom prst="rect">
            <a:avLst/>
          </a:prstGeom>
          <a:solidFill>
            <a:srgbClr val="FFFFFF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810000"/>
            <a:ext cx="4445000" cy="9525"/>
          </a:xfrm>
          <a:prstGeom prst="rect">
            <a:avLst/>
          </a:prstGeom>
          <a:solidFill>
            <a:srgbClr val="FFFFFF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572000"/>
            <a:ext cx="4445000" cy="9525"/>
          </a:xfrm>
          <a:prstGeom prst="rect">
            <a:avLst/>
          </a:prstGeom>
          <a:solidFill>
            <a:srgbClr val="FFFFFF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5334000"/>
            <a:ext cx="4445000" cy="9525"/>
          </a:xfrm>
          <a:prstGeom prst="rect">
            <a:avLst/>
          </a:prstGeom>
          <a:solidFill>
            <a:srgbClr val="FFFFFF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096000"/>
            <a:ext cx="4445000" cy="9525"/>
          </a:xfrm>
          <a:prstGeom prst="rect">
            <a:avLst/>
          </a:prstGeom>
          <a:solidFill>
            <a:srgbClr val="FFFFFF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cover-site.jpg"/>
          <p:cNvPicPr>
            <a:picLocks noChangeAspect="1"/>
          </p:cNvPicPr>
          <p:nvPr/>
        </p:nvPicPr>
        <p:blipFill>
          <a:blip r:embed="rId2"/>
          <a:srcRect t="4121" b="4121"/>
          <a:stretch>
            <a:fillRect/>
          </a:stretch>
        </p:blipFill>
        <p:spPr>
          <a:xfrm>
            <a:off x="4445000" y="0"/>
            <a:ext cx="7747000" cy="6858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9600" y="304800"/>
            <a:ext cx="2788742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E7EBF0"/>
                </a:solidFill>
                <a:latin typeface="League Spartan SemiBold"/>
                <a:ea typeface="League Spartan SemiBold"/>
                <a:cs typeface="League Spartan SemiBold"/>
              </a:rPr>
              <a:t>IAQ TECHNOLOGY INTERNATIONAL SDN BHD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660400"/>
            <a:ext cx="3835400" cy="9525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600" y="6438900"/>
            <a:ext cx="2021681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62">
                <a:solidFill>
                  <a:srgbClr val="96A2B2"/>
                </a:solidFill>
                <a:latin typeface="League Spartan"/>
                <a:ea typeface="League Spartan"/>
                <a:cs typeface="League Spartan"/>
              </a:rPr>
              <a:t>PRESENTATION SLIDE · EDITION 2026</a:t>
            </a:r>
          </a:p>
        </p:txBody>
      </p:sp>
      <p:pic>
        <p:nvPicPr>
          <p:cNvPr id="22" name="Picture 21" descr="iaq-logo-tag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117600"/>
            <a:ext cx="1905000" cy="9525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9600" y="2920308"/>
            <a:ext cx="648989" cy="1035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800" b="1" i="0" spc="-29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2889" y="3385147"/>
            <a:ext cx="833539" cy="2939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15"/>
              </a:lnSpc>
            </a:pPr>
            <a:r>
              <a:rPr sz="900" b="0" i="0">
                <a:solidFill>
                  <a:srgbClr val="E7EBF0"/>
                </a:solidFill>
                <a:latin typeface="Urbanist Medium"/>
                <a:ea typeface="Urbanist Medium"/>
                <a:cs typeface="Urbanist Medium"/>
              </a:rPr>
              <a:t>years of delivery</a:t>
            </a:r>
          </a:p>
          <a:p>
            <a:pPr algn="l">
              <a:lnSpc>
                <a:spcPts val="1215"/>
              </a:lnSpc>
            </a:pPr>
            <a:r>
              <a:rPr sz="900" b="0" i="0">
                <a:solidFill>
                  <a:srgbClr val="E7EBF0"/>
                </a:solidFill>
                <a:latin typeface="Urbanist Medium"/>
                <a:ea typeface="Urbanist Medium"/>
                <a:cs typeface="Urbanist Medium"/>
              </a:rPr>
              <a:t>since 1995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3966769"/>
            <a:ext cx="3505200" cy="323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800" b="1" i="0" spc="-4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Engineering the facilities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4245572"/>
            <a:ext cx="3505200" cy="323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800" b="0" i="0" spc="-40">
                <a:solidFill>
                  <a:srgbClr val="E7EBF0"/>
                </a:solidFill>
                <a:latin typeface="Poppins Medium"/>
                <a:ea typeface="Poppins Medium"/>
                <a:cs typeface="Poppins Medium"/>
              </a:rPr>
              <a:t>advanced industry runs on.</a:t>
            </a:r>
          </a:p>
        </p:txBody>
      </p:sp>
      <p:sp>
        <p:nvSpPr>
          <p:cNvPr id="27" name="Oval 26"/>
          <p:cNvSpPr/>
          <p:nvPr/>
        </p:nvSpPr>
        <p:spPr>
          <a:xfrm>
            <a:off x="612775" y="4718050"/>
            <a:ext cx="337242" cy="231775"/>
          </a:xfrm>
          <a:prstGeom prst="ellipse">
            <a:avLst/>
          </a:prstGeom>
          <a:noFill/>
          <a:ln w="6350">
            <a:solidFill>
              <a:srgbClr val="FFFFFF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9600" y="4778375"/>
            <a:ext cx="343592" cy="101600"/>
          </a:xfrm>
          <a:prstGeom prst="rect">
            <a:avLst/>
          </a:prstGeom>
          <a:noFill/>
        </p:spPr>
        <p:txBody>
          <a:bodyPr wrap="none" lIns="88900" rIns="88900" tIns="0" bIns="0" anchor="ctr">
            <a:noAutofit/>
          </a:bodyPr>
          <a:lstStyle/>
          <a:p>
            <a:pPr algn="l"/>
            <a:r>
              <a:rPr sz="680" b="0" i="0">
                <a:solidFill>
                  <a:srgbClr val="E7EBF0"/>
                </a:solidFill>
                <a:latin typeface="Urbanist Medium"/>
                <a:ea typeface="Urbanist Medium"/>
                <a:cs typeface="Urbanist Medium"/>
              </a:rPr>
              <a:t>EPC</a:t>
            </a:r>
          </a:p>
        </p:txBody>
      </p:sp>
      <p:sp>
        <p:nvSpPr>
          <p:cNvPr id="29" name="Oval 28"/>
          <p:cNvSpPr/>
          <p:nvPr/>
        </p:nvSpPr>
        <p:spPr>
          <a:xfrm>
            <a:off x="1026217" y="4718050"/>
            <a:ext cx="2305545" cy="231775"/>
          </a:xfrm>
          <a:prstGeom prst="ellipse">
            <a:avLst/>
          </a:prstGeom>
          <a:noFill/>
          <a:ln w="6350">
            <a:solidFill>
              <a:srgbClr val="FFFFFF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3042" y="4778375"/>
            <a:ext cx="2311895" cy="101600"/>
          </a:xfrm>
          <a:prstGeom prst="rect">
            <a:avLst/>
          </a:prstGeom>
          <a:noFill/>
        </p:spPr>
        <p:txBody>
          <a:bodyPr wrap="none" lIns="88900" rIns="88900" tIns="0" bIns="0" anchor="ctr">
            <a:noAutofit/>
          </a:bodyPr>
          <a:lstStyle/>
          <a:p>
            <a:pPr algn="l"/>
            <a:r>
              <a:rPr sz="680" b="0" i="0">
                <a:solidFill>
                  <a:srgbClr val="E7EBF0"/>
                </a:solidFill>
                <a:latin typeface="Urbanist Medium"/>
                <a:ea typeface="Urbanist Medium"/>
                <a:cs typeface="Urbanist Medium"/>
              </a:rPr>
              <a:t>Process Critical Utilities &amp; Total Tool Installation Solutions</a:t>
            </a:r>
          </a:p>
        </p:txBody>
      </p:sp>
      <p:sp>
        <p:nvSpPr>
          <p:cNvPr id="31" name="Oval 30"/>
          <p:cNvSpPr/>
          <p:nvPr/>
        </p:nvSpPr>
        <p:spPr>
          <a:xfrm>
            <a:off x="612775" y="5026025"/>
            <a:ext cx="981272" cy="231775"/>
          </a:xfrm>
          <a:prstGeom prst="ellipse">
            <a:avLst/>
          </a:prstGeom>
          <a:noFill/>
          <a:ln w="6350">
            <a:solidFill>
              <a:srgbClr val="FFFFFF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600" y="5086350"/>
            <a:ext cx="987622" cy="101600"/>
          </a:xfrm>
          <a:prstGeom prst="rect">
            <a:avLst/>
          </a:prstGeom>
          <a:noFill/>
        </p:spPr>
        <p:txBody>
          <a:bodyPr wrap="none" lIns="88900" rIns="88900" tIns="0" bIns="0" anchor="ctr">
            <a:noAutofit/>
          </a:bodyPr>
          <a:lstStyle/>
          <a:p>
            <a:pPr algn="l"/>
            <a:r>
              <a:rPr sz="680" b="0" i="0">
                <a:solidFill>
                  <a:srgbClr val="E7EBF0"/>
                </a:solidFill>
                <a:latin typeface="Urbanist Medium"/>
                <a:ea typeface="Urbanist Medium"/>
                <a:cs typeface="Urbanist Medium"/>
              </a:rPr>
              <a:t>Energy Management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5413375"/>
            <a:ext cx="3505200" cy="2682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62"/>
              </a:lnSpc>
            </a:pPr>
            <a:r>
              <a:rPr sz="780" b="0" i="0">
                <a:solidFill>
                  <a:srgbClr val="E7EBF0"/>
                </a:solidFill>
                <a:latin typeface="Urbanist"/>
                <a:ea typeface="Urbanist"/>
                <a:cs typeface="Urbanist"/>
              </a:rPr>
              <a:t>For cleanroom critical industries: semiconductor, data centre, EV battery, pharmaceutical and energy.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9600" y="5861050"/>
            <a:ext cx="3505200" cy="6350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9600" y="5969000"/>
            <a:ext cx="35052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6">
                <a:solidFill>
                  <a:srgbClr val="96A2B2"/>
                </a:solidFill>
                <a:latin typeface="League Spartan"/>
                <a:ea typeface="League Spartan"/>
                <a:cs typeface="League Spartan"/>
              </a:rPr>
              <a:t>ISO 9001 · ISO 14001 · ISO 45001 · CIDB G7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14338"/>
            <a:ext cx="2788742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IAQ TECHNOLOGY INTERNATIONAL SDN BHD</a:t>
            </a:r>
          </a:p>
        </p:txBody>
      </p:sp>
      <p:pic>
        <p:nvPicPr>
          <p:cNvPr id="4" name="Picture 3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Three parts. Every section is numbered, named and opens with a one-line summary.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141144"/>
            <a:ext cx="3437433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1619250"/>
            <a:ext cx="276917" cy="406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300" b="1" i="0" spc="-92">
                <a:solidFill>
                  <a:srgbClr val="EC2326"/>
                </a:solidFill>
                <a:latin typeface="Poppins"/>
                <a:ea typeface="Poppins"/>
                <a:cs typeface="Poppin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817" y="1682750"/>
            <a:ext cx="3046216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50" b="0" i="0" spc="-23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The Company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817" y="1907781"/>
            <a:ext cx="3046216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Who we are, how we are built, and what we deliver.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33799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01.1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1400" y="233799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  <a:ea typeface="Urbanist Medium"/>
                <a:cs typeface="Urbanist Medium"/>
              </a:rPr>
              <a:t>About IAQ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2522144"/>
            <a:ext cx="3437433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258564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01.2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1400" y="258564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  <a:ea typeface="Urbanist Medium"/>
                <a:cs typeface="Urbanist Medium"/>
              </a:rPr>
              <a:t>IAQ at a Glance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2769794"/>
            <a:ext cx="3437433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283329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01.3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1400" y="283329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  <a:ea typeface="Urbanist Medium"/>
                <a:cs typeface="Urbanist Medium"/>
              </a:rPr>
              <a:t>Milestones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3017444"/>
            <a:ext cx="3437433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600" y="308094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01.4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1400" y="308094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  <a:ea typeface="Urbanist Medium"/>
                <a:cs typeface="Urbanist Medium"/>
              </a:rPr>
              <a:t>Global Footprint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600" y="3265094"/>
            <a:ext cx="3437433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600" y="332859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01.5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1400" y="332859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  <a:ea typeface="Urbanist Medium"/>
                <a:cs typeface="Urbanist Medium"/>
              </a:rPr>
              <a:t>Core Values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" y="3512744"/>
            <a:ext cx="3437433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600" y="357624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01.6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1400" y="357624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  <a:ea typeface="Urbanist Medium"/>
                <a:cs typeface="Urbanist Medium"/>
              </a:rPr>
              <a:t>Business Units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600" y="3760394"/>
            <a:ext cx="3437433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9600" y="382389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01.7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1400" y="382389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  <a:ea typeface="Urbanist Medium"/>
                <a:cs typeface="Urbanist Medium"/>
              </a:rPr>
              <a:t>Delivery Models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600" y="4008044"/>
            <a:ext cx="3437433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9600" y="407154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01.8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1400" y="407154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  <a:ea typeface="Urbanist Medium"/>
                <a:cs typeface="Urbanist Medium"/>
              </a:rPr>
              <a:t>Scope of Services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9600" y="4255694"/>
            <a:ext cx="3437433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600" y="431919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01.9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1400" y="431919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  <a:ea typeface="Urbanist Medium"/>
                <a:cs typeface="Urbanist Medium"/>
              </a:rPr>
              <a:t>Industry Focus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77233" y="2141144"/>
            <a:ext cx="3437433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77233" y="1619250"/>
            <a:ext cx="333870" cy="406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300" b="1" i="0" spc="-92">
                <a:solidFill>
                  <a:srgbClr val="EC2326"/>
                </a:solidFill>
                <a:latin typeface="Poppins"/>
                <a:ea typeface="Poppins"/>
                <a:cs typeface="Poppins"/>
              </a:rPr>
              <a:t>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25403" y="1682750"/>
            <a:ext cx="2989262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50" b="0" i="0" spc="-23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Project References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25403" y="1907781"/>
            <a:ext cx="2989262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The work itself, grouped by industry and region.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77233" y="233799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02.1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09033" y="233799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  <a:ea typeface="Urbanist Medium"/>
                <a:cs typeface="Urbanist Medium"/>
              </a:rPr>
              <a:t>Portfolio Overview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77233" y="2522144"/>
            <a:ext cx="3437433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77233" y="258564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02.2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09033" y="258564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  <a:ea typeface="Urbanist Medium"/>
                <a:cs typeface="Urbanist Medium"/>
              </a:rPr>
              <a:t>Semiconductor · Malaysia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77233" y="2769794"/>
            <a:ext cx="3437433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77233" y="283329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02.3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09033" y="283329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  <a:ea typeface="Urbanist Medium"/>
                <a:cs typeface="Urbanist Medium"/>
              </a:rPr>
              <a:t>Semiconductor · Singapore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77233" y="3017444"/>
            <a:ext cx="3437433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77233" y="308094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02.4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09033" y="308094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  <a:ea typeface="Urbanist Medium"/>
                <a:cs typeface="Urbanist Medium"/>
              </a:rPr>
              <a:t>Data Centre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77233" y="3265094"/>
            <a:ext cx="3437433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77233" y="332859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02.5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09033" y="332859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  <a:ea typeface="Urbanist Medium"/>
                <a:cs typeface="Urbanist Medium"/>
              </a:rPr>
              <a:t>EV Battery · Europe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77233" y="3512744"/>
            <a:ext cx="3437433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77233" y="357624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02.6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09033" y="357624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  <a:ea typeface="Urbanist Medium"/>
                <a:cs typeface="Urbanist Medium"/>
              </a:rPr>
              <a:t>Semiconductor · Europe &amp; Morocco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77233" y="3760394"/>
            <a:ext cx="3437433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77233" y="382389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02.7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09033" y="382389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  <a:ea typeface="Urbanist Medium"/>
                <a:cs typeface="Urbanist Medium"/>
              </a:rPr>
              <a:t>Semiconductor &amp; Display · China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77233" y="4008044"/>
            <a:ext cx="3437433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377233" y="407154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02.8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09033" y="407154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  <a:ea typeface="Urbanist Medium"/>
                <a:cs typeface="Urbanist Medium"/>
              </a:rPr>
              <a:t>Photovoltaics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377233" y="4255694"/>
            <a:ext cx="3437433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377233" y="431919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02.9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09033" y="431919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  <a:ea typeface="Urbanist Medium"/>
                <a:cs typeface="Urbanist Medium"/>
              </a:rPr>
              <a:t>Pharmaceutical &amp; Medical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377233" y="4503344"/>
            <a:ext cx="3437433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377233" y="456684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02.10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09033" y="456684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  <a:ea typeface="Urbanist Medium"/>
                <a:cs typeface="Urbanist Medium"/>
              </a:rPr>
              <a:t>District Cooling &amp; Energy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77233" y="4750994"/>
            <a:ext cx="3437433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377233" y="481449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02.11+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809033" y="481449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  <a:ea typeface="Urbanist Medium"/>
                <a:cs typeface="Urbanist Medium"/>
              </a:rPr>
              <a:t>Full Project Reference List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144866" y="2141144"/>
            <a:ext cx="3437433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144866" y="1619250"/>
            <a:ext cx="343891" cy="406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300" b="1" i="0" spc="-92">
                <a:solidFill>
                  <a:srgbClr val="EC2326"/>
                </a:solidFill>
                <a:latin typeface="Poppins"/>
                <a:ea typeface="Poppins"/>
                <a:cs typeface="Poppins"/>
              </a:rPr>
              <a:t>03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603063" y="1682750"/>
            <a:ext cx="2979242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50" b="0" i="0" spc="-23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Safety, Quality &amp; ESG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603063" y="1907781"/>
            <a:ext cx="2979242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The standards every project is held to.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44866" y="233799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03.1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576666" y="233799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  <a:ea typeface="Urbanist Medium"/>
                <a:cs typeface="Urbanist Medium"/>
              </a:rPr>
              <a:t>ESG Commitments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144866" y="2522144"/>
            <a:ext cx="3437433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144866" y="258564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03.2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576666" y="258564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  <a:ea typeface="Urbanist Medium"/>
                <a:cs typeface="Urbanist Medium"/>
              </a:rPr>
              <a:t>Certifications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144866" y="2769794"/>
            <a:ext cx="3437433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144866" y="283329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03.3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576666" y="283329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  <a:ea typeface="Urbanist Medium"/>
                <a:cs typeface="Urbanist Medium"/>
              </a:rPr>
              <a:t>Builder of the Year 2024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144866" y="3017444"/>
            <a:ext cx="3437433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144866" y="308094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03.4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576666" y="308094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  <a:ea typeface="Urbanist Medium"/>
                <a:cs typeface="Urbanist Medium"/>
              </a:rPr>
              <a:t>Safety &amp; Recognition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144866" y="3265094"/>
            <a:ext cx="3437433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144866" y="332859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03.5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576666" y="332859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  <a:ea typeface="Urbanist Medium"/>
                <a:cs typeface="Urbanist Medium"/>
              </a:rPr>
              <a:t>Closing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144866" y="3512744"/>
            <a:ext cx="3437433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144866" y="3576244"/>
            <a:ext cx="355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65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03.6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576666" y="3576244"/>
            <a:ext cx="30056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Medium"/>
                <a:ea typeface="Urbanist Medium"/>
                <a:cs typeface="Urbanist Medium"/>
              </a:rPr>
              <a:t>Contacts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09600" y="6445250"/>
            <a:ext cx="40719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02 / 67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024000" y="6429375"/>
            <a:ext cx="558305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090141"/>
            <a:ext cx="767855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156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PART 01 OF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899641"/>
            <a:ext cx="5279428" cy="1695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0" b="1" i="0" spc="-475">
                <a:solidFill>
                  <a:srgbClr val="EC2326"/>
                </a:solidFill>
                <a:latin typeface="Poppins"/>
                <a:ea typeface="Poppins"/>
                <a:cs typeface="Poppin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299816"/>
            <a:ext cx="5279428" cy="533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000" b="0" i="0" spc="-75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The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853459"/>
            <a:ext cx="5279428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140">
                <a:solidFill>
                  <a:srgbClr val="96A2B2"/>
                </a:solidFill>
                <a:latin typeface="League Spartan Medium"/>
                <a:ea typeface="League Spartan Medium"/>
                <a:cs typeface="League Spartan Medium"/>
              </a:rPr>
              <a:t>SECTIONS 01.1 TO 01.9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4126509"/>
            <a:ext cx="5279428" cy="6350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285259"/>
            <a:ext cx="5279428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E7EBF0"/>
                </a:solidFill>
                <a:latin typeface="Urbanist Medium"/>
                <a:ea typeface="Urbanist Medium"/>
                <a:cs typeface="Urbanist Medium"/>
              </a:rPr>
              <a:t>Established 1995 · 31 years in total facility 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482109"/>
            <a:ext cx="5279428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E7EBF0"/>
                </a:solidFill>
                <a:latin typeface="Urbanist Medium"/>
                <a:ea typeface="Urbanist Medium"/>
                <a:cs typeface="Urbanist Medium"/>
              </a:rPr>
              <a:t>530+ people across 7 global offices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678959"/>
            <a:ext cx="5279428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E7EBF0"/>
                </a:solidFill>
                <a:latin typeface="Urbanist Medium"/>
                <a:ea typeface="Urbanist Medium"/>
                <a:cs typeface="Urbanist Medium"/>
              </a:rPr>
              <a:t>ISO 9001 · ISO 14001 · ISO 45001 certified</a:t>
            </a:r>
          </a:p>
        </p:txBody>
      </p:sp>
      <p:pic>
        <p:nvPicPr>
          <p:cNvPr id="11" name="Picture 10" descr="company-off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4628" y="0"/>
            <a:ext cx="5947372" cy="6858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304800"/>
            <a:ext cx="1541564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E7EBF0"/>
                </a:solidFill>
                <a:latin typeface="League Spartan SemiBold"/>
                <a:ea typeface="League Spartan SemiBold"/>
                <a:cs typeface="League Spartan SemiBold"/>
              </a:rPr>
              <a:t>PART 01 · THE COMPANY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45250"/>
            <a:ext cx="404711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96A2B2"/>
                </a:solidFill>
                <a:latin typeface="League Spartan Medium"/>
                <a:ea typeface="League Spartan Medium"/>
                <a:cs typeface="League Spartan Medium"/>
              </a:rPr>
              <a:t>03 / 67</a:t>
            </a:r>
          </a:p>
        </p:txBody>
      </p:sp>
      <p:sp>
        <p:nvSpPr>
          <p:cNvPr id="14" name="Oval 13"/>
          <p:cNvSpPr/>
          <p:nvPr/>
        </p:nvSpPr>
        <p:spPr>
          <a:xfrm>
            <a:off x="1207986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96A2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09586" y="6448425"/>
            <a:ext cx="38100" cy="38100"/>
          </a:xfrm>
          <a:prstGeom prst="ellipse">
            <a:avLst/>
          </a:prstGeom>
          <a:noFill/>
          <a:ln w="6350">
            <a:solidFill>
              <a:srgbClr val="96A2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11186" y="6448425"/>
            <a:ext cx="38100" cy="38100"/>
          </a:xfrm>
          <a:prstGeom prst="ellipse">
            <a:avLst/>
          </a:prstGeom>
          <a:noFill/>
          <a:ln w="6350">
            <a:solidFill>
              <a:srgbClr val="96A2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1155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11550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2750" y="414338"/>
            <a:ext cx="1541564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01 · THE COMPANY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About IAQ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Who we are and what we build. The delivery models are in 01.7.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651000"/>
            <a:ext cx="4826000" cy="103723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484"/>
              </a:lnSpc>
            </a:pPr>
            <a:r>
              <a:rPr sz="2300" b="0" i="0" spc="-46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Established 1995.</a:t>
            </a:r>
          </a:p>
          <a:p>
            <a:pPr algn="l">
              <a:lnSpc>
                <a:spcPts val="2484"/>
              </a:lnSpc>
            </a:pPr>
            <a:r>
              <a:rPr sz="2300" b="0" i="0" spc="-46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A trailblazer in total facility solutions.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2794102"/>
            <a:ext cx="4310755" cy="53200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20"/>
              </a:lnSpc>
            </a:pPr>
            <a:r>
              <a:rPr sz="950" b="0" i="0">
                <a:solidFill>
                  <a:srgbClr val="1E2A3D"/>
                </a:solidFill>
                <a:latin typeface="Urbanist"/>
                <a:ea typeface="Urbanist"/>
                <a:cs typeface="Urbanist"/>
              </a:rPr>
              <a:t>Engineering, procurement, construction and maintenance for the industries where contamination, uptime and safety decide the outcome, from semiconductor wafer fabs to gigafactories, data centres and pharmaceutical plants.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3480994"/>
            <a:ext cx="4826000" cy="549872"/>
          </a:xfrm>
          <a:prstGeom prst="rect">
            <a:avLst/>
          </a:prstGeom>
          <a:solidFill>
            <a:srgbClr val="101A2B">
              <a:alpha val="43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300" y="3633394"/>
            <a:ext cx="1117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25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REGISTERED 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81200" y="3595294"/>
            <a:ext cx="3314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IAQ Technology International Sdn Bhd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300" y="3822598"/>
            <a:ext cx="11176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25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REGISTRATION NO.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81200" y="3784498"/>
            <a:ext cx="3314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200001031412 (534019-T)</a:t>
            </a:r>
          </a:p>
        </p:txBody>
      </p:sp>
      <p:pic>
        <p:nvPicPr>
          <p:cNvPr id="17" name="Picture 16" descr="about-facilit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0" y="1701800"/>
            <a:ext cx="5981700" cy="299085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09600" y="4857750"/>
            <a:ext cx="4826000" cy="1492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-vis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5273675"/>
            <a:ext cx="660400" cy="660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612900" y="5306714"/>
            <a:ext cx="36322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0" i="0" spc="-26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Vision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12900" y="5583536"/>
            <a:ext cx="3632200" cy="2730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00"/>
              </a:lnSpc>
            </a:pPr>
            <a:r>
              <a:rPr sz="80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To be a regional facility solutions provider with engineering excellence that facilitates technological innovation and advancement in quality of life.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00700" y="4857750"/>
            <a:ext cx="5981700" cy="1492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-miss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1200" y="5273675"/>
            <a:ext cx="660400" cy="660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604000" y="5306714"/>
            <a:ext cx="47879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0" i="0" spc="-26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Mission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4000" y="5583536"/>
            <a:ext cx="4787900" cy="2730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00"/>
              </a:lnSpc>
            </a:pPr>
            <a:r>
              <a:rPr sz="80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Providing innovative, sustainable facility and engineering solutions benefitting our clients and stakeholders, driven by our leadership, employees and partners globally.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6445250"/>
            <a:ext cx="40302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04 / 67</a:t>
            </a:r>
          </a:p>
        </p:txBody>
      </p:sp>
      <p:sp>
        <p:nvSpPr>
          <p:cNvPr id="27" name="Oval 26"/>
          <p:cNvSpPr/>
          <p:nvPr/>
        </p:nvSpPr>
        <p:spPr>
          <a:xfrm>
            <a:off x="5804795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906395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007995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38263" y="6429375"/>
            <a:ext cx="74414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THE COMPANY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32981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32981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01.2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4181" y="414338"/>
            <a:ext cx="1541564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01 · THE COMPANY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IAQ at a Glance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The company in six numbers, the delivery cycle behind them, and the certifications that stand behind both.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701800"/>
            <a:ext cx="1822450" cy="1632744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300" y="2058092"/>
            <a:ext cx="330200" cy="330200"/>
          </a:xfrm>
          <a:prstGeom prst="ellipse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f21a75c4aa5e04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2134292"/>
            <a:ext cx="177800" cy="177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9300" y="2388292"/>
            <a:ext cx="1543050" cy="463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600" b="1" i="0" spc="-78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300" y="2888653"/>
            <a:ext cx="154305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80" b="0" i="0" spc="103">
                <a:solidFill>
                  <a:srgbClr val="96A2B2"/>
                </a:solidFill>
                <a:latin typeface="League Spartan SemiBold"/>
                <a:ea typeface="League Spartan SemiBold"/>
                <a:cs typeface="League Spartan SemiBold"/>
              </a:rPr>
              <a:t>YEARS EXPERIENCE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38400" y="1701800"/>
            <a:ext cx="1822450" cy="1632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78100" y="2058092"/>
            <a:ext cx="330200" cy="3302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799ada602348c6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4300" y="2134292"/>
            <a:ext cx="177800" cy="177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578100" y="2388292"/>
            <a:ext cx="1543050" cy="463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340"/>
              </a:lnSpc>
            </a:pPr>
            <a:r>
              <a:rPr sz="2600" b="1" i="0" spc="-78">
                <a:solidFill>
                  <a:srgbClr val="101A2B"/>
                </a:solidFill>
                <a:latin typeface="Poppins"/>
                <a:ea typeface="Poppins"/>
                <a:cs typeface="Poppins"/>
              </a:rPr>
              <a:t>530</a:t>
            </a:r>
            <a:r>
              <a:rPr sz="900" b="0" i="0" spc="-9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78100" y="2888653"/>
            <a:ext cx="154305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80" b="0" i="0" spc="103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EMPLOYEES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67200" y="1701800"/>
            <a:ext cx="1822450" cy="1632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06900" y="2058092"/>
            <a:ext cx="330200" cy="3302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87e6c0d13f89a4f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3100" y="2134292"/>
            <a:ext cx="177800" cy="177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406900" y="2388292"/>
            <a:ext cx="1543050" cy="463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340"/>
              </a:lnSpc>
            </a:pPr>
            <a:r>
              <a:rPr sz="2600" b="1" i="0" spc="-78">
                <a:solidFill>
                  <a:srgbClr val="101A2B"/>
                </a:solidFill>
                <a:latin typeface="Poppins"/>
                <a:ea typeface="Poppins"/>
                <a:cs typeface="Poppins"/>
              </a:rPr>
              <a:t>235</a:t>
            </a:r>
            <a:r>
              <a:rPr sz="900" b="0" i="0" spc="-9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6900" y="2888653"/>
            <a:ext cx="154305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80" b="0" i="0" spc="103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PROJECTS COMPLETED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1701800"/>
            <a:ext cx="1822450" cy="1632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235700" y="2058092"/>
            <a:ext cx="330200" cy="3302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42db20855d65e2b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1900" y="2134292"/>
            <a:ext cx="177800" cy="177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235700" y="2388292"/>
            <a:ext cx="1543050" cy="463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340"/>
              </a:lnSpc>
            </a:pPr>
            <a:r>
              <a:rPr sz="2600" b="1" i="0" spc="-78">
                <a:solidFill>
                  <a:srgbClr val="101A2B"/>
                </a:solidFill>
                <a:latin typeface="Poppins"/>
                <a:ea typeface="Poppins"/>
                <a:cs typeface="Poppins"/>
              </a:rPr>
              <a:t>1.5</a:t>
            </a:r>
            <a:r>
              <a:rPr sz="900" b="0" i="0" spc="-9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mil m²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5700" y="2888653"/>
            <a:ext cx="154305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80" b="0" i="0" spc="103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 BUILT-UP AREA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24800" y="1701800"/>
            <a:ext cx="1822450" cy="1632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64500" y="2058092"/>
            <a:ext cx="330200" cy="3302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1f8802463176fa4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0700" y="2134292"/>
            <a:ext cx="177800" cy="1778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064500" y="2388292"/>
            <a:ext cx="1543050" cy="463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600" b="1" i="0" spc="-78">
                <a:solidFill>
                  <a:srgbClr val="101A2B"/>
                </a:solidFill>
                <a:latin typeface="Poppins"/>
                <a:ea typeface="Poppins"/>
                <a:cs typeface="Poppins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64500" y="2888653"/>
            <a:ext cx="154305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80" b="0" i="0" spc="103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GLOBAL OFFICES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53600" y="1701800"/>
            <a:ext cx="1828800" cy="1632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893300" y="2058092"/>
            <a:ext cx="330200" cy="3302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281937597fe2cdc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69500" y="2134292"/>
            <a:ext cx="177800" cy="1778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893300" y="2388292"/>
            <a:ext cx="1549400" cy="463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340"/>
              </a:lnSpc>
            </a:pPr>
            <a:r>
              <a:rPr sz="2600" b="1" i="0" spc="-78">
                <a:solidFill>
                  <a:srgbClr val="101A2B"/>
                </a:solidFill>
                <a:latin typeface="Poppins"/>
                <a:ea typeface="Poppins"/>
                <a:cs typeface="Poppins"/>
              </a:rPr>
              <a:t>20</a:t>
            </a:r>
            <a:r>
              <a:rPr sz="900" b="0" i="0" spc="-9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t / yr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93300" y="2888653"/>
            <a:ext cx="15494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80" b="0" i="0" spc="103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CARBON FOOTPRINT REDUCED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9600" y="3525044"/>
            <a:ext cx="10972800" cy="22343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9600" y="3525044"/>
            <a:ext cx="109728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5500" y="3860006"/>
            <a:ext cx="16510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143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THE DELIVERY CYCLE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92400" y="3747294"/>
            <a:ext cx="7112000" cy="3000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12"/>
              </a:lnSpc>
            </a:pPr>
            <a:r>
              <a:rPr sz="8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A proudly Malaysian company on three continents, delivering mission-critical cleanroom facilities where contamination control, precision and compliance are absolute.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61483" y="4617441"/>
            <a:ext cx="1402061" cy="12700"/>
          </a:xfrm>
          <a:prstGeom prst="rect">
            <a:avLst/>
          </a:prstGeom>
          <a:solidFill>
            <a:srgbClr val="EC2326">
              <a:alpha val="2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583633" y="4357091"/>
            <a:ext cx="520700" cy="5207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6" name="Picture 45" descr="77753362ed25791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26508" y="4499966"/>
            <a:ext cx="234950" cy="234950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1994198" y="4331691"/>
            <a:ext cx="160934" cy="123825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994198" y="4357091"/>
            <a:ext cx="160934" cy="76200"/>
          </a:xfrm>
          <a:prstGeom prst="rect">
            <a:avLst/>
          </a:prstGeom>
          <a:noFill/>
        </p:spPr>
        <p:txBody>
          <a:bodyPr wrap="none" lIns="38100" rIns="38100" tIns="0" bIns="0" anchor="ctr">
            <a:noAutofit/>
          </a:bodyPr>
          <a:lstStyle/>
          <a:p>
            <a:pPr algn="ctr"/>
            <a:r>
              <a:rPr sz="620" b="0" i="0" spc="5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98588" y="4992091"/>
            <a:ext cx="890784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200" b="0" i="0" spc="-24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Engineering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81023" y="5268912"/>
            <a:ext cx="926008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Design &amp; consultation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87444" y="4617441"/>
            <a:ext cx="1402061" cy="12700"/>
          </a:xfrm>
          <a:prstGeom prst="rect">
            <a:avLst/>
          </a:prstGeom>
          <a:solidFill>
            <a:srgbClr val="EC2326">
              <a:alpha val="2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709594" y="4357091"/>
            <a:ext cx="520700" cy="5207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3" name="Picture 52" descr="df6d379be916080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52469" y="4499966"/>
            <a:ext cx="234950" cy="234950"/>
          </a:xfrm>
          <a:prstGeom prst="rect">
            <a:avLst/>
          </a:prstGeom>
        </p:spPr>
      </p:pic>
      <p:sp>
        <p:nvSpPr>
          <p:cNvPr id="54" name="Rectangle 53"/>
          <p:cNvSpPr/>
          <p:nvPr/>
        </p:nvSpPr>
        <p:spPr>
          <a:xfrm>
            <a:off x="4101008" y="4331691"/>
            <a:ext cx="180080" cy="123825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01008" y="4357091"/>
            <a:ext cx="180080" cy="76200"/>
          </a:xfrm>
          <a:prstGeom prst="rect">
            <a:avLst/>
          </a:prstGeom>
          <a:noFill/>
        </p:spPr>
        <p:txBody>
          <a:bodyPr wrap="none" lIns="38100" rIns="38100" tIns="0" bIns="0" anchor="ctr">
            <a:noAutofit/>
          </a:bodyPr>
          <a:lstStyle/>
          <a:p>
            <a:pPr algn="ctr"/>
            <a:r>
              <a:rPr sz="620" b="0" i="0" spc="5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80098" y="4992091"/>
            <a:ext cx="979684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200" b="0" i="0" spc="-24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Procurement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59359" y="5268912"/>
            <a:ext cx="1021258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Sourcing &amp; supply chain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13405" y="4617441"/>
            <a:ext cx="1402061" cy="12700"/>
          </a:xfrm>
          <a:prstGeom prst="rect">
            <a:avLst/>
          </a:prstGeom>
          <a:solidFill>
            <a:srgbClr val="EC2326">
              <a:alpha val="2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35548" y="4357091"/>
            <a:ext cx="520700" cy="5207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0" name="Picture 59" descr="b6fe31dd6a33f2d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78423" y="4499966"/>
            <a:ext cx="234950" cy="23495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229350" y="4331691"/>
            <a:ext cx="177698" cy="123825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29350" y="4357091"/>
            <a:ext cx="177698" cy="76200"/>
          </a:xfrm>
          <a:prstGeom prst="rect">
            <a:avLst/>
          </a:prstGeom>
          <a:noFill/>
        </p:spPr>
        <p:txBody>
          <a:bodyPr wrap="none" lIns="38100" rIns="38100" tIns="0" bIns="0" anchor="ctr">
            <a:noAutofit/>
          </a:bodyPr>
          <a:lstStyle/>
          <a:p>
            <a:pPr algn="ctr"/>
            <a:r>
              <a:rPr sz="620" b="0" i="0" spc="5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08834" y="4992091"/>
            <a:ext cx="97423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200" b="0" i="0" spc="-24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Construction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35714" y="5268912"/>
            <a:ext cx="1120381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Self-performed packages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39366" y="4617441"/>
            <a:ext cx="1402061" cy="12700"/>
          </a:xfrm>
          <a:prstGeom prst="rect">
            <a:avLst/>
          </a:prstGeom>
          <a:solidFill>
            <a:srgbClr val="EC2326">
              <a:alpha val="2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961509" y="4357091"/>
            <a:ext cx="520700" cy="5207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7" name="Picture 66" descr="89b3e3c20fbc437c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04384" y="4499966"/>
            <a:ext cx="234950" cy="234950"/>
          </a:xfrm>
          <a:prstGeom prst="rect">
            <a:avLst/>
          </a:prstGeom>
        </p:spPr>
      </p:pic>
      <p:sp>
        <p:nvSpPr>
          <p:cNvPr id="68" name="Rectangle 67"/>
          <p:cNvSpPr/>
          <p:nvPr/>
        </p:nvSpPr>
        <p:spPr>
          <a:xfrm>
            <a:off x="8356600" y="4331691"/>
            <a:ext cx="176409" cy="123825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56600" y="4357091"/>
            <a:ext cx="176409" cy="76200"/>
          </a:xfrm>
          <a:prstGeom prst="rect">
            <a:avLst/>
          </a:prstGeom>
          <a:noFill/>
        </p:spPr>
        <p:txBody>
          <a:bodyPr wrap="none" lIns="38100" rIns="38100" tIns="0" bIns="0" anchor="ctr">
            <a:noAutofit/>
          </a:bodyPr>
          <a:lstStyle/>
          <a:p>
            <a:pPr algn="ctr"/>
            <a:r>
              <a:rPr sz="620" b="0" i="0" spc="5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947222" y="4992091"/>
            <a:ext cx="549275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200" b="0" i="0" spc="-24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Testing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32503" y="5268912"/>
            <a:ext cx="117882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Commissioning &amp; handover</a:t>
            </a:r>
          </a:p>
        </p:txBody>
      </p:sp>
      <p:sp>
        <p:nvSpPr>
          <p:cNvPr id="72" name="Oval 71"/>
          <p:cNvSpPr/>
          <p:nvPr/>
        </p:nvSpPr>
        <p:spPr>
          <a:xfrm>
            <a:off x="10087470" y="4357091"/>
            <a:ext cx="520700" cy="5207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3" name="Picture 72" descr="3340857edafe70a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30345" y="4499966"/>
            <a:ext cx="234950" cy="234950"/>
          </a:xfrm>
          <a:prstGeom prst="rect">
            <a:avLst/>
          </a:prstGeom>
        </p:spPr>
      </p:pic>
      <p:sp>
        <p:nvSpPr>
          <p:cNvPr id="74" name="Rectangle 73"/>
          <p:cNvSpPr/>
          <p:nvPr/>
        </p:nvSpPr>
        <p:spPr>
          <a:xfrm>
            <a:off x="10480777" y="4331691"/>
            <a:ext cx="178200" cy="123825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480777" y="4357091"/>
            <a:ext cx="178200" cy="76200"/>
          </a:xfrm>
          <a:prstGeom prst="rect">
            <a:avLst/>
          </a:prstGeom>
          <a:noFill/>
        </p:spPr>
        <p:txBody>
          <a:bodyPr wrap="none" lIns="38100" rIns="38100" tIns="0" bIns="0" anchor="ctr">
            <a:noAutofit/>
          </a:bodyPr>
          <a:lstStyle/>
          <a:p>
            <a:pPr algn="ctr"/>
            <a:r>
              <a:rPr sz="620" b="0" i="0" spc="5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851034" y="4992091"/>
            <a:ext cx="993673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200" b="0" i="0" spc="-24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Maintenance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787039" y="5268912"/>
            <a:ext cx="1121569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Operate, service, optimise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9600" y="5949848"/>
            <a:ext cx="109728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143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CERTIFICATION &amp; RECOGNITION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09600" y="6121298"/>
            <a:ext cx="1345508" cy="228702"/>
          </a:xfrm>
          <a:prstGeom prst="rect">
            <a:avLst/>
          </a:prstGeom>
          <a:solidFill>
            <a:srgbClr val="101A2B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09600" y="6203848"/>
            <a:ext cx="1345508" cy="76200"/>
          </a:xfrm>
          <a:prstGeom prst="rect">
            <a:avLst/>
          </a:prstGeom>
          <a:noFill/>
        </p:spPr>
        <p:txBody>
          <a:bodyPr wrap="square" lIns="114300" rIns="11430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INTERTEK </a:t>
            </a:r>
            <a:r>
              <a:rPr sz="650" b="0" i="0" spc="91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ISO 9001:2015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031308" y="6121298"/>
            <a:ext cx="1379836" cy="228702"/>
          </a:xfrm>
          <a:prstGeom prst="rect">
            <a:avLst/>
          </a:prstGeom>
          <a:solidFill>
            <a:srgbClr val="101A2B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031308" y="6203848"/>
            <a:ext cx="1379836" cy="76200"/>
          </a:xfrm>
          <a:prstGeom prst="rect">
            <a:avLst/>
          </a:prstGeom>
          <a:noFill/>
        </p:spPr>
        <p:txBody>
          <a:bodyPr wrap="square" lIns="114300" rIns="11430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INTERTEK </a:t>
            </a:r>
            <a:r>
              <a:rPr sz="650" b="0" i="0" spc="91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ISO 14001:2015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487344" y="6121298"/>
            <a:ext cx="1399381" cy="228702"/>
          </a:xfrm>
          <a:prstGeom prst="rect">
            <a:avLst/>
          </a:prstGeom>
          <a:solidFill>
            <a:srgbClr val="101A2B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487344" y="6203848"/>
            <a:ext cx="1399381" cy="76200"/>
          </a:xfrm>
          <a:prstGeom prst="rect">
            <a:avLst/>
          </a:prstGeom>
          <a:noFill/>
        </p:spPr>
        <p:txBody>
          <a:bodyPr wrap="square" lIns="114300" rIns="11430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INTERTEK </a:t>
            </a:r>
            <a:r>
              <a:rPr sz="650" b="0" i="0" spc="91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ISO 45001:2018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962925" y="6121298"/>
            <a:ext cx="940492" cy="228702"/>
          </a:xfrm>
          <a:prstGeom prst="rect">
            <a:avLst/>
          </a:prstGeom>
          <a:solidFill>
            <a:srgbClr val="101A2B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962925" y="6203848"/>
            <a:ext cx="940492" cy="76200"/>
          </a:xfrm>
          <a:prstGeom prst="rect">
            <a:avLst/>
          </a:prstGeom>
          <a:noFill/>
        </p:spPr>
        <p:txBody>
          <a:bodyPr wrap="square" lIns="114300" rIns="11430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CIDB </a:t>
            </a:r>
            <a:r>
              <a:rPr sz="650" b="0" i="0" spc="91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GRADE G7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979617" y="6121298"/>
            <a:ext cx="894753" cy="228702"/>
          </a:xfrm>
          <a:prstGeom prst="rect">
            <a:avLst/>
          </a:prstGeom>
          <a:solidFill>
            <a:srgbClr val="101A2B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79617" y="6203848"/>
            <a:ext cx="894753" cy="76200"/>
          </a:xfrm>
          <a:prstGeom prst="rect">
            <a:avLst/>
          </a:prstGeom>
          <a:noFill/>
        </p:spPr>
        <p:txBody>
          <a:bodyPr wrap="square" lIns="114300" rIns="11430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PKK </a:t>
            </a:r>
            <a:r>
              <a:rPr sz="650" b="0" i="0" spc="91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GRADE G7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950570" y="6121298"/>
            <a:ext cx="1701006" cy="228702"/>
          </a:xfrm>
          <a:prstGeom prst="rect">
            <a:avLst/>
          </a:prstGeom>
          <a:solidFill>
            <a:srgbClr val="101A2B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950570" y="6203848"/>
            <a:ext cx="1701006" cy="76200"/>
          </a:xfrm>
          <a:prstGeom prst="rect">
            <a:avLst/>
          </a:prstGeom>
          <a:noFill/>
        </p:spPr>
        <p:txBody>
          <a:bodyPr wrap="square" lIns="114300" rIns="11430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HIGHWIRE SAFETY </a:t>
            </a:r>
            <a:r>
              <a:rPr sz="650" b="0" i="0" spc="91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GOLD AWARD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727777" y="6121298"/>
            <a:ext cx="1818284" cy="228702"/>
          </a:xfrm>
          <a:prstGeom prst="rect">
            <a:avLst/>
          </a:prstGeom>
          <a:solidFill>
            <a:srgbClr val="101A2B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727777" y="6203848"/>
            <a:ext cx="1818284" cy="76200"/>
          </a:xfrm>
          <a:prstGeom prst="rect">
            <a:avLst/>
          </a:prstGeom>
          <a:noFill/>
        </p:spPr>
        <p:txBody>
          <a:bodyPr wrap="square" lIns="114300" rIns="11430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MCIEA 2024 </a:t>
            </a:r>
            <a:r>
              <a:rPr sz="650" b="0" i="0" spc="91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BUILDER OF THE YEAR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09600" y="6445250"/>
            <a:ext cx="405505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05 / 67</a:t>
            </a:r>
          </a:p>
        </p:txBody>
      </p:sp>
      <p:sp>
        <p:nvSpPr>
          <p:cNvPr id="94" name="Oval 93"/>
          <p:cNvSpPr/>
          <p:nvPr/>
        </p:nvSpPr>
        <p:spPr>
          <a:xfrm>
            <a:off x="5805983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5907583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6009183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838161" y="6429375"/>
            <a:ext cx="74414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THE COMPANY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30302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30302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01.3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1502" y="414338"/>
            <a:ext cx="1541564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01 · THE COMPANY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Milestones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IAQ's own timeline, 1995 to 2026: the offices opened along the way, and the projects that marked each year.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2203450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1701800"/>
            <a:ext cx="109728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143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OFFICES OPENED</a:t>
            </a:r>
          </a:p>
        </p:txBody>
      </p:sp>
      <p:pic>
        <p:nvPicPr>
          <p:cNvPr id="12" name="Picture 11" descr="d8e638e5dfea34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936750"/>
            <a:ext cx="215900" cy="1079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9000" y="1847850"/>
            <a:ext cx="382391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0" i="0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Malaysia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000" y="2006600"/>
            <a:ext cx="382391" cy="1333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>
                <a:solidFill>
                  <a:srgbClr val="EC2326"/>
                </a:solidFill>
                <a:latin typeface="Poppins"/>
                <a:ea typeface="Poppins"/>
                <a:cs typeface="Poppins"/>
              </a:rPr>
              <a:t>1995</a:t>
            </a:r>
          </a:p>
        </p:txBody>
      </p:sp>
      <p:pic>
        <p:nvPicPr>
          <p:cNvPr id="15" name="Picture 14" descr="36915e38abb376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5171" y="1918792"/>
            <a:ext cx="212671" cy="14386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062956" y="1847850"/>
            <a:ext cx="368103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0" i="0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Morocco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62956" y="2006600"/>
            <a:ext cx="368103" cy="1333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>
                <a:solidFill>
                  <a:srgbClr val="EC2326"/>
                </a:solidFill>
                <a:latin typeface="Poppins"/>
                <a:ea typeface="Poppins"/>
                <a:cs typeface="Poppins"/>
              </a:rPr>
              <a:t>2000</a:t>
            </a:r>
          </a:p>
        </p:txBody>
      </p:sp>
      <p:pic>
        <p:nvPicPr>
          <p:cNvPr id="18" name="Picture 17" descr="d9e1aaea8eb2d2b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4840" y="1918792"/>
            <a:ext cx="212671" cy="14386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222625" y="1847850"/>
            <a:ext cx="247752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0" i="0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China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22625" y="2006600"/>
            <a:ext cx="247752" cy="1333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>
                <a:solidFill>
                  <a:srgbClr val="EC2326"/>
                </a:solidFill>
                <a:latin typeface="Poppins"/>
                <a:ea typeface="Poppins"/>
                <a:cs typeface="Poppins"/>
              </a:rPr>
              <a:t>2006</a:t>
            </a:r>
          </a:p>
        </p:txBody>
      </p:sp>
      <p:pic>
        <p:nvPicPr>
          <p:cNvPr id="21" name="Picture 20" descr="a41ff103a2c8054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6222" y="1923256"/>
            <a:ext cx="208540" cy="13493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261942" y="1847850"/>
            <a:ext cx="286645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0" i="0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Poland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61942" y="2006600"/>
            <a:ext cx="286645" cy="1333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>
                <a:solidFill>
                  <a:srgbClr val="EC2326"/>
                </a:solidFill>
                <a:latin typeface="Poppins"/>
                <a:ea typeface="Poppins"/>
                <a:cs typeface="Poppins"/>
              </a:rPr>
              <a:t>2007</a:t>
            </a:r>
          </a:p>
        </p:txBody>
      </p:sp>
      <p:pic>
        <p:nvPicPr>
          <p:cNvPr id="24" name="Picture 23" descr="ccab05aa1cd9261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2368" y="1918792"/>
            <a:ext cx="212671" cy="14386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340153" y="1847850"/>
            <a:ext cx="284759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0" i="0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France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0153" y="2006600"/>
            <a:ext cx="284759" cy="1333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>
                <a:solidFill>
                  <a:srgbClr val="EC2326"/>
                </a:solidFill>
                <a:latin typeface="Poppins"/>
                <a:ea typeface="Poppins"/>
                <a:cs typeface="Poppins"/>
              </a:rPr>
              <a:t>2008</a:t>
            </a:r>
          </a:p>
        </p:txBody>
      </p:sp>
      <p:pic>
        <p:nvPicPr>
          <p:cNvPr id="27" name="Picture 26" descr="3484b1595ff1e23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0758" y="1923256"/>
            <a:ext cx="208540" cy="13493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416478" y="1847850"/>
            <a:ext cx="3492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0" i="0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Sweden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6478" y="2006600"/>
            <a:ext cx="349250" cy="1333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>
                <a:solidFill>
                  <a:srgbClr val="EC2326"/>
                </a:solidFill>
                <a:latin typeface="Poppins"/>
                <a:ea typeface="Poppins"/>
                <a:cs typeface="Poppins"/>
              </a:rPr>
              <a:t>2020</a:t>
            </a:r>
          </a:p>
        </p:txBody>
      </p:sp>
      <p:pic>
        <p:nvPicPr>
          <p:cNvPr id="30" name="Picture 29" descr="669b9a824696c9c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79508" y="1918792"/>
            <a:ext cx="212671" cy="14386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557294" y="1847850"/>
            <a:ext cx="439344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0" i="0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Singapore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57294" y="2006600"/>
            <a:ext cx="439344" cy="1333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>
                <a:solidFill>
                  <a:srgbClr val="EC2326"/>
                </a:solidFill>
                <a:latin typeface="Poppins"/>
                <a:ea typeface="Poppins"/>
                <a:cs typeface="Poppins"/>
              </a:rPr>
              <a:t>2023</a:t>
            </a:r>
          </a:p>
        </p:txBody>
      </p:sp>
      <p:pic>
        <p:nvPicPr>
          <p:cNvPr id="33" name="Picture 32" descr="a1bc6b949f166d8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12483" y="1923256"/>
            <a:ext cx="208540" cy="13493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788203" y="1847850"/>
            <a:ext cx="402533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0" i="0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Germany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88203" y="2006600"/>
            <a:ext cx="402533" cy="1333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>
                <a:solidFill>
                  <a:srgbClr val="EC2326"/>
                </a:solidFill>
                <a:latin typeface="Poppins"/>
                <a:ea typeface="Poppins"/>
                <a:cs typeface="Poppins"/>
              </a:rPr>
              <a:t>2025</a:t>
            </a:r>
          </a:p>
        </p:txBody>
      </p:sp>
      <p:pic>
        <p:nvPicPr>
          <p:cNvPr id="36" name="Picture 35" descr="593927064182df0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04516" y="1918792"/>
            <a:ext cx="212671" cy="14386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982302" y="1847850"/>
            <a:ext cx="576459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0" i="0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United States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82302" y="2006600"/>
            <a:ext cx="576459" cy="1333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>
                <a:solidFill>
                  <a:srgbClr val="EC2326"/>
                </a:solidFill>
                <a:latin typeface="Poppins"/>
                <a:ea typeface="Poppins"/>
                <a:cs typeface="Poppins"/>
              </a:rPr>
              <a:t>2026</a:t>
            </a:r>
          </a:p>
        </p:txBody>
      </p:sp>
      <p:pic>
        <p:nvPicPr>
          <p:cNvPr id="39" name="Picture 38" descr="b7ef0ae251f8b27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72541" y="1918792"/>
            <a:ext cx="212671" cy="14386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1350327" y="1847850"/>
            <a:ext cx="231578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0" i="0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India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50327" y="2006600"/>
            <a:ext cx="231578" cy="1333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>
                <a:solidFill>
                  <a:srgbClr val="EC2326"/>
                </a:solidFill>
                <a:latin typeface="Poppins"/>
                <a:ea typeface="Poppins"/>
                <a:cs typeface="Poppins"/>
              </a:rPr>
              <a:t>2026</a:t>
            </a:r>
          </a:p>
        </p:txBody>
      </p:sp>
      <p:sp>
        <p:nvSpPr>
          <p:cNvPr id="42" name="Oval 41"/>
          <p:cNvSpPr/>
          <p:nvPr/>
        </p:nvSpPr>
        <p:spPr>
          <a:xfrm>
            <a:off x="609600" y="2384425"/>
            <a:ext cx="57150" cy="57150"/>
          </a:xfrm>
          <a:prstGeom prst="ellipse">
            <a:avLst/>
          </a:prstGeom>
          <a:solidFill>
            <a:srgbClr val="1E2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600" y="2349500"/>
            <a:ext cx="804170" cy="69850"/>
          </a:xfrm>
          <a:prstGeom prst="rect">
            <a:avLst/>
          </a:prstGeom>
          <a:noFill/>
        </p:spPr>
        <p:txBody>
          <a:bodyPr wrap="none" lIns="107950" rIns="0" tIns="0" bIns="0" anchor="ctr">
            <a:noAutofit/>
          </a:bodyPr>
          <a:lstStyle/>
          <a:p>
            <a:pPr algn="l"/>
            <a:r>
              <a:rPr sz="600" b="0" i="0" spc="96">
                <a:solidFill>
                  <a:srgbClr val="1E2A3D"/>
                </a:solidFill>
                <a:latin typeface="League Spartan SemiBold"/>
                <a:ea typeface="League Spartan SemiBold"/>
                <a:cs typeface="League Spartan SemiBold"/>
              </a:rPr>
              <a:t>EPCC PROJECTS</a:t>
            </a:r>
          </a:p>
        </p:txBody>
      </p:sp>
      <p:sp>
        <p:nvSpPr>
          <p:cNvPr id="44" name="Oval 43"/>
          <p:cNvSpPr/>
          <p:nvPr/>
        </p:nvSpPr>
        <p:spPr>
          <a:xfrm>
            <a:off x="1553470" y="2384425"/>
            <a:ext cx="57150" cy="57150"/>
          </a:xfrm>
          <a:prstGeom prst="ellipse">
            <a:avLst/>
          </a:prstGeom>
          <a:solidFill>
            <a:srgbClr val="12A1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553470" y="2349500"/>
            <a:ext cx="926008" cy="69850"/>
          </a:xfrm>
          <a:prstGeom prst="rect">
            <a:avLst/>
          </a:prstGeom>
          <a:noFill/>
        </p:spPr>
        <p:txBody>
          <a:bodyPr wrap="none" lIns="107950" rIns="0" tIns="0" bIns="0" anchor="ctr">
            <a:noAutofit/>
          </a:bodyPr>
          <a:lstStyle/>
          <a:p>
            <a:pPr algn="l"/>
            <a:r>
              <a:rPr sz="600" b="0" i="0" spc="96">
                <a:solidFill>
                  <a:srgbClr val="12A150"/>
                </a:solidFill>
                <a:latin typeface="League Spartan SemiBold"/>
                <a:ea typeface="League Spartan SemiBold"/>
                <a:cs typeface="League Spartan SemiBold"/>
              </a:rPr>
              <a:t>ENERGY PROJECTS</a:t>
            </a:r>
          </a:p>
        </p:txBody>
      </p:sp>
      <p:sp>
        <p:nvSpPr>
          <p:cNvPr id="46" name="Oval 45"/>
          <p:cNvSpPr/>
          <p:nvPr/>
        </p:nvSpPr>
        <p:spPr>
          <a:xfrm>
            <a:off x="2619178" y="2384425"/>
            <a:ext cx="57150" cy="57150"/>
          </a:xfrm>
          <a:prstGeom prst="ellipse">
            <a:avLst/>
          </a:prstGeom>
          <a:solidFill>
            <a:srgbClr val="7A3D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19178" y="2349500"/>
            <a:ext cx="1173162" cy="69850"/>
          </a:xfrm>
          <a:prstGeom prst="rect">
            <a:avLst/>
          </a:prstGeom>
          <a:noFill/>
        </p:spPr>
        <p:txBody>
          <a:bodyPr wrap="none" lIns="107950" rIns="0" tIns="0" bIns="0" anchor="ctr">
            <a:noAutofit/>
          </a:bodyPr>
          <a:lstStyle/>
          <a:p>
            <a:pPr algn="l"/>
            <a:r>
              <a:rPr sz="600" b="0" i="0" spc="96">
                <a:solidFill>
                  <a:srgbClr val="7A3DB8"/>
                </a:solidFill>
                <a:latin typeface="League Spartan SemiBold"/>
                <a:ea typeface="League Spartan SemiBold"/>
                <a:cs typeface="League Spartan SemiBold"/>
              </a:rPr>
              <a:t>TOOL UTILITY PROJECTS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733550" y="4323258"/>
            <a:ext cx="9525" cy="152400"/>
          </a:xfrm>
          <a:prstGeom prst="rect">
            <a:avLst/>
          </a:prstGeom>
          <a:solidFill>
            <a:srgbClr val="EC2326">
              <a:alpha val="4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66800" y="4124623"/>
            <a:ext cx="31750" cy="31750"/>
          </a:xfrm>
          <a:prstGeom prst="ellipse">
            <a:avLst/>
          </a:prstGeom>
          <a:solidFill>
            <a:srgbClr val="1E2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66800" y="4083348"/>
            <a:ext cx="1333500" cy="227908"/>
          </a:xfrm>
          <a:prstGeom prst="rect">
            <a:avLst/>
          </a:prstGeom>
          <a:noFill/>
        </p:spPr>
        <p:txBody>
          <a:bodyPr wrap="square" lIns="88900" rIns="0" tIns="0" bIns="0" anchor="ctr">
            <a:noAutofit/>
          </a:bodyPr>
          <a:lstStyle/>
          <a:p>
            <a:pPr algn="l">
              <a:lnSpc>
                <a:spcPts val="944"/>
              </a:lnSpc>
            </a:pPr>
            <a:r>
              <a:rPr sz="70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Established as a cleanroom specialist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733550" y="4659808"/>
            <a:ext cx="666750" cy="12700"/>
          </a:xfrm>
          <a:prstGeom prst="rect">
            <a:avLst/>
          </a:prstGeom>
          <a:solidFill>
            <a:srgbClr val="EC2326">
              <a:alpha val="2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557338" y="4483595"/>
            <a:ext cx="352425" cy="352425"/>
          </a:xfrm>
          <a:prstGeom prst="ellipse">
            <a:avLst/>
          </a:prstGeom>
          <a:solidFill>
            <a:srgbClr val="F6F7F9"/>
          </a:solidFill>
          <a:ln w="15875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549400" y="4615358"/>
            <a:ext cx="368300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0" i="0" spc="16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1995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507259" y="4843958"/>
            <a:ext cx="9525" cy="152400"/>
          </a:xfrm>
          <a:prstGeom prst="rect">
            <a:avLst/>
          </a:prstGeom>
          <a:solidFill>
            <a:srgbClr val="EC2326">
              <a:alpha val="4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840509" y="5037633"/>
            <a:ext cx="31750" cy="31750"/>
          </a:xfrm>
          <a:prstGeom prst="ellipse">
            <a:avLst/>
          </a:prstGeom>
          <a:solidFill>
            <a:srgbClr val="1E2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40509" y="4996358"/>
            <a:ext cx="1333500" cy="227908"/>
          </a:xfrm>
          <a:prstGeom prst="rect">
            <a:avLst/>
          </a:prstGeom>
          <a:noFill/>
        </p:spPr>
        <p:txBody>
          <a:bodyPr wrap="square" lIns="88900" rIns="0" tIns="0" bIns="0" anchor="ctr">
            <a:noAutofit/>
          </a:bodyPr>
          <a:lstStyle/>
          <a:p>
            <a:pPr algn="l">
              <a:lnSpc>
                <a:spcPts val="944"/>
              </a:lnSpc>
            </a:pPr>
            <a:r>
              <a:rPr sz="70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(EPCC) ST Microelectronics, Class 10K cleanroom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840509" y="4659808"/>
            <a:ext cx="1333500" cy="12700"/>
          </a:xfrm>
          <a:prstGeom prst="rect">
            <a:avLst/>
          </a:prstGeom>
          <a:solidFill>
            <a:srgbClr val="EC2326">
              <a:alpha val="2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331047" y="4483595"/>
            <a:ext cx="352425" cy="352425"/>
          </a:xfrm>
          <a:prstGeom prst="ellipse">
            <a:avLst/>
          </a:prstGeom>
          <a:solidFill>
            <a:srgbClr val="F6F7F9"/>
          </a:solidFill>
          <a:ln w="15875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323109" y="4615358"/>
            <a:ext cx="368300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0" i="0" spc="16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2000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80969" y="4323258"/>
            <a:ext cx="9525" cy="152400"/>
          </a:xfrm>
          <a:prstGeom prst="rect">
            <a:avLst/>
          </a:prstGeom>
          <a:solidFill>
            <a:srgbClr val="EC2326">
              <a:alpha val="4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614219" y="4124623"/>
            <a:ext cx="31750" cy="31750"/>
          </a:xfrm>
          <a:prstGeom prst="ellipse">
            <a:avLst/>
          </a:prstGeom>
          <a:solidFill>
            <a:srgbClr val="1E2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614219" y="4083348"/>
            <a:ext cx="1333500" cy="227908"/>
          </a:xfrm>
          <a:prstGeom prst="rect">
            <a:avLst/>
          </a:prstGeom>
          <a:noFill/>
        </p:spPr>
        <p:txBody>
          <a:bodyPr wrap="square" lIns="88900" rIns="0" tIns="0" bIns="0" anchor="ctr">
            <a:noAutofit/>
          </a:bodyPr>
          <a:lstStyle/>
          <a:p>
            <a:pPr algn="l">
              <a:lnSpc>
                <a:spcPts val="944"/>
              </a:lnSpc>
            </a:pPr>
            <a:r>
              <a:rPr sz="70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(PCC) Western Digital PJ, Class 10 cleanroom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614219" y="4659808"/>
            <a:ext cx="1333500" cy="12700"/>
          </a:xfrm>
          <a:prstGeom prst="rect">
            <a:avLst/>
          </a:prstGeom>
          <a:solidFill>
            <a:srgbClr val="EC2326">
              <a:alpha val="2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3104756" y="4483595"/>
            <a:ext cx="352425" cy="352425"/>
          </a:xfrm>
          <a:prstGeom prst="ellipse">
            <a:avLst/>
          </a:prstGeom>
          <a:solidFill>
            <a:srgbClr val="F6F7F9"/>
          </a:solidFill>
          <a:ln w="15875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96819" y="4615358"/>
            <a:ext cx="368300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0" i="0" spc="16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2008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054672" y="4843958"/>
            <a:ext cx="9525" cy="152400"/>
          </a:xfrm>
          <a:prstGeom prst="rect">
            <a:avLst/>
          </a:prstGeom>
          <a:solidFill>
            <a:srgbClr val="EC2326">
              <a:alpha val="4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387922" y="5037633"/>
            <a:ext cx="31750" cy="31750"/>
          </a:xfrm>
          <a:prstGeom prst="ellipse">
            <a:avLst/>
          </a:prstGeom>
          <a:solidFill>
            <a:srgbClr val="1E2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387922" y="4996358"/>
            <a:ext cx="1333500" cy="227908"/>
          </a:xfrm>
          <a:prstGeom prst="rect">
            <a:avLst/>
          </a:prstGeom>
          <a:noFill/>
        </p:spPr>
        <p:txBody>
          <a:bodyPr wrap="square" lIns="88900" rIns="0" tIns="0" bIns="0" anchor="ctr">
            <a:noAutofit/>
          </a:bodyPr>
          <a:lstStyle/>
          <a:p>
            <a:pPr algn="l">
              <a:lnSpc>
                <a:spcPts val="944"/>
              </a:lnSpc>
            </a:pPr>
            <a:r>
              <a:rPr sz="70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(GC / D&amp;B) MEMC Ipoh, Class 1 cleanroom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387922" y="4659808"/>
            <a:ext cx="1333500" cy="12700"/>
          </a:xfrm>
          <a:prstGeom prst="rect">
            <a:avLst/>
          </a:prstGeom>
          <a:solidFill>
            <a:srgbClr val="EC2326">
              <a:alpha val="2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878459" y="4483595"/>
            <a:ext cx="352425" cy="352425"/>
          </a:xfrm>
          <a:prstGeom prst="ellipse">
            <a:avLst/>
          </a:prstGeom>
          <a:solidFill>
            <a:srgbClr val="F6F7F9"/>
          </a:solidFill>
          <a:ln w="15875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870522" y="4615358"/>
            <a:ext cx="368300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0" i="0" spc="16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2009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828381" y="4323258"/>
            <a:ext cx="9525" cy="152400"/>
          </a:xfrm>
          <a:prstGeom prst="rect">
            <a:avLst/>
          </a:prstGeom>
          <a:solidFill>
            <a:srgbClr val="EC2326">
              <a:alpha val="4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161631" y="3176289"/>
            <a:ext cx="31750" cy="31750"/>
          </a:xfrm>
          <a:prstGeom prst="ellipse">
            <a:avLst/>
          </a:prstGeom>
          <a:solidFill>
            <a:srgbClr val="1E2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161631" y="3135014"/>
            <a:ext cx="1333500" cy="227908"/>
          </a:xfrm>
          <a:prstGeom prst="rect">
            <a:avLst/>
          </a:prstGeom>
          <a:noFill/>
        </p:spPr>
        <p:txBody>
          <a:bodyPr wrap="square" lIns="88900" rIns="0" tIns="0" bIns="0" anchor="ctr">
            <a:noAutofit/>
          </a:bodyPr>
          <a:lstStyle/>
          <a:p>
            <a:pPr algn="l">
              <a:lnSpc>
                <a:spcPts val="944"/>
              </a:lnSpc>
            </a:pPr>
            <a:r>
              <a:rPr sz="70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(PCC) MRT Project tunnel station M&amp;E</a:t>
            </a:r>
          </a:p>
        </p:txBody>
      </p:sp>
      <p:sp>
        <p:nvSpPr>
          <p:cNvPr id="75" name="Oval 74"/>
          <p:cNvSpPr/>
          <p:nvPr/>
        </p:nvSpPr>
        <p:spPr>
          <a:xfrm>
            <a:off x="4161631" y="3473348"/>
            <a:ext cx="31750" cy="31750"/>
          </a:xfrm>
          <a:prstGeom prst="ellipse">
            <a:avLst/>
          </a:prstGeom>
          <a:solidFill>
            <a:srgbClr val="1E2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61631" y="3432073"/>
            <a:ext cx="1333500" cy="227908"/>
          </a:xfrm>
          <a:prstGeom prst="rect">
            <a:avLst/>
          </a:prstGeom>
          <a:noFill/>
        </p:spPr>
        <p:txBody>
          <a:bodyPr wrap="square" lIns="88900" rIns="0" tIns="0" bIns="0" anchor="ctr">
            <a:noAutofit/>
          </a:bodyPr>
          <a:lstStyle/>
          <a:p>
            <a:pPr algn="l">
              <a:lnSpc>
                <a:spcPts val="944"/>
              </a:lnSpc>
            </a:pPr>
            <a:r>
              <a:rPr sz="70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(EPC) Infineon MKZ, Class 1K cleanroom</a:t>
            </a:r>
          </a:p>
        </p:txBody>
      </p:sp>
      <p:sp>
        <p:nvSpPr>
          <p:cNvPr id="77" name="Oval 76"/>
          <p:cNvSpPr/>
          <p:nvPr/>
        </p:nvSpPr>
        <p:spPr>
          <a:xfrm>
            <a:off x="4161631" y="3770414"/>
            <a:ext cx="31750" cy="31750"/>
          </a:xfrm>
          <a:prstGeom prst="ellipse">
            <a:avLst/>
          </a:prstGeom>
          <a:solidFill>
            <a:srgbClr val="1E2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161631" y="3729139"/>
            <a:ext cx="1333500" cy="107950"/>
          </a:xfrm>
          <a:prstGeom prst="rect">
            <a:avLst/>
          </a:prstGeom>
          <a:noFill/>
        </p:spPr>
        <p:txBody>
          <a:bodyPr wrap="none" lIns="8890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(EPCC) SilTerra FAB</a:t>
            </a:r>
          </a:p>
        </p:txBody>
      </p:sp>
      <p:sp>
        <p:nvSpPr>
          <p:cNvPr id="79" name="Oval 78"/>
          <p:cNvSpPr/>
          <p:nvPr/>
        </p:nvSpPr>
        <p:spPr>
          <a:xfrm>
            <a:off x="4161631" y="3947516"/>
            <a:ext cx="31750" cy="31750"/>
          </a:xfrm>
          <a:prstGeom prst="ellipse">
            <a:avLst/>
          </a:prstGeom>
          <a:solidFill>
            <a:srgbClr val="12A1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161631" y="3906241"/>
            <a:ext cx="1333500" cy="227908"/>
          </a:xfrm>
          <a:prstGeom prst="rect">
            <a:avLst/>
          </a:prstGeom>
          <a:noFill/>
        </p:spPr>
        <p:txBody>
          <a:bodyPr wrap="square" lIns="88900" rIns="0" tIns="0" bIns="0" anchor="ctr">
            <a:noAutofit/>
          </a:bodyPr>
          <a:lstStyle/>
          <a:p>
            <a:pPr algn="l">
              <a:lnSpc>
                <a:spcPts val="944"/>
              </a:lnSpc>
            </a:pPr>
            <a:r>
              <a:rPr sz="700" b="0" i="0">
                <a:solidFill>
                  <a:srgbClr val="12A150"/>
                </a:solidFill>
                <a:latin typeface="Urbanist Medium"/>
                <a:ea typeface="Urbanist Medium"/>
                <a:cs typeface="Urbanist Medium"/>
              </a:rPr>
              <a:t>(PCC) Rapid Project Siemens powerplant piping works</a:t>
            </a:r>
          </a:p>
        </p:txBody>
      </p:sp>
      <p:sp>
        <p:nvSpPr>
          <p:cNvPr id="81" name="Oval 80"/>
          <p:cNvSpPr/>
          <p:nvPr/>
        </p:nvSpPr>
        <p:spPr>
          <a:xfrm>
            <a:off x="4161631" y="4244581"/>
            <a:ext cx="31750" cy="31750"/>
          </a:xfrm>
          <a:prstGeom prst="ellipse">
            <a:avLst/>
          </a:prstGeom>
          <a:solidFill>
            <a:srgbClr val="12A1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161631" y="4203306"/>
            <a:ext cx="1333500" cy="107950"/>
          </a:xfrm>
          <a:prstGeom prst="rect">
            <a:avLst/>
          </a:prstGeom>
          <a:noFill/>
        </p:spPr>
        <p:txBody>
          <a:bodyPr wrap="none" lIns="8890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12A150"/>
                </a:solidFill>
                <a:latin typeface="Urbanist Medium"/>
                <a:ea typeface="Urbanist Medium"/>
                <a:cs typeface="Urbanist Medium"/>
              </a:rPr>
              <a:t>(BOT) Pagoh Edu Hub DCS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161631" y="4659808"/>
            <a:ext cx="1333500" cy="12700"/>
          </a:xfrm>
          <a:prstGeom prst="rect">
            <a:avLst/>
          </a:prstGeom>
          <a:solidFill>
            <a:srgbClr val="EC2326">
              <a:alpha val="2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4652169" y="4483595"/>
            <a:ext cx="352425" cy="352425"/>
          </a:xfrm>
          <a:prstGeom prst="ellipse">
            <a:avLst/>
          </a:prstGeom>
          <a:solidFill>
            <a:srgbClr val="F6F7F9"/>
          </a:solidFill>
          <a:ln w="15875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644231" y="4615358"/>
            <a:ext cx="368300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0" i="0" spc="16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2013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602091" y="4843958"/>
            <a:ext cx="9525" cy="152400"/>
          </a:xfrm>
          <a:prstGeom prst="rect">
            <a:avLst/>
          </a:prstGeom>
          <a:solidFill>
            <a:srgbClr val="EC2326">
              <a:alpha val="4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4935341" y="5037633"/>
            <a:ext cx="31750" cy="31750"/>
          </a:xfrm>
          <a:prstGeom prst="ellipse">
            <a:avLst/>
          </a:prstGeom>
          <a:solidFill>
            <a:srgbClr val="12A1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935341" y="4996358"/>
            <a:ext cx="1333500" cy="227908"/>
          </a:xfrm>
          <a:prstGeom prst="rect">
            <a:avLst/>
          </a:prstGeom>
          <a:noFill/>
        </p:spPr>
        <p:txBody>
          <a:bodyPr wrap="square" lIns="88900" rIns="0" tIns="0" bIns="0" anchor="ctr">
            <a:noAutofit/>
          </a:bodyPr>
          <a:lstStyle/>
          <a:p>
            <a:pPr algn="l">
              <a:lnSpc>
                <a:spcPts val="944"/>
              </a:lnSpc>
            </a:pPr>
            <a:r>
              <a:rPr sz="700" b="0" i="0">
                <a:solidFill>
                  <a:srgbClr val="12A150"/>
                </a:solidFill>
                <a:latin typeface="Urbanist Medium"/>
                <a:ea typeface="Urbanist Medium"/>
                <a:cs typeface="Urbanist Medium"/>
              </a:rPr>
              <a:t>(GC) KLCC DCC Plant, largest DCC plant in Malaysia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935341" y="4659808"/>
            <a:ext cx="1333500" cy="12700"/>
          </a:xfrm>
          <a:prstGeom prst="rect">
            <a:avLst/>
          </a:prstGeom>
          <a:solidFill>
            <a:srgbClr val="EC2326">
              <a:alpha val="2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5425878" y="4483595"/>
            <a:ext cx="352425" cy="352425"/>
          </a:xfrm>
          <a:prstGeom prst="ellipse">
            <a:avLst/>
          </a:prstGeom>
          <a:solidFill>
            <a:srgbClr val="F6F7F9"/>
          </a:solidFill>
          <a:ln w="15875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417941" y="4615358"/>
            <a:ext cx="368300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0" i="0" spc="16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2016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375800" y="4323258"/>
            <a:ext cx="9525" cy="152400"/>
          </a:xfrm>
          <a:prstGeom prst="rect">
            <a:avLst/>
          </a:prstGeom>
          <a:solidFill>
            <a:srgbClr val="EC2326">
              <a:alpha val="4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5709050" y="4244581"/>
            <a:ext cx="31750" cy="31750"/>
          </a:xfrm>
          <a:prstGeom prst="ellipse">
            <a:avLst/>
          </a:prstGeom>
          <a:solidFill>
            <a:srgbClr val="1E2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709050" y="4203306"/>
            <a:ext cx="1333500" cy="107950"/>
          </a:xfrm>
          <a:prstGeom prst="rect">
            <a:avLst/>
          </a:prstGeom>
          <a:noFill/>
        </p:spPr>
        <p:txBody>
          <a:bodyPr wrap="none" lIns="8890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(GC) Ain Medicare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709050" y="4659808"/>
            <a:ext cx="1333500" cy="12700"/>
          </a:xfrm>
          <a:prstGeom prst="rect">
            <a:avLst/>
          </a:prstGeom>
          <a:solidFill>
            <a:srgbClr val="EC2326">
              <a:alpha val="2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6199588" y="4483595"/>
            <a:ext cx="352425" cy="352425"/>
          </a:xfrm>
          <a:prstGeom prst="ellipse">
            <a:avLst/>
          </a:prstGeom>
          <a:solidFill>
            <a:srgbClr val="F6F7F9"/>
          </a:solidFill>
          <a:ln w="15875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91650" y="4615358"/>
            <a:ext cx="368300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0" i="0" spc="16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2017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149605" y="4843958"/>
            <a:ext cx="9525" cy="152400"/>
          </a:xfrm>
          <a:prstGeom prst="rect">
            <a:avLst/>
          </a:prstGeom>
          <a:solidFill>
            <a:srgbClr val="EC2326">
              <a:alpha val="4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6482855" y="5037633"/>
            <a:ext cx="31750" cy="31750"/>
          </a:xfrm>
          <a:prstGeom prst="ellipse">
            <a:avLst/>
          </a:prstGeom>
          <a:solidFill>
            <a:srgbClr val="1E2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482855" y="4996358"/>
            <a:ext cx="1333500" cy="107950"/>
          </a:xfrm>
          <a:prstGeom prst="rect">
            <a:avLst/>
          </a:prstGeom>
          <a:noFill/>
        </p:spPr>
        <p:txBody>
          <a:bodyPr wrap="none" lIns="8890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(GC) Vital HC</a:t>
            </a:r>
          </a:p>
        </p:txBody>
      </p:sp>
      <p:sp>
        <p:nvSpPr>
          <p:cNvPr id="101" name="Oval 100"/>
          <p:cNvSpPr/>
          <p:nvPr/>
        </p:nvSpPr>
        <p:spPr>
          <a:xfrm>
            <a:off x="6482855" y="5214741"/>
            <a:ext cx="31750" cy="31750"/>
          </a:xfrm>
          <a:prstGeom prst="ellipse">
            <a:avLst/>
          </a:prstGeom>
          <a:solidFill>
            <a:srgbClr val="1E2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482855" y="5173466"/>
            <a:ext cx="1333500" cy="107950"/>
          </a:xfrm>
          <a:prstGeom prst="rect">
            <a:avLst/>
          </a:prstGeom>
          <a:noFill/>
        </p:spPr>
        <p:txBody>
          <a:bodyPr wrap="none" lIns="8890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(GC / PCC) Robert Bosch</a:t>
            </a:r>
          </a:p>
        </p:txBody>
      </p:sp>
      <p:sp>
        <p:nvSpPr>
          <p:cNvPr id="103" name="Oval 102"/>
          <p:cNvSpPr/>
          <p:nvPr/>
        </p:nvSpPr>
        <p:spPr>
          <a:xfrm>
            <a:off x="6482855" y="5391842"/>
            <a:ext cx="31750" cy="31750"/>
          </a:xfrm>
          <a:prstGeom prst="ellipse">
            <a:avLst/>
          </a:prstGeom>
          <a:solidFill>
            <a:srgbClr val="1E2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482855" y="5350567"/>
            <a:ext cx="1333500" cy="107950"/>
          </a:xfrm>
          <a:prstGeom prst="rect">
            <a:avLst/>
          </a:prstGeom>
          <a:noFill/>
        </p:spPr>
        <p:txBody>
          <a:bodyPr wrap="none" lIns="8890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(GC / PCC) P Project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482855" y="4659808"/>
            <a:ext cx="1333500" cy="12700"/>
          </a:xfrm>
          <a:prstGeom prst="rect">
            <a:avLst/>
          </a:prstGeom>
          <a:solidFill>
            <a:srgbClr val="EC2326">
              <a:alpha val="2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6973392" y="4483595"/>
            <a:ext cx="352425" cy="352425"/>
          </a:xfrm>
          <a:prstGeom prst="ellipse">
            <a:avLst/>
          </a:prstGeom>
          <a:solidFill>
            <a:srgbClr val="F6F7F9"/>
          </a:solidFill>
          <a:ln w="15875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965455" y="4615358"/>
            <a:ext cx="368300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0" i="0" spc="16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2020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923314" y="4323258"/>
            <a:ext cx="9525" cy="152400"/>
          </a:xfrm>
          <a:prstGeom prst="rect">
            <a:avLst/>
          </a:prstGeom>
          <a:solidFill>
            <a:srgbClr val="EC2326">
              <a:alpha val="4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7256564" y="3473348"/>
            <a:ext cx="31750" cy="31750"/>
          </a:xfrm>
          <a:prstGeom prst="ellipse">
            <a:avLst/>
          </a:prstGeom>
          <a:solidFill>
            <a:srgbClr val="1E2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256564" y="3432073"/>
            <a:ext cx="1333500" cy="107950"/>
          </a:xfrm>
          <a:prstGeom prst="rect">
            <a:avLst/>
          </a:prstGeom>
          <a:noFill/>
        </p:spPr>
        <p:txBody>
          <a:bodyPr wrap="none" lIns="8890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(PCC) Microsoft Data Center</a:t>
            </a:r>
          </a:p>
        </p:txBody>
      </p:sp>
      <p:sp>
        <p:nvSpPr>
          <p:cNvPr id="111" name="Oval 110"/>
          <p:cNvSpPr/>
          <p:nvPr/>
        </p:nvSpPr>
        <p:spPr>
          <a:xfrm>
            <a:off x="7256564" y="3650456"/>
            <a:ext cx="31750" cy="31750"/>
          </a:xfrm>
          <a:prstGeom prst="ellipse">
            <a:avLst/>
          </a:prstGeom>
          <a:solidFill>
            <a:srgbClr val="1E2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256564" y="3609181"/>
            <a:ext cx="1333500" cy="107950"/>
          </a:xfrm>
          <a:prstGeom prst="rect">
            <a:avLst/>
          </a:prstGeom>
          <a:noFill/>
        </p:spPr>
        <p:txBody>
          <a:bodyPr wrap="none" lIns="8890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(GC / D&amp;B) SilTerra expansion</a:t>
            </a:r>
          </a:p>
        </p:txBody>
      </p:sp>
      <p:sp>
        <p:nvSpPr>
          <p:cNvPr id="113" name="Oval 112"/>
          <p:cNvSpPr/>
          <p:nvPr/>
        </p:nvSpPr>
        <p:spPr>
          <a:xfrm>
            <a:off x="7256564" y="3827564"/>
            <a:ext cx="31750" cy="31750"/>
          </a:xfrm>
          <a:prstGeom prst="ellipse">
            <a:avLst/>
          </a:prstGeom>
          <a:solidFill>
            <a:srgbClr val="1E2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256564" y="3786289"/>
            <a:ext cx="1333500" cy="227908"/>
          </a:xfrm>
          <a:prstGeom prst="rect">
            <a:avLst/>
          </a:prstGeom>
          <a:noFill/>
        </p:spPr>
        <p:txBody>
          <a:bodyPr wrap="square" lIns="88900" rIns="0" tIns="0" bIns="0" anchor="ctr">
            <a:noAutofit/>
          </a:bodyPr>
          <a:lstStyle/>
          <a:p>
            <a:pPr algn="l">
              <a:lnSpc>
                <a:spcPts val="944"/>
              </a:lnSpc>
            </a:pPr>
            <a:r>
              <a:rPr sz="70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(EPCM / D&amp;B) Soitec PR1A expansion</a:t>
            </a:r>
          </a:p>
        </p:txBody>
      </p:sp>
      <p:sp>
        <p:nvSpPr>
          <p:cNvPr id="115" name="Oval 114"/>
          <p:cNvSpPr/>
          <p:nvPr/>
        </p:nvSpPr>
        <p:spPr>
          <a:xfrm>
            <a:off x="7256564" y="4124623"/>
            <a:ext cx="31750" cy="31750"/>
          </a:xfrm>
          <a:prstGeom prst="ellipse">
            <a:avLst/>
          </a:prstGeom>
          <a:solidFill>
            <a:srgbClr val="1E2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256564" y="4083348"/>
            <a:ext cx="1333500" cy="227908"/>
          </a:xfrm>
          <a:prstGeom prst="rect">
            <a:avLst/>
          </a:prstGeom>
          <a:noFill/>
        </p:spPr>
        <p:txBody>
          <a:bodyPr wrap="square" lIns="88900" rIns="0" tIns="0" bIns="0" anchor="ctr">
            <a:noAutofit/>
          </a:bodyPr>
          <a:lstStyle/>
          <a:p>
            <a:pPr algn="l">
              <a:lnSpc>
                <a:spcPts val="944"/>
              </a:lnSpc>
            </a:pPr>
            <a:r>
              <a:rPr sz="70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(GC / EPCM) Infineon IFKM3 expansion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256564" y="4659808"/>
            <a:ext cx="1333500" cy="12700"/>
          </a:xfrm>
          <a:prstGeom prst="rect">
            <a:avLst/>
          </a:prstGeom>
          <a:solidFill>
            <a:srgbClr val="EC2326">
              <a:alpha val="2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7747102" y="4483595"/>
            <a:ext cx="352425" cy="352425"/>
          </a:xfrm>
          <a:prstGeom prst="ellipse">
            <a:avLst/>
          </a:prstGeom>
          <a:solidFill>
            <a:srgbClr val="F6F7F9"/>
          </a:solidFill>
          <a:ln w="15875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739164" y="4615358"/>
            <a:ext cx="368300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0" i="0" spc="16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2021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697017" y="4843958"/>
            <a:ext cx="9525" cy="152400"/>
          </a:xfrm>
          <a:prstGeom prst="rect">
            <a:avLst/>
          </a:prstGeom>
          <a:solidFill>
            <a:srgbClr val="EC2326">
              <a:alpha val="4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8030267" y="5037633"/>
            <a:ext cx="31750" cy="31750"/>
          </a:xfrm>
          <a:prstGeom prst="ellipse">
            <a:avLst/>
          </a:prstGeom>
          <a:solidFill>
            <a:srgbClr val="1E2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030267" y="4996358"/>
            <a:ext cx="1333500" cy="227908"/>
          </a:xfrm>
          <a:prstGeom prst="rect">
            <a:avLst/>
          </a:prstGeom>
          <a:noFill/>
        </p:spPr>
        <p:txBody>
          <a:bodyPr wrap="square" lIns="88900" rIns="0" tIns="0" bIns="0" anchor="ctr">
            <a:noAutofit/>
          </a:bodyPr>
          <a:lstStyle/>
          <a:p>
            <a:pPr algn="l">
              <a:lnSpc>
                <a:spcPts val="944"/>
              </a:lnSpc>
            </a:pPr>
            <a:r>
              <a:rPr sz="70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(GC / D&amp;B) XFAB 40K expansion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030267" y="4659808"/>
            <a:ext cx="1333500" cy="12700"/>
          </a:xfrm>
          <a:prstGeom prst="rect">
            <a:avLst/>
          </a:prstGeom>
          <a:solidFill>
            <a:srgbClr val="EC2326">
              <a:alpha val="2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8520805" y="4483595"/>
            <a:ext cx="352425" cy="352425"/>
          </a:xfrm>
          <a:prstGeom prst="ellipse">
            <a:avLst/>
          </a:prstGeom>
          <a:solidFill>
            <a:srgbClr val="F6F7F9"/>
          </a:solidFill>
          <a:ln w="15875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512867" y="4615358"/>
            <a:ext cx="368300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0" i="0" spc="16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2022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9470727" y="4323258"/>
            <a:ext cx="9525" cy="152400"/>
          </a:xfrm>
          <a:prstGeom prst="rect">
            <a:avLst/>
          </a:prstGeom>
          <a:solidFill>
            <a:srgbClr val="EC2326">
              <a:alpha val="4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8803977" y="4124623"/>
            <a:ext cx="31750" cy="31750"/>
          </a:xfrm>
          <a:prstGeom prst="ellipse">
            <a:avLst/>
          </a:prstGeom>
          <a:solidFill>
            <a:srgbClr val="1E2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803977" y="4083348"/>
            <a:ext cx="1333500" cy="227908"/>
          </a:xfrm>
          <a:prstGeom prst="rect">
            <a:avLst/>
          </a:prstGeom>
          <a:noFill/>
        </p:spPr>
        <p:txBody>
          <a:bodyPr wrap="square" lIns="88900" rIns="0" tIns="0" bIns="0" anchor="ctr">
            <a:noAutofit/>
          </a:bodyPr>
          <a:lstStyle/>
          <a:p>
            <a:pPr algn="l">
              <a:lnSpc>
                <a:spcPts val="944"/>
              </a:lnSpc>
            </a:pPr>
            <a:r>
              <a:rPr sz="70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(GC / D&amp;B) Progressive Build P Project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803977" y="4659808"/>
            <a:ext cx="1333500" cy="12700"/>
          </a:xfrm>
          <a:prstGeom prst="rect">
            <a:avLst/>
          </a:prstGeom>
          <a:solidFill>
            <a:srgbClr val="EC2326">
              <a:alpha val="2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9294514" y="4483595"/>
            <a:ext cx="352425" cy="352425"/>
          </a:xfrm>
          <a:prstGeom prst="ellipse">
            <a:avLst/>
          </a:prstGeom>
          <a:solidFill>
            <a:srgbClr val="F6F7F9"/>
          </a:solidFill>
          <a:ln w="15875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286577" y="4615358"/>
            <a:ext cx="368300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0" i="0" spc="16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2024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0244436" y="4843958"/>
            <a:ext cx="9525" cy="152400"/>
          </a:xfrm>
          <a:prstGeom prst="rect">
            <a:avLst/>
          </a:prstGeom>
          <a:solidFill>
            <a:srgbClr val="EC2326">
              <a:alpha val="4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9577686" y="5037633"/>
            <a:ext cx="31750" cy="31750"/>
          </a:xfrm>
          <a:prstGeom prst="ellipse">
            <a:avLst/>
          </a:prstGeom>
          <a:solidFill>
            <a:srgbClr val="1E2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9577686" y="4996358"/>
            <a:ext cx="1333500" cy="107950"/>
          </a:xfrm>
          <a:prstGeom prst="rect">
            <a:avLst/>
          </a:prstGeom>
          <a:noFill/>
        </p:spPr>
        <p:txBody>
          <a:bodyPr wrap="none" lIns="8890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(GC / D&amp;B) Hasegawa</a:t>
            </a:r>
          </a:p>
        </p:txBody>
      </p:sp>
      <p:sp>
        <p:nvSpPr>
          <p:cNvPr id="135" name="Oval 134"/>
          <p:cNvSpPr/>
          <p:nvPr/>
        </p:nvSpPr>
        <p:spPr>
          <a:xfrm>
            <a:off x="9577686" y="5214741"/>
            <a:ext cx="31750" cy="31750"/>
          </a:xfrm>
          <a:prstGeom prst="ellipse">
            <a:avLst/>
          </a:prstGeom>
          <a:solidFill>
            <a:srgbClr val="1E2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577686" y="5173466"/>
            <a:ext cx="1333500" cy="227908"/>
          </a:xfrm>
          <a:prstGeom prst="rect">
            <a:avLst/>
          </a:prstGeom>
          <a:noFill/>
        </p:spPr>
        <p:txBody>
          <a:bodyPr wrap="square" lIns="88900" rIns="0" tIns="0" bIns="0" anchor="ctr">
            <a:noAutofit/>
          </a:bodyPr>
          <a:lstStyle/>
          <a:p>
            <a:pPr algn="l">
              <a:lnSpc>
                <a:spcPts val="944"/>
              </a:lnSpc>
            </a:pPr>
            <a:r>
              <a:rPr sz="70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(PCC) 160MW hyperscale data centre</a:t>
            </a:r>
          </a:p>
        </p:txBody>
      </p:sp>
      <p:sp>
        <p:nvSpPr>
          <p:cNvPr id="137" name="Oval 136"/>
          <p:cNvSpPr/>
          <p:nvPr/>
        </p:nvSpPr>
        <p:spPr>
          <a:xfrm>
            <a:off x="9577686" y="5511800"/>
            <a:ext cx="31750" cy="31750"/>
          </a:xfrm>
          <a:prstGeom prst="ellipse">
            <a:avLst/>
          </a:prstGeom>
          <a:solidFill>
            <a:srgbClr val="1E2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577686" y="5470525"/>
            <a:ext cx="1333500" cy="107950"/>
          </a:xfrm>
          <a:prstGeom prst="rect">
            <a:avLst/>
          </a:prstGeom>
          <a:noFill/>
        </p:spPr>
        <p:txBody>
          <a:bodyPr wrap="none" lIns="8890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(EPCC) ESCM Germany</a:t>
            </a:r>
          </a:p>
        </p:txBody>
      </p:sp>
      <p:sp>
        <p:nvSpPr>
          <p:cNvPr id="139" name="Oval 138"/>
          <p:cNvSpPr/>
          <p:nvPr/>
        </p:nvSpPr>
        <p:spPr>
          <a:xfrm>
            <a:off x="9577686" y="5688908"/>
            <a:ext cx="31750" cy="31750"/>
          </a:xfrm>
          <a:prstGeom prst="ellipse">
            <a:avLst/>
          </a:prstGeom>
          <a:solidFill>
            <a:srgbClr val="12A1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577686" y="5647633"/>
            <a:ext cx="1333500" cy="227908"/>
          </a:xfrm>
          <a:prstGeom prst="rect">
            <a:avLst/>
          </a:prstGeom>
          <a:noFill/>
        </p:spPr>
        <p:txBody>
          <a:bodyPr wrap="square" lIns="88900" rIns="0" tIns="0" bIns="0" anchor="ctr">
            <a:noAutofit/>
          </a:bodyPr>
          <a:lstStyle/>
          <a:p>
            <a:pPr algn="l">
              <a:lnSpc>
                <a:spcPts val="944"/>
              </a:lnSpc>
            </a:pPr>
            <a:r>
              <a:rPr sz="700" b="0" i="0">
                <a:solidFill>
                  <a:srgbClr val="12A150"/>
                </a:solidFill>
                <a:latin typeface="Urbanist Medium"/>
                <a:ea typeface="Urbanist Medium"/>
                <a:cs typeface="Urbanist Medium"/>
              </a:rPr>
              <a:t>(EPCC) KLCC DCS chiller upgrading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577686" y="4659808"/>
            <a:ext cx="1333500" cy="12700"/>
          </a:xfrm>
          <a:prstGeom prst="rect">
            <a:avLst/>
          </a:prstGeom>
          <a:solidFill>
            <a:srgbClr val="EC2326">
              <a:alpha val="2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0068223" y="4483595"/>
            <a:ext cx="352425" cy="352425"/>
          </a:xfrm>
          <a:prstGeom prst="ellipse">
            <a:avLst/>
          </a:prstGeom>
          <a:solidFill>
            <a:srgbClr val="F6F7F9"/>
          </a:solidFill>
          <a:ln w="15875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0060286" y="4615358"/>
            <a:ext cx="368300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0" i="0" spc="16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2025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11018145" y="4323258"/>
            <a:ext cx="9525" cy="152400"/>
          </a:xfrm>
          <a:prstGeom prst="rect">
            <a:avLst/>
          </a:prstGeom>
          <a:solidFill>
            <a:srgbClr val="EC2326">
              <a:alpha val="4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10351395" y="3770414"/>
            <a:ext cx="31750" cy="31750"/>
          </a:xfrm>
          <a:prstGeom prst="ellipse">
            <a:avLst/>
          </a:prstGeom>
          <a:solidFill>
            <a:srgbClr val="1E2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0351395" y="3729139"/>
            <a:ext cx="1333500" cy="107950"/>
          </a:xfrm>
          <a:prstGeom prst="rect">
            <a:avLst/>
          </a:prstGeom>
          <a:noFill/>
        </p:spPr>
        <p:txBody>
          <a:bodyPr wrap="none" lIns="8890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(D&amp;B) Tata Dholera DF1</a:t>
            </a:r>
          </a:p>
        </p:txBody>
      </p:sp>
      <p:sp>
        <p:nvSpPr>
          <p:cNvPr id="147" name="Oval 146"/>
          <p:cNvSpPr/>
          <p:nvPr/>
        </p:nvSpPr>
        <p:spPr>
          <a:xfrm>
            <a:off x="10351395" y="3947516"/>
            <a:ext cx="31750" cy="31750"/>
          </a:xfrm>
          <a:prstGeom prst="ellipse">
            <a:avLst/>
          </a:prstGeom>
          <a:solidFill>
            <a:srgbClr val="7A3D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0351395" y="3906241"/>
            <a:ext cx="1333500" cy="107950"/>
          </a:xfrm>
          <a:prstGeom prst="rect">
            <a:avLst/>
          </a:prstGeom>
          <a:noFill/>
        </p:spPr>
        <p:txBody>
          <a:bodyPr wrap="none" lIns="8890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7A3DB8"/>
                </a:solidFill>
                <a:latin typeface="Urbanist Medium"/>
                <a:ea typeface="Urbanist Medium"/>
                <a:cs typeface="Urbanist Medium"/>
              </a:rPr>
              <a:t>(EPCM / HU) Micron MSH</a:t>
            </a:r>
          </a:p>
        </p:txBody>
      </p:sp>
      <p:sp>
        <p:nvSpPr>
          <p:cNvPr id="149" name="Oval 148"/>
          <p:cNvSpPr/>
          <p:nvPr/>
        </p:nvSpPr>
        <p:spPr>
          <a:xfrm>
            <a:off x="10351395" y="4124623"/>
            <a:ext cx="31750" cy="31750"/>
          </a:xfrm>
          <a:prstGeom prst="ellipse">
            <a:avLst/>
          </a:prstGeom>
          <a:solidFill>
            <a:srgbClr val="12A1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0351395" y="4083348"/>
            <a:ext cx="1333500" cy="227908"/>
          </a:xfrm>
          <a:prstGeom prst="rect">
            <a:avLst/>
          </a:prstGeom>
          <a:noFill/>
        </p:spPr>
        <p:txBody>
          <a:bodyPr wrap="square" lIns="88900" rIns="0" tIns="0" bIns="0" anchor="ctr">
            <a:noAutofit/>
          </a:bodyPr>
          <a:lstStyle/>
          <a:p>
            <a:pPr algn="l">
              <a:lnSpc>
                <a:spcPts val="944"/>
              </a:lnSpc>
            </a:pPr>
            <a:r>
              <a:rPr sz="700" b="0" i="0">
                <a:solidFill>
                  <a:srgbClr val="12A150"/>
                </a:solidFill>
                <a:latin typeface="Urbanist Medium"/>
                <a:ea typeface="Urbanist Medium"/>
                <a:cs typeface="Urbanist Medium"/>
              </a:rPr>
              <a:t>(EPCC) GDC Putrajaya chiller upgrading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0351395" y="4659808"/>
            <a:ext cx="666750" cy="12700"/>
          </a:xfrm>
          <a:prstGeom prst="rect">
            <a:avLst/>
          </a:prstGeom>
          <a:solidFill>
            <a:srgbClr val="EC2326">
              <a:alpha val="2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10841933" y="4483595"/>
            <a:ext cx="352425" cy="352425"/>
          </a:xfrm>
          <a:prstGeom prst="ellipse">
            <a:avLst/>
          </a:prstGeom>
          <a:solidFill>
            <a:srgbClr val="F6F7F9"/>
          </a:solidFill>
          <a:ln w="15875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0833995" y="4615358"/>
            <a:ext cx="368300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0" i="0" spc="16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2026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09600" y="6445250"/>
            <a:ext cx="407391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06 / 67</a:t>
            </a:r>
          </a:p>
        </p:txBody>
      </p:sp>
      <p:sp>
        <p:nvSpPr>
          <p:cNvPr id="155" name="Oval 154"/>
          <p:cNvSpPr/>
          <p:nvPr/>
        </p:nvSpPr>
        <p:spPr>
          <a:xfrm>
            <a:off x="5806973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5908573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6010173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0838263" y="6429375"/>
            <a:ext cx="74414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THE COMPANY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28809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28809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0009" y="414338"/>
            <a:ext cx="1541564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01 · THE COMPANY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Global Footprint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Seven markets, from the Malaysian headquarters outward.</a:t>
            </a:r>
          </a:p>
        </p:txBody>
      </p:sp>
      <p:pic>
        <p:nvPicPr>
          <p:cNvPr id="10" name="Picture 9" descr="map-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90108"/>
            <a:ext cx="5270500" cy="2871591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1643361" y="4010222"/>
            <a:ext cx="146050" cy="146050"/>
          </a:xfrm>
          <a:prstGeom prst="ellipse">
            <a:avLst/>
          </a:prstGeom>
          <a:solidFill>
            <a:srgbClr val="EC2326">
              <a:alpha val="2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81461" y="4048322"/>
            <a:ext cx="69850" cy="69850"/>
          </a:xfrm>
          <a:prstGeom prst="ellipse">
            <a:avLst/>
          </a:prstGeom>
          <a:solidFill>
            <a:srgbClr val="EC2326"/>
          </a:solidFill>
          <a:ln w="12700">
            <a:solidFill>
              <a:srgbClr val="F6F7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33861" y="4041972"/>
            <a:ext cx="749598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98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UNITED STATES</a:t>
            </a:r>
          </a:p>
        </p:txBody>
      </p:sp>
      <p:sp>
        <p:nvSpPr>
          <p:cNvPr id="14" name="Oval 13"/>
          <p:cNvSpPr/>
          <p:nvPr/>
        </p:nvSpPr>
        <p:spPr>
          <a:xfrm>
            <a:off x="2881909" y="3437338"/>
            <a:ext cx="146050" cy="146050"/>
          </a:xfrm>
          <a:prstGeom prst="ellipse">
            <a:avLst/>
          </a:prstGeom>
          <a:solidFill>
            <a:srgbClr val="EC2326">
              <a:alpha val="2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20009" y="3475438"/>
            <a:ext cx="69850" cy="69850"/>
          </a:xfrm>
          <a:prstGeom prst="ellipse">
            <a:avLst/>
          </a:prstGeom>
          <a:solidFill>
            <a:srgbClr val="EC2326"/>
          </a:solidFill>
          <a:ln w="12700">
            <a:solidFill>
              <a:srgbClr val="F6F7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13895" y="3367488"/>
            <a:ext cx="423564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98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IRELAND</a:t>
            </a:r>
          </a:p>
        </p:txBody>
      </p:sp>
      <p:sp>
        <p:nvSpPr>
          <p:cNvPr id="17" name="Oval 16"/>
          <p:cNvSpPr/>
          <p:nvPr/>
        </p:nvSpPr>
        <p:spPr>
          <a:xfrm>
            <a:off x="3169145" y="3234931"/>
            <a:ext cx="146050" cy="146050"/>
          </a:xfrm>
          <a:prstGeom prst="ellipse">
            <a:avLst/>
          </a:prstGeom>
          <a:solidFill>
            <a:srgbClr val="EC2326">
              <a:alpha val="2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207245" y="3273031"/>
            <a:ext cx="69850" cy="69850"/>
          </a:xfrm>
          <a:prstGeom prst="ellipse">
            <a:avLst/>
          </a:prstGeom>
          <a:solidFill>
            <a:srgbClr val="EC2326"/>
          </a:solidFill>
          <a:ln w="12700">
            <a:solidFill>
              <a:srgbClr val="F6F7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13634" y="3203181"/>
            <a:ext cx="411061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98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SWEDEN</a:t>
            </a:r>
          </a:p>
        </p:txBody>
      </p:sp>
      <p:sp>
        <p:nvSpPr>
          <p:cNvPr id="20" name="Oval 19"/>
          <p:cNvSpPr/>
          <p:nvPr/>
        </p:nvSpPr>
        <p:spPr>
          <a:xfrm>
            <a:off x="3158630" y="3491903"/>
            <a:ext cx="146050" cy="146050"/>
          </a:xfrm>
          <a:prstGeom prst="ellipse">
            <a:avLst/>
          </a:prstGeom>
          <a:solidFill>
            <a:srgbClr val="EC2326">
              <a:alpha val="2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196730" y="3530003"/>
            <a:ext cx="69850" cy="69850"/>
          </a:xfrm>
          <a:prstGeom prst="ellipse">
            <a:avLst/>
          </a:prstGeom>
          <a:solidFill>
            <a:srgbClr val="EC2326"/>
          </a:solidFill>
          <a:ln w="12700">
            <a:solidFill>
              <a:srgbClr val="F6F7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21458" y="3657003"/>
            <a:ext cx="492722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98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GERMANY</a:t>
            </a:r>
          </a:p>
        </p:txBody>
      </p:sp>
      <p:sp>
        <p:nvSpPr>
          <p:cNvPr id="23" name="Oval 22"/>
          <p:cNvSpPr/>
          <p:nvPr/>
        </p:nvSpPr>
        <p:spPr>
          <a:xfrm>
            <a:off x="4104678" y="4102100"/>
            <a:ext cx="146050" cy="146050"/>
          </a:xfrm>
          <a:prstGeom prst="ellipse">
            <a:avLst/>
          </a:prstGeom>
          <a:solidFill>
            <a:srgbClr val="EC2326">
              <a:alpha val="2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142778" y="4140200"/>
            <a:ext cx="69850" cy="69850"/>
          </a:xfrm>
          <a:prstGeom prst="ellipse">
            <a:avLst/>
          </a:prstGeom>
          <a:solidFill>
            <a:srgbClr val="EC2326"/>
          </a:solidFill>
          <a:ln w="12700">
            <a:solidFill>
              <a:srgbClr val="F6F7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5178" y="4133850"/>
            <a:ext cx="280492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98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INDIA</a:t>
            </a:r>
          </a:p>
        </p:txBody>
      </p:sp>
      <p:sp>
        <p:nvSpPr>
          <p:cNvPr id="26" name="Oval 25"/>
          <p:cNvSpPr/>
          <p:nvPr/>
        </p:nvSpPr>
        <p:spPr>
          <a:xfrm>
            <a:off x="4499966" y="4127995"/>
            <a:ext cx="146050" cy="146050"/>
          </a:xfrm>
          <a:prstGeom prst="ellipse">
            <a:avLst/>
          </a:prstGeom>
          <a:solidFill>
            <a:srgbClr val="EC2326">
              <a:alpha val="2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38066" y="4166095"/>
            <a:ext cx="69850" cy="69850"/>
          </a:xfrm>
          <a:prstGeom prst="ellipse">
            <a:avLst/>
          </a:prstGeom>
          <a:solidFill>
            <a:srgbClr val="EC2326"/>
          </a:solidFill>
          <a:ln w="12700">
            <a:solidFill>
              <a:srgbClr val="F6F7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90466" y="4045445"/>
            <a:ext cx="498475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98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MALAYSIA</a:t>
            </a:r>
          </a:p>
        </p:txBody>
      </p:sp>
      <p:sp>
        <p:nvSpPr>
          <p:cNvPr id="29" name="Oval 28"/>
          <p:cNvSpPr/>
          <p:nvPr/>
        </p:nvSpPr>
        <p:spPr>
          <a:xfrm>
            <a:off x="4507808" y="4143775"/>
            <a:ext cx="146050" cy="146050"/>
          </a:xfrm>
          <a:prstGeom prst="ellipse">
            <a:avLst/>
          </a:prstGeom>
          <a:solidFill>
            <a:srgbClr val="EC2326">
              <a:alpha val="2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545908" y="4181875"/>
            <a:ext cx="69850" cy="69850"/>
          </a:xfrm>
          <a:prstGeom prst="ellipse">
            <a:avLst/>
          </a:prstGeom>
          <a:solidFill>
            <a:srgbClr val="EC2326"/>
          </a:solidFill>
          <a:ln w="12700">
            <a:solidFill>
              <a:srgbClr val="F6F7F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98308" y="4315225"/>
            <a:ext cx="57825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98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SINGAPORE</a:t>
            </a:r>
          </a:p>
        </p:txBody>
      </p:sp>
      <p:pic>
        <p:nvPicPr>
          <p:cNvPr id="32" name="Picture 31" descr="d732deedda998cc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2318645"/>
            <a:ext cx="292100" cy="1460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629400" y="2293245"/>
            <a:ext cx="393700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00" b="1" i="0">
                <a:solidFill>
                  <a:srgbClr val="EC2326"/>
                </a:solidFill>
                <a:latin typeface="Poppins"/>
                <a:ea typeface="Poppins"/>
                <a:cs typeface="Poppins"/>
              </a:rPr>
              <a:t>1995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7400" y="2299595"/>
            <a:ext cx="444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Malaysia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7400" y="2482456"/>
            <a:ext cx="4445000" cy="2477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51"/>
              </a:lnSpc>
            </a:pPr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Turnkey design, procurement, construction and commissioning for hi-tech clients. Selangor (HQ), Penang, Johor and Kuching.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23000" y="2838253"/>
            <a:ext cx="53594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2c277a8d47ac42c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4259" y="2952553"/>
            <a:ext cx="289582" cy="18256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629400" y="2927153"/>
            <a:ext cx="393700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00" b="1" i="0">
                <a:solidFill>
                  <a:srgbClr val="EC2326"/>
                </a:solidFill>
                <a:latin typeface="Poppins"/>
                <a:ea typeface="Poppins"/>
                <a:cs typeface="Poppins"/>
              </a:rPr>
              <a:t>2020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7400" y="2933503"/>
            <a:ext cx="444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Sweden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7400" y="3116364"/>
            <a:ext cx="44450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Gigafactory construction for EV battery manufacture, part of Europe’s clean and digital transition.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23000" y="3338709"/>
            <a:ext cx="53594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2" name="Picture 41" descr="c36c0a20ee0fb2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4621" y="3453009"/>
            <a:ext cx="288859" cy="19466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629400" y="3427609"/>
            <a:ext cx="393700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00" b="1" i="0">
                <a:solidFill>
                  <a:srgbClr val="EC2326"/>
                </a:solidFill>
                <a:latin typeface="Poppins"/>
                <a:ea typeface="Poppins"/>
                <a:cs typeface="Poppins"/>
              </a:rPr>
              <a:t>2023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7400" y="3433959"/>
            <a:ext cx="444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Singapore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7400" y="3616820"/>
            <a:ext cx="44450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Design &amp; build EPCM services to global clients in the semiconductor industry.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23000" y="3839172"/>
            <a:ext cx="53594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d61d50bfbd66426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4259" y="3953472"/>
            <a:ext cx="289582" cy="182562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629400" y="3928072"/>
            <a:ext cx="393700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00" b="1" i="0">
                <a:solidFill>
                  <a:srgbClr val="EC2326"/>
                </a:solidFill>
                <a:latin typeface="Poppins"/>
                <a:ea typeface="Poppins"/>
                <a:cs typeface="Poppins"/>
              </a:rPr>
              <a:t>2025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7400" y="3934422"/>
            <a:ext cx="444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Germany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7400" y="4117283"/>
            <a:ext cx="44450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EPCC services following the semiconductor industry expansion in Europe.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23000" y="4339628"/>
            <a:ext cx="53594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2" name="Picture 51" descr="480a93db4bbe9fe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4621" y="4453928"/>
            <a:ext cx="288859" cy="194666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629400" y="4428528"/>
            <a:ext cx="393700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00" b="1" i="0">
                <a:solidFill>
                  <a:srgbClr val="EC2326"/>
                </a:solidFill>
                <a:latin typeface="Poppins"/>
                <a:ea typeface="Poppins"/>
                <a:cs typeface="Poppins"/>
              </a:rPr>
              <a:t>2026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37400" y="4434878"/>
            <a:ext cx="444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India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37400" y="4617739"/>
            <a:ext cx="44450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D&amp;B turnkey delivery for India’s first wafer fab.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23000" y="4840091"/>
            <a:ext cx="53594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7" name="Picture 56" descr="f872ae0da7726dc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24621" y="4954391"/>
            <a:ext cx="288859" cy="194666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629400" y="4928991"/>
            <a:ext cx="393700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00" b="1" i="0">
                <a:solidFill>
                  <a:srgbClr val="EC2326"/>
                </a:solidFill>
                <a:latin typeface="Poppins"/>
                <a:ea typeface="Poppins"/>
                <a:cs typeface="Poppins"/>
              </a:rPr>
              <a:t>2026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37400" y="4935341"/>
            <a:ext cx="444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United States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37400" y="5118202"/>
            <a:ext cx="44450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Entry to the US following the localisation of advanced technology facilities.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23000" y="5340547"/>
            <a:ext cx="53594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2" name="Picture 61" descr="b8d461d3ed08853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24621" y="5454847"/>
            <a:ext cx="288859" cy="194666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6629400" y="5429447"/>
            <a:ext cx="393700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00" b="1" i="0">
                <a:solidFill>
                  <a:srgbClr val="EC2326"/>
                </a:solidFill>
                <a:latin typeface="Poppins"/>
                <a:ea typeface="Poppins"/>
                <a:cs typeface="Poppins"/>
              </a:rPr>
              <a:t>2026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37400" y="5435797"/>
            <a:ext cx="444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Ireland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37400" y="5618658"/>
            <a:ext cx="44450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Incorporated to support a client’s wafer fabrication project.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9600" y="6445250"/>
            <a:ext cx="405111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07 / 67</a:t>
            </a:r>
          </a:p>
        </p:txBody>
      </p:sp>
      <p:sp>
        <p:nvSpPr>
          <p:cNvPr id="67" name="Oval 66"/>
          <p:cNvSpPr/>
          <p:nvPr/>
        </p:nvSpPr>
        <p:spPr>
          <a:xfrm>
            <a:off x="5805786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907386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008986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838161" y="6429375"/>
            <a:ext cx="74414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THE COMPANY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30797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30797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01.5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1997" y="414338"/>
            <a:ext cx="1541564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01 · THE COMPANY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Core Values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Six commitments that govern how every project is run. Not words, but working rules.</a:t>
            </a:r>
          </a:p>
        </p:txBody>
      </p:sp>
      <p:pic>
        <p:nvPicPr>
          <p:cNvPr id="10" name="Picture 9" descr="val-safety.jpg"/>
          <p:cNvPicPr>
            <a:picLocks noChangeAspect="1"/>
          </p:cNvPicPr>
          <p:nvPr/>
        </p:nvPicPr>
        <p:blipFill>
          <a:blip r:embed="rId3"/>
          <a:srcRect t="3858" b="3858"/>
          <a:stretch>
            <a:fillRect/>
          </a:stretch>
        </p:blipFill>
        <p:spPr>
          <a:xfrm>
            <a:off x="609600" y="1701800"/>
            <a:ext cx="3522066" cy="135483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3056630"/>
            <a:ext cx="3522066" cy="8740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3056630"/>
            <a:ext cx="3522066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550" y="2847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300" y="2878830"/>
            <a:ext cx="393700" cy="3937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99854683d601e2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075" y="2983605"/>
            <a:ext cx="184150" cy="1841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727748" y="3088380"/>
            <a:ext cx="276917" cy="406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300" b="1" i="0" spc="-92">
                <a:solidFill>
                  <a:srgbClr val="EC2326">
                    <a:alpha val="13000"/>
                  </a:srgbClr>
                </a:solidFill>
                <a:latin typeface="Poppins"/>
                <a:ea typeface="Poppins"/>
                <a:cs typeface="Poppin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300" y="3310630"/>
            <a:ext cx="3242666" cy="1841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spc="-21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Safety 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300" y="3533775"/>
            <a:ext cx="2667000" cy="252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87"/>
              </a:lnSpc>
            </a:pPr>
            <a:r>
              <a:rPr sz="7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Our services and works are carried out to the highest standard of safety and ethics.</a:t>
            </a:r>
          </a:p>
        </p:txBody>
      </p:sp>
      <p:pic>
        <p:nvPicPr>
          <p:cNvPr id="19" name="Picture 18" descr="val-quality.jpg"/>
          <p:cNvPicPr>
            <a:picLocks noChangeAspect="1"/>
          </p:cNvPicPr>
          <p:nvPr/>
        </p:nvPicPr>
        <p:blipFill>
          <a:blip r:embed="rId5"/>
          <a:srcRect t="3860" b="3860"/>
          <a:stretch>
            <a:fillRect/>
          </a:stretch>
        </p:blipFill>
        <p:spPr>
          <a:xfrm>
            <a:off x="4334866" y="1701800"/>
            <a:ext cx="3522167" cy="135483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4334866" y="3056630"/>
            <a:ext cx="3522167" cy="8740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34866" y="3056630"/>
            <a:ext cx="3522167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42816" y="2847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474566" y="2878830"/>
            <a:ext cx="393700" cy="3937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6ec4f700394a58e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9341" y="2983605"/>
            <a:ext cx="184150" cy="1841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396162" y="3088380"/>
            <a:ext cx="333870" cy="406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300" b="1" i="0" spc="-92">
                <a:solidFill>
                  <a:srgbClr val="EC2326">
                    <a:alpha val="13000"/>
                  </a:srgbClr>
                </a:solidFill>
                <a:latin typeface="Poppins"/>
                <a:ea typeface="Poppins"/>
                <a:cs typeface="Poppins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74566" y="3310630"/>
            <a:ext cx="3242767" cy="1841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spc="-21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Quality Consistency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74566" y="3533775"/>
            <a:ext cx="2667000" cy="252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87"/>
              </a:lnSpc>
            </a:pPr>
            <a:r>
              <a:rPr sz="7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We take pride in the quality of solutions delivered, to achieve maximum client satisfaction.</a:t>
            </a:r>
          </a:p>
        </p:txBody>
      </p:sp>
      <p:pic>
        <p:nvPicPr>
          <p:cNvPr id="28" name="Picture 27" descr="val-integrity.jpg"/>
          <p:cNvPicPr>
            <a:picLocks noChangeAspect="1"/>
          </p:cNvPicPr>
          <p:nvPr/>
        </p:nvPicPr>
        <p:blipFill>
          <a:blip r:embed="rId7"/>
          <a:srcRect t="3860" b="3860"/>
          <a:stretch>
            <a:fillRect/>
          </a:stretch>
        </p:blipFill>
        <p:spPr>
          <a:xfrm>
            <a:off x="8060233" y="1701800"/>
            <a:ext cx="3522167" cy="135483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8060233" y="3056630"/>
            <a:ext cx="3522167" cy="8740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60233" y="3056630"/>
            <a:ext cx="3522167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168183" y="2847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199933" y="2878830"/>
            <a:ext cx="393700" cy="3937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55ebaca750fd997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4708" y="2983605"/>
            <a:ext cx="184150" cy="1841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1111509" y="3088380"/>
            <a:ext cx="343891" cy="406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300" b="1" i="0" spc="-92">
                <a:solidFill>
                  <a:srgbClr val="EC2326">
                    <a:alpha val="13000"/>
                  </a:srgbClr>
                </a:solidFill>
                <a:latin typeface="Poppins"/>
                <a:ea typeface="Poppins"/>
                <a:cs typeface="Poppins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99933" y="3310630"/>
            <a:ext cx="3242767" cy="1841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spc="-21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Honesty and Integrity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9933" y="3533775"/>
            <a:ext cx="2667000" cy="252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87"/>
              </a:lnSpc>
            </a:pPr>
            <a:r>
              <a:rPr sz="7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Our core code of conduct, fostering trust, accountability, professionalism and ethical practice.</a:t>
            </a:r>
          </a:p>
        </p:txBody>
      </p:sp>
      <p:pic>
        <p:nvPicPr>
          <p:cNvPr id="37" name="Picture 36" descr="val-efficiency.jpg"/>
          <p:cNvPicPr>
            <a:picLocks noChangeAspect="1"/>
          </p:cNvPicPr>
          <p:nvPr/>
        </p:nvPicPr>
        <p:blipFill>
          <a:blip r:embed="rId9"/>
          <a:srcRect t="3858" b="3858"/>
          <a:stretch>
            <a:fillRect/>
          </a:stretch>
        </p:blipFill>
        <p:spPr>
          <a:xfrm>
            <a:off x="609600" y="4121150"/>
            <a:ext cx="3522066" cy="135483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609600" y="5475980"/>
            <a:ext cx="3522066" cy="8740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9600" y="5475980"/>
            <a:ext cx="3522066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17550" y="526643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49300" y="5298180"/>
            <a:ext cx="393700" cy="3937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2" name="Picture 41" descr="38706b2873ba3ef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4075" y="5402955"/>
            <a:ext cx="184150" cy="18415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3639744" y="5507730"/>
            <a:ext cx="364928" cy="406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300" b="1" i="0" spc="-92">
                <a:solidFill>
                  <a:srgbClr val="EC2326">
                    <a:alpha val="13000"/>
                  </a:srgbClr>
                </a:solidFill>
                <a:latin typeface="Poppins"/>
                <a:ea typeface="Poppins"/>
                <a:cs typeface="Poppins"/>
              </a:rPr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300" y="5729980"/>
            <a:ext cx="3242666" cy="1841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spc="-21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Efficiency &amp; Proficiency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300" y="5953125"/>
            <a:ext cx="2667000" cy="252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87"/>
              </a:lnSpc>
            </a:pPr>
            <a:r>
              <a:rPr sz="7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Committed to maximising available resources to achieve the best result collectively.</a:t>
            </a:r>
          </a:p>
        </p:txBody>
      </p:sp>
      <p:pic>
        <p:nvPicPr>
          <p:cNvPr id="46" name="Picture 45" descr="value-5.jpg"/>
          <p:cNvPicPr>
            <a:picLocks noChangeAspect="1"/>
          </p:cNvPicPr>
          <p:nvPr/>
        </p:nvPicPr>
        <p:blipFill>
          <a:blip r:embed="rId11"/>
          <a:srcRect t="30332" b="30332"/>
          <a:stretch>
            <a:fillRect/>
          </a:stretch>
        </p:blipFill>
        <p:spPr>
          <a:xfrm>
            <a:off x="4334866" y="4121150"/>
            <a:ext cx="3522167" cy="1354830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4334866" y="5475980"/>
            <a:ext cx="3522167" cy="8740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34866" y="5475980"/>
            <a:ext cx="3522167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442816" y="526643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474566" y="5298180"/>
            <a:ext cx="393700" cy="3937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1" name="Picture 50" descr="ad40577d8b8373a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9341" y="5402955"/>
            <a:ext cx="184150" cy="18415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7373042" y="5507730"/>
            <a:ext cx="356991" cy="406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300" b="1" i="0" spc="-92">
                <a:solidFill>
                  <a:srgbClr val="EC2326">
                    <a:alpha val="13000"/>
                  </a:srgbClr>
                </a:solidFill>
                <a:latin typeface="Poppins"/>
                <a:ea typeface="Poppins"/>
                <a:cs typeface="Poppins"/>
              </a:rPr>
              <a:t>05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74566" y="5729980"/>
            <a:ext cx="3242767" cy="1841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spc="-21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Engineering Capabilities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74566" y="5953125"/>
            <a:ext cx="2667000" cy="252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87"/>
              </a:lnSpc>
            </a:pPr>
            <a:r>
              <a:rPr sz="7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Our way of working revolves around engineering principles, developing precise and sustainable solutions.</a:t>
            </a:r>
          </a:p>
        </p:txBody>
      </p:sp>
      <p:pic>
        <p:nvPicPr>
          <p:cNvPr id="55" name="Picture 54" descr="val-excellence.jpg"/>
          <p:cNvPicPr>
            <a:picLocks noChangeAspect="1"/>
          </p:cNvPicPr>
          <p:nvPr/>
        </p:nvPicPr>
        <p:blipFill>
          <a:blip r:embed="rId13"/>
          <a:srcRect t="3860" b="3860"/>
          <a:stretch>
            <a:fillRect/>
          </a:stretch>
        </p:blipFill>
        <p:spPr>
          <a:xfrm>
            <a:off x="8060233" y="4121150"/>
            <a:ext cx="3522167" cy="1354830"/>
          </a:xfrm>
          <a:prstGeom prst="rect">
            <a:avLst/>
          </a:prstGeom>
        </p:spPr>
      </p:pic>
      <p:sp>
        <p:nvSpPr>
          <p:cNvPr id="56" name="Rectangle 55"/>
          <p:cNvSpPr/>
          <p:nvPr/>
        </p:nvSpPr>
        <p:spPr>
          <a:xfrm>
            <a:off x="8060233" y="5475980"/>
            <a:ext cx="3522167" cy="8740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060233" y="5475980"/>
            <a:ext cx="3522167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168183" y="526643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199933" y="5298180"/>
            <a:ext cx="393700" cy="3937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0" name="Picture 59" descr="1654ba9e054b8e3c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04708" y="5402955"/>
            <a:ext cx="184150" cy="18415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1102181" y="5507730"/>
            <a:ext cx="353219" cy="406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300" b="1" i="0" spc="-92">
                <a:solidFill>
                  <a:srgbClr val="EC2326">
                    <a:alpha val="13000"/>
                  </a:srgbClr>
                </a:solidFill>
                <a:latin typeface="Poppins"/>
                <a:ea typeface="Poppins"/>
                <a:cs typeface="Poppins"/>
              </a:rPr>
              <a:t>06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99933" y="5729980"/>
            <a:ext cx="3242767" cy="1841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0" i="0" spc="-21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Pursuit of Excellence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9933" y="5953125"/>
            <a:ext cx="2667000" cy="252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87"/>
              </a:lnSpc>
            </a:pPr>
            <a:r>
              <a:rPr sz="7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Devoted to excellence in all our works, providing sustainable solutions to complex challenges.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9600" y="6445250"/>
            <a:ext cx="40719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08 / 67</a:t>
            </a:r>
          </a:p>
        </p:txBody>
      </p:sp>
      <p:sp>
        <p:nvSpPr>
          <p:cNvPr id="65" name="Oval 64"/>
          <p:cNvSpPr/>
          <p:nvPr/>
        </p:nvSpPr>
        <p:spPr>
          <a:xfrm>
            <a:off x="5806878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908478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010078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838263" y="6429375"/>
            <a:ext cx="74414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THE COMPANY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32778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32778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01.6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978" y="414338"/>
            <a:ext cx="1541564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01 · THE COMPANY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Business Units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Three delivery capabilities under one group, covering the full chain.</a:t>
            </a:r>
          </a:p>
        </p:txBody>
      </p:sp>
      <p:pic>
        <p:nvPicPr>
          <p:cNvPr id="10" name="Picture 9" descr="bu-epc.jpg"/>
          <p:cNvPicPr>
            <a:picLocks noChangeAspect="1"/>
          </p:cNvPicPr>
          <p:nvPr/>
        </p:nvPicPr>
        <p:blipFill>
          <a:blip r:embed="rId3"/>
          <a:srcRect l="2737" r="2737"/>
          <a:stretch>
            <a:fillRect/>
          </a:stretch>
        </p:blipFill>
        <p:spPr>
          <a:xfrm>
            <a:off x="609600" y="1701800"/>
            <a:ext cx="3539033" cy="281543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695031"/>
            <a:ext cx="3539033" cy="16549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695031"/>
            <a:ext cx="3539033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4802981"/>
            <a:ext cx="3234233" cy="355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000" b="1" i="0" spc="-60">
                <a:solidFill>
                  <a:srgbClr val="EC2326"/>
                </a:solidFill>
                <a:latin typeface="Poppins"/>
                <a:ea typeface="Poppins"/>
                <a:cs typeface="Poppin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5171281"/>
            <a:ext cx="3234233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IAQ SOLUTIONS SDN BHD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5323681"/>
            <a:ext cx="3234233" cy="37108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22"/>
              </a:lnSpc>
            </a:pPr>
            <a:r>
              <a:rPr sz="1150" b="0" i="0" spc="-23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Engineering, Procurement and Construction (EPC)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754688"/>
            <a:ext cx="3234233" cy="41592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62"/>
              </a:lnSpc>
            </a:pPr>
            <a:r>
              <a:rPr sz="7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EPCC from conception to operation, completion and maintenance. Every stage managed, from initial design through commissioning, so clients in hi-tech industries can bring their visions to life.</a:t>
            </a:r>
          </a:p>
        </p:txBody>
      </p:sp>
      <p:pic>
        <p:nvPicPr>
          <p:cNvPr id="17" name="Picture 16" descr="bu-utilities.jpg"/>
          <p:cNvPicPr>
            <a:picLocks noChangeAspect="1"/>
          </p:cNvPicPr>
          <p:nvPr/>
        </p:nvPicPr>
        <p:blipFill>
          <a:blip r:embed="rId4"/>
          <a:srcRect l="2737" r="2737"/>
          <a:stretch>
            <a:fillRect/>
          </a:stretch>
        </p:blipFill>
        <p:spPr>
          <a:xfrm>
            <a:off x="4326433" y="1701800"/>
            <a:ext cx="3539033" cy="2815431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326433" y="4695031"/>
            <a:ext cx="3539033" cy="16549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26433" y="4695031"/>
            <a:ext cx="3539033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8833" y="4802981"/>
            <a:ext cx="3234233" cy="355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000" b="1" i="0" spc="-60">
                <a:solidFill>
                  <a:srgbClr val="EC2326"/>
                </a:solidFill>
                <a:latin typeface="Poppins"/>
                <a:ea typeface="Poppins"/>
                <a:cs typeface="Poppin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8833" y="5171281"/>
            <a:ext cx="3234233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IAQ UTILITY SOLUTIONS SDN BHD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8833" y="5323681"/>
            <a:ext cx="3234233" cy="37108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22"/>
              </a:lnSpc>
            </a:pPr>
            <a:r>
              <a:rPr sz="1150" b="0" i="0" spc="-23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Process Critical Utilities &amp; Total Tool Installation Solutions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8833" y="5754688"/>
            <a:ext cx="3234233" cy="41592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62"/>
              </a:lnSpc>
            </a:pPr>
            <a:r>
              <a:rPr sz="7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EPCM partner for semiconductor manufacturing: process-critical utility infrastructure and total tool installation, bridging facility readiness and manufacturing start-up to accelerate fab ramp-up.</a:t>
            </a:r>
          </a:p>
        </p:txBody>
      </p:sp>
      <p:pic>
        <p:nvPicPr>
          <p:cNvPr id="24" name="Picture 23" descr="bu-energy.jpg"/>
          <p:cNvPicPr>
            <a:picLocks noChangeAspect="1"/>
          </p:cNvPicPr>
          <p:nvPr/>
        </p:nvPicPr>
        <p:blipFill>
          <a:blip r:embed="rId5"/>
          <a:srcRect l="2737" r="2737"/>
          <a:stretch>
            <a:fillRect/>
          </a:stretch>
        </p:blipFill>
        <p:spPr>
          <a:xfrm>
            <a:off x="8043266" y="1701800"/>
            <a:ext cx="3539033" cy="2815431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8043266" y="4695031"/>
            <a:ext cx="3539033" cy="16549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3266" y="4695031"/>
            <a:ext cx="3539033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95666" y="4802981"/>
            <a:ext cx="3234233" cy="355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000" b="1" i="0" spc="-60">
                <a:solidFill>
                  <a:srgbClr val="EC2326"/>
                </a:solidFill>
                <a:latin typeface="Poppins"/>
                <a:ea typeface="Poppins"/>
                <a:cs typeface="Poppins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5666" y="5171281"/>
            <a:ext cx="3234233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IAQ ENERGY FACILITY MANAGEMENT SDN BHD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5666" y="5323681"/>
            <a:ext cx="3234233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50" b="0" i="0" spc="-23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Energy Management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5666" y="5586813"/>
            <a:ext cx="3234233" cy="41592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62"/>
              </a:lnSpc>
            </a:pPr>
            <a:r>
              <a:rPr sz="7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Energy management solutions that optimise operations and reduce carbon footprint, keeping facilities running at the highest levels of efficiency and sustainability.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600" y="6445250"/>
            <a:ext cx="407295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09 / 67</a:t>
            </a:r>
          </a:p>
        </p:txBody>
      </p:sp>
      <p:sp>
        <p:nvSpPr>
          <p:cNvPr id="32" name="Oval 31"/>
          <p:cNvSpPr/>
          <p:nvPr/>
        </p:nvSpPr>
        <p:spPr>
          <a:xfrm>
            <a:off x="5806878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908478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010078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838161" y="6429375"/>
            <a:ext cx="74414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THE COMPANY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30797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30797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01.7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1997" y="414338"/>
            <a:ext cx="1541564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01 · THE COMPANY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Delivery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The three models IAQ contracts under, across the full life of a facility.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701800"/>
            <a:ext cx="10972800" cy="127476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1701800"/>
            <a:ext cx="1117600" cy="1274762"/>
          </a:xfrm>
          <a:prstGeom prst="rect">
            <a:avLst/>
          </a:prstGeom>
          <a:solidFill>
            <a:srgbClr val="EC2326">
              <a:alpha val="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2123281"/>
            <a:ext cx="1117600" cy="425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2400" b="1" i="0" spc="-84">
                <a:solidFill>
                  <a:srgbClr val="EC2326"/>
                </a:solidFill>
                <a:latin typeface="Poppins"/>
                <a:ea typeface="Poppins"/>
                <a:cs typeface="Poppins"/>
              </a:rPr>
              <a:t>EPCM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30400" y="1847850"/>
            <a:ext cx="9448800" cy="222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50" b="0" i="0" spc="-25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Engineering, Procurement &amp; Construction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30400" y="2139950"/>
            <a:ext cx="9448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Management of engineering, procurement and construction for semiconductor manufacturing, bridging facility readiness and manufacturing start-up to accelerate fab ramp-up.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0400" y="2417762"/>
            <a:ext cx="718445" cy="1841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30400" y="2481262"/>
            <a:ext cx="718445" cy="69850"/>
          </a:xfrm>
          <a:prstGeom prst="rect">
            <a:avLst/>
          </a:prstGeom>
          <a:noFill/>
        </p:spPr>
        <p:txBody>
          <a:bodyPr wrap="none" lIns="82550" rIns="82550" tIns="0" bIns="0" anchor="ctr">
            <a:noAutofit/>
          </a:bodyPr>
          <a:lstStyle/>
          <a:p>
            <a:pPr algn="l"/>
            <a:r>
              <a:rPr sz="580" b="0" i="0" spc="69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ENGINEERING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80595" y="2417762"/>
            <a:ext cx="753167" cy="1841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80595" y="2481262"/>
            <a:ext cx="753167" cy="69850"/>
          </a:xfrm>
          <a:prstGeom prst="rect">
            <a:avLst/>
          </a:prstGeom>
          <a:noFill/>
        </p:spPr>
        <p:txBody>
          <a:bodyPr wrap="none" lIns="82550" rIns="82550" tIns="0" bIns="0" anchor="ctr">
            <a:noAutofit/>
          </a:bodyPr>
          <a:lstStyle/>
          <a:p>
            <a:pPr algn="l"/>
            <a:r>
              <a:rPr sz="580" b="0" i="0" spc="69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PROCUREMENT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65512" y="2417762"/>
            <a:ext cx="794544" cy="1841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65512" y="2481262"/>
            <a:ext cx="794544" cy="69850"/>
          </a:xfrm>
          <a:prstGeom prst="rect">
            <a:avLst/>
          </a:prstGeom>
          <a:noFill/>
        </p:spPr>
        <p:txBody>
          <a:bodyPr wrap="none" lIns="82550" rIns="82550" tIns="0" bIns="0" anchor="ctr">
            <a:noAutofit/>
          </a:bodyPr>
          <a:lstStyle/>
          <a:p>
            <a:pPr algn="l"/>
            <a:r>
              <a:rPr sz="580" b="0" i="0" spc="69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CONSTRUCTION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1806" y="2417762"/>
            <a:ext cx="840778" cy="1841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1806" y="2481262"/>
            <a:ext cx="840778" cy="69850"/>
          </a:xfrm>
          <a:prstGeom prst="rect">
            <a:avLst/>
          </a:prstGeom>
          <a:noFill/>
        </p:spPr>
        <p:txBody>
          <a:bodyPr wrap="none" lIns="82550" rIns="82550" tIns="0" bIns="0" anchor="ctr">
            <a:noAutofit/>
          </a:bodyPr>
          <a:lstStyle/>
          <a:p>
            <a:pPr algn="l"/>
            <a:r>
              <a:rPr sz="580" b="0" i="0" spc="69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COMMISSIONING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64334" y="2417762"/>
            <a:ext cx="617836" cy="1841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64334" y="2481262"/>
            <a:ext cx="617836" cy="69850"/>
          </a:xfrm>
          <a:prstGeom prst="rect">
            <a:avLst/>
          </a:prstGeom>
          <a:noFill/>
        </p:spPr>
        <p:txBody>
          <a:bodyPr wrap="none" lIns="82550" rIns="82550" tIns="0" bIns="0" anchor="ctr">
            <a:noAutofit/>
          </a:bodyPr>
          <a:lstStyle/>
          <a:p>
            <a:pPr algn="l"/>
            <a:r>
              <a:rPr sz="580" b="0" i="0" spc="69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OPERATION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30400" y="2684462"/>
            <a:ext cx="94488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SilTerra expansion · Soitec PR1A expansion · Infineon IFKM3 expansion · Micron MSH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" y="3388519"/>
            <a:ext cx="10972800" cy="127476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9600" y="3388519"/>
            <a:ext cx="1117600" cy="1274762"/>
          </a:xfrm>
          <a:prstGeom prst="rect">
            <a:avLst/>
          </a:prstGeom>
          <a:solidFill>
            <a:srgbClr val="EC2326">
              <a:alpha val="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9600" y="3810000"/>
            <a:ext cx="1117600" cy="425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2400" b="1" i="0" spc="-84">
                <a:solidFill>
                  <a:srgbClr val="EC2326"/>
                </a:solidFill>
                <a:latin typeface="Poppins"/>
                <a:ea typeface="Poppins"/>
                <a:cs typeface="Poppins"/>
              </a:rPr>
              <a:t>EPCC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30400" y="3534569"/>
            <a:ext cx="9448800" cy="222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50" b="0" i="0" spc="-25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Engineering, Procurement, Construction &amp; Commissioning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30400" y="3826669"/>
            <a:ext cx="9448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Full turnkey delivery from conception to operation, completion and maintenance, with every stage managed from initial design through commissioning.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30400" y="4104481"/>
            <a:ext cx="718445" cy="1841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30400" y="4167981"/>
            <a:ext cx="718445" cy="69850"/>
          </a:xfrm>
          <a:prstGeom prst="rect">
            <a:avLst/>
          </a:prstGeom>
          <a:noFill/>
        </p:spPr>
        <p:txBody>
          <a:bodyPr wrap="none" lIns="82550" rIns="82550" tIns="0" bIns="0" anchor="ctr">
            <a:noAutofit/>
          </a:bodyPr>
          <a:lstStyle/>
          <a:p>
            <a:pPr algn="l"/>
            <a:r>
              <a:rPr sz="580" b="0" i="0" spc="69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ENGINEERING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80595" y="4104481"/>
            <a:ext cx="753167" cy="1841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80595" y="4167981"/>
            <a:ext cx="753167" cy="69850"/>
          </a:xfrm>
          <a:prstGeom prst="rect">
            <a:avLst/>
          </a:prstGeom>
          <a:noFill/>
        </p:spPr>
        <p:txBody>
          <a:bodyPr wrap="none" lIns="82550" rIns="82550" tIns="0" bIns="0" anchor="ctr">
            <a:noAutofit/>
          </a:bodyPr>
          <a:lstStyle/>
          <a:p>
            <a:pPr algn="l"/>
            <a:r>
              <a:rPr sz="580" b="0" i="0" spc="69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PROCUREMENT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65512" y="4104481"/>
            <a:ext cx="794544" cy="1841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65512" y="4167981"/>
            <a:ext cx="794544" cy="69850"/>
          </a:xfrm>
          <a:prstGeom prst="rect">
            <a:avLst/>
          </a:prstGeom>
          <a:noFill/>
        </p:spPr>
        <p:txBody>
          <a:bodyPr wrap="none" lIns="82550" rIns="82550" tIns="0" bIns="0" anchor="ctr">
            <a:noAutofit/>
          </a:bodyPr>
          <a:lstStyle/>
          <a:p>
            <a:pPr algn="l"/>
            <a:r>
              <a:rPr sz="580" b="0" i="0" spc="69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CONSTRUCTION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91806" y="4104481"/>
            <a:ext cx="840778" cy="1841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1806" y="4167981"/>
            <a:ext cx="840778" cy="69850"/>
          </a:xfrm>
          <a:prstGeom prst="rect">
            <a:avLst/>
          </a:prstGeom>
          <a:noFill/>
        </p:spPr>
        <p:txBody>
          <a:bodyPr wrap="none" lIns="82550" rIns="82550" tIns="0" bIns="0" anchor="ctr">
            <a:noAutofit/>
          </a:bodyPr>
          <a:lstStyle/>
          <a:p>
            <a:pPr algn="l"/>
            <a:r>
              <a:rPr sz="580" b="0" i="0" spc="69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COMMISSIONING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64334" y="4104481"/>
            <a:ext cx="617836" cy="1841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64334" y="4167981"/>
            <a:ext cx="617836" cy="69850"/>
          </a:xfrm>
          <a:prstGeom prst="rect">
            <a:avLst/>
          </a:prstGeom>
          <a:noFill/>
        </p:spPr>
        <p:txBody>
          <a:bodyPr wrap="none" lIns="82550" rIns="82550" tIns="0" bIns="0" anchor="ctr">
            <a:noAutofit/>
          </a:bodyPr>
          <a:lstStyle/>
          <a:p>
            <a:pPr algn="l"/>
            <a:r>
              <a:rPr sz="580" b="0" i="0" spc="69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OPERATION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30400" y="4371181"/>
            <a:ext cx="94488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ST Microelectronics · SilTerra FAB · ESCM Germany · KLCC DCS chiller upgrading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9600" y="5075238"/>
            <a:ext cx="10972800" cy="127476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09600" y="5075238"/>
            <a:ext cx="1117600" cy="1274762"/>
          </a:xfrm>
          <a:prstGeom prst="rect">
            <a:avLst/>
          </a:prstGeom>
          <a:solidFill>
            <a:srgbClr val="EC2326">
              <a:alpha val="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9600" y="5496719"/>
            <a:ext cx="1117600" cy="425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2400" b="1" i="0" spc="-84">
                <a:solidFill>
                  <a:srgbClr val="EC2326"/>
                </a:solidFill>
                <a:latin typeface="Poppins"/>
                <a:ea typeface="Poppins"/>
                <a:cs typeface="Poppins"/>
              </a:rPr>
              <a:t>EFM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30400" y="5221288"/>
            <a:ext cx="9448800" cy="222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50" b="0" i="0" spc="-25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Energy Facility Management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30400" y="5513388"/>
            <a:ext cx="9448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Ongoing energy and facility management that optimises operations and reduces carbon footprint, keeping facilities at the highest levels of efficiency.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30400" y="5791200"/>
            <a:ext cx="718445" cy="1841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930400" y="5854700"/>
            <a:ext cx="718445" cy="69850"/>
          </a:xfrm>
          <a:prstGeom prst="rect">
            <a:avLst/>
          </a:prstGeom>
          <a:noFill/>
        </p:spPr>
        <p:txBody>
          <a:bodyPr wrap="none" lIns="82550" rIns="82550" tIns="0" bIns="0" anchor="ctr">
            <a:noAutofit/>
          </a:bodyPr>
          <a:lstStyle/>
          <a:p>
            <a:pPr algn="l"/>
            <a:r>
              <a:rPr sz="580" b="0" i="0" spc="69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ENGINEERING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80595" y="5791200"/>
            <a:ext cx="753167" cy="1841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80595" y="5854700"/>
            <a:ext cx="753167" cy="69850"/>
          </a:xfrm>
          <a:prstGeom prst="rect">
            <a:avLst/>
          </a:prstGeom>
          <a:noFill/>
        </p:spPr>
        <p:txBody>
          <a:bodyPr wrap="none" lIns="82550" rIns="82550" tIns="0" bIns="0" anchor="ctr">
            <a:noAutofit/>
          </a:bodyPr>
          <a:lstStyle/>
          <a:p>
            <a:pPr algn="l"/>
            <a:r>
              <a:rPr sz="580" b="0" i="0" spc="69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PROCUREMENT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65512" y="5791200"/>
            <a:ext cx="794544" cy="1841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65512" y="5854700"/>
            <a:ext cx="794544" cy="69850"/>
          </a:xfrm>
          <a:prstGeom prst="rect">
            <a:avLst/>
          </a:prstGeom>
          <a:noFill/>
        </p:spPr>
        <p:txBody>
          <a:bodyPr wrap="none" lIns="82550" rIns="82550" tIns="0" bIns="0" anchor="ctr">
            <a:noAutofit/>
          </a:bodyPr>
          <a:lstStyle/>
          <a:p>
            <a:pPr algn="l"/>
            <a:r>
              <a:rPr sz="580" b="0" i="0" spc="69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CONSTRUCTION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91806" y="5791200"/>
            <a:ext cx="840778" cy="1841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91806" y="5854700"/>
            <a:ext cx="840778" cy="69850"/>
          </a:xfrm>
          <a:prstGeom prst="rect">
            <a:avLst/>
          </a:prstGeom>
          <a:noFill/>
        </p:spPr>
        <p:txBody>
          <a:bodyPr wrap="none" lIns="82550" rIns="82550" tIns="0" bIns="0" anchor="ctr">
            <a:noAutofit/>
          </a:bodyPr>
          <a:lstStyle/>
          <a:p>
            <a:pPr algn="l"/>
            <a:r>
              <a:rPr sz="580" b="0" i="0" spc="69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COMMISSIONING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64334" y="5791200"/>
            <a:ext cx="617836" cy="1841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64334" y="5854700"/>
            <a:ext cx="617836" cy="69850"/>
          </a:xfrm>
          <a:prstGeom prst="rect">
            <a:avLst/>
          </a:prstGeom>
          <a:noFill/>
        </p:spPr>
        <p:txBody>
          <a:bodyPr wrap="none" lIns="82550" rIns="82550" tIns="0" bIns="0" anchor="ctr">
            <a:noAutofit/>
          </a:bodyPr>
          <a:lstStyle/>
          <a:p>
            <a:pPr algn="l"/>
            <a:r>
              <a:rPr sz="580" b="0" i="0" spc="69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OPERATION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30400" y="6057900"/>
            <a:ext cx="94488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KLCC DCC Plant · GDC Putrajaya chiller upgrading · Pagoh Edu Hub DCS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9600" y="6445250"/>
            <a:ext cx="38665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10 / 67</a:t>
            </a:r>
          </a:p>
        </p:txBody>
      </p:sp>
      <p:sp>
        <p:nvSpPr>
          <p:cNvPr id="59" name="Oval 58"/>
          <p:cNvSpPr/>
          <p:nvPr/>
        </p:nvSpPr>
        <p:spPr>
          <a:xfrm>
            <a:off x="5796559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898159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999759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838161" y="6429375"/>
            <a:ext cx="74414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THE COMPANY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32581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32581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01.8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781" y="414338"/>
            <a:ext cx="1541564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01 · THE COMPANY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Scope of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Eight packages self-performed under one contract, and the process utilities behind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701800"/>
            <a:ext cx="2736850" cy="9320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300" y="2028133"/>
            <a:ext cx="279400" cy="2794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da8d41caea5492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975" y="2094808"/>
            <a:ext cx="146050" cy="1460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23950" y="2032495"/>
            <a:ext cx="2082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8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Civil, Structural &amp; Architectural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3950" y="2193728"/>
            <a:ext cx="2082800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Greenfield and brownfield CSA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7334" y="1733550"/>
            <a:ext cx="156566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1" i="0" spc="-52">
                <a:solidFill>
                  <a:srgbClr val="EC2326">
                    <a:alpha val="14000"/>
                  </a:srgbClr>
                </a:solidFill>
                <a:latin typeface="Poppins"/>
                <a:ea typeface="Poppins"/>
                <a:cs typeface="Poppins"/>
              </a:rPr>
              <a:t>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52800" y="1701800"/>
            <a:ext cx="2736850" cy="9320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492500" y="2028133"/>
            <a:ext cx="279400" cy="2794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0ae22bd08728a4b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9175" y="2094808"/>
            <a:ext cx="146050" cy="1460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867150" y="2032495"/>
            <a:ext cx="2082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8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Air Conditioning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67150" y="2193728"/>
            <a:ext cx="2082800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ACMV, make-up air, recirculation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18384" y="1733550"/>
            <a:ext cx="188716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1" i="0" spc="-52">
                <a:solidFill>
                  <a:srgbClr val="EC2326">
                    <a:alpha val="14000"/>
                  </a:srgbClr>
                </a:solidFill>
                <a:latin typeface="Poppins"/>
                <a:ea typeface="Poppins"/>
                <a:cs typeface="Poppins"/>
              </a:rPr>
              <a:t>02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0" y="1701800"/>
            <a:ext cx="2736850" cy="9320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235700" y="2028133"/>
            <a:ext cx="279400" cy="2794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ac4ca0be191b786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2375" y="2094808"/>
            <a:ext cx="146050" cy="1460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610350" y="2032495"/>
            <a:ext cx="2082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8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HT &amp; LV Electrical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0350" y="2193728"/>
            <a:ext cx="2082800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Up to 33kV substations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55933" y="1733550"/>
            <a:ext cx="194367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1" i="0" spc="-52">
                <a:solidFill>
                  <a:srgbClr val="EC2326">
                    <a:alpha val="14000"/>
                  </a:srgbClr>
                </a:solidFill>
                <a:latin typeface="Poppins"/>
                <a:ea typeface="Poppins"/>
                <a:cs typeface="Poppins"/>
              </a:rPr>
              <a:t>03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39200" y="1701800"/>
            <a:ext cx="2743200" cy="9320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978900" y="2028133"/>
            <a:ext cx="279400" cy="2794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0" name="Picture 29" descr="a7c08c4c7d4cab8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5575" y="2094808"/>
            <a:ext cx="146050" cy="1460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353550" y="2032495"/>
            <a:ext cx="208915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8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Fire Protection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53550" y="2193728"/>
            <a:ext cx="2089150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Detection, suppression, compliance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3577" y="1733550"/>
            <a:ext cx="206273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1" i="0" spc="-52">
                <a:solidFill>
                  <a:srgbClr val="EC2326">
                    <a:alpha val="14000"/>
                  </a:srgbClr>
                </a:solidFill>
                <a:latin typeface="Poppins"/>
                <a:ea typeface="Poppins"/>
                <a:cs typeface="Poppins"/>
              </a:rPr>
              <a:t>04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9600" y="2633859"/>
            <a:ext cx="2736850" cy="9320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9600" y="2633859"/>
            <a:ext cx="273685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49300" y="2963367"/>
            <a:ext cx="279400" cy="2794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f9f09b59a62c304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975" y="3030042"/>
            <a:ext cx="146050" cy="14605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123950" y="2967730"/>
            <a:ext cx="2082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8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Cleanroom System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3950" y="3128962"/>
            <a:ext cx="2082800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ISO 3 to ISO 8 · Class 1 to Class 100K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62091" y="2671959"/>
            <a:ext cx="201809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1" i="0" spc="-52">
                <a:solidFill>
                  <a:srgbClr val="EC2326">
                    <a:alpha val="14000"/>
                  </a:srgbClr>
                </a:solidFill>
                <a:latin typeface="Poppins"/>
                <a:ea typeface="Poppins"/>
                <a:cs typeface="Poppins"/>
              </a:rPr>
              <a:t>05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52800" y="2633859"/>
            <a:ext cx="2736850" cy="9320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352800" y="2633859"/>
            <a:ext cx="273685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492500" y="2963367"/>
            <a:ext cx="279400" cy="2794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4" name="Picture 43" descr="c322ac7972c4161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59175" y="3030042"/>
            <a:ext cx="146050" cy="14605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3867150" y="2967730"/>
            <a:ext cx="2082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8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Process Utilities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67150" y="3128962"/>
            <a:ext cx="2082800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Water, chemical, gas and exhaust systems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07475" y="2671959"/>
            <a:ext cx="199631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1" i="0" spc="-52">
                <a:solidFill>
                  <a:srgbClr val="EC2326">
                    <a:alpha val="14000"/>
                  </a:srgbClr>
                </a:solidFill>
                <a:latin typeface="Poppins"/>
                <a:ea typeface="Poppins"/>
                <a:cs typeface="Poppins"/>
              </a:rPr>
              <a:t>06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96000" y="2633859"/>
            <a:ext cx="2736850" cy="9320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096000" y="2633859"/>
            <a:ext cx="273685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235700" y="2963367"/>
            <a:ext cx="279400" cy="2794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1" name="Picture 50" descr="1a44b2f84078105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2375" y="3030042"/>
            <a:ext cx="146050" cy="14605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610350" y="2967730"/>
            <a:ext cx="2082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8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Facility Monitoring &amp; Control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10350" y="3128962"/>
            <a:ext cx="2082800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FMCS, BMS, PA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67439" y="2671959"/>
            <a:ext cx="182861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1" i="0" spc="-52">
                <a:solidFill>
                  <a:srgbClr val="EC2326">
                    <a:alpha val="14000"/>
                  </a:srgbClr>
                </a:solidFill>
                <a:latin typeface="Poppins"/>
                <a:ea typeface="Poppins"/>
                <a:cs typeface="Poppins"/>
              </a:rPr>
              <a:t>07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839200" y="2633859"/>
            <a:ext cx="2743200" cy="9320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839200" y="2633859"/>
            <a:ext cx="27432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978900" y="2963367"/>
            <a:ext cx="279400" cy="2794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8" name="Picture 57" descr="98faeb8cf2bd326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5575" y="3030042"/>
            <a:ext cx="146050" cy="14605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9353550" y="2967730"/>
            <a:ext cx="208915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8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Tools Hookup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53550" y="3128962"/>
            <a:ext cx="2089150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Progressive tool install and hookup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298339" y="2671959"/>
            <a:ext cx="201511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1" i="0" spc="-52">
                <a:solidFill>
                  <a:srgbClr val="EC2326">
                    <a:alpha val="14000"/>
                  </a:srgbClr>
                </a:solidFill>
                <a:latin typeface="Poppins"/>
                <a:ea typeface="Poppins"/>
                <a:cs typeface="Poppins"/>
              </a:rPr>
              <a:t>08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9600" y="3756425"/>
            <a:ext cx="10972800" cy="259358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" y="3756425"/>
            <a:ext cx="109728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2800" y="3990581"/>
            <a:ext cx="19050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143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PROCESS CRITICAL UTILITIES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933700" y="3965975"/>
            <a:ext cx="69850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Delivered by IAQ Utility Solutions as an EPCM package: the utility infrastructure a fab runs on, and the tool installations that bring it to production.</a:t>
            </a:r>
          </a:p>
        </p:txBody>
      </p:sp>
      <p:sp>
        <p:nvSpPr>
          <p:cNvPr id="66" name="Oval 65"/>
          <p:cNvSpPr/>
          <p:nvPr/>
        </p:nvSpPr>
        <p:spPr>
          <a:xfrm>
            <a:off x="817562" y="4506119"/>
            <a:ext cx="333375" cy="333375"/>
          </a:xfrm>
          <a:prstGeom prst="ellipse">
            <a:avLst/>
          </a:prstGeom>
          <a:noFill/>
          <a:ln w="9525">
            <a:solidFill>
              <a:srgbClr val="EC2326">
                <a:alpha val="3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7" name="Picture 66" descr="d44943f6672bce4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8525" y="4587081"/>
            <a:ext cx="171450" cy="17145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812800" y="4920456"/>
            <a:ext cx="19812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spc="-19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Water Solutions</a:t>
            </a:r>
          </a:p>
        </p:txBody>
      </p:sp>
      <p:sp>
        <p:nvSpPr>
          <p:cNvPr id="69" name="Oval 68"/>
          <p:cNvSpPr/>
          <p:nvPr/>
        </p:nvSpPr>
        <p:spPr>
          <a:xfrm>
            <a:off x="812800" y="5211267"/>
            <a:ext cx="31750" cy="3175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12800" y="5173167"/>
            <a:ext cx="1981200" cy="120650"/>
          </a:xfrm>
          <a:prstGeom prst="rect">
            <a:avLst/>
          </a:prstGeom>
          <a:noFill/>
        </p:spPr>
        <p:txBody>
          <a:bodyPr wrap="none" lIns="8890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UPW plant &amp; distribution</a:t>
            </a:r>
          </a:p>
        </p:txBody>
      </p:sp>
      <p:sp>
        <p:nvSpPr>
          <p:cNvPr id="71" name="Oval 70"/>
          <p:cNvSpPr/>
          <p:nvPr/>
        </p:nvSpPr>
        <p:spPr>
          <a:xfrm>
            <a:off x="812800" y="5412480"/>
            <a:ext cx="31750" cy="3175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12800" y="5374380"/>
            <a:ext cx="1981200" cy="120650"/>
          </a:xfrm>
          <a:prstGeom prst="rect">
            <a:avLst/>
          </a:prstGeom>
          <a:noFill/>
        </p:spPr>
        <p:txBody>
          <a:bodyPr wrap="none" lIns="8890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Process waste drains, WWT</a:t>
            </a:r>
          </a:p>
        </p:txBody>
      </p:sp>
      <p:sp>
        <p:nvSpPr>
          <p:cNvPr id="73" name="Oval 72"/>
          <p:cNvSpPr/>
          <p:nvPr/>
        </p:nvSpPr>
        <p:spPr>
          <a:xfrm>
            <a:off x="812800" y="5613698"/>
            <a:ext cx="31750" cy="3175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12800" y="5575598"/>
            <a:ext cx="1981200" cy="120650"/>
          </a:xfrm>
          <a:prstGeom prst="rect">
            <a:avLst/>
          </a:prstGeom>
          <a:noFill/>
        </p:spPr>
        <p:txBody>
          <a:bodyPr wrap="none" lIns="8890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Reclaim and ZLD</a:t>
            </a:r>
          </a:p>
        </p:txBody>
      </p:sp>
      <p:sp>
        <p:nvSpPr>
          <p:cNvPr id="75" name="Oval 74"/>
          <p:cNvSpPr/>
          <p:nvPr/>
        </p:nvSpPr>
        <p:spPr>
          <a:xfrm>
            <a:off x="812800" y="5814911"/>
            <a:ext cx="31750" cy="3175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12800" y="5776811"/>
            <a:ext cx="1981200" cy="120650"/>
          </a:xfrm>
          <a:prstGeom prst="rect">
            <a:avLst/>
          </a:prstGeom>
          <a:noFill/>
        </p:spPr>
        <p:txBody>
          <a:bodyPr wrap="none" lIns="8890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Chemical storage &amp; dispensing</a:t>
            </a:r>
          </a:p>
        </p:txBody>
      </p:sp>
      <p:sp>
        <p:nvSpPr>
          <p:cNvPr id="77" name="Oval 76"/>
          <p:cNvSpPr/>
          <p:nvPr/>
        </p:nvSpPr>
        <p:spPr>
          <a:xfrm>
            <a:off x="2963862" y="4506119"/>
            <a:ext cx="333375" cy="333375"/>
          </a:xfrm>
          <a:prstGeom prst="ellipse">
            <a:avLst/>
          </a:prstGeom>
          <a:noFill/>
          <a:ln w="9525">
            <a:solidFill>
              <a:srgbClr val="EC2326">
                <a:alpha val="3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8" name="Picture 77" descr="f19e7fc0f2f0d68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44825" y="4587081"/>
            <a:ext cx="171450" cy="171450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2959100" y="4920456"/>
            <a:ext cx="19812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spc="-19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Chemical &amp; Slurry Solutions</a:t>
            </a:r>
          </a:p>
        </p:txBody>
      </p:sp>
      <p:sp>
        <p:nvSpPr>
          <p:cNvPr id="80" name="Oval 79"/>
          <p:cNvSpPr/>
          <p:nvPr/>
        </p:nvSpPr>
        <p:spPr>
          <a:xfrm>
            <a:off x="2959100" y="5211267"/>
            <a:ext cx="31750" cy="3175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959100" y="5173167"/>
            <a:ext cx="1981200" cy="120650"/>
          </a:xfrm>
          <a:prstGeom prst="rect">
            <a:avLst/>
          </a:prstGeom>
          <a:noFill/>
        </p:spPr>
        <p:txBody>
          <a:bodyPr wrap="none" lIns="8890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Bulk chemical</a:t>
            </a:r>
          </a:p>
        </p:txBody>
      </p:sp>
      <p:sp>
        <p:nvSpPr>
          <p:cNvPr id="82" name="Oval 81"/>
          <p:cNvSpPr/>
          <p:nvPr/>
        </p:nvSpPr>
        <p:spPr>
          <a:xfrm>
            <a:off x="2959100" y="5412480"/>
            <a:ext cx="31750" cy="3175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959100" y="5374380"/>
            <a:ext cx="1981200" cy="120650"/>
          </a:xfrm>
          <a:prstGeom prst="rect">
            <a:avLst/>
          </a:prstGeom>
          <a:noFill/>
        </p:spPr>
        <p:txBody>
          <a:bodyPr wrap="none" lIns="8890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Blending systems</a:t>
            </a:r>
          </a:p>
        </p:txBody>
      </p:sp>
      <p:sp>
        <p:nvSpPr>
          <p:cNvPr id="84" name="Oval 83"/>
          <p:cNvSpPr/>
          <p:nvPr/>
        </p:nvSpPr>
        <p:spPr>
          <a:xfrm>
            <a:off x="2959100" y="5613698"/>
            <a:ext cx="31750" cy="3175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959100" y="5575598"/>
            <a:ext cx="1981200" cy="120650"/>
          </a:xfrm>
          <a:prstGeom prst="rect">
            <a:avLst/>
          </a:prstGeom>
          <a:noFill/>
        </p:spPr>
        <p:txBody>
          <a:bodyPr wrap="none" lIns="8890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Dispense systems</a:t>
            </a:r>
          </a:p>
        </p:txBody>
      </p:sp>
      <p:sp>
        <p:nvSpPr>
          <p:cNvPr id="86" name="Oval 85"/>
          <p:cNvSpPr/>
          <p:nvPr/>
        </p:nvSpPr>
        <p:spPr>
          <a:xfrm>
            <a:off x="5110162" y="4506119"/>
            <a:ext cx="333375" cy="333375"/>
          </a:xfrm>
          <a:prstGeom prst="ellipse">
            <a:avLst/>
          </a:prstGeom>
          <a:noFill/>
          <a:ln w="9525">
            <a:solidFill>
              <a:srgbClr val="EC2326">
                <a:alpha val="3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7" name="Picture 86" descr="ffc9a8098b60f959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91125" y="4587081"/>
            <a:ext cx="171450" cy="171450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5105400" y="4920456"/>
            <a:ext cx="19812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spc="-19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Gas Solutions</a:t>
            </a:r>
          </a:p>
        </p:txBody>
      </p:sp>
      <p:sp>
        <p:nvSpPr>
          <p:cNvPr id="89" name="Oval 88"/>
          <p:cNvSpPr/>
          <p:nvPr/>
        </p:nvSpPr>
        <p:spPr>
          <a:xfrm>
            <a:off x="5105400" y="5211267"/>
            <a:ext cx="31750" cy="3175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105400" y="5173167"/>
            <a:ext cx="1981200" cy="120650"/>
          </a:xfrm>
          <a:prstGeom prst="rect">
            <a:avLst/>
          </a:prstGeom>
          <a:noFill/>
        </p:spPr>
        <p:txBody>
          <a:bodyPr wrap="none" lIns="8890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Bulk gas</a:t>
            </a:r>
          </a:p>
        </p:txBody>
      </p:sp>
      <p:sp>
        <p:nvSpPr>
          <p:cNvPr id="91" name="Oval 90"/>
          <p:cNvSpPr/>
          <p:nvPr/>
        </p:nvSpPr>
        <p:spPr>
          <a:xfrm>
            <a:off x="5105400" y="5412480"/>
            <a:ext cx="31750" cy="3175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105400" y="5374380"/>
            <a:ext cx="1981200" cy="120650"/>
          </a:xfrm>
          <a:prstGeom prst="rect">
            <a:avLst/>
          </a:prstGeom>
          <a:noFill/>
        </p:spPr>
        <p:txBody>
          <a:bodyPr wrap="none" lIns="8890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Specialty gas &amp; abatement</a:t>
            </a:r>
          </a:p>
        </p:txBody>
      </p:sp>
      <p:sp>
        <p:nvSpPr>
          <p:cNvPr id="93" name="Oval 92"/>
          <p:cNvSpPr/>
          <p:nvPr/>
        </p:nvSpPr>
        <p:spPr>
          <a:xfrm>
            <a:off x="5105400" y="5613698"/>
            <a:ext cx="31750" cy="3175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105400" y="5575598"/>
            <a:ext cx="1981200" cy="120650"/>
          </a:xfrm>
          <a:prstGeom prst="rect">
            <a:avLst/>
          </a:prstGeom>
          <a:noFill/>
        </p:spPr>
        <p:txBody>
          <a:bodyPr wrap="none" lIns="8890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Bunker: NH₃, SiH₄, H₂</a:t>
            </a:r>
          </a:p>
        </p:txBody>
      </p:sp>
      <p:sp>
        <p:nvSpPr>
          <p:cNvPr id="95" name="Oval 94"/>
          <p:cNvSpPr/>
          <p:nvPr/>
        </p:nvSpPr>
        <p:spPr>
          <a:xfrm>
            <a:off x="5105400" y="5814911"/>
            <a:ext cx="31750" cy="3175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105400" y="5776811"/>
            <a:ext cx="1981200" cy="120650"/>
          </a:xfrm>
          <a:prstGeom prst="rect">
            <a:avLst/>
          </a:prstGeom>
          <a:noFill/>
        </p:spPr>
        <p:txBody>
          <a:bodyPr wrap="none" lIns="8890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Liquid dispense system</a:t>
            </a:r>
          </a:p>
        </p:txBody>
      </p:sp>
      <p:sp>
        <p:nvSpPr>
          <p:cNvPr id="97" name="Oval 96"/>
          <p:cNvSpPr/>
          <p:nvPr/>
        </p:nvSpPr>
        <p:spPr>
          <a:xfrm>
            <a:off x="7256462" y="4506119"/>
            <a:ext cx="333375" cy="333375"/>
          </a:xfrm>
          <a:prstGeom prst="ellipse">
            <a:avLst/>
          </a:prstGeom>
          <a:noFill/>
          <a:ln w="9525">
            <a:solidFill>
              <a:srgbClr val="EC2326">
                <a:alpha val="3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8" name="Picture 97" descr="a604ab0c34e6e72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37425" y="4587081"/>
            <a:ext cx="171450" cy="171450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7251700" y="4920456"/>
            <a:ext cx="19812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spc="-19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Process Exhaust Solutions</a:t>
            </a:r>
          </a:p>
        </p:txBody>
      </p:sp>
      <p:sp>
        <p:nvSpPr>
          <p:cNvPr id="100" name="Oval 99"/>
          <p:cNvSpPr/>
          <p:nvPr/>
        </p:nvSpPr>
        <p:spPr>
          <a:xfrm>
            <a:off x="7251700" y="5211267"/>
            <a:ext cx="31750" cy="3175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251700" y="5173167"/>
            <a:ext cx="1981200" cy="120650"/>
          </a:xfrm>
          <a:prstGeom prst="rect">
            <a:avLst/>
          </a:prstGeom>
          <a:noFill/>
        </p:spPr>
        <p:txBody>
          <a:bodyPr wrap="none" lIns="8890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General and acid</a:t>
            </a:r>
          </a:p>
        </p:txBody>
      </p:sp>
      <p:sp>
        <p:nvSpPr>
          <p:cNvPr id="102" name="Oval 101"/>
          <p:cNvSpPr/>
          <p:nvPr/>
        </p:nvSpPr>
        <p:spPr>
          <a:xfrm>
            <a:off x="7251700" y="5412480"/>
            <a:ext cx="31750" cy="3175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251700" y="5374380"/>
            <a:ext cx="1981200" cy="120650"/>
          </a:xfrm>
          <a:prstGeom prst="rect">
            <a:avLst/>
          </a:prstGeom>
          <a:noFill/>
        </p:spPr>
        <p:txBody>
          <a:bodyPr wrap="none" lIns="8890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Caustic and solvent</a:t>
            </a:r>
          </a:p>
        </p:txBody>
      </p:sp>
      <p:sp>
        <p:nvSpPr>
          <p:cNvPr id="104" name="Oval 103"/>
          <p:cNvSpPr/>
          <p:nvPr/>
        </p:nvSpPr>
        <p:spPr>
          <a:xfrm>
            <a:off x="7251700" y="5613698"/>
            <a:ext cx="31750" cy="3175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251700" y="5575598"/>
            <a:ext cx="1981200" cy="120650"/>
          </a:xfrm>
          <a:prstGeom prst="rect">
            <a:avLst/>
          </a:prstGeom>
          <a:noFill/>
        </p:spPr>
        <p:txBody>
          <a:bodyPr wrap="none" lIns="8890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Calamity exhaust</a:t>
            </a:r>
          </a:p>
        </p:txBody>
      </p:sp>
      <p:sp>
        <p:nvSpPr>
          <p:cNvPr id="106" name="Oval 105"/>
          <p:cNvSpPr/>
          <p:nvPr/>
        </p:nvSpPr>
        <p:spPr>
          <a:xfrm>
            <a:off x="9402762" y="4506119"/>
            <a:ext cx="333375" cy="333375"/>
          </a:xfrm>
          <a:prstGeom prst="ellipse">
            <a:avLst/>
          </a:prstGeom>
          <a:noFill/>
          <a:ln w="9525">
            <a:solidFill>
              <a:srgbClr val="EC2326">
                <a:alpha val="3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7" name="Picture 106" descr="4af77b587d43a1e0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83725" y="4587081"/>
            <a:ext cx="171450" cy="171450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9398000" y="4920456"/>
            <a:ext cx="19812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spc="-19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Tool Installations</a:t>
            </a:r>
          </a:p>
        </p:txBody>
      </p:sp>
      <p:sp>
        <p:nvSpPr>
          <p:cNvPr id="109" name="Oval 108"/>
          <p:cNvSpPr/>
          <p:nvPr/>
        </p:nvSpPr>
        <p:spPr>
          <a:xfrm>
            <a:off x="9398000" y="5211267"/>
            <a:ext cx="31750" cy="3175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398000" y="5173167"/>
            <a:ext cx="1981200" cy="120650"/>
          </a:xfrm>
          <a:prstGeom prst="rect">
            <a:avLst/>
          </a:prstGeom>
          <a:noFill/>
        </p:spPr>
        <p:txBody>
          <a:bodyPr wrap="none" lIns="8890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Progressive hook up</a:t>
            </a:r>
          </a:p>
        </p:txBody>
      </p:sp>
      <p:sp>
        <p:nvSpPr>
          <p:cNvPr id="111" name="Oval 110"/>
          <p:cNvSpPr/>
          <p:nvPr/>
        </p:nvSpPr>
        <p:spPr>
          <a:xfrm>
            <a:off x="9398000" y="5412480"/>
            <a:ext cx="31750" cy="3175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398000" y="5374380"/>
            <a:ext cx="1981200" cy="120650"/>
          </a:xfrm>
          <a:prstGeom prst="rect">
            <a:avLst/>
          </a:prstGeom>
          <a:noFill/>
        </p:spPr>
        <p:txBody>
          <a:bodyPr wrap="none" lIns="8890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Gas detection &amp; monitoring</a:t>
            </a:r>
          </a:p>
        </p:txBody>
      </p:sp>
      <p:sp>
        <p:nvSpPr>
          <p:cNvPr id="113" name="Oval 112"/>
          <p:cNvSpPr/>
          <p:nvPr/>
        </p:nvSpPr>
        <p:spPr>
          <a:xfrm>
            <a:off x="9398000" y="5613698"/>
            <a:ext cx="31750" cy="3175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398000" y="5575598"/>
            <a:ext cx="1981200" cy="120650"/>
          </a:xfrm>
          <a:prstGeom prst="rect">
            <a:avLst/>
          </a:prstGeom>
          <a:noFill/>
        </p:spPr>
        <p:txBody>
          <a:bodyPr wrap="none" lIns="8890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Electrical power &amp; controls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09600" y="6445250"/>
            <a:ext cx="363341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11 / 67</a:t>
            </a:r>
          </a:p>
        </p:txBody>
      </p:sp>
      <p:sp>
        <p:nvSpPr>
          <p:cNvPr id="116" name="Oval 115"/>
          <p:cNvSpPr/>
          <p:nvPr/>
        </p:nvSpPr>
        <p:spPr>
          <a:xfrm>
            <a:off x="5784952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886552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988152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0838263" y="6429375"/>
            <a:ext cx="74414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THE COMPANY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32778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32778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01.9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978" y="414338"/>
            <a:ext cx="1541564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01 · THE COMPANY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Industry 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Seven sectors, one discipline: contamination control under code and class.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701800"/>
            <a:ext cx="2628900" cy="224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infineon-kulim.jpg"/>
          <p:cNvPicPr>
            <a:picLocks noChangeAspect="1"/>
          </p:cNvPicPr>
          <p:nvPr/>
        </p:nvPicPr>
        <p:blipFill>
          <a:blip r:embed="rId3"/>
          <a:srcRect t="14386" b="14386"/>
          <a:stretch>
            <a:fillRect/>
          </a:stretch>
        </p:blipFill>
        <p:spPr>
          <a:xfrm>
            <a:off x="609600" y="1701800"/>
            <a:ext cx="2628900" cy="125611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09600" y="2957913"/>
            <a:ext cx="26289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2d759c1b963bb9b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3103963"/>
            <a:ext cx="279400" cy="279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6600" y="3497663"/>
            <a:ext cx="2374900" cy="139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Semiconductor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600" y="3691928"/>
            <a:ext cx="2374900" cy="1079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Wafer fab, advanced packaging, test &amp; assembly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900" y="1701800"/>
            <a:ext cx="2628900" cy="224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microsoft-kul03.jpg"/>
          <p:cNvPicPr>
            <a:picLocks noChangeAspect="1"/>
          </p:cNvPicPr>
          <p:nvPr/>
        </p:nvPicPr>
        <p:blipFill>
          <a:blip r:embed="rId5"/>
          <a:srcRect t="14184" b="14184"/>
          <a:stretch>
            <a:fillRect/>
          </a:stretch>
        </p:blipFill>
        <p:spPr>
          <a:xfrm>
            <a:off x="3390900" y="1701800"/>
            <a:ext cx="2628900" cy="1256113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3390900" y="2957913"/>
            <a:ext cx="26289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7b5162a93860daa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7900" y="3103963"/>
            <a:ext cx="279400" cy="279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517900" y="3497663"/>
            <a:ext cx="2374900" cy="139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Data Centre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17900" y="3691928"/>
            <a:ext cx="2374900" cy="1079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Hyperscale cooling, security, uptime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1701800"/>
            <a:ext cx="2628900" cy="224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northvolt.jpg"/>
          <p:cNvPicPr>
            <a:picLocks noChangeAspect="1"/>
          </p:cNvPicPr>
          <p:nvPr/>
        </p:nvPicPr>
        <p:blipFill>
          <a:blip r:embed="rId7"/>
          <a:srcRect t="14308" b="14308"/>
          <a:stretch>
            <a:fillRect/>
          </a:stretch>
        </p:blipFill>
        <p:spPr>
          <a:xfrm>
            <a:off x="6172200" y="1701800"/>
            <a:ext cx="2628900" cy="1256113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6172200" y="2957913"/>
            <a:ext cx="26289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2254e19f3fd52ca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9200" y="3103963"/>
            <a:ext cx="279400" cy="279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299200" y="3497663"/>
            <a:ext cx="2374900" cy="139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EV Battery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9200" y="3691928"/>
            <a:ext cx="2374900" cy="1079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Dry rooms, moisture control, explosion proofing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53500" y="1701800"/>
            <a:ext cx="2628900" cy="224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klcc-dcp.jpg"/>
          <p:cNvPicPr>
            <a:picLocks noChangeAspect="1"/>
          </p:cNvPicPr>
          <p:nvPr/>
        </p:nvPicPr>
        <p:blipFill>
          <a:blip r:embed="rId9"/>
          <a:srcRect t="14308" b="14308"/>
          <a:stretch>
            <a:fillRect/>
          </a:stretch>
        </p:blipFill>
        <p:spPr>
          <a:xfrm>
            <a:off x="8953500" y="1701800"/>
            <a:ext cx="2628900" cy="1256113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8953500" y="2957913"/>
            <a:ext cx="26289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42abb2a0250a263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80500" y="3103963"/>
            <a:ext cx="279400" cy="2794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080500" y="3497663"/>
            <a:ext cx="2374900" cy="139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District Cooling &amp; Heating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80500" y="3691928"/>
            <a:ext cx="2374900" cy="1079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Urban energy plant and distribution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9600" y="4102100"/>
            <a:ext cx="2628900" cy="224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5" name="Picture 34" descr="first-solar.jpg"/>
          <p:cNvPicPr>
            <a:picLocks noChangeAspect="1"/>
          </p:cNvPicPr>
          <p:nvPr/>
        </p:nvPicPr>
        <p:blipFill>
          <a:blip r:embed="rId11"/>
          <a:srcRect t="14400" b="14400"/>
          <a:stretch>
            <a:fillRect/>
          </a:stretch>
        </p:blipFill>
        <p:spPr>
          <a:xfrm>
            <a:off x="609600" y="4102100"/>
            <a:ext cx="2628900" cy="1256113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609600" y="5358213"/>
            <a:ext cx="26289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615d111e96fdac75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6600" y="5504263"/>
            <a:ext cx="279400" cy="2794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36600" y="5897963"/>
            <a:ext cx="2374900" cy="139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Photovoltaics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600" y="6092228"/>
            <a:ext cx="2374900" cy="1079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Cell and module lines, toxic material handling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90900" y="4102100"/>
            <a:ext cx="2628900" cy="224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1" name="Picture 40" descr="pharmaniaga.jpg"/>
          <p:cNvPicPr>
            <a:picLocks noChangeAspect="1"/>
          </p:cNvPicPr>
          <p:nvPr/>
        </p:nvPicPr>
        <p:blipFill>
          <a:blip r:embed="rId13"/>
          <a:srcRect t="14164" b="14164"/>
          <a:stretch>
            <a:fillRect/>
          </a:stretch>
        </p:blipFill>
        <p:spPr>
          <a:xfrm>
            <a:off x="3390900" y="4102100"/>
            <a:ext cx="2628900" cy="1256113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3390900" y="5358213"/>
            <a:ext cx="26289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3" name="Picture 42" descr="8ffbfbf647a81329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17900" y="5504263"/>
            <a:ext cx="279400" cy="2794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3517900" y="5897963"/>
            <a:ext cx="2374900" cy="139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Pharmaceuticals &amp; Hospitals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17900" y="6092228"/>
            <a:ext cx="2374900" cy="1079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GMP grades, regulated environments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72200" y="4102100"/>
            <a:ext cx="2628900" cy="224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ind-food.jpg"/>
          <p:cNvPicPr>
            <a:picLocks noChangeAspect="1"/>
          </p:cNvPicPr>
          <p:nvPr/>
        </p:nvPicPr>
        <p:blipFill>
          <a:blip r:embed="rId15"/>
          <a:srcRect t="14355" b="14355"/>
          <a:stretch>
            <a:fillRect/>
          </a:stretch>
        </p:blipFill>
        <p:spPr>
          <a:xfrm>
            <a:off x="6172200" y="4102100"/>
            <a:ext cx="2628900" cy="1256113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172200" y="5358213"/>
            <a:ext cx="26289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9" name="Picture 48" descr="733fe00a3df82e66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99200" y="5504263"/>
            <a:ext cx="279400" cy="2794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299200" y="5897963"/>
            <a:ext cx="2374900" cy="139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Food &amp; Beverage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99200" y="6092228"/>
            <a:ext cx="2374900" cy="1079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Hygienic design, quality and safety standards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53500" y="4102100"/>
            <a:ext cx="2628900" cy="22479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3" name="Picture 52" descr="fd352321f5524ec4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69400" y="4779067"/>
            <a:ext cx="355600" cy="3556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9169400" y="5268017"/>
            <a:ext cx="1132878" cy="1841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</a:rPr>
              <a:t>Your facility next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69400" y="5538489"/>
            <a:ext cx="1482427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96A2B2"/>
                </a:solidFill>
                <a:latin typeface="Urbanist"/>
                <a:ea typeface="Urbanist"/>
                <a:cs typeface="Urbanist"/>
              </a:rPr>
              <a:t>Total facility solutions, end to end.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9600" y="6445250"/>
            <a:ext cx="383877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12 / 67</a:t>
            </a:r>
          </a:p>
        </p:txBody>
      </p:sp>
      <p:sp>
        <p:nvSpPr>
          <p:cNvPr id="57" name="Oval 56"/>
          <p:cNvSpPr/>
          <p:nvPr/>
        </p:nvSpPr>
        <p:spPr>
          <a:xfrm>
            <a:off x="5795169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896769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998369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838161" y="6429375"/>
            <a:ext cx="74414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THE COMPANY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090141"/>
            <a:ext cx="78769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156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PART 02 OF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899641"/>
            <a:ext cx="5279428" cy="1695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0" b="1" i="0" spc="-475">
                <a:solidFill>
                  <a:srgbClr val="EC2326"/>
                </a:solidFill>
                <a:latin typeface="Poppins"/>
                <a:ea typeface="Poppins"/>
                <a:cs typeface="Poppin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299816"/>
            <a:ext cx="5279428" cy="533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000" b="0" i="0" spc="-75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Project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853459"/>
            <a:ext cx="5279428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140">
                <a:solidFill>
                  <a:srgbClr val="96A2B2"/>
                </a:solidFill>
                <a:latin typeface="League Spartan Medium"/>
                <a:ea typeface="League Spartan Medium"/>
                <a:cs typeface="League Spartan Medium"/>
              </a:rPr>
              <a:t>SECTIONS 02.1 TO 02.47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4126509"/>
            <a:ext cx="5279428" cy="6350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285259"/>
            <a:ext cx="5279428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E7EBF0"/>
                </a:solidFill>
                <a:latin typeface="Urbanist Medium"/>
                <a:ea typeface="Urbanist Medium"/>
                <a:cs typeface="Urbanist Medium"/>
              </a:rPr>
              <a:t>235+ projects completed across three regions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482109"/>
            <a:ext cx="5279428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E7EBF0"/>
                </a:solidFill>
                <a:latin typeface="Urbanist Medium"/>
                <a:ea typeface="Urbanist Medium"/>
                <a:cs typeface="Urbanist Medium"/>
              </a:rPr>
              <a:t>Over 1.5 million m² of cleanroom built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678959"/>
            <a:ext cx="5279428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E7EBF0"/>
                </a:solidFill>
                <a:latin typeface="Urbanist Medium"/>
                <a:ea typeface="Urbanist Medium"/>
                <a:cs typeface="Urbanist Medium"/>
              </a:rPr>
              <a:t>ISO 3 to ISO 8 · Class 1 to Class 100K</a:t>
            </a:r>
          </a:p>
        </p:txBody>
      </p:sp>
      <p:pic>
        <p:nvPicPr>
          <p:cNvPr id="11" name="Picture 10" descr="refs-cr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4628" y="0"/>
            <a:ext cx="5947372" cy="6858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304800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E7EBF0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45250"/>
            <a:ext cx="381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96A2B2"/>
                </a:solidFill>
                <a:latin typeface="League Spartan Medium"/>
                <a:ea typeface="League Spartan Medium"/>
                <a:cs typeface="League Spartan Medium"/>
              </a:rPr>
              <a:t>13 / 67</a:t>
            </a:r>
          </a:p>
        </p:txBody>
      </p:sp>
      <p:sp>
        <p:nvSpPr>
          <p:cNvPr id="14" name="Oval 13"/>
          <p:cNvSpPr/>
          <p:nvPr/>
        </p:nvSpPr>
        <p:spPr>
          <a:xfrm>
            <a:off x="1184675" y="6448425"/>
            <a:ext cx="38100" cy="38100"/>
          </a:xfrm>
          <a:prstGeom prst="ellipse">
            <a:avLst/>
          </a:prstGeom>
          <a:noFill/>
          <a:ln w="6350">
            <a:solidFill>
              <a:srgbClr val="96A2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6275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96A2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87875" y="6448425"/>
            <a:ext cx="38100" cy="38100"/>
          </a:xfrm>
          <a:prstGeom prst="ellipse">
            <a:avLst/>
          </a:prstGeom>
          <a:noFill/>
          <a:ln w="6350">
            <a:solidFill>
              <a:srgbClr val="96A2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32981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32981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4181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Portfolio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How the reference book breaks down by region, and which sections cover what.</a:t>
            </a:r>
          </a:p>
        </p:txBody>
      </p:sp>
      <p:pic>
        <p:nvPicPr>
          <p:cNvPr id="10" name="Picture 9" descr="map-my-s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1882625"/>
            <a:ext cx="3395066" cy="251738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580833"/>
            <a:ext cx="3522066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580833"/>
            <a:ext cx="3522066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300" y="4720533"/>
            <a:ext cx="3242666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02.2 TO 02.4 · 02.8 TO 02.10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300" y="4834833"/>
            <a:ext cx="3242666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00" b="0" i="0" spc="-22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Malaysia &amp; Singapore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300" y="5071669"/>
            <a:ext cx="3242666" cy="2730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00"/>
              </a:lnSpc>
            </a:pPr>
            <a:r>
              <a:rPr sz="800" b="0" i="0">
                <a:solidFill>
                  <a:srgbClr val="64707A"/>
                </a:solidFill>
                <a:latin typeface="Urbanist Medium"/>
                <a:ea typeface="Urbanist Medium"/>
                <a:cs typeface="Urbanist Medium"/>
              </a:rPr>
              <a:t>Semiconductor, data centre, pharmaceutical, photovoltaics, district cooling and energy.</a:t>
            </a:r>
          </a:p>
        </p:txBody>
      </p:sp>
      <p:pic>
        <p:nvPicPr>
          <p:cNvPr id="16" name="Picture 15" descr="map-europ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8366" y="1809445"/>
            <a:ext cx="3395167" cy="266374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334866" y="4580833"/>
            <a:ext cx="3522167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34866" y="4580833"/>
            <a:ext cx="3522167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4566" y="4720533"/>
            <a:ext cx="3242767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02.5 TO 02.6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4566" y="4834833"/>
            <a:ext cx="3242767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00" b="0" i="0" spc="-22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Europe &amp; Morocco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4566" y="5071669"/>
            <a:ext cx="3242767" cy="2730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00"/>
              </a:lnSpc>
            </a:pPr>
            <a:r>
              <a:rPr sz="800" b="0" i="0">
                <a:solidFill>
                  <a:srgbClr val="64707A"/>
                </a:solidFill>
                <a:latin typeface="Urbanist Medium"/>
                <a:ea typeface="Urbanist Medium"/>
                <a:cs typeface="Urbanist Medium"/>
              </a:rPr>
              <a:t>EV battery gigafactories, wafer fabs and advanced semiconductor in Sweden, Norway, France, Poland and Morocco.</a:t>
            </a:r>
          </a:p>
        </p:txBody>
      </p:sp>
      <p:pic>
        <p:nvPicPr>
          <p:cNvPr id="22" name="Picture 21" descr="map-chin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3733" y="1870680"/>
            <a:ext cx="3395167" cy="2541272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8060233" y="4580833"/>
            <a:ext cx="3522167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60233" y="4580833"/>
            <a:ext cx="3522167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99933" y="4720533"/>
            <a:ext cx="3242767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02.7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9933" y="4834833"/>
            <a:ext cx="3242767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00" b="0" i="0" spc="-22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China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9933" y="5071669"/>
            <a:ext cx="3242767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64707A"/>
                </a:solidFill>
                <a:latin typeface="Urbanist Medium"/>
                <a:ea typeface="Urbanist Medium"/>
                <a:cs typeface="Urbanist Medium"/>
              </a:rPr>
              <a:t>Semiconductor, display, pharmaceutical, automotive and R&amp;D facilities.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5698433"/>
            <a:ext cx="3513633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70"/>
              </a:lnSpc>
            </a:pPr>
            <a:r>
              <a:rPr sz="2300" b="1" i="0" spc="-69">
                <a:solidFill>
                  <a:srgbClr val="101A2B"/>
                </a:solidFill>
                <a:latin typeface="Poppins"/>
                <a:ea typeface="Poppins"/>
                <a:cs typeface="Poppins"/>
              </a:rPr>
              <a:t>235</a:t>
            </a:r>
            <a:r>
              <a:rPr sz="1300" b="0" i="0" spc="-13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107309"/>
            <a:ext cx="35136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143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PROJECTS COMPLETED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39133" y="5698433"/>
            <a:ext cx="3513633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70"/>
              </a:lnSpc>
            </a:pPr>
            <a:r>
              <a:rPr sz="2300" b="1" i="0" spc="-69">
                <a:solidFill>
                  <a:srgbClr val="101A2B"/>
                </a:solidFill>
                <a:latin typeface="Poppins"/>
                <a:ea typeface="Poppins"/>
                <a:cs typeface="Poppins"/>
              </a:rPr>
              <a:t>1.5</a:t>
            </a:r>
            <a:r>
              <a:rPr sz="1300" b="0" i="0" spc="-13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mil m²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39133" y="6107309"/>
            <a:ext cx="35136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143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 BUILT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68666" y="5698433"/>
            <a:ext cx="3513633" cy="406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300" b="1" i="0" spc="-69">
                <a:solidFill>
                  <a:srgbClr val="101A2B"/>
                </a:solidFill>
                <a:latin typeface="Poppins"/>
                <a:ea typeface="Poppins"/>
                <a:cs typeface="Poppin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68666" y="6107309"/>
            <a:ext cx="35136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143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CONTRACT MODELS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68666" y="6240659"/>
            <a:ext cx="3513633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>
                <a:solidFill>
                  <a:srgbClr val="64707A"/>
                </a:solidFill>
                <a:latin typeface="Urbanist Medium"/>
                <a:ea typeface="Urbanist Medium"/>
                <a:cs typeface="Urbanist Medium"/>
              </a:rPr>
              <a:t>GC · EPCC · EPCM · PCC · Tool Hookup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600" y="6445250"/>
            <a:ext cx="379609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14 / 67</a:t>
            </a:r>
          </a:p>
        </p:txBody>
      </p:sp>
      <p:sp>
        <p:nvSpPr>
          <p:cNvPr id="36" name="Oval 35"/>
          <p:cNvSpPr/>
          <p:nvPr/>
        </p:nvSpPr>
        <p:spPr>
          <a:xfrm>
            <a:off x="5585022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686622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788222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22134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54413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54413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613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Semiconductor · Malaysia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Wafer fab, advanced packaging, test and assembly. The full reference list follows from 02.11.</a:t>
            </a:r>
          </a:p>
        </p:txBody>
      </p:sp>
      <p:pic>
        <p:nvPicPr>
          <p:cNvPr id="10" name="Picture 9" descr="infineon-kulim.jpg"/>
          <p:cNvPicPr>
            <a:picLocks noChangeAspect="1"/>
          </p:cNvPicPr>
          <p:nvPr/>
        </p:nvPicPr>
        <p:blipFill>
          <a:blip r:embed="rId3"/>
          <a:srcRect t="12732" b="12732"/>
          <a:stretch>
            <a:fillRect/>
          </a:stretch>
        </p:blipFill>
        <p:spPr>
          <a:xfrm>
            <a:off x="609600" y="1810442"/>
            <a:ext cx="5346700" cy="267335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483792"/>
            <a:ext cx="5346700" cy="1757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48379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4636192"/>
            <a:ext cx="50419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KULIM, KEDAH · GREENFIELD WAFER FAB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4756842"/>
            <a:ext cx="50419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Infineon Kulim Wafer Fab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5175" y="5022850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5070475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EPCC &amp; DESIGN BUILD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09566" y="5022850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06391" y="5070475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58814" y="5022850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55639" y="5070475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ACMV &amp; MECHANICAL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539115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DESCRIPTION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1800" y="537210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General contractor for WP06, KLM3 Expansion, 35,000 m² cleanroom area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2000" y="556895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000" y="566420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01800" y="564515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PCC for cleanroom and mechanical works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2000" y="584200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2000" y="593725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1800" y="5930900"/>
            <a:ext cx="41021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4 · 5 · 6 · 7 (CLASS 10 · 100 · 1K · 10K)</a:t>
            </a:r>
          </a:p>
        </p:txBody>
      </p:sp>
      <p:pic>
        <p:nvPicPr>
          <p:cNvPr id="29" name="Picture 28" descr="p-project.jpg"/>
          <p:cNvPicPr>
            <a:picLocks noChangeAspect="1"/>
          </p:cNvPicPr>
          <p:nvPr/>
        </p:nvPicPr>
        <p:blipFill>
          <a:blip r:embed="rId4"/>
          <a:srcRect t="12472" b="12472"/>
          <a:stretch>
            <a:fillRect/>
          </a:stretch>
        </p:blipFill>
        <p:spPr>
          <a:xfrm>
            <a:off x="6235700" y="1810442"/>
            <a:ext cx="5346700" cy="267335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6235700" y="4483792"/>
            <a:ext cx="5346700" cy="1757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35700" y="448379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8100" y="4636192"/>
            <a:ext cx="50419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ADVANCED PACKAGING · 75,000 M²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8100" y="4756842"/>
            <a:ext cx="50419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P Project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91275" y="5022850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8100" y="5070475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40523" y="5022850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37348" y="5070475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EPCC &amp; DESIGN BUILD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84914" y="5022850"/>
            <a:ext cx="96391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1739" y="5070475"/>
            <a:ext cx="97026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PROCESS UTILITIES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8100" y="539115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DESCRIPTION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27900" y="537210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Progressive-built EPCM contract model for the client's advanced packaging facility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88100" y="556895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88100" y="566420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27900" y="564515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Design &amp; build GC: CSA, MEP, process utilities, chemical &amp; gases system, waste treatment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88100" y="584200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88100" y="593725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27900" y="5930900"/>
            <a:ext cx="41021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4 TO 7 (CLASS 10 TO 10K)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9600" y="6445250"/>
            <a:ext cx="382092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15 / 67</a:t>
            </a:r>
          </a:p>
        </p:txBody>
      </p:sp>
      <p:sp>
        <p:nvSpPr>
          <p:cNvPr id="49" name="Oval 48"/>
          <p:cNvSpPr/>
          <p:nvPr/>
        </p:nvSpPr>
        <p:spPr>
          <a:xfrm>
            <a:off x="5399983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501583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603183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49567" y="6429375"/>
            <a:ext cx="1532731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SEMICONDUCTOR · MALAYSIA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51733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51733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2933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Semiconductor · Singapore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Design &amp; build EPCM in Singapore since 2023.</a:t>
            </a:r>
          </a:p>
        </p:txBody>
      </p:sp>
      <p:pic>
        <p:nvPicPr>
          <p:cNvPr id="10" name="Picture 9" descr="teksend.jpg"/>
          <p:cNvPicPr>
            <a:picLocks noChangeAspect="1"/>
          </p:cNvPicPr>
          <p:nvPr/>
        </p:nvPicPr>
        <p:blipFill>
          <a:blip r:embed="rId3"/>
          <a:srcRect t="12773" b="12773"/>
          <a:stretch>
            <a:fillRect/>
          </a:stretch>
        </p:blipFill>
        <p:spPr>
          <a:xfrm>
            <a:off x="609600" y="1740592"/>
            <a:ext cx="5346700" cy="267335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413942"/>
            <a:ext cx="5346700" cy="18971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41394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4566342"/>
            <a:ext cx="50419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PHOTOMASK FACILITY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4686992"/>
            <a:ext cx="50419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Teksend Photomask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5175" y="4953000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5000625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EPCC &amp; DESIGN BUILD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09566" y="4953000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06391" y="5000625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58814" y="4953000"/>
            <a:ext cx="96391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55639" y="5000625"/>
            <a:ext cx="97026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PROCESS UTILITIES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532130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DESCRIPTION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1800" y="5302250"/>
            <a:ext cx="4102100" cy="2603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00"/>
              </a:lnSpc>
            </a:pPr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Addition and alteration to an existing two-storey building with cleanroom facilities and ancillary office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2000" y="563880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000" y="573405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01800" y="571500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EPCC for cleanroom, ACMV, electrical, process utility, BMS, PA, WWT, UPW, tool hookup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2000" y="591185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2000" y="600710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1800" y="6000750"/>
            <a:ext cx="41021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CLASS 1 TO CLASS 10K</a:t>
            </a:r>
          </a:p>
        </p:txBody>
      </p:sp>
      <p:pic>
        <p:nvPicPr>
          <p:cNvPr id="29" name="Picture 28" descr="micron-msh.jpg"/>
          <p:cNvPicPr>
            <a:picLocks noChangeAspect="1"/>
          </p:cNvPicPr>
          <p:nvPr/>
        </p:nvPicPr>
        <p:blipFill>
          <a:blip r:embed="rId4"/>
          <a:srcRect t="12525" b="12525"/>
          <a:stretch>
            <a:fillRect/>
          </a:stretch>
        </p:blipFill>
        <p:spPr>
          <a:xfrm>
            <a:off x="6235700" y="1740592"/>
            <a:ext cx="5346700" cy="267335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6235700" y="4413942"/>
            <a:ext cx="5346700" cy="14979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35700" y="441394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8100" y="4566342"/>
            <a:ext cx="50419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PROGRESSIVE TOOL HOOKUP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8100" y="4686992"/>
            <a:ext cx="50419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Micron MSH Tool HU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91275" y="4953000"/>
            <a:ext cx="79305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8100" y="5000625"/>
            <a:ext cx="79940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TOOL HOOK 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8100" y="532130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DESCRIPTION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27900" y="530225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2,000 progressive tool hookup services for MSH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88100" y="549910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88100" y="559435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27900" y="557530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Progressive tool hook up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9600" y="6445250"/>
            <a:ext cx="38397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16 / 67</a:t>
            </a:r>
          </a:p>
        </p:txBody>
      </p:sp>
      <p:sp>
        <p:nvSpPr>
          <p:cNvPr id="42" name="Oval 41"/>
          <p:cNvSpPr/>
          <p:nvPr/>
        </p:nvSpPr>
        <p:spPr>
          <a:xfrm>
            <a:off x="5355038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456638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558238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57791" y="6429375"/>
            <a:ext cx="162450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SEMICONDUCTOR · SINGAPORE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50241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50241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1441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Data Centre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Hyperscale and colocation, 9.6 MW to 160 MW.</a:t>
            </a:r>
          </a:p>
        </p:txBody>
      </p:sp>
      <p:pic>
        <p:nvPicPr>
          <p:cNvPr id="10" name="Picture 9" descr="hyperscale-dc.jpg"/>
          <p:cNvPicPr>
            <a:picLocks noChangeAspect="1"/>
          </p:cNvPicPr>
          <p:nvPr/>
        </p:nvPicPr>
        <p:blipFill>
          <a:blip r:embed="rId3"/>
          <a:srcRect t="12720" b="12720"/>
          <a:stretch>
            <a:fillRect/>
          </a:stretch>
        </p:blipFill>
        <p:spPr>
          <a:xfrm>
            <a:off x="609600" y="1940223"/>
            <a:ext cx="5346700" cy="267335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613573"/>
            <a:ext cx="5346700" cy="14979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613573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4765973"/>
            <a:ext cx="50419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CLIENT CONFIDENTIAL · 160 MW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4886623"/>
            <a:ext cx="50419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Hyperscale Data Centre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5175" y="5152631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5200256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ACMV &amp; MECHANICAL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520931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DESCRIPTION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1800" y="5501881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Office, data halls and mechanical utility building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2000" y="5698731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000" y="5793981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1800" y="5774931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Construction, completion, testing &amp; commissioning for mechanical packages 1 &amp; 2</a:t>
            </a:r>
          </a:p>
        </p:txBody>
      </p:sp>
      <p:pic>
        <p:nvPicPr>
          <p:cNvPr id="22" name="Picture 21" descr="microsoft-kul03.jpg"/>
          <p:cNvPicPr>
            <a:picLocks noChangeAspect="1"/>
          </p:cNvPicPr>
          <p:nvPr/>
        </p:nvPicPr>
        <p:blipFill>
          <a:blip r:embed="rId4"/>
          <a:srcRect t="12521" b="12521"/>
          <a:stretch>
            <a:fillRect/>
          </a:stretch>
        </p:blipFill>
        <p:spPr>
          <a:xfrm>
            <a:off x="6235700" y="1940223"/>
            <a:ext cx="5346700" cy="267335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235700" y="4613573"/>
            <a:ext cx="5346700" cy="14979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5700" y="4613573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8100" y="4765973"/>
            <a:ext cx="50419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KUL03 PHASE 1 · 9.6 MW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8100" y="4886623"/>
            <a:ext cx="50419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Microsoft DTC-KUL 03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91275" y="5152631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8100" y="5200256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EPCC &amp; DESIGN BUILD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35666" y="5152631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32491" y="5200256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ACMV &amp; MECHANICAL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8100" y="5520931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DESCRIPTION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27900" y="5501881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9.6 MW data centre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88100" y="5698731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8100" y="5793981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27900" y="5774931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PCC for CHW and CW piping works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600" y="6445250"/>
            <a:ext cx="381692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17 / 67</a:t>
            </a:r>
          </a:p>
        </p:txBody>
      </p:sp>
      <p:sp>
        <p:nvSpPr>
          <p:cNvPr id="37" name="Oval 36"/>
          <p:cNvSpPr/>
          <p:nvPr/>
        </p:nvSpPr>
        <p:spPr>
          <a:xfrm>
            <a:off x="5815114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16714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18314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880230" y="6429375"/>
            <a:ext cx="702075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DATA CENTRE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52228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52228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28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EV Battery · Europe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Dry rooms for the gigafactories: moisture control and contamination control at scale.</a:t>
            </a:r>
          </a:p>
        </p:txBody>
      </p:sp>
      <p:pic>
        <p:nvPicPr>
          <p:cNvPr id="10" name="Picture 9" descr="northvolt.jpg"/>
          <p:cNvPicPr>
            <a:picLocks noChangeAspect="1"/>
          </p:cNvPicPr>
          <p:nvPr/>
        </p:nvPicPr>
        <p:blipFill>
          <a:blip r:embed="rId3"/>
          <a:srcRect t="12651" b="12651"/>
          <a:stretch>
            <a:fillRect/>
          </a:stretch>
        </p:blipFill>
        <p:spPr>
          <a:xfrm>
            <a:off x="609600" y="1810442"/>
            <a:ext cx="5346700" cy="267335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483792"/>
            <a:ext cx="5346700" cy="1757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48379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4636192"/>
            <a:ext cx="50419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SKELLEFTEÅ, SWEDEN · 62,000 M²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4756842"/>
            <a:ext cx="50419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Northvolt AB Gigafactory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5175" y="5022850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5070475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14423" y="5022850"/>
            <a:ext cx="1232992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11248" y="5070475"/>
            <a:ext cx="1239342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ARCHITECTURE &amp; FIT 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539115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DESCRIPTION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01800" y="537210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Europe gigafactory for lithium-ion battery manufacture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2000" y="556895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000" y="566420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01800" y="564515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Cleanroom and dry room architecture works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2000" y="584200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2000" y="593725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ENVIRONMENT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01800" y="5930900"/>
            <a:ext cx="41021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DRY ROOM</a:t>
            </a:r>
          </a:p>
        </p:txBody>
      </p:sp>
      <p:pic>
        <p:nvPicPr>
          <p:cNvPr id="27" name="Picture 26" descr="morrow.jpg"/>
          <p:cNvPicPr>
            <a:picLocks noChangeAspect="1"/>
          </p:cNvPicPr>
          <p:nvPr/>
        </p:nvPicPr>
        <p:blipFill>
          <a:blip r:embed="rId4"/>
          <a:srcRect t="12500" b="12500"/>
          <a:stretch>
            <a:fillRect/>
          </a:stretch>
        </p:blipFill>
        <p:spPr>
          <a:xfrm>
            <a:off x="6235700" y="1810442"/>
            <a:ext cx="5346700" cy="267335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6235700" y="4483792"/>
            <a:ext cx="5346700" cy="1757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35700" y="448379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8100" y="4636192"/>
            <a:ext cx="50419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NORWAY · BATTERY COAST · 8,600 M²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8100" y="4756842"/>
            <a:ext cx="50419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Morrow Batteries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91275" y="5022850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88100" y="5070475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40523" y="5022850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37348" y="5070475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ACMV &amp; MECHANICAL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76678" y="5022850"/>
            <a:ext cx="1232992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73503" y="5070475"/>
            <a:ext cx="1239342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ARCHITECTURE &amp; FIT OUT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8100" y="539115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DESCRIPTION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27900" y="537210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Norway's Battery Coast project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88100" y="556895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88100" y="566420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27900" y="564515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Cleanroom and dry room architectural system, ACMV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88100" y="584200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88100" y="593725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ENVIRONMENT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27900" y="5930900"/>
            <a:ext cx="41021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DRY ROOM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9600" y="6445250"/>
            <a:ext cx="383877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18 / 67</a:t>
            </a:r>
          </a:p>
        </p:txBody>
      </p:sp>
      <p:sp>
        <p:nvSpPr>
          <p:cNvPr id="47" name="Oval 46"/>
          <p:cNvSpPr/>
          <p:nvPr/>
        </p:nvSpPr>
        <p:spPr>
          <a:xfrm>
            <a:off x="5592070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693670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795270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431958" y="6429375"/>
            <a:ext cx="1150442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EV BATTERY · EUROPE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54209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54209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409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Semiconductor · Europe &amp; Morocco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Following the fabs into Europe: advanced-node cleanrooms and progressive hookup.</a:t>
            </a:r>
          </a:p>
        </p:txBody>
      </p:sp>
      <p:pic>
        <p:nvPicPr>
          <p:cNvPr id="10" name="Picture 9" descr="confidential-cmos.jpg"/>
          <p:cNvPicPr>
            <a:picLocks noChangeAspect="1"/>
          </p:cNvPicPr>
          <p:nvPr/>
        </p:nvPicPr>
        <p:blipFill>
          <a:blip r:embed="rId3"/>
          <a:srcRect t="12720" b="12720"/>
          <a:stretch>
            <a:fillRect/>
          </a:stretch>
        </p:blipFill>
        <p:spPr>
          <a:xfrm>
            <a:off x="609600" y="1810442"/>
            <a:ext cx="5346700" cy="267335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483792"/>
            <a:ext cx="5346700" cy="1757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48379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4636192"/>
            <a:ext cx="50419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CLIENT CONFIDENTIAL · WAFER FAB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4756842"/>
            <a:ext cx="50419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28/22nm CMOS · 16/12nm FinFET Plant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5175" y="5022850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5070475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EPCC &amp; DESIGN BUILD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09566" y="5022850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06391" y="5070475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58814" y="5022850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55639" y="5070475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ACMV &amp; MECHANICAL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539115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DESCRIPTION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1800" y="537210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Design, supply, installation &amp; commissioning of cleanroom facilities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2000" y="556895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000" y="566420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01800" y="564515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Cleanroom &amp; mechanical general contractor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2000" y="584200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2000" y="593725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1800" y="5930900"/>
            <a:ext cx="41021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CLASS 1 TO CLASS 10K</a:t>
            </a:r>
          </a:p>
        </p:txBody>
      </p:sp>
      <p:pic>
        <p:nvPicPr>
          <p:cNvPr id="29" name="Picture 28" descr="st-casablanca.jpg"/>
          <p:cNvPicPr>
            <a:picLocks noChangeAspect="1"/>
          </p:cNvPicPr>
          <p:nvPr/>
        </p:nvPicPr>
        <p:blipFill>
          <a:blip r:embed="rId4"/>
          <a:srcRect t="12798" b="12798"/>
          <a:stretch>
            <a:fillRect/>
          </a:stretch>
        </p:blipFill>
        <p:spPr>
          <a:xfrm>
            <a:off x="6235700" y="1810442"/>
            <a:ext cx="5346700" cy="267335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6235700" y="4483792"/>
            <a:ext cx="5346700" cy="1757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35700" y="448379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8100" y="4636192"/>
            <a:ext cx="50419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CASABLANCA, MOROCCO · 60,000 M²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8100" y="4756842"/>
            <a:ext cx="50419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STMicroelectronics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91275" y="5022850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8100" y="5070475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40523" y="5022850"/>
            <a:ext cx="96391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37348" y="5070475"/>
            <a:ext cx="97026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PROCESS UTILITIES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61584" y="5022850"/>
            <a:ext cx="79305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58409" y="5070475"/>
            <a:ext cx="79940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TOOL HOOK UP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8100" y="539115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DESCRIPTION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27900" y="537210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Built-up area up to 60,000 m²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88100" y="556895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88100" y="566420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27900" y="564515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Cleanroom, mechanical, electrical, process utilities and hookup works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88100" y="584200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88100" y="593725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27900" y="5930900"/>
            <a:ext cx="41021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5 (CLASS 100)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9600" y="6445250"/>
            <a:ext cx="38397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19 / 67</a:t>
            </a:r>
          </a:p>
        </p:txBody>
      </p:sp>
      <p:sp>
        <p:nvSpPr>
          <p:cNvPr id="49" name="Oval 48"/>
          <p:cNvSpPr/>
          <p:nvPr/>
        </p:nvSpPr>
        <p:spPr>
          <a:xfrm>
            <a:off x="5452370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553970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655570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52463" y="6429375"/>
            <a:ext cx="1429842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SEMICONDUCTOR · EUROPE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52228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52228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02.7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28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Semiconductor &amp; Display · China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EPCC across semiconductor, display and precision manufacturing.</a:t>
            </a:r>
          </a:p>
        </p:txBody>
      </p:sp>
      <p:pic>
        <p:nvPicPr>
          <p:cNvPr id="10" name="Picture 9" descr="ferrotec-hangzhou.jpg"/>
          <p:cNvPicPr>
            <a:picLocks noChangeAspect="1"/>
          </p:cNvPicPr>
          <p:nvPr/>
        </p:nvPicPr>
        <p:blipFill>
          <a:blip r:embed="rId3"/>
          <a:srcRect t="1798" b="1798"/>
          <a:stretch>
            <a:fillRect/>
          </a:stretch>
        </p:blipFill>
        <p:spPr>
          <a:xfrm>
            <a:off x="609600" y="1810442"/>
            <a:ext cx="5346700" cy="267335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483792"/>
            <a:ext cx="5346700" cy="1757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48379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4636192"/>
            <a:ext cx="50419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HANGZHOU · 23,400 M²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4756842"/>
            <a:ext cx="50419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Ferrotec Semiconductor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5175" y="5022850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5070475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EPCC &amp; DESIGN BUILD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09566" y="5022850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06391" y="5070475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58814" y="5022850"/>
            <a:ext cx="79305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55639" y="5070475"/>
            <a:ext cx="79940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TOOL HOOK 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539115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DESCRIPTION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1800" y="537210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Built-up area up to 23,400 m²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2000" y="556895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000" y="566420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01800" y="564515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EPCC for cleanroom, mechanical, electrical and plumbing works and hookup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2000" y="584200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2000" y="593725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1800" y="5930900"/>
            <a:ext cx="41021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4 · 5 (CLASS 10 &amp; 100)</a:t>
            </a:r>
          </a:p>
        </p:txBody>
      </p:sp>
      <p:pic>
        <p:nvPicPr>
          <p:cNvPr id="29" name="Picture 28" descr="infineon-wuxi.jpg"/>
          <p:cNvPicPr>
            <a:picLocks noChangeAspect="1"/>
          </p:cNvPicPr>
          <p:nvPr/>
        </p:nvPicPr>
        <p:blipFill>
          <a:blip r:embed="rId4"/>
          <a:srcRect t="11489" b="11489"/>
          <a:stretch>
            <a:fillRect/>
          </a:stretch>
        </p:blipFill>
        <p:spPr>
          <a:xfrm>
            <a:off x="6235700" y="1810442"/>
            <a:ext cx="5346700" cy="267335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6235700" y="4483792"/>
            <a:ext cx="5346700" cy="1757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35700" y="448379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8100" y="4636192"/>
            <a:ext cx="50419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WUXI · 8,000 M²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8100" y="4756842"/>
            <a:ext cx="50419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Infineon Technologies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91275" y="5022850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8100" y="5070475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EPCC &amp; DESIGN BUILD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35666" y="5022850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32491" y="5070475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84914" y="5022850"/>
            <a:ext cx="79305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1739" y="5070475"/>
            <a:ext cx="79940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TOOL HOOK UP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8100" y="539115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DESCRIPTION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27900" y="537210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Built-up area up to 8,000 m²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88100" y="556895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88100" y="566420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27900" y="564515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EPCC for cleanroom, mechanical, electrical and plumbing works and hookup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88100" y="584200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88100" y="593725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27900" y="5930900"/>
            <a:ext cx="41021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5 (CLASS 100)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9600" y="6445250"/>
            <a:ext cx="40719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20 / 67</a:t>
            </a:r>
          </a:p>
        </p:txBody>
      </p:sp>
      <p:sp>
        <p:nvSpPr>
          <p:cNvPr id="49" name="Oval 48"/>
          <p:cNvSpPr/>
          <p:nvPr/>
        </p:nvSpPr>
        <p:spPr>
          <a:xfrm>
            <a:off x="6013152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114752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216352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250809" y="6429375"/>
            <a:ext cx="331591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CHINA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54012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54012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02.8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12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Photovoltaics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Solar cell and module manufacturing, including toxic material and waste handling.</a:t>
            </a:r>
          </a:p>
        </p:txBody>
      </p:sp>
      <p:pic>
        <p:nvPicPr>
          <p:cNvPr id="10" name="Picture 9" descr="first-solar.jpg"/>
          <p:cNvPicPr>
            <a:picLocks noChangeAspect="1"/>
          </p:cNvPicPr>
          <p:nvPr/>
        </p:nvPicPr>
        <p:blipFill>
          <a:blip r:embed="rId3"/>
          <a:srcRect t="12747" b="12747"/>
          <a:stretch>
            <a:fillRect/>
          </a:stretch>
        </p:blipFill>
        <p:spPr>
          <a:xfrm>
            <a:off x="609600" y="1810442"/>
            <a:ext cx="5346700" cy="267335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483792"/>
            <a:ext cx="5346700" cy="1637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48379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4636192"/>
            <a:ext cx="50419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KULIM, MALAYSIA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4756842"/>
            <a:ext cx="50419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First Solar Malaysia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5175" y="5022850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5070475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EPCC &amp; DESIGN BUILD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09566" y="5022850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06391" y="5070475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ACMV &amp; MECHANICAL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45720" y="5022850"/>
            <a:ext cx="157758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2545" y="5070475"/>
            <a:ext cx="158393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ELECTRICAL &amp; INSTRUMENTATION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539115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DESCRIPTION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1800" y="537210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First Solar KMW building in Kulim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2000" y="556895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000" y="566420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01800" y="5645150"/>
            <a:ext cx="4102100" cy="2603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00"/>
              </a:lnSpc>
            </a:pPr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PCC for mechanical &amp; electrical, KMW building; CSA and M&amp;E for forming gas plant; M&amp;E for SCO1</a:t>
            </a:r>
          </a:p>
        </p:txBody>
      </p:sp>
      <p:pic>
        <p:nvPicPr>
          <p:cNvPr id="26" name="Picture 25" descr="chint-solar.jpg"/>
          <p:cNvPicPr>
            <a:picLocks noChangeAspect="1"/>
          </p:cNvPicPr>
          <p:nvPr/>
        </p:nvPicPr>
        <p:blipFill>
          <a:blip r:embed="rId4"/>
          <a:srcRect t="10386" b="10386"/>
          <a:stretch>
            <a:fillRect/>
          </a:stretch>
        </p:blipFill>
        <p:spPr>
          <a:xfrm>
            <a:off x="6235700" y="1810442"/>
            <a:ext cx="5346700" cy="267335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235700" y="4483792"/>
            <a:ext cx="5346700" cy="1757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5700" y="448379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8100" y="4636192"/>
            <a:ext cx="50419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CHINA · 57,000 M²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8100" y="4756842"/>
            <a:ext cx="50419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Chint Solar Technology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91275" y="5022850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8100" y="5070475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40523" y="5022850"/>
            <a:ext cx="96391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37348" y="5070475"/>
            <a:ext cx="97026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PROCESS UTILITIES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61584" y="5022850"/>
            <a:ext cx="79305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58409" y="5070475"/>
            <a:ext cx="79940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TOOL HOOK UP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8100" y="539115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DESCRIPTION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27900" y="537210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Built-up area up to 57,000 m²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88100" y="556895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88100" y="566420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27900" y="564515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Cleanroom system, ACMV, process utilities and tools hookup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88100" y="584200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88100" y="593725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27900" y="5930900"/>
            <a:ext cx="41021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8 (CLASS 100K)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600" y="6445250"/>
            <a:ext cx="383877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21 / 67</a:t>
            </a:r>
          </a:p>
        </p:txBody>
      </p:sp>
      <p:sp>
        <p:nvSpPr>
          <p:cNvPr id="46" name="Oval 45"/>
          <p:cNvSpPr/>
          <p:nvPr/>
        </p:nvSpPr>
        <p:spPr>
          <a:xfrm>
            <a:off x="5739213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840813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942413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726242" y="6429375"/>
            <a:ext cx="85615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PHOTOVOLTAICS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54209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54209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02.9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409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Pharmaceutical &amp; Medical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GMP grades and regulated environments, from parenteral facilities to medical device plants.</a:t>
            </a:r>
          </a:p>
        </p:txBody>
      </p:sp>
      <p:pic>
        <p:nvPicPr>
          <p:cNvPr id="10" name="Picture 9" descr="insulet.jpg"/>
          <p:cNvPicPr>
            <a:picLocks noChangeAspect="1"/>
          </p:cNvPicPr>
          <p:nvPr/>
        </p:nvPicPr>
        <p:blipFill>
          <a:blip r:embed="rId3"/>
          <a:srcRect t="12700" b="12700"/>
          <a:stretch>
            <a:fillRect/>
          </a:stretch>
        </p:blipFill>
        <p:spPr>
          <a:xfrm>
            <a:off x="609600" y="1810442"/>
            <a:ext cx="5346700" cy="267335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483792"/>
            <a:ext cx="5346700" cy="1757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48379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4636192"/>
            <a:ext cx="50419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GREENFIELD · MEDICAL DEVICE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4756842"/>
            <a:ext cx="50419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Insulet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5175" y="5022850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5070475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EPCC &amp; DESIGN BUILD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09566" y="5022850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06391" y="5070475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58814" y="5022850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55639" y="5070475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ACMV &amp; MECHANICAL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539115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DESCRIPTION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1800" y="537210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Electronic medical device manufacturing plant, greenfield project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2000" y="556895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000" y="566420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01800" y="564515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Design and build mechanical, cleanroom &amp; electrical package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2000" y="584200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2000" y="593725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1800" y="5930900"/>
            <a:ext cx="41021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8 (CLASS 100K)</a:t>
            </a:r>
          </a:p>
        </p:txBody>
      </p:sp>
      <p:pic>
        <p:nvPicPr>
          <p:cNvPr id="29" name="Picture 28" descr="pharmaniaga.jpg"/>
          <p:cNvPicPr>
            <a:picLocks noChangeAspect="1"/>
          </p:cNvPicPr>
          <p:nvPr/>
        </p:nvPicPr>
        <p:blipFill>
          <a:blip r:embed="rId4"/>
          <a:srcRect t="12500" b="12500"/>
          <a:stretch>
            <a:fillRect/>
          </a:stretch>
        </p:blipFill>
        <p:spPr>
          <a:xfrm>
            <a:off x="6235700" y="1810442"/>
            <a:ext cx="5346700" cy="267335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6235700" y="4483792"/>
            <a:ext cx="5346700" cy="1757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35700" y="448379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8100" y="4636192"/>
            <a:ext cx="50419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PUCHONG, SELANGOR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8100" y="4756842"/>
            <a:ext cx="50419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Pharmaniaga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91275" y="5022850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8100" y="5070475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40523" y="5022850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37348" y="5070475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ACMV &amp; MECHANICAL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8100" y="539115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DESCRIPTION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27900" y="537210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Small volume parenteral facility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88100" y="556895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88100" y="566420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27900" y="5645150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Cleanroom system, air conditioning and mechanical ventilation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88100" y="5842000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88100" y="5937250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27900" y="5930900"/>
            <a:ext cx="41021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5 · 7 · 8 (CLASS 100 · 10K · 100K)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9600" y="6445250"/>
            <a:ext cx="404419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22 / 67</a:t>
            </a:r>
          </a:p>
        </p:txBody>
      </p:sp>
      <p:sp>
        <p:nvSpPr>
          <p:cNvPr id="47" name="Oval 46"/>
          <p:cNvSpPr/>
          <p:nvPr/>
        </p:nvSpPr>
        <p:spPr>
          <a:xfrm>
            <a:off x="5404447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506047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607647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36175" y="6429375"/>
            <a:ext cx="154612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PHARMACEUTICAL &amp; MEDICAL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94195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94195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02.10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5395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District Cooling &amp; Energy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Plant, chillers and co-generation for urban and industrial energy.</a:t>
            </a:r>
          </a:p>
        </p:txBody>
      </p:sp>
      <p:pic>
        <p:nvPicPr>
          <p:cNvPr id="10" name="Picture 9" descr="klcc-dcp.jpg"/>
          <p:cNvPicPr>
            <a:picLocks noChangeAspect="1"/>
          </p:cNvPicPr>
          <p:nvPr/>
        </p:nvPicPr>
        <p:blipFill>
          <a:blip r:embed="rId3"/>
          <a:srcRect t="12651" b="12651"/>
          <a:stretch>
            <a:fillRect/>
          </a:stretch>
        </p:blipFill>
        <p:spPr>
          <a:xfrm>
            <a:off x="609600" y="1870373"/>
            <a:ext cx="5346700" cy="267335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543723"/>
            <a:ext cx="5346700" cy="16241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543723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4696123"/>
            <a:ext cx="50419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GAS DISTRICT COOLING (M) SDN BHD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4816773"/>
            <a:ext cx="50419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KLCC District Cooling Plant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5175" y="5082781"/>
            <a:ext cx="96391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5130406"/>
            <a:ext cx="97026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PROCESS UTILITIES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86236" y="5082781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83061" y="5130406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ACMV &amp; MECHANICAL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2391" y="5082781"/>
            <a:ext cx="157758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19216" y="5130406"/>
            <a:ext cx="158393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ELECTRICAL &amp; INSTRUMENTATION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5451081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DESCRIPTION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1800" y="5444731"/>
            <a:ext cx="41021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LARGEST DISTRICT COOLING CENTRE IN MALAYSIA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2000" y="5615388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000" y="5710638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01800" y="5691588"/>
            <a:ext cx="4102100" cy="2603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00"/>
              </a:lnSpc>
            </a:pPr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ACMV, electrical &amp; instrumentation, fire protection, process utility, plumbing &amp; sanitary, water treatment, CSA</a:t>
            </a:r>
          </a:p>
        </p:txBody>
      </p:sp>
      <p:pic>
        <p:nvPicPr>
          <p:cNvPr id="26" name="Picture 25" descr="gdc-putrajaya.jpg"/>
          <p:cNvPicPr>
            <a:picLocks noChangeAspect="1"/>
          </p:cNvPicPr>
          <p:nvPr/>
        </p:nvPicPr>
        <p:blipFill>
          <a:blip r:embed="rId4"/>
          <a:srcRect t="12773" b="12773"/>
          <a:stretch>
            <a:fillRect/>
          </a:stretch>
        </p:blipFill>
        <p:spPr>
          <a:xfrm>
            <a:off x="6235700" y="1870373"/>
            <a:ext cx="5346700" cy="267335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235700" y="4543723"/>
            <a:ext cx="5346700" cy="1637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5700" y="4543723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8100" y="4696123"/>
            <a:ext cx="50419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PICC PLANT, PUTRAJAYA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8100" y="4816773"/>
            <a:ext cx="50419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GDC Putrajaya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91275" y="5082781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8100" y="5130406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EPCC &amp; DESIGN BUILD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35666" y="5082781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32491" y="5130406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ACMV &amp; MECHANICAL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71820" y="5082781"/>
            <a:ext cx="157758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68645" y="5130406"/>
            <a:ext cx="158393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ELECTRICAL &amp; INSTRUMENTATION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8100" y="5451081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DESCRIPTION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27900" y="5432031"/>
            <a:ext cx="41021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For the Putrajaya International Convention Centre (PICC) plant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88100" y="5628881"/>
            <a:ext cx="50419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88100" y="5724131"/>
            <a:ext cx="838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27900" y="5705081"/>
            <a:ext cx="4102100" cy="2603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00"/>
              </a:lnSpc>
            </a:pPr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EPCC of plant electrification, chiller replacement and associated works at Gas District Cooling Putrajaya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600" y="6445250"/>
            <a:ext cx="401936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23 / 67</a:t>
            </a:r>
          </a:p>
        </p:txBody>
      </p:sp>
      <p:sp>
        <p:nvSpPr>
          <p:cNvPr id="43" name="Oval 42"/>
          <p:cNvSpPr/>
          <p:nvPr/>
        </p:nvSpPr>
        <p:spPr>
          <a:xfrm>
            <a:off x="5389169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490769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592369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08095" y="6429375"/>
            <a:ext cx="1574305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DISTRICT COOLING &amp; ENERGY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70186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70186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02.11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1386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Malaysia &amp; Singapore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Projects 1–2 of 73 from IAQ’s own reference list.</a:t>
            </a:r>
          </a:p>
        </p:txBody>
      </p:sp>
      <p:pic>
        <p:nvPicPr>
          <p:cNvPr id="10" name="Picture 9" descr="p22t.jpg"/>
          <p:cNvPicPr>
            <a:picLocks noChangeAspect="1"/>
          </p:cNvPicPr>
          <p:nvPr/>
        </p:nvPicPr>
        <p:blipFill>
          <a:blip r:embed="rId3"/>
          <a:srcRect l="10662" r="10662"/>
          <a:stretch>
            <a:fillRect/>
          </a:stretch>
        </p:blipFill>
        <p:spPr>
          <a:xfrm>
            <a:off x="609600" y="1701800"/>
            <a:ext cx="5346700" cy="339794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5099742"/>
            <a:ext cx="5346700" cy="12502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09974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264842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SINGAPORE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385492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Micron F10A &amp; F10NX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651500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699125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ACMV &amp; MECHANICAL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14030" y="5651500"/>
            <a:ext cx="1232992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10855" y="5699125"/>
            <a:ext cx="1239342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ARCHITECTURE &amp; FIT 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700" y="6019800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7500" y="6000750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Interior design &amp; mechanical fit out, F10NX office optimisation</a:t>
            </a:r>
          </a:p>
        </p:txBody>
      </p:sp>
      <p:pic>
        <p:nvPicPr>
          <p:cNvPr id="21" name="Picture 20" descr="p22b.jpg"/>
          <p:cNvPicPr>
            <a:picLocks noChangeAspect="1"/>
          </p:cNvPicPr>
          <p:nvPr/>
        </p:nvPicPr>
        <p:blipFill>
          <a:blip r:embed="rId4"/>
          <a:srcRect l="10662" r="10662"/>
          <a:stretch>
            <a:fillRect/>
          </a:stretch>
        </p:blipFill>
        <p:spPr>
          <a:xfrm>
            <a:off x="6235700" y="1701800"/>
            <a:ext cx="5346700" cy="3397942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6235700" y="5099742"/>
            <a:ext cx="5346700" cy="12502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5700" y="509974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5264842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MALAYSIA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385492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Caterpillar Asia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3975" y="5651500"/>
            <a:ext cx="1232992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699125"/>
            <a:ext cx="1239342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ARCHITECTURE &amp; FIT 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019800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13600" y="6000750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Three storey office renovation, 7T office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445250"/>
            <a:ext cx="400152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24 / 67</a:t>
            </a:r>
          </a:p>
        </p:txBody>
      </p:sp>
      <p:sp>
        <p:nvSpPr>
          <p:cNvPr id="31" name="Oval 30"/>
          <p:cNvSpPr/>
          <p:nvPr/>
        </p:nvSpPr>
        <p:spPr>
          <a:xfrm>
            <a:off x="5595341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696941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798541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2236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91617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91617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02.12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2817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Malaysia &amp; Singapore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Projects 3–4 of 73 from IAQ’s own reference list.</a:t>
            </a:r>
          </a:p>
        </p:txBody>
      </p:sp>
      <p:pic>
        <p:nvPicPr>
          <p:cNvPr id="10" name="Picture 9" descr="p23t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MALAYSIA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M Project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EPCC &amp; DESIGN 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Design &amp; build GC, greenfield food flavouring plant, 40,000 m²</a:t>
            </a:r>
          </a:p>
        </p:txBody>
      </p:sp>
      <p:pic>
        <p:nvPicPr>
          <p:cNvPr id="19" name="Picture 18" descr="p24b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MALAYSIA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XFAB Kuching 40K Expansion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39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53223" y="5391944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50048" y="5439569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EPCC &amp; DESIGN BUILD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97614" y="5391944"/>
            <a:ext cx="1232992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94439" y="5439569"/>
            <a:ext cx="1239342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ARCHITECTURE &amp; FIT 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Design and build, wafer fab extension, 30K to 40K capacity, 40,000 m²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136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5, 6 &amp; 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600" y="6445250"/>
            <a:ext cx="40262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25 / 67</a:t>
            </a:r>
          </a:p>
        </p:txBody>
      </p:sp>
      <p:sp>
        <p:nvSpPr>
          <p:cNvPr id="36" name="Oval 35"/>
          <p:cNvSpPr/>
          <p:nvPr/>
        </p:nvSpPr>
        <p:spPr>
          <a:xfrm>
            <a:off x="5596534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698134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799734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22134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88938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88938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02.13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138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Malaysia &amp; Singapore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Projects 5–6 of 73 from IAQ’s own reference list.</a:t>
            </a:r>
          </a:p>
        </p:txBody>
      </p:sp>
      <p:pic>
        <p:nvPicPr>
          <p:cNvPr id="10" name="Picture 9" descr="p25t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MALAYSIA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SOITEC PR1A Expansion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7123" y="5391944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3948" y="5439569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EPCC &amp; DESIGN 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EPCM consultant, new greenfield plant, 45,000 m²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47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47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875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4, 5, 6 &amp; 7</a:t>
            </a:r>
          </a:p>
        </p:txBody>
      </p:sp>
      <p:pic>
        <p:nvPicPr>
          <p:cNvPr id="24" name="Picture 23" descr="p25b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MALAYSIA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Robert Bosch Testing Manufacturing Plant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39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53223" y="5391944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50048" y="5439569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EPCC &amp; DESIGN BUILD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GC, greenfield testing and manufacturing plant, 25,000 m²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136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6, 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" y="6445250"/>
            <a:ext cx="40451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26 / 67</a:t>
            </a:r>
          </a:p>
        </p:txBody>
      </p:sp>
      <p:sp>
        <p:nvSpPr>
          <p:cNvPr id="39" name="Oval 38"/>
          <p:cNvSpPr/>
          <p:nvPr/>
        </p:nvSpPr>
        <p:spPr>
          <a:xfrm>
            <a:off x="5597525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699125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800725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422236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87547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87547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02.14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747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Malaysia &amp; Singapore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Projects 7–8 of 73 from IAQ’s own reference list.</a:t>
            </a:r>
          </a:p>
        </p:txBody>
      </p:sp>
      <p:pic>
        <p:nvPicPr>
          <p:cNvPr id="10" name="Picture 9" descr="p26t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MALAYSIA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Wafer Fab Facility &amp; Expansion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7123" y="5391944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3948" y="5439569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EPCC &amp; DESIGN 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EPCC and design &amp; build, FAB1E A/B expansion, new CUB 5,000 m²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47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47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875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5 (CLASS 100)</a:t>
            </a:r>
          </a:p>
        </p:txBody>
      </p:sp>
      <p:pic>
        <p:nvPicPr>
          <p:cNvPr id="24" name="Picture 23" descr="p26b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MALAYSIA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P Project – MEP Works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3975" y="5391944"/>
            <a:ext cx="1275956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5439569"/>
            <a:ext cx="1282306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SPECIALIST CONTRACTING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Retrofit existing office into mega lab, 7,000 m²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6445250"/>
            <a:ext cx="40223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27 / 67</a:t>
            </a:r>
          </a:p>
        </p:txBody>
      </p:sp>
      <p:sp>
        <p:nvSpPr>
          <p:cNvPr id="34" name="Oval 33"/>
          <p:cNvSpPr/>
          <p:nvPr/>
        </p:nvSpPr>
        <p:spPr>
          <a:xfrm>
            <a:off x="5596338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697938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799538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22134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89433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89433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02.15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633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Malaysia &amp; Singapore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Projects 9–10 of 73 from IAQ’s own reference list.</a:t>
            </a:r>
          </a:p>
        </p:txBody>
      </p:sp>
      <p:pic>
        <p:nvPicPr>
          <p:cNvPr id="10" name="Picture 9" descr="p27t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MALAYSIA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Texas Instrument, Melaka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Facilitation works for residual management, 32,000 m²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47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7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75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5, 6, 7</a:t>
            </a:r>
          </a:p>
        </p:txBody>
      </p:sp>
      <p:pic>
        <p:nvPicPr>
          <p:cNvPr id="22" name="Picture 21" descr="p27b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KUALA LUMPUR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Texas Instrument (M) Sdn Bhd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39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DLP cleanroom project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136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5, 6, 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6445250"/>
            <a:ext cx="404419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28 / 67</a:t>
            </a:r>
          </a:p>
        </p:txBody>
      </p:sp>
      <p:sp>
        <p:nvSpPr>
          <p:cNvPr id="35" name="Oval 34"/>
          <p:cNvSpPr/>
          <p:nvPr/>
        </p:nvSpPr>
        <p:spPr>
          <a:xfrm>
            <a:off x="5597423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99023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800623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22134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91516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91516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02.16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2716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Malaysia &amp; Singapore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Projects 11–12 of 73 from IAQ’s own reference list.</a:t>
            </a:r>
          </a:p>
        </p:txBody>
      </p:sp>
      <p:pic>
        <p:nvPicPr>
          <p:cNvPr id="10" name="Picture 9" descr="p28t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PETALING JAYA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Western Digital (M) Sdn Bhd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7123" y="5391944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3948" y="5439569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ACMV &amp; MECHANICAL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63278" y="5391944"/>
            <a:ext cx="157758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60103" y="5439569"/>
            <a:ext cx="158393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ELECTRICAL &amp; INSTRUMENTATION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Phase 2 and 3 renovation, mechanical, electrical and cleanroom</a:t>
            </a:r>
          </a:p>
        </p:txBody>
      </p:sp>
      <p:pic>
        <p:nvPicPr>
          <p:cNvPr id="23" name="Picture 22" descr="p28b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PENANG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WD Media (M) Sdn Bhd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3975" y="5391944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5439569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EPCC &amp; DESIGN BUILD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48366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45191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97614" y="5391944"/>
            <a:ext cx="79305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94439" y="5439569"/>
            <a:ext cx="79940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TOOL HOOK 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PCC, MA 28 &amp; MA 29, cleanroom, HVAC, FMCS, hookup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136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6 (CLASS 1K)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600" y="6445250"/>
            <a:ext cx="40451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29 / 67</a:t>
            </a:r>
          </a:p>
        </p:txBody>
      </p:sp>
      <p:sp>
        <p:nvSpPr>
          <p:cNvPr id="40" name="Oval 39"/>
          <p:cNvSpPr/>
          <p:nvPr/>
        </p:nvSpPr>
        <p:spPr>
          <a:xfrm>
            <a:off x="5597525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699125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800725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22236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89433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89433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02.17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633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Malaysia &amp; Singapore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Projects 13–14 of 73 from IAQ’s own reference list.</a:t>
            </a:r>
          </a:p>
        </p:txBody>
      </p:sp>
      <p:pic>
        <p:nvPicPr>
          <p:cNvPr id="10" name="Picture 9" descr="p29t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JOHOR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STMicroelectronics Sdn Bhd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7123" y="5391944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3948" y="5439569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ACMV &amp; MECHANICAL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3 storey production factory, cleanroom and ACMV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47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47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875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7 (CLASS 10K)</a:t>
            </a:r>
          </a:p>
        </p:txBody>
      </p:sp>
      <p:pic>
        <p:nvPicPr>
          <p:cNvPr id="24" name="Picture 23" descr="p29b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MELAKA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Infineon Technologies (M) Sdn Bhd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39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53223" y="5391944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50048" y="5439569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EPCC &amp; DESIGN BUILD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EPCM-GMP, Block 8 testing, probe &amp; assembly, 43,000 m²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136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6, 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" y="6445250"/>
            <a:ext cx="404711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30 / 67</a:t>
            </a:r>
          </a:p>
        </p:txBody>
      </p:sp>
      <p:sp>
        <p:nvSpPr>
          <p:cNvPr id="39" name="Oval 38"/>
          <p:cNvSpPr/>
          <p:nvPr/>
        </p:nvSpPr>
        <p:spPr>
          <a:xfrm>
            <a:off x="5597627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699227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800827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422236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91319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91319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02.18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2519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Malaysia &amp; Singapore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Projects 15–16 of 73 from IAQ’s own reference list.</a:t>
            </a:r>
          </a:p>
        </p:txBody>
      </p:sp>
      <p:pic>
        <p:nvPicPr>
          <p:cNvPr id="10" name="Picture 9" descr="p30t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MALAYSIA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MEMC Ipoh Sdn Bhd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7123" y="5391944"/>
            <a:ext cx="79305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3948" y="5439569"/>
            <a:ext cx="79940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TOOL HOOK UP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77331" y="5391944"/>
            <a:ext cx="1232992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74156" y="5439569"/>
            <a:ext cx="1239342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ARCHITECTURE &amp; FIT 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Greenfield project, MEP, cleanroom, FMCS, CSA and tools hookup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47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47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875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3 TO 7 (CLASS 1–10K)</a:t>
            </a:r>
          </a:p>
        </p:txBody>
      </p:sp>
      <p:pic>
        <p:nvPicPr>
          <p:cNvPr id="26" name="Picture 25" descr="p30b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MALAYSIA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Flextronic Shah Alam Sdn Bhd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3975" y="5391944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439569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EPCC &amp; DESIGN BUILD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48366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45191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97614" y="5391944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94439" y="5439569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ACMV &amp; MECHANICAL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PCC, 33kV substation, mechanical, cleanroom, civil and structural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136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7 (CLASS 10K)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600" y="6445250"/>
            <a:ext cx="381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31 / 67</a:t>
            </a:r>
          </a:p>
        </p:txBody>
      </p:sp>
      <p:sp>
        <p:nvSpPr>
          <p:cNvPr id="43" name="Oval 42"/>
          <p:cNvSpPr/>
          <p:nvPr/>
        </p:nvSpPr>
        <p:spPr>
          <a:xfrm>
            <a:off x="5585917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687517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789117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422134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9142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91420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02.19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2620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Malaysia &amp; Singapore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Projects 17–18 of 73 from IAQ’s own reference list.</a:t>
            </a:r>
          </a:p>
        </p:txBody>
      </p:sp>
      <p:pic>
        <p:nvPicPr>
          <p:cNvPr id="10" name="Picture 9" descr="p31b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MALAYSIA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AUO Sunpower Melaka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ACMV &amp; MECHANICAL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14030" y="5391944"/>
            <a:ext cx="157758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10855" y="5439569"/>
            <a:ext cx="158393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ELECTRICAL &amp; INSTRUMENTATION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48755" y="5391944"/>
            <a:ext cx="1232992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45580" y="5439569"/>
            <a:ext cx="1239342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ARCHITECTURE &amp; FIT 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Fab 3A solar cell manufacturing, CSA, utilities, HVAC, electrical</a:t>
            </a:r>
          </a:p>
        </p:txBody>
      </p:sp>
      <p:pic>
        <p:nvPicPr>
          <p:cNvPr id="23" name="Picture 22" descr="p33b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MALAYSIA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Vital Healthcare Sdn Bhd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39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53223" y="5391944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50048" y="5439569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EPCC &amp; DESIGN BUILD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GC, medical device plant, 33kV substation, MEP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36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8 (CLASS 100K)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600" y="6445250"/>
            <a:ext cx="401936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32 / 67</a:t>
            </a:r>
          </a:p>
        </p:txBody>
      </p:sp>
      <p:sp>
        <p:nvSpPr>
          <p:cNvPr id="38" name="Oval 37"/>
          <p:cNvSpPr/>
          <p:nvPr/>
        </p:nvSpPr>
        <p:spPr>
          <a:xfrm>
            <a:off x="5596236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697836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799436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22236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415627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415627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02.20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6827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Malaysia &amp; Singapore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Projects 19–20 of 73 from IAQ’s own reference list.</a:t>
            </a:r>
          </a:p>
        </p:txBody>
      </p:sp>
      <p:pic>
        <p:nvPicPr>
          <p:cNvPr id="10" name="Picture 9" descr="p34t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MALAYSIA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Ain Medicare Sdn Bhd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EPCC &amp; DESIGN BUILD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2266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19091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71514" y="5391944"/>
            <a:ext cx="1232992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68339" y="5439569"/>
            <a:ext cx="1239342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ARCHITECTURE &amp; FIT 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EPCC, CSA, cleanroom and M&amp;E, pharmaceutical building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47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47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875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8 (CLASS 100K)</a:t>
            </a:r>
          </a:p>
        </p:txBody>
      </p:sp>
      <p:pic>
        <p:nvPicPr>
          <p:cNvPr id="26" name="Picture 25" descr="p35t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MALAYSIA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Elegant Aura (M) Sdn Bhd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3975" y="5391944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439569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EPCC &amp; DESIGN BUILD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48366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45191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97614" y="5391944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94439" y="5439569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ACMV &amp; MECHANICAL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PCC for HVAC and cleanroom system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136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GMP GRADE 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600" y="6445250"/>
            <a:ext cx="39945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33 / 67</a:t>
            </a:r>
          </a:p>
        </p:txBody>
      </p:sp>
      <p:sp>
        <p:nvSpPr>
          <p:cNvPr id="43" name="Oval 42"/>
          <p:cNvSpPr/>
          <p:nvPr/>
        </p:nvSpPr>
        <p:spPr>
          <a:xfrm>
            <a:off x="5594947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696547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798147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422134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91617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91617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02.21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2817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Malaysia &amp; Singapore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Projects 21–22 of 73 from IAQ’s own reference list.</a:t>
            </a:r>
          </a:p>
        </p:txBody>
      </p:sp>
      <p:pic>
        <p:nvPicPr>
          <p:cNvPr id="10" name="Picture 9" descr="p35b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SINGAPORE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National University of Singapore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M&amp;E and cleanroom, tissue culture laboratory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47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7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75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6 &amp; 7</a:t>
            </a:r>
          </a:p>
        </p:txBody>
      </p:sp>
      <p:pic>
        <p:nvPicPr>
          <p:cNvPr id="22" name="Picture 21" descr="p36t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MALAYSIA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Matrix (M) Sdn Bhd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3975" y="5391944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439569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EPCC &amp; DESIGN BUILD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48366" y="5391944"/>
            <a:ext cx="96391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45191" y="5439569"/>
            <a:ext cx="97026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PROCESS UTILITIES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69427" y="5391944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66252" y="5439569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ACMV &amp; MECHANICAL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PCC, CSA, HVAC, electrical, fire protection and process utilities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600" y="6445250"/>
            <a:ext cx="39777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34 / 67</a:t>
            </a:r>
          </a:p>
        </p:txBody>
      </p:sp>
      <p:sp>
        <p:nvSpPr>
          <p:cNvPr id="36" name="Oval 35"/>
          <p:cNvSpPr/>
          <p:nvPr/>
        </p:nvSpPr>
        <p:spPr>
          <a:xfrm>
            <a:off x="5594153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695753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797353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22236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413048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413048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02.22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248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Malaysia &amp; Singapore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Projects 23–24 of 73 from IAQ’s own reference list.</a:t>
            </a:r>
          </a:p>
        </p:txBody>
      </p:sp>
      <p:pic>
        <p:nvPicPr>
          <p:cNvPr id="10" name="Picture 9" descr="p36b.jpg"/>
          <p:cNvPicPr>
            <a:picLocks noChangeAspect="1"/>
          </p:cNvPicPr>
          <p:nvPr/>
        </p:nvPicPr>
        <p:blipFill>
          <a:blip r:embed="rId3"/>
          <a:srcRect l="10662" r="10662"/>
          <a:stretch>
            <a:fillRect/>
          </a:stretch>
        </p:blipFill>
        <p:spPr>
          <a:xfrm>
            <a:off x="609600" y="1701800"/>
            <a:ext cx="5346700" cy="339794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5099742"/>
            <a:ext cx="5346700" cy="12502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09974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264842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MALAYSIA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385492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T Hasegawa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651500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699125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ACMV &amp; MECHANICAL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14030" y="5651500"/>
            <a:ext cx="1232992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10855" y="5699125"/>
            <a:ext cx="1239342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ARCHITECTURE &amp; FIT 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700" y="6019800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7500" y="6000750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Spray dryer &amp; microwave tunnel renovation, MDR mechanical, ACMV</a:t>
            </a:r>
          </a:p>
        </p:txBody>
      </p:sp>
      <p:pic>
        <p:nvPicPr>
          <p:cNvPr id="21" name="Picture 20" descr="p37b.jpg"/>
          <p:cNvPicPr>
            <a:picLocks noChangeAspect="1"/>
          </p:cNvPicPr>
          <p:nvPr/>
        </p:nvPicPr>
        <p:blipFill>
          <a:blip r:embed="rId4"/>
          <a:srcRect l="10662" r="10662"/>
          <a:stretch>
            <a:fillRect/>
          </a:stretch>
        </p:blipFill>
        <p:spPr>
          <a:xfrm>
            <a:off x="6235700" y="1701800"/>
            <a:ext cx="5346700" cy="3397942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6235700" y="5099742"/>
            <a:ext cx="5346700" cy="12502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5700" y="509974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5264842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MALAYSIA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385492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KLCC KGP KL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3975" y="5651500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699125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EPCC &amp; DESIGN BUILD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48366" y="5651500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45191" y="5699125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ACMV &amp; MECHANICAL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4520" y="5651500"/>
            <a:ext cx="157758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1345" y="5699125"/>
            <a:ext cx="158393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ELECTRICAL &amp; INSTRUMENTATION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6019800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13600" y="6000750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EPCC of two electrical centrifugal chillers, KLCC district cooling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6445250"/>
            <a:ext cx="400247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35 / 67</a:t>
            </a:r>
          </a:p>
        </p:txBody>
      </p:sp>
      <p:sp>
        <p:nvSpPr>
          <p:cNvPr id="35" name="Oval 34"/>
          <p:cNvSpPr/>
          <p:nvPr/>
        </p:nvSpPr>
        <p:spPr>
          <a:xfrm>
            <a:off x="5595341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96941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798541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22134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410369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410369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02.23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1569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Malaysia &amp; Singapore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Projects 25–26 of 73 from IAQ’s own reference list.</a:t>
            </a:r>
          </a:p>
        </p:txBody>
      </p:sp>
      <p:pic>
        <p:nvPicPr>
          <p:cNvPr id="10" name="Picture 9" descr="p38b.jpg"/>
          <p:cNvPicPr>
            <a:picLocks noChangeAspect="1"/>
          </p:cNvPicPr>
          <p:nvPr/>
        </p:nvPicPr>
        <p:blipFill>
          <a:blip r:embed="rId3"/>
          <a:srcRect l="10662" r="10662"/>
          <a:stretch>
            <a:fillRect/>
          </a:stretch>
        </p:blipFill>
        <p:spPr>
          <a:xfrm>
            <a:off x="609600" y="1701800"/>
            <a:ext cx="5346700" cy="339794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5099742"/>
            <a:ext cx="5346700" cy="12502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09974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264842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MALAYSIA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385492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Rapid MCD Chemical Plant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651500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699125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ACMV &amp; MECHANICAL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700" y="6019800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7500" y="6000750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Field erection of mechanical piping system</a:t>
            </a:r>
          </a:p>
        </p:txBody>
      </p:sp>
      <p:pic>
        <p:nvPicPr>
          <p:cNvPr id="19" name="Picture 18" descr="p39t.jpg"/>
          <p:cNvPicPr>
            <a:picLocks noChangeAspect="1"/>
          </p:cNvPicPr>
          <p:nvPr/>
        </p:nvPicPr>
        <p:blipFill>
          <a:blip r:embed="rId4"/>
          <a:srcRect l="10662" r="10662"/>
          <a:stretch>
            <a:fillRect/>
          </a:stretch>
        </p:blipFill>
        <p:spPr>
          <a:xfrm>
            <a:off x="6235700" y="1701800"/>
            <a:ext cx="5346700" cy="3397942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235700" y="5099742"/>
            <a:ext cx="5346700" cy="12502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5700" y="509974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264842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MALAYSIA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385492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Pagoh Education Hub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3975" y="5651500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699125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EPCC &amp; DESIGN BUILD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019800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13600" y="6000750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EPCC, operation and maintenance of DCS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6445250"/>
            <a:ext cx="4021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36 / 67</a:t>
            </a:r>
          </a:p>
        </p:txBody>
      </p:sp>
      <p:sp>
        <p:nvSpPr>
          <p:cNvPr id="29" name="Oval 28"/>
          <p:cNvSpPr/>
          <p:nvPr/>
        </p:nvSpPr>
        <p:spPr>
          <a:xfrm>
            <a:off x="5596338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697938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99538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22236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408978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408978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02.24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78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Malaysia &amp; Singapore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Projects 27–28 of 73 from IAQ’s own reference list.</a:t>
            </a:r>
          </a:p>
        </p:txBody>
      </p:sp>
      <p:pic>
        <p:nvPicPr>
          <p:cNvPr id="10" name="Picture 9" descr="p39b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MALAYSIA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Rapid Petronas Pengerang Co-gen Plant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ACMV &amp; MECHANICAL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Mechanical erection, BoP piping &amp; WCCT, first co-gen plant in SEA</a:t>
            </a:r>
          </a:p>
        </p:txBody>
      </p:sp>
      <p:pic>
        <p:nvPicPr>
          <p:cNvPr id="19" name="Picture 18" descr="p42b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FRANCE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Envision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39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53223" y="5391944"/>
            <a:ext cx="1232992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50048" y="5439569"/>
            <a:ext cx="1239342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ARCHITECTURE &amp; FIT 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Cleanroom, dry room architecture works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136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DRY ROOM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6445250"/>
            <a:ext cx="399752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37 / 67</a:t>
            </a:r>
          </a:p>
        </p:txBody>
      </p:sp>
      <p:sp>
        <p:nvSpPr>
          <p:cNvPr id="34" name="Oval 33"/>
          <p:cNvSpPr/>
          <p:nvPr/>
        </p:nvSpPr>
        <p:spPr>
          <a:xfrm>
            <a:off x="5595144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696744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798344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22236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410864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410864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02.25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064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Europe &amp; Morocco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Projects 29–30 of 73 from IAQ’s own reference list.</a:t>
            </a:r>
          </a:p>
        </p:txBody>
      </p:sp>
      <p:pic>
        <p:nvPicPr>
          <p:cNvPr id="10" name="Picture 9" descr="p43t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FRANCE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ACC Phase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7123" y="5391944"/>
            <a:ext cx="1232992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3948" y="5439569"/>
            <a:ext cx="1239342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ARCHITECTURE &amp; FIT 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Greenfield, 8,000 m² dry room architectural system, 35,000 m²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47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47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875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DRY ROOM</a:t>
            </a:r>
          </a:p>
        </p:txBody>
      </p:sp>
      <p:pic>
        <p:nvPicPr>
          <p:cNvPr id="24" name="Picture 23" descr="p43b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FRANCE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Soitec Semiconductor, Paris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3975" y="5391944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5439569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EPCC &amp; DESIGN BUILD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48366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45191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EPCC cleanroom and MEP, 11,000 m²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600" y="6445250"/>
            <a:ext cx="401936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38 / 67</a:t>
            </a:r>
          </a:p>
        </p:txBody>
      </p:sp>
      <p:sp>
        <p:nvSpPr>
          <p:cNvPr id="36" name="Oval 35"/>
          <p:cNvSpPr/>
          <p:nvPr/>
        </p:nvSpPr>
        <p:spPr>
          <a:xfrm>
            <a:off x="5596236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697836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799436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22236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412852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412852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02.26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052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Europe &amp; Morocco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Projects 31–32 of 73 from IAQ’s own reference list.</a:t>
            </a:r>
          </a:p>
        </p:txBody>
      </p:sp>
      <p:pic>
        <p:nvPicPr>
          <p:cNvPr id="10" name="Picture 9" descr="p44t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FRANCE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Xfab Semiconductor, Paris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7123" y="5391944"/>
            <a:ext cx="79305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3948" y="5439569"/>
            <a:ext cx="79940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TOOL HOOK 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Cleanroom, MEP and tools hookup, progressive hookup, 5,000 m²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47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47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875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5 (CLASS 100)</a:t>
            </a:r>
          </a:p>
        </p:txBody>
      </p:sp>
      <p:pic>
        <p:nvPicPr>
          <p:cNvPr id="24" name="Picture 23" descr="p44b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MOROCCO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Nemotek, Rabat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3975" y="5391944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5439569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EPCC &amp; DESIGN BUILD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48366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45191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EPCC cleanroom and MEP works, 11,000 m²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136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5 (CLASS 100)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" y="6445250"/>
            <a:ext cx="40203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39 / 67</a:t>
            </a:r>
          </a:p>
        </p:txBody>
      </p:sp>
      <p:sp>
        <p:nvSpPr>
          <p:cNvPr id="39" name="Oval 38"/>
          <p:cNvSpPr/>
          <p:nvPr/>
        </p:nvSpPr>
        <p:spPr>
          <a:xfrm>
            <a:off x="5596236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697836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799436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422134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410864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410864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02.27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064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Europe &amp; Morocco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Projects 33–34 of 73 from IAQ’s own reference list.</a:t>
            </a:r>
          </a:p>
        </p:txBody>
      </p:sp>
      <p:pic>
        <p:nvPicPr>
          <p:cNvPr id="10" name="Picture 9" descr="p45b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POLAND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Kimoto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7123" y="5391944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3948" y="5439569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ACMV &amp; MECHANICAL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63278" y="5391944"/>
            <a:ext cx="157758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60103" y="5439569"/>
            <a:ext cx="158393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ELECTRICAL &amp; INSTRUMENTATION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Cleanroom, mechanical &amp; electrical system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47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47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875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5 (CLASS 100)</a:t>
            </a:r>
          </a:p>
        </p:txBody>
      </p:sp>
      <p:pic>
        <p:nvPicPr>
          <p:cNvPr id="26" name="Picture 25" descr="p46t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POLAND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Sumika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39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53223" y="5391944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50048" y="5439569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ACMV &amp; MECHANICAL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9378" y="5391944"/>
            <a:ext cx="157758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203" y="5439569"/>
            <a:ext cx="158393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ELECTRICAL &amp; INSTRUMENTATION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Cleanroom architecture, mechanical &amp; electrical system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136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5 (CLASS 100)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600" y="6445250"/>
            <a:ext cx="40302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40 / 67</a:t>
            </a:r>
          </a:p>
        </p:txBody>
      </p:sp>
      <p:sp>
        <p:nvSpPr>
          <p:cNvPr id="43" name="Oval 42"/>
          <p:cNvSpPr/>
          <p:nvPr/>
        </p:nvSpPr>
        <p:spPr>
          <a:xfrm>
            <a:off x="5596731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698331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799931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422134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41275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412750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02.28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950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China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Projects 35–36 of 73 from IAQ’s own reference list.</a:t>
            </a:r>
          </a:p>
        </p:txBody>
      </p:sp>
      <p:pic>
        <p:nvPicPr>
          <p:cNvPr id="10" name="Picture 9" descr="p48b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CHINA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All-Cent RF Technology (Wuxi) Co., Ltd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7123" y="5391944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3948" y="5439569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EPCC &amp; DESIGN 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EPCC for MEP works, 25,600 m²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47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47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875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5 &amp; 6</a:t>
            </a:r>
          </a:p>
        </p:txBody>
      </p:sp>
      <p:pic>
        <p:nvPicPr>
          <p:cNvPr id="24" name="Picture 23" descr="p49b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CHINA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SMIC, Ningbo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39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53223" y="5391944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50048" y="5439569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EPCC &amp; DESIGN BUILD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EPCC for MEP works, 22,000 m²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136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5 &amp; 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" y="6445250"/>
            <a:ext cx="379609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41 / 67</a:t>
            </a:r>
          </a:p>
        </p:txBody>
      </p:sp>
      <p:sp>
        <p:nvSpPr>
          <p:cNvPr id="39" name="Oval 38"/>
          <p:cNvSpPr/>
          <p:nvPr/>
        </p:nvSpPr>
        <p:spPr>
          <a:xfrm>
            <a:off x="5585022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686622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788222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422134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412852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412852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02.29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052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China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Projects 37–38 of 73 from IAQ’s own reference list.</a:t>
            </a:r>
          </a:p>
        </p:txBody>
      </p:sp>
      <p:pic>
        <p:nvPicPr>
          <p:cNvPr id="10" name="Picture 9" descr="p50t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CHINA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Kunshan Visionox Display Co., Ltd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EPCC &amp; DESIGN BUILD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2266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19091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71514" y="5391944"/>
            <a:ext cx="79305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68339" y="5439569"/>
            <a:ext cx="79940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TOOL HOOK 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PCC cleanroom, MEP and hookup works, 27,000 m²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47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47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875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5, 6, 7</a:t>
            </a:r>
          </a:p>
        </p:txBody>
      </p:sp>
      <p:pic>
        <p:nvPicPr>
          <p:cNvPr id="26" name="Picture 25" descr="p50b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CHINA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GS Magic Drive Inc.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3975" y="5391944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439569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EPCC &amp; DESIGN BUILD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48366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45191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PCC cleanroom and MEP works, 68,000 m²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136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4, 5, 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" y="6445250"/>
            <a:ext cx="400152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42 / 67</a:t>
            </a:r>
          </a:p>
        </p:txBody>
      </p:sp>
      <p:sp>
        <p:nvSpPr>
          <p:cNvPr id="41" name="Oval 40"/>
          <p:cNvSpPr/>
          <p:nvPr/>
        </p:nvSpPr>
        <p:spPr>
          <a:xfrm>
            <a:off x="5595341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696941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798541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22236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412947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412947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02.30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147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China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Projects 39–40 of 73 from IAQ’s own reference list.</a:t>
            </a:r>
          </a:p>
        </p:txBody>
      </p:sp>
      <p:pic>
        <p:nvPicPr>
          <p:cNvPr id="10" name="Picture 9" descr="p51t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CHINA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STS Microelectronics (Shenzhen) Co., Ltd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Cleanroom Class 1K system, 4,800 m²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47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7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75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6 (CLASS 1K)</a:t>
            </a:r>
          </a:p>
        </p:txBody>
      </p:sp>
      <p:pic>
        <p:nvPicPr>
          <p:cNvPr id="22" name="Picture 21" descr="p51b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CHINA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Shantou Goworld Display Co., Ltd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39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Cleanroom and MEP works, 14,300 m²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136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5, 6, 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6445250"/>
            <a:ext cx="398462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43 / 67</a:t>
            </a:r>
          </a:p>
        </p:txBody>
      </p:sp>
      <p:sp>
        <p:nvSpPr>
          <p:cNvPr id="35" name="Oval 34"/>
          <p:cNvSpPr/>
          <p:nvPr/>
        </p:nvSpPr>
        <p:spPr>
          <a:xfrm>
            <a:off x="5594452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96052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797652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22134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88938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88938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02.31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138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China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Projects 41–42 of 73 from IAQ’s own reference list.</a:t>
            </a:r>
          </a:p>
        </p:txBody>
      </p:sp>
      <p:pic>
        <p:nvPicPr>
          <p:cNvPr id="10" name="Picture 9" descr="p52t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CHINA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CSR Zhuzhou Electric Locomotive Research Institute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Cleanroom and MEP works, 22,000 m²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47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7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75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5, 6, 7</a:t>
            </a:r>
          </a:p>
        </p:txBody>
      </p:sp>
      <p:pic>
        <p:nvPicPr>
          <p:cNvPr id="22" name="Picture 21" descr="p52b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CHINA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M-Flex (Suzhou) Co., Ltd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39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Cleanroom and MEP works, 25,000 m²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136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5, 6, 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6445250"/>
            <a:ext cx="39598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44 / 67</a:t>
            </a:r>
          </a:p>
        </p:txBody>
      </p:sp>
      <p:sp>
        <p:nvSpPr>
          <p:cNvPr id="35" name="Oval 34"/>
          <p:cNvSpPr/>
          <p:nvPr/>
        </p:nvSpPr>
        <p:spPr>
          <a:xfrm>
            <a:off x="5593258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94858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796458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22236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410369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410369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02.32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1569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China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Projects 43–44 of 73 from IAQ’s own reference list.</a:t>
            </a:r>
          </a:p>
        </p:txBody>
      </p:sp>
      <p:pic>
        <p:nvPicPr>
          <p:cNvPr id="10" name="Picture 9" descr="p53t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CHINA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Maxtor Technology (Suzhou) Co., Ltd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Cleanroom and MEP works, 95,000 m²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47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7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75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5 &amp; 6</a:t>
            </a:r>
          </a:p>
        </p:txBody>
      </p:sp>
      <p:pic>
        <p:nvPicPr>
          <p:cNvPr id="22" name="Picture 21" descr="p53b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CHINA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MMI Industries (Wuxi) Co., Ltd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39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Cleanroom and MEP works, 7,200 m²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136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5, 6, 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6445250"/>
            <a:ext cx="398462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45 / 67</a:t>
            </a:r>
          </a:p>
        </p:txBody>
      </p:sp>
      <p:sp>
        <p:nvSpPr>
          <p:cNvPr id="35" name="Oval 34"/>
          <p:cNvSpPr/>
          <p:nvPr/>
        </p:nvSpPr>
        <p:spPr>
          <a:xfrm>
            <a:off x="5594452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96052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797652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22134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407689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407689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02.33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889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China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Projects 45–46 of 73 from IAQ’s own reference list.</a:t>
            </a:r>
          </a:p>
        </p:txBody>
      </p:sp>
      <p:pic>
        <p:nvPicPr>
          <p:cNvPr id="10" name="Picture 9" descr="p54t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CHINA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Snap On Asia Manufacturing (Kunshan) Co., Ltd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EPCC &amp; DESIGN BUILD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2266" y="5391944"/>
            <a:ext cx="1232992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19091" y="5439569"/>
            <a:ext cx="1239342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ARCHITECTURE &amp; FIT 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General contractor, CSA, steel structure and MEP, 4,800 m²</a:t>
            </a:r>
          </a:p>
        </p:txBody>
      </p:sp>
      <p:pic>
        <p:nvPicPr>
          <p:cNvPr id="21" name="Picture 20" descr="p54b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CHINA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Huawei Technologies Co., Ltd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39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Cleanroom and MEP works, 3,400 m²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136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6 &amp; 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6445250"/>
            <a:ext cx="40034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46 / 67</a:t>
            </a:r>
          </a:p>
        </p:txBody>
      </p:sp>
      <p:sp>
        <p:nvSpPr>
          <p:cNvPr id="34" name="Oval 33"/>
          <p:cNvSpPr/>
          <p:nvPr/>
        </p:nvSpPr>
        <p:spPr>
          <a:xfrm>
            <a:off x="5595442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697042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798642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22236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406298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406298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02.34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7498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China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Projects 47–48 of 73 from IAQ’s own reference list.</a:t>
            </a:r>
          </a:p>
        </p:txBody>
      </p:sp>
      <p:pic>
        <p:nvPicPr>
          <p:cNvPr id="10" name="Picture 9" descr="p55t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CHINA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Suzhou Golden Concord Technology Co., Ltd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EPCC &amp; DESIGN BUILD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2266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19091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PCC cleanroom and MEP works, 38,500 m²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47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47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875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5 (CLASS 100)</a:t>
            </a:r>
          </a:p>
        </p:txBody>
      </p:sp>
      <p:pic>
        <p:nvPicPr>
          <p:cNvPr id="24" name="Picture 23" descr="p55b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CHINA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Shanghai Roche Pharmaceuticals Ltd.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3975" y="5391944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5439569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EPCC &amp; DESIGN BUILD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48366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45191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PCC cleanroom and MEP works, 5,000 m²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136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B (CLASS 100)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" y="6445250"/>
            <a:ext cx="398069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47 / 67</a:t>
            </a:r>
          </a:p>
        </p:txBody>
      </p:sp>
      <p:sp>
        <p:nvSpPr>
          <p:cNvPr id="39" name="Oval 38"/>
          <p:cNvSpPr/>
          <p:nvPr/>
        </p:nvSpPr>
        <p:spPr>
          <a:xfrm>
            <a:off x="5594248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695848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797448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422134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408184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408184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02.35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9384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China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Projects 49–50 of 73 from IAQ’s own reference list.</a:t>
            </a:r>
          </a:p>
        </p:txBody>
      </p:sp>
      <p:pic>
        <p:nvPicPr>
          <p:cNvPr id="10" name="Picture 9" descr="p56t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CHINA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Forecyte Bio Limited (Shanghai) Co., Ltd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Cleanroom and MEP works, 13,800 m²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47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7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75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C &amp; D</a:t>
            </a:r>
          </a:p>
        </p:txBody>
      </p:sp>
      <p:pic>
        <p:nvPicPr>
          <p:cNvPr id="22" name="Picture 21" descr="p56b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CHINA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Suzhou Ascentage Pharma Co., Ltd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39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Cleanroom and MEP works, 25,800 m²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136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C &amp; 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6445250"/>
            <a:ext cx="400742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48 / 67</a:t>
            </a:r>
          </a:p>
        </p:txBody>
      </p:sp>
      <p:sp>
        <p:nvSpPr>
          <p:cNvPr id="35" name="Oval 34"/>
          <p:cNvSpPr/>
          <p:nvPr/>
        </p:nvSpPr>
        <p:spPr>
          <a:xfrm>
            <a:off x="5595639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97239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798839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22236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410267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410267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02.36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1467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China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Projects 51–52 of 73 from IAQ’s own reference list.</a:t>
            </a:r>
          </a:p>
        </p:txBody>
      </p:sp>
      <p:pic>
        <p:nvPicPr>
          <p:cNvPr id="10" name="Picture 9" descr="p57t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CHINA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Jiangsu Genscript Biotech Co., Ltd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Cleanroom and MEP works, 6,000 m²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47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7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75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C &amp; D</a:t>
            </a:r>
          </a:p>
        </p:txBody>
      </p:sp>
      <p:pic>
        <p:nvPicPr>
          <p:cNvPr id="22" name="Picture 21" descr="p57b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CHINA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Mindray Group Co., Ltd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39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Cleanroom and MEP works, 12,000 m²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136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C &amp; 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6445250"/>
            <a:ext cx="40045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49 / 67</a:t>
            </a:r>
          </a:p>
        </p:txBody>
      </p:sp>
      <p:sp>
        <p:nvSpPr>
          <p:cNvPr id="35" name="Oval 34"/>
          <p:cNvSpPr/>
          <p:nvPr/>
        </p:nvSpPr>
        <p:spPr>
          <a:xfrm>
            <a:off x="5595442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97042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798642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22134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408089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408089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02.37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9289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China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Projects 53–54 of 73 from IAQ’s own reference list.</a:t>
            </a:r>
          </a:p>
        </p:txBody>
      </p:sp>
      <p:pic>
        <p:nvPicPr>
          <p:cNvPr id="10" name="Picture 9" descr="p58t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CHINA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EpimAb Biotechnology Su Zhou Co., Ltd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Cleanroom and MEP works, 5,200 m²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47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7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75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C &amp; D</a:t>
            </a:r>
          </a:p>
        </p:txBody>
      </p:sp>
      <p:pic>
        <p:nvPicPr>
          <p:cNvPr id="22" name="Picture 21" descr="p58b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CHINA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Longxiang Pharma Science and Technology Co., Ltd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39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Cleanroom and MEP works, 46,000 m²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136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B, C &amp; 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6445250"/>
            <a:ext cx="405505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50 / 67</a:t>
            </a:r>
          </a:p>
        </p:txBody>
      </p:sp>
      <p:sp>
        <p:nvSpPr>
          <p:cNvPr id="35" name="Oval 34"/>
          <p:cNvSpPr/>
          <p:nvPr/>
        </p:nvSpPr>
        <p:spPr>
          <a:xfrm>
            <a:off x="5598020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99620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801220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22236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41007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410070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02.38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1270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China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Projects 55–56 of 73 from IAQ’s own reference list.</a:t>
            </a:r>
          </a:p>
        </p:txBody>
      </p:sp>
      <p:pic>
        <p:nvPicPr>
          <p:cNvPr id="10" name="Picture 9" descr="p59t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CHINA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Sumitomo Medical (Suzhou) Co., Ltd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Cleanroom and MEP works, 3,000 m²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47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7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75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7 &amp; 8</a:t>
            </a:r>
          </a:p>
        </p:txBody>
      </p:sp>
      <p:pic>
        <p:nvPicPr>
          <p:cNvPr id="22" name="Picture 21" descr="p59b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CHINA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Suzhou Capsugel Co., Ltd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39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Cleanroom and MEP works, 21,500 m²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136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7 (CLASS 10K)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6445250"/>
            <a:ext cx="382092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51 / 67</a:t>
            </a:r>
          </a:p>
        </p:txBody>
      </p:sp>
      <p:sp>
        <p:nvSpPr>
          <p:cNvPr id="35" name="Oval 34"/>
          <p:cNvSpPr/>
          <p:nvPr/>
        </p:nvSpPr>
        <p:spPr>
          <a:xfrm>
            <a:off x="5586311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87911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789511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22236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410172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410172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02.39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1372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China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Projects 57–58 of 73 from IAQ’s own reference list.</a:t>
            </a:r>
          </a:p>
        </p:txBody>
      </p:sp>
      <p:pic>
        <p:nvPicPr>
          <p:cNvPr id="10" name="Picture 9" descr="p60t.jpg"/>
          <p:cNvPicPr>
            <a:picLocks noChangeAspect="1"/>
          </p:cNvPicPr>
          <p:nvPr/>
        </p:nvPicPr>
        <p:blipFill>
          <a:blip r:embed="rId3"/>
          <a:srcRect l="10662" r="10662"/>
          <a:stretch>
            <a:fillRect/>
          </a:stretch>
        </p:blipFill>
        <p:spPr>
          <a:xfrm>
            <a:off x="609600" y="1701800"/>
            <a:ext cx="5346700" cy="339794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5099742"/>
            <a:ext cx="5346700" cy="12502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09974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264842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CHINA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385492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AW (Suzhou) Co., Ltd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651500"/>
            <a:ext cx="157758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699125"/>
            <a:ext cx="158393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ELECTRICAL &amp; INSTRUMENTATION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700" y="6019800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7500" y="6000750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Electrical system, 45,000 m²</a:t>
            </a:r>
          </a:p>
        </p:txBody>
      </p:sp>
      <p:pic>
        <p:nvPicPr>
          <p:cNvPr id="19" name="Picture 18" descr="p60b.jpg"/>
          <p:cNvPicPr>
            <a:picLocks noChangeAspect="1"/>
          </p:cNvPicPr>
          <p:nvPr/>
        </p:nvPicPr>
        <p:blipFill>
          <a:blip r:embed="rId4"/>
          <a:srcRect l="10662" r="10662"/>
          <a:stretch>
            <a:fillRect/>
          </a:stretch>
        </p:blipFill>
        <p:spPr>
          <a:xfrm>
            <a:off x="6235700" y="1701800"/>
            <a:ext cx="5346700" cy="3397942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235700" y="5099742"/>
            <a:ext cx="5346700" cy="12502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5700" y="509974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264842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CHINA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385492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AAM Automobile (Changshu) Co., Ltd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3975" y="5651500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699125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ACMV &amp; MECHANICAL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40130" y="5651500"/>
            <a:ext cx="157758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36955" y="5699125"/>
            <a:ext cx="158393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ELECTRICAL &amp; INSTRUMENTATION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019800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13600" y="6000750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EPC for mechanical &amp; electrical system, 18,000 m²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445250"/>
            <a:ext cx="40262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52 / 67</a:t>
            </a:r>
          </a:p>
        </p:txBody>
      </p:sp>
      <p:sp>
        <p:nvSpPr>
          <p:cNvPr id="31" name="Oval 30"/>
          <p:cNvSpPr/>
          <p:nvPr/>
        </p:nvSpPr>
        <p:spPr>
          <a:xfrm>
            <a:off x="5596534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698134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799734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2134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411461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411461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02.40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661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China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Projects 59–60 of 73 from IAQ’s own reference list.</a:t>
            </a:r>
          </a:p>
        </p:txBody>
      </p:sp>
      <p:pic>
        <p:nvPicPr>
          <p:cNvPr id="10" name="Picture 9" descr="p61t.jpg"/>
          <p:cNvPicPr>
            <a:picLocks noChangeAspect="1"/>
          </p:cNvPicPr>
          <p:nvPr/>
        </p:nvPicPr>
        <p:blipFill>
          <a:blip r:embed="rId3"/>
          <a:srcRect l="10662" r="10662"/>
          <a:stretch>
            <a:fillRect/>
          </a:stretch>
        </p:blipFill>
        <p:spPr>
          <a:xfrm>
            <a:off x="609600" y="1701800"/>
            <a:ext cx="5346700" cy="339794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5099742"/>
            <a:ext cx="5346700" cy="12502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09974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264842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CHINA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385492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ZF (China) Investment Co., Ltd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651500"/>
            <a:ext cx="157758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699125"/>
            <a:ext cx="158393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ELECTRICAL &amp; INSTRUMENTATION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700" y="6019800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7500" y="6000750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Electrical system, 44,000 m²</a:t>
            </a:r>
          </a:p>
        </p:txBody>
      </p:sp>
      <p:pic>
        <p:nvPicPr>
          <p:cNvPr id="19" name="Picture 18" descr="p61b.jpg"/>
          <p:cNvPicPr>
            <a:picLocks noChangeAspect="1"/>
          </p:cNvPicPr>
          <p:nvPr/>
        </p:nvPicPr>
        <p:blipFill>
          <a:blip r:embed="rId4"/>
          <a:srcRect l="10662" r="10662"/>
          <a:stretch>
            <a:fillRect/>
          </a:stretch>
        </p:blipFill>
        <p:spPr>
          <a:xfrm>
            <a:off x="6235700" y="1701800"/>
            <a:ext cx="5346700" cy="3397942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235700" y="5099742"/>
            <a:ext cx="5346700" cy="12502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5700" y="509974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264842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CHINA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385492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Umicore Automotive Catalyst (Su Zhou) Co., Ltd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3975" y="5651500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699125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ACMV &amp; MECHANICAL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40130" y="5651500"/>
            <a:ext cx="157758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36955" y="5699125"/>
            <a:ext cx="158393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ELECTRICAL &amp; INSTRUMENTATION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019800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13600" y="6000750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EPC for mechanical &amp; electrical system, 6,800 m²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445250"/>
            <a:ext cx="400247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53 / 67</a:t>
            </a:r>
          </a:p>
        </p:txBody>
      </p:sp>
      <p:sp>
        <p:nvSpPr>
          <p:cNvPr id="31" name="Oval 30"/>
          <p:cNvSpPr/>
          <p:nvPr/>
        </p:nvSpPr>
        <p:spPr>
          <a:xfrm>
            <a:off x="5595341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696941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798541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2134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87547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87547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02.41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747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China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Projects 61–62 of 73 from IAQ’s own reference list.</a:t>
            </a:r>
          </a:p>
        </p:txBody>
      </p:sp>
      <p:pic>
        <p:nvPicPr>
          <p:cNvPr id="10" name="Picture 9" descr="p62t.jpg"/>
          <p:cNvPicPr>
            <a:picLocks noChangeAspect="1"/>
          </p:cNvPicPr>
          <p:nvPr/>
        </p:nvPicPr>
        <p:blipFill>
          <a:blip r:embed="rId3"/>
          <a:srcRect l="10662" r="10662"/>
          <a:stretch>
            <a:fillRect/>
          </a:stretch>
        </p:blipFill>
        <p:spPr>
          <a:xfrm>
            <a:off x="609600" y="1701800"/>
            <a:ext cx="5346700" cy="339794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5099742"/>
            <a:ext cx="5346700" cy="12502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09974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264842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CHINA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385492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Mary Kay (China) Cosmetics Co., Ltd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651500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699125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ACMV &amp; MECHANICAL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14030" y="5651500"/>
            <a:ext cx="157758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10855" y="5699125"/>
            <a:ext cx="158393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ELECTRICAL &amp; INSTRUMENTATION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700" y="6019800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7500" y="6000750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EPC for mechanical and electrical system, 26,000 m²</a:t>
            </a:r>
          </a:p>
        </p:txBody>
      </p:sp>
      <p:pic>
        <p:nvPicPr>
          <p:cNvPr id="21" name="Picture 20" descr="p62b.jpg"/>
          <p:cNvPicPr>
            <a:picLocks noChangeAspect="1"/>
          </p:cNvPicPr>
          <p:nvPr/>
        </p:nvPicPr>
        <p:blipFill>
          <a:blip r:embed="rId4"/>
          <a:srcRect l="10662" r="10662"/>
          <a:stretch>
            <a:fillRect/>
          </a:stretch>
        </p:blipFill>
        <p:spPr>
          <a:xfrm>
            <a:off x="6235700" y="1701800"/>
            <a:ext cx="5346700" cy="3397942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6235700" y="5099742"/>
            <a:ext cx="5346700" cy="12502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5700" y="509974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5264842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CHINA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385492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Celestica (Dongguan-SSL) Technology Co., Ltd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3975" y="5651500"/>
            <a:ext cx="108724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699125"/>
            <a:ext cx="109359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EPCC &amp; DESIGN BUILD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019800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13600" y="6000750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General contractor, 13,000 m²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445250"/>
            <a:ext cx="398462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54 / 67</a:t>
            </a:r>
          </a:p>
        </p:txBody>
      </p:sp>
      <p:sp>
        <p:nvSpPr>
          <p:cNvPr id="31" name="Oval 30"/>
          <p:cNvSpPr/>
          <p:nvPr/>
        </p:nvSpPr>
        <p:spPr>
          <a:xfrm>
            <a:off x="5594452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696052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797652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2134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408978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408978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02.42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78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China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Projects 63–64 of 73 from IAQ’s own reference list.</a:t>
            </a:r>
          </a:p>
        </p:txBody>
      </p:sp>
      <p:pic>
        <p:nvPicPr>
          <p:cNvPr id="10" name="Picture 9" descr="p63t.jpg"/>
          <p:cNvPicPr>
            <a:picLocks noChangeAspect="1"/>
          </p:cNvPicPr>
          <p:nvPr/>
        </p:nvPicPr>
        <p:blipFill>
          <a:blip r:embed="rId3"/>
          <a:srcRect l="10662" r="10662"/>
          <a:stretch>
            <a:fillRect/>
          </a:stretch>
        </p:blipFill>
        <p:spPr>
          <a:xfrm>
            <a:off x="609600" y="1701800"/>
            <a:ext cx="5346700" cy="339794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5099742"/>
            <a:ext cx="5346700" cy="12502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09974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264842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CHINA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385492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Intercos Cosmetics (Suzhou) Co., Ltd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651500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699125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ACMV &amp; MECHANICAL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14030" y="5651500"/>
            <a:ext cx="157758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10855" y="5699125"/>
            <a:ext cx="158393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ELECTRICAL &amp; INSTRUMENTATION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700" y="6019800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7500" y="6000750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EPC for mechanical and electrical system, 30,000 m²</a:t>
            </a:r>
          </a:p>
        </p:txBody>
      </p:sp>
      <p:pic>
        <p:nvPicPr>
          <p:cNvPr id="21" name="Picture 20" descr="p63b.jpg"/>
          <p:cNvPicPr>
            <a:picLocks noChangeAspect="1"/>
          </p:cNvPicPr>
          <p:nvPr/>
        </p:nvPicPr>
        <p:blipFill>
          <a:blip r:embed="rId4"/>
          <a:srcRect l="10662" r="10662"/>
          <a:stretch>
            <a:fillRect/>
          </a:stretch>
        </p:blipFill>
        <p:spPr>
          <a:xfrm>
            <a:off x="6235700" y="1701800"/>
            <a:ext cx="5346700" cy="3397942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6235700" y="5099742"/>
            <a:ext cx="5346700" cy="12502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5700" y="509974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5264842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CHINA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385492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Voith Fabric (Kunshan) Co., Ltd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3975" y="5651500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699125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ACMV &amp; MECHANICAL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40130" y="5651500"/>
            <a:ext cx="157758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36955" y="5699125"/>
            <a:ext cx="158393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ELECTRICAL &amp; INSTRUMENTATION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6019800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13600" y="6000750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EPC for mechanical and electrical system, 11,000 m²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600" y="6445250"/>
            <a:ext cx="400945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55 / 67</a:t>
            </a:r>
          </a:p>
        </p:txBody>
      </p:sp>
      <p:sp>
        <p:nvSpPr>
          <p:cNvPr id="33" name="Oval 32"/>
          <p:cNvSpPr/>
          <p:nvPr/>
        </p:nvSpPr>
        <p:spPr>
          <a:xfrm>
            <a:off x="5595741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697341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98941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22236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406997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406997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02.43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197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China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Projects 65–66 of 73 from IAQ’s own reference list.</a:t>
            </a:r>
          </a:p>
        </p:txBody>
      </p:sp>
      <p:pic>
        <p:nvPicPr>
          <p:cNvPr id="10" name="Picture 9" descr="p64b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CHINA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HVOLT Lithium-ion Battery Co., Ltd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Air-conditioning system, 79,000 m²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47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7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75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7 (CLASS 10K)</a:t>
            </a:r>
          </a:p>
        </p:txBody>
      </p:sp>
      <p:pic>
        <p:nvPicPr>
          <p:cNvPr id="22" name="Picture 21" descr="p65t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CHINA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Jiang Su Senior Technology Co., Ltd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39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53223" y="5391944"/>
            <a:ext cx="96391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50048" y="5439569"/>
            <a:ext cx="97026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PROCESS UTILITIES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74284" y="5391944"/>
            <a:ext cx="79305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1109" y="5439569"/>
            <a:ext cx="79940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TOOL HOOK 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Cleanroom, ACMV, process utilities and tools hookup, 70,000 m²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136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7 &amp; 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" y="6445250"/>
            <a:ext cx="402831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56 / 67</a:t>
            </a:r>
          </a:p>
        </p:txBody>
      </p:sp>
      <p:sp>
        <p:nvSpPr>
          <p:cNvPr id="39" name="Oval 38"/>
          <p:cNvSpPr/>
          <p:nvPr/>
        </p:nvSpPr>
        <p:spPr>
          <a:xfrm>
            <a:off x="5596630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698230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799830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422134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404812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404812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02.44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6012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China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Projects 67–68 of 73 from IAQ’s own reference list.</a:t>
            </a:r>
          </a:p>
        </p:txBody>
      </p:sp>
      <p:pic>
        <p:nvPicPr>
          <p:cNvPr id="10" name="Picture 9" descr="p65b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CHINA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Jin Neng Clean Energy Technology Co., Ltd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Cleanroom system, 20,000 m²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47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7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75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8 (CLASS 100K)</a:t>
            </a:r>
          </a:p>
        </p:txBody>
      </p:sp>
      <p:pic>
        <p:nvPicPr>
          <p:cNvPr id="22" name="Picture 21" descr="p66t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CHINA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Juli New Energy Co., Ltd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39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53223" y="5391944"/>
            <a:ext cx="96391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50048" y="5439569"/>
            <a:ext cx="97026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PROCESS UTILITIES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74284" y="5391944"/>
            <a:ext cx="79305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1109" y="5439569"/>
            <a:ext cx="79940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TOOL HOOK 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Cleanroom, ACMV, process utilities and tools hookup, 9,600 m²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136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6 &amp; 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" y="6445250"/>
            <a:ext cx="400545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57 / 67</a:t>
            </a:r>
          </a:p>
        </p:txBody>
      </p:sp>
      <p:sp>
        <p:nvSpPr>
          <p:cNvPr id="39" name="Oval 38"/>
          <p:cNvSpPr/>
          <p:nvPr/>
        </p:nvSpPr>
        <p:spPr>
          <a:xfrm>
            <a:off x="5595544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697144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798744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422236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40680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406800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02.45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000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China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Projects 69–70 of 73 from IAQ’s own reference list.</a:t>
            </a:r>
          </a:p>
        </p:txBody>
      </p:sp>
      <p:pic>
        <p:nvPicPr>
          <p:cNvPr id="10" name="Picture 9" descr="p66b.jpg"/>
          <p:cNvPicPr>
            <a:picLocks noChangeAspect="1"/>
          </p:cNvPicPr>
          <p:nvPr/>
        </p:nvPicPr>
        <p:blipFill>
          <a:blip r:embed="rId3"/>
          <a:srcRect l="7409" r="7409"/>
          <a:stretch>
            <a:fillRect/>
          </a:stretch>
        </p:blipFill>
        <p:spPr>
          <a:xfrm>
            <a:off x="609600" y="1701800"/>
            <a:ext cx="5346700" cy="3138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CHINA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Baoding Fengfan Storage Battery Co., Ltd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391944"/>
            <a:ext cx="1092098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439569"/>
            <a:ext cx="1098448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CLEANROOM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7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75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Cleanroom system, 4,000 m²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4700" y="5938044"/>
            <a:ext cx="5016500" cy="6350"/>
          </a:xfrm>
          <a:prstGeom prst="rect">
            <a:avLst/>
          </a:prstGeom>
          <a:solidFill>
            <a:srgbClr val="E6EA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700" y="603329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CLEANROOM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7500" y="6026944"/>
            <a:ext cx="42037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EC2326"/>
                </a:solidFill>
                <a:latin typeface="League Spartan Medium"/>
                <a:ea typeface="League Spartan Medium"/>
                <a:cs typeface="League Spartan Medium"/>
              </a:rPr>
              <a:t>ISO 7 (CLASS 10K)</a:t>
            </a:r>
          </a:p>
        </p:txBody>
      </p:sp>
      <p:pic>
        <p:nvPicPr>
          <p:cNvPr id="22" name="Picture 21" descr="p67t.jpg"/>
          <p:cNvPicPr>
            <a:picLocks noChangeAspect="1"/>
          </p:cNvPicPr>
          <p:nvPr/>
        </p:nvPicPr>
        <p:blipFill>
          <a:blip r:embed="rId4"/>
          <a:srcRect l="7409" r="7409"/>
          <a:stretch>
            <a:fillRect/>
          </a:stretch>
        </p:blipFill>
        <p:spPr>
          <a:xfrm>
            <a:off x="6235700" y="1701800"/>
            <a:ext cx="5346700" cy="313838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235700" y="4840186"/>
            <a:ext cx="5346700" cy="150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5700" y="4840186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005286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CHINA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125936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Unilever R&amp;D Center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3975" y="5391944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439569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ACMV &amp; MECHANICAL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40130" y="5391944"/>
            <a:ext cx="157758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36955" y="5439569"/>
            <a:ext cx="158393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ELECTRICAL &amp; INSTRUMENTATION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760244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13600" y="5741194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Mechanical and electrical system, 37,000 m²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6445250"/>
            <a:ext cx="40262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58 / 67</a:t>
            </a:r>
          </a:p>
        </p:txBody>
      </p:sp>
      <p:sp>
        <p:nvSpPr>
          <p:cNvPr id="34" name="Oval 33"/>
          <p:cNvSpPr/>
          <p:nvPr/>
        </p:nvSpPr>
        <p:spPr>
          <a:xfrm>
            <a:off x="5596534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698134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799734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22134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408781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408781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02.46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9981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China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Projects 71–72 of 73 from IAQ’s own reference list.</a:t>
            </a:r>
          </a:p>
        </p:txBody>
      </p:sp>
      <p:pic>
        <p:nvPicPr>
          <p:cNvPr id="10" name="Picture 9" descr="p67b.jpg"/>
          <p:cNvPicPr>
            <a:picLocks noChangeAspect="1"/>
          </p:cNvPicPr>
          <p:nvPr/>
        </p:nvPicPr>
        <p:blipFill>
          <a:blip r:embed="rId3"/>
          <a:srcRect l="10662" r="10662"/>
          <a:stretch>
            <a:fillRect/>
          </a:stretch>
        </p:blipFill>
        <p:spPr>
          <a:xfrm>
            <a:off x="609600" y="1701800"/>
            <a:ext cx="5346700" cy="339794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5099742"/>
            <a:ext cx="5346700" cy="12502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09974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5264842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CHINA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5385492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GE (China) R&amp;D Center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875" y="5651500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700" y="5699125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ACMV &amp; MECHANICAL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14030" y="5651500"/>
            <a:ext cx="157758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10855" y="5699125"/>
            <a:ext cx="158393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ELECTRICAL &amp; INSTRUMENTATION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700" y="6019800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7500" y="6000750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Mechanical and electrical system, 36,000 m²</a:t>
            </a:r>
          </a:p>
        </p:txBody>
      </p:sp>
      <p:pic>
        <p:nvPicPr>
          <p:cNvPr id="21" name="Picture 20" descr="p68t.jpg"/>
          <p:cNvPicPr>
            <a:picLocks noChangeAspect="1"/>
          </p:cNvPicPr>
          <p:nvPr/>
        </p:nvPicPr>
        <p:blipFill>
          <a:blip r:embed="rId4"/>
          <a:srcRect l="10662" r="10662"/>
          <a:stretch>
            <a:fillRect/>
          </a:stretch>
        </p:blipFill>
        <p:spPr>
          <a:xfrm>
            <a:off x="6235700" y="1701800"/>
            <a:ext cx="5346700" cy="3397942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6235700" y="5099742"/>
            <a:ext cx="5346700" cy="12502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5700" y="5099742"/>
            <a:ext cx="53467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5264842"/>
            <a:ext cx="5016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CHINA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385492"/>
            <a:ext cx="501650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Dow Shanghai R&amp;D Center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3975" y="5651500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699125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ACMV &amp; MECHANICAL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40130" y="5651500"/>
            <a:ext cx="157758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36955" y="5699125"/>
            <a:ext cx="158393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ELECTRICAL &amp; INSTRUMENTATION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6019800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13600" y="6000750"/>
            <a:ext cx="42037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Mechanical and electrical system, 100,000 m²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600" y="6445250"/>
            <a:ext cx="402831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59 / 67</a:t>
            </a:r>
          </a:p>
        </p:txBody>
      </p:sp>
      <p:sp>
        <p:nvSpPr>
          <p:cNvPr id="33" name="Oval 32"/>
          <p:cNvSpPr/>
          <p:nvPr/>
        </p:nvSpPr>
        <p:spPr>
          <a:xfrm>
            <a:off x="5596630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698230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99830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22134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40680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406800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02.47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000" y="414338"/>
            <a:ext cx="2056505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02 · PROJECT REFERENCES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China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Project 73 of 73 from IAQ’s own reference list.</a:t>
            </a:r>
          </a:p>
        </p:txBody>
      </p:sp>
      <p:pic>
        <p:nvPicPr>
          <p:cNvPr id="10" name="Picture 9" descr="p68b.jpg"/>
          <p:cNvPicPr>
            <a:picLocks noChangeAspect="1"/>
          </p:cNvPicPr>
          <p:nvPr/>
        </p:nvPicPr>
        <p:blipFill>
          <a:blip r:embed="rId3"/>
          <a:srcRect t="7843" b="7843"/>
          <a:stretch>
            <a:fillRect/>
          </a:stretch>
        </p:blipFill>
        <p:spPr>
          <a:xfrm>
            <a:off x="609600" y="2660650"/>
            <a:ext cx="6477000" cy="27305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086600" y="2660650"/>
            <a:ext cx="4495800" cy="2730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86600" y="2660650"/>
            <a:ext cx="19050" cy="27305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59650" y="3562648"/>
            <a:ext cx="396875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CHINA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59650" y="3683298"/>
            <a:ext cx="396875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Rohm and Haas (China) R&amp;D Center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62825" y="3949306"/>
            <a:ext cx="1079005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9650" y="3996931"/>
            <a:ext cx="1085355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ACMV &amp; MECHANICAL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98980" y="3949306"/>
            <a:ext cx="1577581" cy="168275"/>
          </a:xfrm>
          <a:prstGeom prst="rect">
            <a:avLst/>
          </a:prstGeom>
          <a:solidFill>
            <a:srgbClr val="D2232A">
              <a:alpha val="5500"/>
            </a:srgbClr>
          </a:solidFill>
          <a:ln w="6350">
            <a:solidFill>
              <a:srgbClr val="D2232A">
                <a:alpha val="34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95805" y="3996931"/>
            <a:ext cx="1583931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580" b="0" i="0" spc="92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ELECTRICAL &amp; INSTRUMENTATION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59650" y="4317606"/>
            <a:ext cx="7112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08">
                <a:solidFill>
                  <a:srgbClr val="64707A"/>
                </a:solidFill>
                <a:latin typeface="League Spartan SemiBold"/>
                <a:ea typeface="League Spartan SemiBold"/>
                <a:cs typeface="League Spartan SemiBold"/>
              </a:rPr>
              <a:t>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2450" y="4298556"/>
            <a:ext cx="315595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1E2A3D"/>
                </a:solidFill>
                <a:latin typeface="Urbanist Medium"/>
                <a:ea typeface="Urbanist Medium"/>
                <a:cs typeface="Urbanist Medium"/>
              </a:rPr>
              <a:t>Mechanical and electrical system, 27,000 m²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445250"/>
            <a:ext cx="407391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60 / 67</a:t>
            </a:r>
          </a:p>
        </p:txBody>
      </p:sp>
      <p:sp>
        <p:nvSpPr>
          <p:cNvPr id="22" name="Oval 21"/>
          <p:cNvSpPr/>
          <p:nvPr/>
        </p:nvSpPr>
        <p:spPr>
          <a:xfrm>
            <a:off x="5598916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00516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02116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22134" y="6429375"/>
            <a:ext cx="11601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PROJECT REFERENCES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090141"/>
            <a:ext cx="785216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156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PART 03 OF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899641"/>
            <a:ext cx="5279428" cy="1695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0" b="1" i="0" spc="-475">
                <a:solidFill>
                  <a:srgbClr val="EC2326"/>
                </a:solidFill>
                <a:latin typeface="Poppins"/>
                <a:ea typeface="Poppins"/>
                <a:cs typeface="Poppin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299816"/>
            <a:ext cx="5279428" cy="533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000" b="0" i="0" spc="-75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Safety, Quality &amp; ESG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853459"/>
            <a:ext cx="5279428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140">
                <a:solidFill>
                  <a:srgbClr val="96A2B2"/>
                </a:solidFill>
                <a:latin typeface="League Spartan Medium"/>
                <a:ea typeface="League Spartan Medium"/>
                <a:cs typeface="League Spartan Medium"/>
              </a:rPr>
              <a:t>SECTIONS 03.1 TO 03.6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4126509"/>
            <a:ext cx="5279428" cy="6350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285259"/>
            <a:ext cx="5279428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E7EBF0"/>
                </a:solidFill>
                <a:latin typeface="Urbanist Medium"/>
                <a:ea typeface="Urbanist Medium"/>
                <a:cs typeface="Urbanist Medium"/>
              </a:rPr>
              <a:t>Highwire Gold safety award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482109"/>
            <a:ext cx="5279428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E7EBF0"/>
                </a:solidFill>
                <a:latin typeface="Urbanist Medium"/>
                <a:ea typeface="Urbanist Medium"/>
                <a:cs typeface="Urbanist Medium"/>
              </a:rPr>
              <a:t>ISO 45001:2018 occupational health &amp; safety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678959"/>
            <a:ext cx="5279428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E7EBF0"/>
                </a:solidFill>
                <a:latin typeface="Urbanist Medium"/>
                <a:ea typeface="Urbanist Medium"/>
                <a:cs typeface="Urbanist Medium"/>
              </a:rPr>
              <a:t>20 tons per annum carbon footprint reduction</a:t>
            </a:r>
          </a:p>
        </p:txBody>
      </p:sp>
      <p:pic>
        <p:nvPicPr>
          <p:cNvPr id="11" name="Picture 10" descr="esg-safe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4628" y="0"/>
            <a:ext cx="5947372" cy="6858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304800"/>
            <a:ext cx="2202263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E7EBF0"/>
                </a:solidFill>
                <a:latin typeface="League Spartan SemiBold"/>
                <a:ea typeface="League Spartan SemiBold"/>
                <a:cs typeface="League Spartan SemiBold"/>
              </a:rPr>
              <a:t>PART 03 · SAFETY, QUALITY &amp; ESG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45250"/>
            <a:ext cx="38397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96A2B2"/>
                </a:solidFill>
                <a:latin typeface="League Spartan Medium"/>
                <a:ea typeface="League Spartan Medium"/>
                <a:cs typeface="League Spartan Medium"/>
              </a:rPr>
              <a:t>61 / 67</a:t>
            </a:r>
          </a:p>
        </p:txBody>
      </p:sp>
      <p:sp>
        <p:nvSpPr>
          <p:cNvPr id="14" name="Oval 13"/>
          <p:cNvSpPr/>
          <p:nvPr/>
        </p:nvSpPr>
        <p:spPr>
          <a:xfrm>
            <a:off x="1187253" y="6448425"/>
            <a:ext cx="38100" cy="38100"/>
          </a:xfrm>
          <a:prstGeom prst="ellipse">
            <a:avLst/>
          </a:prstGeom>
          <a:noFill/>
          <a:ln w="6350">
            <a:solidFill>
              <a:srgbClr val="96A2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8853" y="6448425"/>
            <a:ext cx="38100" cy="38100"/>
          </a:xfrm>
          <a:prstGeom prst="ellipse">
            <a:avLst/>
          </a:prstGeom>
          <a:noFill/>
          <a:ln w="6350">
            <a:solidFill>
              <a:srgbClr val="96A2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90453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96A2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30302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30302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03.1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1502" y="414338"/>
            <a:ext cx="2202263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03 · SAFETY, QUALITY &amp; ESG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ESG Commitments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Three pillars, applied to operations and to every project we take on.</a:t>
            </a:r>
          </a:p>
        </p:txBody>
      </p:sp>
      <p:pic>
        <p:nvPicPr>
          <p:cNvPr id="10" name="Picture 9" descr="value-2.jpg"/>
          <p:cNvPicPr>
            <a:picLocks noChangeAspect="1"/>
          </p:cNvPicPr>
          <p:nvPr/>
        </p:nvPicPr>
        <p:blipFill>
          <a:blip r:embed="rId3"/>
          <a:srcRect t="4238" b="4238"/>
          <a:stretch>
            <a:fillRect/>
          </a:stretch>
        </p:blipFill>
        <p:spPr>
          <a:xfrm>
            <a:off x="609600" y="1701800"/>
            <a:ext cx="3539033" cy="316746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5047063"/>
            <a:ext cx="3539033" cy="1302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047063"/>
            <a:ext cx="3539033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5155013"/>
            <a:ext cx="3234233" cy="355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000" b="1" i="0" spc="-60">
                <a:solidFill>
                  <a:srgbClr val="EC2326"/>
                </a:solidFill>
                <a:latin typeface="Poppins"/>
                <a:ea typeface="Poppins"/>
                <a:cs typeface="Poppins"/>
              </a:rPr>
              <a:t>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5491563"/>
            <a:ext cx="3234233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50" b="0" i="0" spc="-23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Environmental Responsibility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5754688"/>
            <a:ext cx="3234233" cy="41592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62"/>
              </a:lnSpc>
            </a:pPr>
            <a:r>
              <a:rPr sz="7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Minimising environmental footprint through sustainable design and construction. Energy-efficient solutions and eco-friendly technologies, prioritised at design stage.</a:t>
            </a:r>
          </a:p>
        </p:txBody>
      </p:sp>
      <p:pic>
        <p:nvPicPr>
          <p:cNvPr id="16" name="Picture 15" descr="value-3.jpg"/>
          <p:cNvPicPr>
            <a:picLocks noChangeAspect="1"/>
          </p:cNvPicPr>
          <p:nvPr/>
        </p:nvPicPr>
        <p:blipFill>
          <a:blip r:embed="rId4"/>
          <a:srcRect t="5250" b="5250"/>
          <a:stretch>
            <a:fillRect/>
          </a:stretch>
        </p:blipFill>
        <p:spPr>
          <a:xfrm>
            <a:off x="4326433" y="1701800"/>
            <a:ext cx="3539033" cy="316746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326433" y="5047063"/>
            <a:ext cx="3539033" cy="1302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26433" y="5047063"/>
            <a:ext cx="3539033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8833" y="5155013"/>
            <a:ext cx="3234233" cy="355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000" b="1" i="0" spc="-60">
                <a:solidFill>
                  <a:srgbClr val="EC2326"/>
                </a:solidFill>
                <a:latin typeface="Poppins"/>
                <a:ea typeface="Poppins"/>
                <a:cs typeface="Poppins"/>
              </a:rPr>
              <a:t>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8833" y="5491563"/>
            <a:ext cx="3234233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50" b="0" i="0" spc="-23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Social Accountability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8833" y="5754688"/>
            <a:ext cx="3234233" cy="2682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62"/>
              </a:lnSpc>
            </a:pPr>
            <a:r>
              <a:rPr sz="7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The well-being and safety of employees and communities first. A diverse, inclusive work environment and ethical labour practices.</a:t>
            </a:r>
          </a:p>
        </p:txBody>
      </p:sp>
      <p:pic>
        <p:nvPicPr>
          <p:cNvPr id="22" name="Picture 21" descr="value-4.jpg"/>
          <p:cNvPicPr>
            <a:picLocks noChangeAspect="1"/>
          </p:cNvPicPr>
          <p:nvPr/>
        </p:nvPicPr>
        <p:blipFill>
          <a:blip r:embed="rId5"/>
          <a:srcRect t="4995" b="4995"/>
          <a:stretch>
            <a:fillRect/>
          </a:stretch>
        </p:blipFill>
        <p:spPr>
          <a:xfrm>
            <a:off x="8043266" y="1701800"/>
            <a:ext cx="3539033" cy="3167463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8043266" y="5047063"/>
            <a:ext cx="3539033" cy="1302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3266" y="5047063"/>
            <a:ext cx="3539033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95666" y="5155013"/>
            <a:ext cx="3234233" cy="355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000" b="1" i="0" spc="-60">
                <a:solidFill>
                  <a:srgbClr val="EC2326"/>
                </a:solidFill>
                <a:latin typeface="Poppins"/>
                <a:ea typeface="Poppins"/>
                <a:cs typeface="Poppins"/>
              </a:rPr>
              <a:t>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5666" y="5491563"/>
            <a:ext cx="3234233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50" b="0" i="0" spc="-23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Corporate Governance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5666" y="5754688"/>
            <a:ext cx="3234233" cy="41592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62"/>
              </a:lnSpc>
            </a:pPr>
            <a:r>
              <a:rPr sz="78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Transparency, accountability and ethical decision-making, with the highest standards of compliance, building trust with clients, partners and stakeholders.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6445250"/>
            <a:ext cx="40451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62 / 67</a:t>
            </a:r>
          </a:p>
        </p:txBody>
      </p:sp>
      <p:sp>
        <p:nvSpPr>
          <p:cNvPr id="29" name="Oval 28"/>
          <p:cNvSpPr/>
          <p:nvPr/>
        </p:nvSpPr>
        <p:spPr>
          <a:xfrm>
            <a:off x="5541270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642870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44470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09720" y="6429375"/>
            <a:ext cx="127257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SAFETY, QUALITY &amp; ESG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51733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51733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03.2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2933" y="414338"/>
            <a:ext cx="2202263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03 · SAFETY, QUALITY &amp; ESG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Certifications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Every management system independently registered, and every licence current.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82800" y="1701800"/>
            <a:ext cx="2489200" cy="39875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cert-iso90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5581" y="1778000"/>
            <a:ext cx="2323638" cy="329624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197100" y="5156797"/>
            <a:ext cx="22606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ISO 9001:2015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7100" y="5339956"/>
            <a:ext cx="22606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Quality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7100" y="5480450"/>
            <a:ext cx="2260600" cy="95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Intertek · valid to June 2029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51400" y="1701800"/>
            <a:ext cx="2489200" cy="39875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cert-iso140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482" y="1778000"/>
            <a:ext cx="2333036" cy="329624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965700" y="5156797"/>
            <a:ext cx="22606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ISO 14001:2015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65700" y="5339956"/>
            <a:ext cx="22606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Environmental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65700" y="5480450"/>
            <a:ext cx="2260600" cy="95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Intertek · valid to June 2029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20000" y="1701800"/>
            <a:ext cx="2489200" cy="39875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cert-iso450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6280" y="1778000"/>
            <a:ext cx="2316639" cy="329624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734300" y="5156797"/>
            <a:ext cx="22606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ISO 45001:2018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34300" y="5339956"/>
            <a:ext cx="22606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101A2B"/>
                </a:solidFill>
                <a:latin typeface="Urbanist SemiBold"/>
                <a:ea typeface="Urbanist SemiBold"/>
                <a:cs typeface="Urbanist SemiBold"/>
              </a:rPr>
              <a:t>Occupational Health &amp; Safety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34300" y="5480450"/>
            <a:ext cx="2260600" cy="95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Intertek · valid to June 2029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" y="5879802"/>
            <a:ext cx="2113261" cy="4701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3900" y="5987752"/>
            <a:ext cx="1884661" cy="1079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EC2326"/>
                </a:solidFill>
                <a:latin typeface="Urbanist SemiBold"/>
                <a:ea typeface="Urbanist SemiBold"/>
                <a:cs typeface="Urbanist SemiBold"/>
              </a:rPr>
              <a:t>CIDB Grade G7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900" y="6132512"/>
            <a:ext cx="1884661" cy="95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Unlimited tender capacity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24461" y="5879802"/>
            <a:ext cx="2113261" cy="4701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38761" y="5987752"/>
            <a:ext cx="1884661" cy="1079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EC2326"/>
                </a:solidFill>
                <a:latin typeface="Urbanist SemiBold"/>
                <a:ea typeface="Urbanist SemiBold"/>
                <a:cs typeface="Urbanist SemiBold"/>
              </a:rPr>
              <a:t>PKK Grade G7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38761" y="6132512"/>
            <a:ext cx="1884661" cy="95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Government works registration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39322" y="5879802"/>
            <a:ext cx="2113261" cy="4701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53622" y="5987752"/>
            <a:ext cx="1884661" cy="1079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EC2326"/>
                </a:solidFill>
                <a:latin typeface="Urbanist SemiBold"/>
                <a:ea typeface="Urbanist SemiBold"/>
                <a:cs typeface="Urbanist SemiBold"/>
              </a:rPr>
              <a:t>Highwire Gold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53622" y="6132512"/>
            <a:ext cx="1884661" cy="95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Contractor safety performance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54183" y="5879802"/>
            <a:ext cx="2113261" cy="4701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68483" y="5987752"/>
            <a:ext cx="1884661" cy="1079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EC2326"/>
                </a:solidFill>
                <a:latin typeface="Urbanist SemiBold"/>
                <a:ea typeface="Urbanist SemiBold"/>
                <a:cs typeface="Urbanist SemiBold"/>
              </a:rPr>
              <a:t>Energy Commission Class 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8483" y="6132512"/>
            <a:ext cx="1884661" cy="95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Suruhanjaya Tenaga, Malaysia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69044" y="5879802"/>
            <a:ext cx="2113261" cy="4701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8" name="Picture 37" descr="cert-bizsaf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7038" y="5981402"/>
            <a:ext cx="283667" cy="13335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583344" y="5987752"/>
            <a:ext cx="1884661" cy="1079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EC2326"/>
                </a:solidFill>
                <a:latin typeface="Urbanist SemiBold"/>
                <a:ea typeface="Urbanist SemiBold"/>
                <a:cs typeface="Urbanist SemiBold"/>
              </a:rPr>
              <a:t>bizSAFE Level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83344" y="6132512"/>
            <a:ext cx="1884661" cy="95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WSH Council, Singapore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9600" y="6445250"/>
            <a:ext cx="4021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63 / 67</a:t>
            </a:r>
          </a:p>
        </p:txBody>
      </p:sp>
      <p:sp>
        <p:nvSpPr>
          <p:cNvPr id="42" name="Oval 41"/>
          <p:cNvSpPr/>
          <p:nvPr/>
        </p:nvSpPr>
        <p:spPr>
          <a:xfrm>
            <a:off x="5540077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641677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743277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09720" y="6429375"/>
            <a:ext cx="127257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SAFETY, QUALITY &amp; ESG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award-mciea.jpg"/>
          <p:cNvPicPr>
            <a:picLocks noChangeAspect="1"/>
          </p:cNvPicPr>
          <p:nvPr/>
        </p:nvPicPr>
        <p:blipFill>
          <a:blip r:embed="rId2"/>
          <a:srcRect t="80" b="80"/>
          <a:stretch>
            <a:fillRect/>
          </a:stretch>
        </p:blipFill>
        <p:spPr>
          <a:xfrm>
            <a:off x="4381500" y="952500"/>
            <a:ext cx="7810500" cy="5105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09600" y="381000"/>
            <a:ext cx="349053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25450"/>
            <a:ext cx="349053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03.3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253" y="414338"/>
            <a:ext cx="2202263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E7EBF0"/>
                </a:solidFill>
                <a:latin typeface="League Spartan SemiBold"/>
                <a:ea typeface="League Spartan SemiBold"/>
                <a:cs typeface="League Spartan SemiBold"/>
              </a:rPr>
              <a:t>PART 03 · SAFETY, QUALITY &amp; ESG</a:t>
            </a:r>
          </a:p>
        </p:txBody>
      </p:sp>
      <p:pic>
        <p:nvPicPr>
          <p:cNvPr id="7" name="Picture 6" descr="iaq-logo-tag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1377950"/>
            <a:ext cx="2413000" cy="1952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37"/>
              </a:lnSpc>
            </a:pPr>
            <a:r>
              <a:rPr sz="620" b="0" i="0" spc="125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MALAYSIAN CONSTRUCTION INDUSTRY EXCELLENCE AWARDS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444625"/>
            <a:ext cx="3175000" cy="1244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0" b="1" i="0" spc="-35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463108"/>
            <a:ext cx="3175000" cy="355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000" b="0" i="0" spc="-50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Builder of the Year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2912669"/>
            <a:ext cx="2984500" cy="6350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3058719"/>
            <a:ext cx="2984500" cy="59303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40"/>
              </a:lnSpc>
            </a:pPr>
            <a:r>
              <a:rPr sz="780" b="0" i="0">
                <a:solidFill>
                  <a:srgbClr val="96A2B2"/>
                </a:solidFill>
                <a:latin typeface="Urbanist"/>
                <a:ea typeface="Urbanist"/>
                <a:cs typeface="Urbanist"/>
              </a:rPr>
              <a:t>The Construction Industry Development Board’s highest recognition for a contractor. Recipients are judged across company performance, project management, technical expertise, innovation, quality, safety and sustainability.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3828256"/>
            <a:ext cx="2984500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" y="3942556"/>
            <a:ext cx="29845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80" b="0" i="0" spc="115">
                <a:solidFill>
                  <a:srgbClr val="96A2B2"/>
                </a:solidFill>
                <a:latin typeface="League Spartan SemiBold"/>
                <a:ea typeface="League Spartan SemiBold"/>
                <a:cs typeface="League Spartan SemiBold"/>
              </a:rPr>
              <a:t>AWARDED 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044156"/>
            <a:ext cx="2984500" cy="158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00" b="0" i="0" spc="-18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IAQ Solutions Sdn Bhd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4314031"/>
            <a:ext cx="2984500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600" y="4428331"/>
            <a:ext cx="29845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80" b="0" i="0" spc="115">
                <a:solidFill>
                  <a:srgbClr val="96A2B2"/>
                </a:solidFill>
                <a:latin typeface="League Spartan SemiBold"/>
                <a:ea typeface="League Spartan SemiBold"/>
                <a:cs typeface="League Spartan SemiBold"/>
              </a:rPr>
              <a:t>CONFERRED BY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4529931"/>
            <a:ext cx="2984500" cy="158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00" b="0" i="0" spc="-18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CIDB Malaysia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445250"/>
            <a:ext cx="40034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96A2B2"/>
                </a:solidFill>
                <a:latin typeface="League Spartan Medium"/>
                <a:ea typeface="League Spartan Medium"/>
                <a:cs typeface="League Spartan Medium"/>
              </a:rPr>
              <a:t>64 / 67</a:t>
            </a:r>
          </a:p>
        </p:txBody>
      </p:sp>
      <p:sp>
        <p:nvSpPr>
          <p:cNvPr id="20" name="Oval 19"/>
          <p:cNvSpPr/>
          <p:nvPr/>
        </p:nvSpPr>
        <p:spPr>
          <a:xfrm>
            <a:off x="5539188" y="6448425"/>
            <a:ext cx="38100" cy="38100"/>
          </a:xfrm>
          <a:prstGeom prst="ellipse">
            <a:avLst/>
          </a:prstGeom>
          <a:noFill/>
          <a:ln w="6350">
            <a:solidFill>
              <a:srgbClr val="96A2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640788" y="6448425"/>
            <a:ext cx="38100" cy="38100"/>
          </a:xfrm>
          <a:prstGeom prst="ellipse">
            <a:avLst/>
          </a:prstGeom>
          <a:noFill/>
          <a:ln w="6350">
            <a:solidFill>
              <a:srgbClr val="96A2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42388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96A2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09720" y="6429375"/>
            <a:ext cx="127257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96A2B2"/>
                </a:solidFill>
                <a:latin typeface="League Spartan"/>
                <a:ea typeface="League Spartan"/>
                <a:cs typeface="League Spartan"/>
              </a:rPr>
              <a:t>SAFETY, QUALITY &amp; ESG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47561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47561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03.4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761" y="414338"/>
            <a:ext cx="2202263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  <a:ea typeface="League Spartan SemiBold"/>
                <a:cs typeface="League Spartan SemiBold"/>
              </a:rPr>
              <a:t>PART 03 · SAFETY, QUALITY &amp; ESG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Safety &amp; Recognition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  <a:ea typeface="Urbanist"/>
                <a:cs typeface="Urbanist"/>
              </a:rPr>
              <a:t>How our standards are independently verified and recognised.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651000"/>
            <a:ext cx="6273800" cy="7159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438"/>
              </a:lnSpc>
            </a:pPr>
            <a:r>
              <a:rPr sz="2300" b="0" i="0" spc="-46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Judged on the things</a:t>
            </a:r>
          </a:p>
          <a:p>
            <a:pPr algn="l">
              <a:lnSpc>
                <a:spcPts val="2438"/>
              </a:lnSpc>
            </a:pPr>
            <a:r>
              <a:rPr sz="2300" b="0" i="0" spc="-46">
                <a:solidFill>
                  <a:srgbClr val="101A2B"/>
                </a:solidFill>
                <a:latin typeface="Poppins SemiBold"/>
                <a:ea typeface="Poppins SemiBold"/>
                <a:cs typeface="Poppins SemiBold"/>
              </a:rPr>
              <a:t>that actually matter.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2441575"/>
            <a:ext cx="4310755" cy="33903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20"/>
              </a:lnSpc>
            </a:pPr>
            <a:r>
              <a:rPr sz="950" b="0" i="0">
                <a:solidFill>
                  <a:srgbClr val="1E2A3D"/>
                </a:solidFill>
                <a:latin typeface="Urbanist"/>
                <a:ea typeface="Urbanist"/>
                <a:cs typeface="Urbanist"/>
              </a:rPr>
              <a:t>MCIEA recipients are assessed by CIDB against seven criteria. They are the same ground our clients audit us 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390798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94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3327298"/>
            <a:ext cx="2603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00" b="0" i="0">
                <a:solidFill>
                  <a:srgbClr val="101A2B"/>
                </a:solidFill>
                <a:latin typeface="Urbanist Medium"/>
                <a:ea typeface="Urbanist Medium"/>
                <a:cs typeface="Urbanist Medium"/>
              </a:rPr>
              <a:t>Company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98900" y="3390798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94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9900" y="3327298"/>
            <a:ext cx="2603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00" b="0" i="0">
                <a:solidFill>
                  <a:srgbClr val="101A2B"/>
                </a:solidFill>
                <a:latin typeface="Urbanist Medium"/>
                <a:ea typeface="Urbanist Medium"/>
                <a:cs typeface="Urbanist Medium"/>
              </a:rPr>
              <a:t>Project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4250830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94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600" y="4187330"/>
            <a:ext cx="2603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00" b="0" i="0">
                <a:solidFill>
                  <a:srgbClr val="101A2B"/>
                </a:solidFill>
                <a:latin typeface="Urbanist Medium"/>
                <a:ea typeface="Urbanist Medium"/>
                <a:cs typeface="Urbanist Medium"/>
              </a:rPr>
              <a:t>Technical expertise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98900" y="4250830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94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900" y="4187330"/>
            <a:ext cx="2603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00" b="0" i="0">
                <a:solidFill>
                  <a:srgbClr val="101A2B"/>
                </a:solidFill>
                <a:latin typeface="Urbanist Medium"/>
                <a:ea typeface="Urbanist Medium"/>
                <a:cs typeface="Urbanist Medium"/>
              </a:rPr>
              <a:t>Innovation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5110759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94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" y="5047259"/>
            <a:ext cx="2603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00" b="0" i="0">
                <a:solidFill>
                  <a:srgbClr val="101A2B"/>
                </a:solidFill>
                <a:latin typeface="Urbanist Medium"/>
                <a:ea typeface="Urbanist Medium"/>
                <a:cs typeface="Urbanist Medium"/>
              </a:rPr>
              <a:t>Quality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98900" y="5110759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94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9900" y="5047259"/>
            <a:ext cx="2603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00" b="0" i="0">
                <a:solidFill>
                  <a:srgbClr val="101A2B"/>
                </a:solidFill>
                <a:latin typeface="Urbanist Medium"/>
                <a:ea typeface="Urbanist Medium"/>
                <a:cs typeface="Urbanist Medium"/>
              </a:rPr>
              <a:t>Safety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5970784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94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0600" y="5907284"/>
            <a:ext cx="2603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00" b="0" i="0">
                <a:solidFill>
                  <a:srgbClr val="101A2B"/>
                </a:solidFill>
                <a:latin typeface="Urbanist Medium"/>
                <a:ea typeface="Urbanist Medium"/>
                <a:cs typeface="Urbanist Medium"/>
              </a:rPr>
              <a:t>Sustainability</a:t>
            </a:r>
          </a:p>
        </p:txBody>
      </p:sp>
      <p:pic>
        <p:nvPicPr>
          <p:cNvPr id="26" name="Picture 25" descr="safety-review.jpg"/>
          <p:cNvPicPr>
            <a:picLocks noChangeAspect="1"/>
          </p:cNvPicPr>
          <p:nvPr/>
        </p:nvPicPr>
        <p:blipFill>
          <a:blip r:embed="rId3"/>
          <a:srcRect t="129" b="129"/>
          <a:stretch>
            <a:fillRect/>
          </a:stretch>
        </p:blipFill>
        <p:spPr>
          <a:xfrm>
            <a:off x="7391400" y="1701800"/>
            <a:ext cx="4191000" cy="4648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09600" y="6445250"/>
            <a:ext cx="402831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  <a:ea typeface="League Spartan Medium"/>
                <a:cs typeface="League Spartan Medium"/>
              </a:rPr>
              <a:t>65 / 67</a:t>
            </a:r>
          </a:p>
        </p:txBody>
      </p:sp>
      <p:sp>
        <p:nvSpPr>
          <p:cNvPr id="28" name="Oval 27"/>
          <p:cNvSpPr/>
          <p:nvPr/>
        </p:nvSpPr>
        <p:spPr>
          <a:xfrm>
            <a:off x="5540477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642077" y="6448425"/>
            <a:ext cx="38100" cy="38100"/>
          </a:xfrm>
          <a:prstGeom prst="ellipse">
            <a:avLst/>
          </a:prstGeom>
          <a:noFill/>
          <a:ln w="6350">
            <a:solidFill>
              <a:srgbClr val="6470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743677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09822" y="6429375"/>
            <a:ext cx="127257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  <a:ea typeface="League Spartan"/>
                <a:cs typeface="League Spartan"/>
              </a:rPr>
              <a:t>SAFETY, QUALITY &amp; ESG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49548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49548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03.5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48" y="414338"/>
            <a:ext cx="2202263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E7EBF0"/>
                </a:solidFill>
                <a:latin typeface="League Spartan SemiBold"/>
                <a:ea typeface="League Spartan SemiBold"/>
                <a:cs typeface="League Spartan SemiBold"/>
              </a:rPr>
              <a:t>PART 03 · SAFETY, QUALITY &amp; ESG</a:t>
            </a:r>
          </a:p>
        </p:txBody>
      </p:sp>
      <p:pic>
        <p:nvPicPr>
          <p:cNvPr id="6" name="Picture 5" descr="iaq-logo-tag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Closing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96A2B2"/>
                </a:solidFill>
                <a:latin typeface="Urbanist"/>
                <a:ea typeface="Urbanist"/>
                <a:cs typeface="Urbanist"/>
              </a:rPr>
              <a:t>Engineering the facilities advanced industry runs 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067647"/>
            <a:ext cx="8255000" cy="11259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815"/>
              </a:lnSpc>
            </a:pPr>
            <a:r>
              <a:rPr sz="3600" b="0" i="0" spc="-72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We infuse safety, quality, efficiency and excellence into every project.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341616"/>
            <a:ext cx="4310755" cy="53200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20"/>
              </a:lnSpc>
            </a:pPr>
            <a:r>
              <a:rPr sz="950" b="0" i="0">
                <a:solidFill>
                  <a:srgbClr val="E7EBF0"/>
                </a:solidFill>
                <a:latin typeface="Urbanist"/>
                <a:ea typeface="Urbanist"/>
                <a:cs typeface="Urbanist"/>
              </a:rPr>
              <a:t>From engineering design and project management to construction and maintenance, across semiconductor manufacturing, clean energy and every environment in between. IAQ is your trusted partner for total facility solutions.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445250"/>
            <a:ext cx="404711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96A2B2"/>
                </a:solidFill>
                <a:latin typeface="League Spartan Medium"/>
                <a:ea typeface="League Spartan Medium"/>
                <a:cs typeface="League Spartan Medium"/>
              </a:rPr>
              <a:t>66 / 67</a:t>
            </a:r>
          </a:p>
        </p:txBody>
      </p:sp>
      <p:sp>
        <p:nvSpPr>
          <p:cNvPr id="13" name="Oval 12"/>
          <p:cNvSpPr/>
          <p:nvPr/>
        </p:nvSpPr>
        <p:spPr>
          <a:xfrm>
            <a:off x="5541366" y="6448425"/>
            <a:ext cx="38100" cy="38100"/>
          </a:xfrm>
          <a:prstGeom prst="ellipse">
            <a:avLst/>
          </a:prstGeom>
          <a:noFill/>
          <a:ln w="6350">
            <a:solidFill>
              <a:srgbClr val="96A2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42966" y="6448425"/>
            <a:ext cx="38100" cy="38100"/>
          </a:xfrm>
          <a:prstGeom prst="ellipse">
            <a:avLst/>
          </a:prstGeom>
          <a:noFill/>
          <a:ln w="6350">
            <a:solidFill>
              <a:srgbClr val="96A2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44566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96A2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09720" y="6429375"/>
            <a:ext cx="127257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96A2B2"/>
                </a:solidFill>
                <a:latin typeface="League Spartan"/>
                <a:ea typeface="League Spartan"/>
                <a:cs typeface="League Spartan"/>
              </a:rPr>
              <a:t>SAFETY, QUALITY &amp; ESG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35153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351530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  <a:ea typeface="League Spartan SemiBold"/>
                <a:cs typeface="League Spartan SemiBold"/>
              </a:rPr>
              <a:t>03.6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2730" y="414338"/>
            <a:ext cx="2202263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E7EBF0"/>
                </a:solidFill>
                <a:latin typeface="League Spartan SemiBold"/>
                <a:ea typeface="League Spartan SemiBold"/>
                <a:cs typeface="League Spartan SemiBold"/>
              </a:rPr>
              <a:t>PART 03 · SAFETY, QUALITY &amp; ESG</a:t>
            </a:r>
          </a:p>
        </p:txBody>
      </p:sp>
      <p:pic>
        <p:nvPicPr>
          <p:cNvPr id="6" name="Picture 5" descr="iaq-logo-tag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  <a:ea typeface="Poppins SemiBold"/>
                <a:cs typeface="Poppins SemiBold"/>
              </a:rPr>
              <a:t>Contacts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96A2B2"/>
                </a:solidFill>
                <a:latin typeface="Urbanist"/>
                <a:ea typeface="Urbanist"/>
                <a:cs typeface="Urbanist"/>
              </a:rPr>
              <a:t>For inquiry and business opportunity.</a:t>
            </a:r>
          </a:p>
        </p:txBody>
      </p:sp>
      <p:pic>
        <p:nvPicPr>
          <p:cNvPr id="10" name="Picture 9" descr="iaq-logo-tag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85156"/>
            <a:ext cx="1587500" cy="79375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600" y="2818606"/>
            <a:ext cx="2794000" cy="6350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2958306"/>
            <a:ext cx="2794000" cy="4778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56"/>
              </a:lnSpc>
            </a:pPr>
            <a:r>
              <a:rPr sz="880" b="0" i="0">
                <a:solidFill>
                  <a:srgbClr val="96A2B2"/>
                </a:solidFill>
                <a:latin typeface="Urbanist"/>
                <a:ea typeface="Urbanist"/>
                <a:cs typeface="Urbanist"/>
              </a:rPr>
              <a:t>Engineering, procurement, construction and energy management for the industries where contamination, uptime and safety decide the outcome. Established 1995.</a:t>
            </a:r>
          </a:p>
        </p:txBody>
      </p:sp>
      <p:pic>
        <p:nvPicPr>
          <p:cNvPr id="13" name="Picture 12" descr="qr-web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684588"/>
            <a:ext cx="939800" cy="939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687888"/>
            <a:ext cx="881856" cy="63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50" b="0" i="0" spc="110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WEBSITE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770438"/>
            <a:ext cx="881856" cy="1079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E7EBF0"/>
                </a:solidFill>
                <a:latin typeface="Urbanist Medium"/>
                <a:ea typeface="Urbanist Medium"/>
                <a:cs typeface="Urbanist Medium"/>
              </a:rPr>
              <a:t>iaqtechnology.com.my</a:t>
            </a:r>
          </a:p>
        </p:txBody>
      </p:sp>
      <p:pic>
        <p:nvPicPr>
          <p:cNvPr id="16" name="Picture 15" descr="qr-linked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9100" y="3684588"/>
            <a:ext cx="939800" cy="939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89100" y="4687888"/>
            <a:ext cx="983355" cy="63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50" b="0" i="0" spc="110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LINKEDIN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89100" y="4770438"/>
            <a:ext cx="983355" cy="1079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>
                <a:solidFill>
                  <a:srgbClr val="E7EBF0"/>
                </a:solidFill>
                <a:latin typeface="Urbanist Medium"/>
                <a:ea typeface="Urbanist Medium"/>
                <a:cs typeface="Urbanist Medium"/>
              </a:rPr>
              <a:t>IAQ Group of Companies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51300" y="2747270"/>
            <a:ext cx="2417166" cy="1276547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51300" y="2747270"/>
            <a:ext cx="2417166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16400" y="2969520"/>
            <a:ext cx="2086966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80" b="0" i="0" spc="115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BUSINESS DEVELOPMENT DIRECTOR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16400" y="3191770"/>
            <a:ext cx="2086966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50" b="0" i="0" spc="-23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Nelson Tan Wee Keong</a:t>
            </a:r>
          </a:p>
        </p:txBody>
      </p:sp>
      <p:pic>
        <p:nvPicPr>
          <p:cNvPr id="23" name="Picture 22" descr="df3b3bcfaaa03b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6400" y="3497066"/>
            <a:ext cx="107950" cy="1079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406900" y="3492995"/>
            <a:ext cx="1896466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E7EBF0"/>
                </a:solidFill>
                <a:latin typeface="Urbanist"/>
                <a:ea typeface="Urbanist"/>
                <a:cs typeface="Urbanist"/>
              </a:rPr>
              <a:t>nelsontan@iaqtechnology.com.my</a:t>
            </a:r>
          </a:p>
        </p:txBody>
      </p:sp>
      <p:pic>
        <p:nvPicPr>
          <p:cNvPr id="25" name="Picture 24" descr="33901769a841544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6400" y="3695802"/>
            <a:ext cx="107950" cy="1079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406900" y="3691731"/>
            <a:ext cx="1896466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E7EBF0"/>
                </a:solidFill>
                <a:latin typeface="Urbanist"/>
                <a:ea typeface="Urbanist"/>
                <a:cs typeface="Urbanist"/>
              </a:rPr>
              <a:t>+6012-372 7329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8166" y="2747270"/>
            <a:ext cx="2417267" cy="1276547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08166" y="2747270"/>
            <a:ext cx="2417267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73266" y="2969520"/>
            <a:ext cx="2087067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80" b="0" i="0" spc="115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SENIOR ENGINEER, BUSINESS DEVELOPMENT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73266" y="3191770"/>
            <a:ext cx="2087067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50" b="0" i="0" spc="-23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Sunny Lim Qin Xiang</a:t>
            </a:r>
          </a:p>
        </p:txBody>
      </p:sp>
      <p:pic>
        <p:nvPicPr>
          <p:cNvPr id="31" name="Picture 30" descr="df3b3bcfaaa03b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3266" y="3497066"/>
            <a:ext cx="107950" cy="1079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963766" y="3492995"/>
            <a:ext cx="1896567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E7EBF0"/>
                </a:solidFill>
                <a:latin typeface="Urbanist"/>
                <a:ea typeface="Urbanist"/>
                <a:cs typeface="Urbanist"/>
              </a:rPr>
              <a:t>qinxiang.lim@iaqtechnology.com.my</a:t>
            </a:r>
          </a:p>
        </p:txBody>
      </p:sp>
      <p:pic>
        <p:nvPicPr>
          <p:cNvPr id="33" name="Picture 32" descr="33901769a841544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3266" y="3695802"/>
            <a:ext cx="107950" cy="1079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963766" y="3691731"/>
            <a:ext cx="1896567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E7EBF0"/>
                </a:solidFill>
                <a:latin typeface="Urbanist"/>
                <a:ea typeface="Urbanist"/>
                <a:cs typeface="Urbanist"/>
              </a:rPr>
              <a:t>+6016-442 4578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65133" y="2747270"/>
            <a:ext cx="2417166" cy="19050"/>
          </a:xfrm>
          <a:prstGeom prst="rect">
            <a:avLst/>
          </a:prstGeom>
          <a:solidFill>
            <a:srgbClr val="EC2326">
              <a:alpha val="4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575948" y="2747270"/>
            <a:ext cx="6350" cy="1276547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65133" y="4017467"/>
            <a:ext cx="2417166" cy="6350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65133" y="2747270"/>
            <a:ext cx="6350" cy="1276547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610158" y="2864745"/>
            <a:ext cx="861022" cy="142875"/>
          </a:xfrm>
          <a:prstGeom prst="rect">
            <a:avLst/>
          </a:prstGeom>
          <a:noFill/>
          <a:ln w="6350">
            <a:solidFill>
              <a:srgbClr val="EC2326">
                <a:alpha val="4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06983" y="2906020"/>
            <a:ext cx="867372" cy="57150"/>
          </a:xfrm>
          <a:prstGeom prst="rect">
            <a:avLst/>
          </a:prstGeom>
          <a:noFill/>
        </p:spPr>
        <p:txBody>
          <a:bodyPr wrap="none" lIns="57150" rIns="57150" tIns="0" bIns="0" anchor="ctr">
            <a:noAutofit/>
          </a:bodyPr>
          <a:lstStyle/>
          <a:p>
            <a:pPr algn="l"/>
            <a:r>
              <a:rPr sz="520" b="0" i="0" spc="105">
                <a:solidFill>
                  <a:srgbClr val="EC2326"/>
                </a:solidFill>
                <a:latin typeface="League Spartan SemiBold"/>
                <a:ea typeface="League Spartan SemiBold"/>
                <a:cs typeface="League Spartan SemiBold"/>
              </a:rPr>
              <a:t>TO BE CONFIRMED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36583" y="2969520"/>
            <a:ext cx="2074266" cy="69850"/>
          </a:xfrm>
          <a:prstGeom prst="rect">
            <a:avLst/>
          </a:prstGeom>
          <a:noFill/>
        </p:spPr>
        <p:txBody>
          <a:bodyPr wrap="none" lIns="0" rIns="762000" tIns="0" bIns="0" anchor="ctr">
            <a:noAutofit/>
          </a:bodyPr>
          <a:lstStyle/>
          <a:p>
            <a:pPr algn="l"/>
            <a:r>
              <a:rPr sz="580" b="0" i="0" spc="115">
                <a:solidFill>
                  <a:srgbClr val="96A2B2"/>
                </a:solidFill>
                <a:latin typeface="League Spartan SemiBold"/>
                <a:ea typeface="League Spartan SemiBold"/>
                <a:cs typeface="League Spartan SemiBold"/>
              </a:rPr>
              <a:t>ROLE TO BE ADVISED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36583" y="3191770"/>
            <a:ext cx="2074266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50" b="0" i="0" spc="-23">
                <a:solidFill>
                  <a:srgbClr val="96A2B2"/>
                </a:solidFill>
                <a:latin typeface="Poppins SemiBold"/>
                <a:ea typeface="Poppins SemiBold"/>
                <a:cs typeface="Poppins SemiBold"/>
              </a:rPr>
              <a:t>Name to be advised</a:t>
            </a:r>
          </a:p>
        </p:txBody>
      </p:sp>
      <p:pic>
        <p:nvPicPr>
          <p:cNvPr id="43" name="Picture 42" descr="92265448a5d11ed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6583" y="3497066"/>
            <a:ext cx="107950" cy="10795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527083" y="3492995"/>
            <a:ext cx="1883766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96A2B2"/>
                </a:solidFill>
                <a:latin typeface="Urbanist"/>
                <a:ea typeface="Urbanist"/>
                <a:cs typeface="Urbanist"/>
              </a:rPr>
              <a:t>name@iaqtechnology.com.my</a:t>
            </a:r>
          </a:p>
        </p:txBody>
      </p:sp>
      <p:pic>
        <p:nvPicPr>
          <p:cNvPr id="45" name="Picture 44" descr="a1667763ab6ea07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6583" y="3695802"/>
            <a:ext cx="107950" cy="10795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527083" y="3691731"/>
            <a:ext cx="1883766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96A2B2"/>
                </a:solidFill>
                <a:latin typeface="Urbanist"/>
                <a:ea typeface="Urbanist"/>
                <a:cs typeface="Urbanist"/>
              </a:rPr>
              <a:t>+60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9600" y="5221688"/>
            <a:ext cx="10972800" cy="6350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9600" y="5380438"/>
            <a:ext cx="12700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96A2B2"/>
                </a:solidFill>
                <a:latin typeface="League Spartan SemiBold"/>
                <a:ea typeface="League Spartan SemiBold"/>
                <a:cs typeface="League Spartan SemiBold"/>
              </a:rPr>
              <a:t>REGISTERED NAME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19300" y="5329638"/>
            <a:ext cx="95631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E7EBF0"/>
                </a:solidFill>
                <a:latin typeface="Urbanist Medium"/>
                <a:ea typeface="Urbanist Medium"/>
                <a:cs typeface="Urbanist Medium"/>
              </a:rPr>
              <a:t>IAQ Technology International Sdn Bhd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9600" y="5532336"/>
            <a:ext cx="10972800" cy="6350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9600" y="5652986"/>
            <a:ext cx="12700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96A2B2"/>
                </a:solidFill>
                <a:latin typeface="League Spartan SemiBold"/>
                <a:ea typeface="League Spartan SemiBold"/>
                <a:cs typeface="League Spartan SemiBold"/>
              </a:rPr>
              <a:t>REGISTRATION NO.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19300" y="5602186"/>
            <a:ext cx="95631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E7EBF0"/>
                </a:solidFill>
                <a:latin typeface="Urbanist Medium"/>
                <a:ea typeface="Urbanist Medium"/>
                <a:cs typeface="Urbanist Medium"/>
              </a:rPr>
              <a:t>200001031412 (534019-T)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9600" y="5804891"/>
            <a:ext cx="10972800" cy="6350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9600" y="5925541"/>
            <a:ext cx="12700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96A2B2"/>
                </a:solidFill>
                <a:latin typeface="League Spartan SemiBold"/>
                <a:ea typeface="League Spartan SemiBold"/>
                <a:cs typeface="League Spartan SemiBold"/>
              </a:rPr>
              <a:t>BUSINESS ENQUIRIES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19300" y="5874741"/>
            <a:ext cx="95631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E7EBF0"/>
                </a:solidFill>
                <a:latin typeface="Urbanist Medium"/>
                <a:ea typeface="Urbanist Medium"/>
                <a:cs typeface="Urbanist Medium"/>
              </a:rPr>
              <a:t>business@iaqtechnology.com.my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9600" y="6077445"/>
            <a:ext cx="10972800" cy="6350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9600" y="6198095"/>
            <a:ext cx="12700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96A2B2"/>
                </a:solidFill>
                <a:latin typeface="League Spartan SemiBold"/>
                <a:ea typeface="League Spartan SemiBold"/>
                <a:cs typeface="League Spartan SemiBold"/>
              </a:rPr>
              <a:t>HEAD OFFICE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19300" y="6147295"/>
            <a:ext cx="95631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E7EBF0"/>
                </a:solidFill>
                <a:latin typeface="Urbanist Medium"/>
                <a:ea typeface="Urbanist Medium"/>
                <a:cs typeface="Urbanist Medium"/>
              </a:rPr>
              <a:t>12, Jalan Sungai Jeluh 32/192, Kawasan Perindustrian Kemuning, Seksyen 32, 40460 Shah Alam, Selangor, Malaysia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9600" y="6445250"/>
            <a:ext cx="402431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96A2B2"/>
                </a:solidFill>
                <a:latin typeface="League Spartan Medium"/>
                <a:ea typeface="League Spartan Medium"/>
                <a:cs typeface="League Spartan Medium"/>
              </a:rPr>
              <a:t>67 / 67</a:t>
            </a:r>
          </a:p>
        </p:txBody>
      </p:sp>
      <p:sp>
        <p:nvSpPr>
          <p:cNvPr id="60" name="Oval 59"/>
          <p:cNvSpPr/>
          <p:nvPr/>
        </p:nvSpPr>
        <p:spPr>
          <a:xfrm>
            <a:off x="5540273" y="6448425"/>
            <a:ext cx="38100" cy="38100"/>
          </a:xfrm>
          <a:prstGeom prst="ellipse">
            <a:avLst/>
          </a:prstGeom>
          <a:noFill/>
          <a:ln w="6350">
            <a:solidFill>
              <a:srgbClr val="96A2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641873" y="6448425"/>
            <a:ext cx="38100" cy="38100"/>
          </a:xfrm>
          <a:prstGeom prst="ellipse">
            <a:avLst/>
          </a:prstGeom>
          <a:noFill/>
          <a:ln w="6350">
            <a:solidFill>
              <a:srgbClr val="96A2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743473" y="6448425"/>
            <a:ext cx="38100" cy="38100"/>
          </a:xfrm>
          <a:prstGeom prst="ellipse">
            <a:avLst/>
          </a:prstGeom>
          <a:solidFill>
            <a:srgbClr val="EC2326"/>
          </a:solidFill>
          <a:ln w="6350">
            <a:solidFill>
              <a:srgbClr val="96A2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309822" y="6429375"/>
            <a:ext cx="127257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96A2B2"/>
                </a:solidFill>
                <a:latin typeface="League Spartan"/>
                <a:ea typeface="League Spartan"/>
                <a:cs typeface="League Spartan"/>
              </a:rPr>
              <a:t>SAFETY, QUALITY &amp; ESG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