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embeddedFontLst>
    <p:embeddedFont>
      <p:font typeface="League Spartan" pitchFamily="34" charset="0"/>
      <p:regular r:id="rId74"/>
    </p:embeddedFont>
    <p:embeddedFont>
      <p:font typeface="League Spartan Medium" pitchFamily="34" charset="0"/>
      <p:regular r:id="rId75"/>
    </p:embeddedFont>
    <p:embeddedFont>
      <p:font typeface="League Spartan SemiBold" pitchFamily="34" charset="0"/>
      <p:regular r:id="rId76"/>
    </p:embeddedFont>
    <p:embeddedFont>
      <p:font typeface="Poppins Medium" pitchFamily="34" charset="0"/>
      <p:regular r:id="rId77"/>
    </p:embeddedFont>
    <p:embeddedFont>
      <p:font typeface="Poppins SemiBold" pitchFamily="34" charset="0"/>
      <p:regular r:id="rId78"/>
    </p:embeddedFont>
    <p:embeddedFont>
      <p:font typeface="Poppins" pitchFamily="34" charset="0"/>
      <p:bold r:id="rId79"/>
    </p:embeddedFont>
    <p:embeddedFont>
      <p:font typeface="Urbanist" pitchFamily="34" charset="0"/>
      <p:regular r:id="rId80"/>
    </p:embeddedFont>
    <p:embeddedFont>
      <p:font typeface="Urbanist Medium" pitchFamily="34" charset="0"/>
      <p:regular r:id="rId81"/>
    </p:embeddedFont>
    <p:embeddedFont>
      <p:font typeface="Urbanist SemiBold" pitchFamily="34" charset="0"/>
      <p:regular r:id="rId8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font" Target="fonts/font74.fntdata"/><Relationship Id="rId75" Type="http://schemas.openxmlformats.org/officeDocument/2006/relationships/font" Target="fonts/font75.fntdata"/><Relationship Id="rId76" Type="http://schemas.openxmlformats.org/officeDocument/2006/relationships/font" Target="fonts/font76.fntdata"/><Relationship Id="rId77" Type="http://schemas.openxmlformats.org/officeDocument/2006/relationships/font" Target="fonts/font77.fntdata"/><Relationship Id="rId78" Type="http://schemas.openxmlformats.org/officeDocument/2006/relationships/font" Target="fonts/font78.fntdata"/><Relationship Id="rId79" Type="http://schemas.openxmlformats.org/officeDocument/2006/relationships/font" Target="fonts/font79.fntdata"/><Relationship Id="rId80" Type="http://schemas.openxmlformats.org/officeDocument/2006/relationships/font" Target="fonts/font80.fntdata"/><Relationship Id="rId81" Type="http://schemas.openxmlformats.org/officeDocument/2006/relationships/font" Target="fonts/font81.fntdata"/><Relationship Id="rId82" Type="http://schemas.openxmlformats.org/officeDocument/2006/relationships/font" Target="fonts/font8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jpg"/><Relationship Id="rId4" Type="http://schemas.openxmlformats.org/officeDocument/2006/relationships/image" Target="../media/image39.png"/><Relationship Id="rId5" Type="http://schemas.openxmlformats.org/officeDocument/2006/relationships/image" Target="../media/image40.jpg"/><Relationship Id="rId6" Type="http://schemas.openxmlformats.org/officeDocument/2006/relationships/image" Target="../media/image41.png"/><Relationship Id="rId7" Type="http://schemas.openxmlformats.org/officeDocument/2006/relationships/image" Target="../media/image42.jpg"/><Relationship Id="rId8" Type="http://schemas.openxmlformats.org/officeDocument/2006/relationships/image" Target="../media/image43.png"/><Relationship Id="rId9" Type="http://schemas.openxmlformats.org/officeDocument/2006/relationships/image" Target="../media/image44.jpg"/><Relationship Id="rId10" Type="http://schemas.openxmlformats.org/officeDocument/2006/relationships/image" Target="../media/image45.png"/><Relationship Id="rId11" Type="http://schemas.openxmlformats.org/officeDocument/2006/relationships/image" Target="../media/image46.jpg"/><Relationship Id="rId12" Type="http://schemas.openxmlformats.org/officeDocument/2006/relationships/image" Target="../media/image47.png"/><Relationship Id="rId13" Type="http://schemas.openxmlformats.org/officeDocument/2006/relationships/image" Target="../media/image48.jpg"/><Relationship Id="rId14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63.png"/><Relationship Id="rId5" Type="http://schemas.openxmlformats.org/officeDocument/2006/relationships/image" Target="../media/image64.jpg"/><Relationship Id="rId6" Type="http://schemas.openxmlformats.org/officeDocument/2006/relationships/image" Target="../media/image65.png"/><Relationship Id="rId7" Type="http://schemas.openxmlformats.org/officeDocument/2006/relationships/image" Target="../media/image66.jpg"/><Relationship Id="rId8" Type="http://schemas.openxmlformats.org/officeDocument/2006/relationships/image" Target="../media/image67.png"/><Relationship Id="rId9" Type="http://schemas.openxmlformats.org/officeDocument/2006/relationships/image" Target="../media/image68.jpg"/><Relationship Id="rId10" Type="http://schemas.openxmlformats.org/officeDocument/2006/relationships/image" Target="../media/image69.png"/><Relationship Id="rId11" Type="http://schemas.openxmlformats.org/officeDocument/2006/relationships/image" Target="../media/image70.jpg"/><Relationship Id="rId12" Type="http://schemas.openxmlformats.org/officeDocument/2006/relationships/image" Target="../media/image71.png"/><Relationship Id="rId13" Type="http://schemas.openxmlformats.org/officeDocument/2006/relationships/image" Target="../media/image72.jpg"/><Relationship Id="rId14" Type="http://schemas.openxmlformats.org/officeDocument/2006/relationships/image" Target="../media/image73.png"/><Relationship Id="rId15" Type="http://schemas.openxmlformats.org/officeDocument/2006/relationships/image" Target="../media/image74.jpg"/><Relationship Id="rId16" Type="http://schemas.openxmlformats.org/officeDocument/2006/relationships/image" Target="../media/image75.png"/><Relationship Id="rId17" Type="http://schemas.openxmlformats.org/officeDocument/2006/relationships/image" Target="../media/image7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8.jpg"/><Relationship Id="rId4" Type="http://schemas.openxmlformats.org/officeDocument/2006/relationships/image" Target="../media/image79.jpg"/><Relationship Id="rId5" Type="http://schemas.openxmlformats.org/officeDocument/2006/relationships/image" Target="../media/image8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2.jpg"/><Relationship Id="rId4" Type="http://schemas.openxmlformats.org/officeDocument/2006/relationships/image" Target="../media/image8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2.jpg"/><Relationship Id="rId4" Type="http://schemas.openxmlformats.org/officeDocument/2006/relationships/image" Target="../media/image8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4.jpg"/><Relationship Id="rId4" Type="http://schemas.openxmlformats.org/officeDocument/2006/relationships/image" Target="../media/image6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6.jpg"/><Relationship Id="rId4" Type="http://schemas.openxmlformats.org/officeDocument/2006/relationships/image" Target="../media/image8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8.jpg"/><Relationship Id="rId4" Type="http://schemas.openxmlformats.org/officeDocument/2006/relationships/image" Target="../media/image8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0.jpg"/><Relationship Id="rId4" Type="http://schemas.openxmlformats.org/officeDocument/2006/relationships/image" Target="../media/image9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1.jpg"/><Relationship Id="rId4" Type="http://schemas.openxmlformats.org/officeDocument/2006/relationships/image" Target="../media/image7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8.jpg"/><Relationship Id="rId4" Type="http://schemas.openxmlformats.org/officeDocument/2006/relationships/image" Target="../media/image9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3.jpg"/><Relationship Id="rId4" Type="http://schemas.openxmlformats.org/officeDocument/2006/relationships/image" Target="../media/image9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5.jpg"/><Relationship Id="rId4" Type="http://schemas.openxmlformats.org/officeDocument/2006/relationships/image" Target="../media/image9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7.jpg"/><Relationship Id="rId4" Type="http://schemas.openxmlformats.org/officeDocument/2006/relationships/image" Target="../media/image9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9.jpg"/><Relationship Id="rId4" Type="http://schemas.openxmlformats.org/officeDocument/2006/relationships/image" Target="../media/image10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1.jpg"/><Relationship Id="rId4" Type="http://schemas.openxmlformats.org/officeDocument/2006/relationships/image" Target="../media/image10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3.jpg"/><Relationship Id="rId4" Type="http://schemas.openxmlformats.org/officeDocument/2006/relationships/image" Target="../media/image10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5.jpg"/><Relationship Id="rId4" Type="http://schemas.openxmlformats.org/officeDocument/2006/relationships/image" Target="../media/image10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7.jpg"/><Relationship Id="rId4" Type="http://schemas.openxmlformats.org/officeDocument/2006/relationships/image" Target="../media/image10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9.jpg"/><Relationship Id="rId4" Type="http://schemas.openxmlformats.org/officeDocument/2006/relationships/image" Target="../media/image11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1.jpg"/><Relationship Id="rId4" Type="http://schemas.openxmlformats.org/officeDocument/2006/relationships/image" Target="../media/image1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3.jpg"/><Relationship Id="rId4" Type="http://schemas.openxmlformats.org/officeDocument/2006/relationships/image" Target="../media/image1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5.jpg"/><Relationship Id="rId4" Type="http://schemas.openxmlformats.org/officeDocument/2006/relationships/image" Target="../media/image11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7.jpg"/><Relationship Id="rId4" Type="http://schemas.openxmlformats.org/officeDocument/2006/relationships/image" Target="../media/image11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9.jpg"/><Relationship Id="rId4" Type="http://schemas.openxmlformats.org/officeDocument/2006/relationships/image" Target="../media/image12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1.jpg"/><Relationship Id="rId4" Type="http://schemas.openxmlformats.org/officeDocument/2006/relationships/image" Target="../media/image122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3.jpg"/><Relationship Id="rId4" Type="http://schemas.openxmlformats.org/officeDocument/2006/relationships/image" Target="../media/image12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5.jpg"/><Relationship Id="rId4" Type="http://schemas.openxmlformats.org/officeDocument/2006/relationships/image" Target="../media/image126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7.jpg"/><Relationship Id="rId4" Type="http://schemas.openxmlformats.org/officeDocument/2006/relationships/image" Target="../media/image12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9.jpg"/><Relationship Id="rId4" Type="http://schemas.openxmlformats.org/officeDocument/2006/relationships/image" Target="../media/image1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1.jpg"/><Relationship Id="rId4" Type="http://schemas.openxmlformats.org/officeDocument/2006/relationships/image" Target="../media/image132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3.jpg"/><Relationship Id="rId4" Type="http://schemas.openxmlformats.org/officeDocument/2006/relationships/image" Target="../media/image13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5.jpg"/><Relationship Id="rId4" Type="http://schemas.openxmlformats.org/officeDocument/2006/relationships/image" Target="../media/image13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7.jpg"/><Relationship Id="rId4" Type="http://schemas.openxmlformats.org/officeDocument/2006/relationships/image" Target="../media/image13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9.jpg"/><Relationship Id="rId4" Type="http://schemas.openxmlformats.org/officeDocument/2006/relationships/image" Target="../media/image14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1.jpg"/><Relationship Id="rId4" Type="http://schemas.openxmlformats.org/officeDocument/2006/relationships/image" Target="../media/image14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3.jpg"/><Relationship Id="rId4" Type="http://schemas.openxmlformats.org/officeDocument/2006/relationships/image" Target="../media/image14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5.jpg"/><Relationship Id="rId4" Type="http://schemas.openxmlformats.org/officeDocument/2006/relationships/image" Target="../media/image146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7.jpg"/><Relationship Id="rId4" Type="http://schemas.openxmlformats.org/officeDocument/2006/relationships/image" Target="../media/image148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9.jpg"/><Relationship Id="rId4" Type="http://schemas.openxmlformats.org/officeDocument/2006/relationships/image" Target="../media/image150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1.jpg"/><Relationship Id="rId4" Type="http://schemas.openxmlformats.org/officeDocument/2006/relationships/image" Target="../media/image152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3.jpg"/><Relationship Id="rId4" Type="http://schemas.openxmlformats.org/officeDocument/2006/relationships/image" Target="../media/image1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5.jpg"/><Relationship Id="rId4" Type="http://schemas.openxmlformats.org/officeDocument/2006/relationships/image" Target="../media/image15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7.jpg"/><Relationship Id="rId4" Type="http://schemas.openxmlformats.org/officeDocument/2006/relationships/image" Target="../media/image15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9.jpg"/><Relationship Id="rId4" Type="http://schemas.openxmlformats.org/officeDocument/2006/relationships/image" Target="../media/image16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1.jpg"/><Relationship Id="rId4" Type="http://schemas.openxmlformats.org/officeDocument/2006/relationships/image" Target="../media/image162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3.jpg"/><Relationship Id="rId4" Type="http://schemas.openxmlformats.org/officeDocument/2006/relationships/image" Target="../media/image16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7.jpg"/><Relationship Id="rId4" Type="http://schemas.openxmlformats.org/officeDocument/2006/relationships/image" Target="../media/image168.jpg"/><Relationship Id="rId5" Type="http://schemas.openxmlformats.org/officeDocument/2006/relationships/image" Target="../media/image16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0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Relationship Id="rId6" Type="http://schemas.openxmlformats.org/officeDocument/2006/relationships/image" Target="../media/image17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jpg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5.jpg"/><Relationship Id="rId4" Type="http://schemas.openxmlformats.org/officeDocument/2006/relationships/image" Target="../media/image176.png"/><Relationship Id="rId5" Type="http://schemas.openxmlformats.org/officeDocument/2006/relationships/image" Target="../media/image177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18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Relationship Id="rId5" Type="http://schemas.openxmlformats.org/officeDocument/2006/relationships/image" Target="../media/image185.png"/><Relationship Id="rId6" Type="http://schemas.openxmlformats.org/officeDocument/2006/relationships/image" Target="../media/image186.png"/><Relationship Id="rId7" Type="http://schemas.openxmlformats.org/officeDocument/2006/relationships/image" Target="../media/image187.png"/><Relationship Id="rId8" Type="http://schemas.openxmlformats.org/officeDocument/2006/relationships/image" Target="../media/image18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6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8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48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810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7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33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9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cover-site.jpg"/>
          <p:cNvPicPr>
            <a:picLocks noChangeAspect="1"/>
          </p:cNvPicPr>
          <p:nvPr/>
        </p:nvPicPr>
        <p:blipFill>
          <a:blip r:embed="rId2"/>
          <a:srcRect t="4121" b="4121"/>
          <a:stretch>
            <a:fillRect/>
          </a:stretch>
        </p:blipFill>
        <p:spPr>
          <a:xfrm>
            <a:off x="4445000" y="0"/>
            <a:ext cx="7747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304800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60400"/>
            <a:ext cx="38354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38900"/>
            <a:ext cx="20216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62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PRESENTATION SLIDE · EDITION 2026</a:t>
            </a:r>
          </a:p>
        </p:txBody>
      </p:sp>
      <p:pic>
        <p:nvPicPr>
          <p:cNvPr id="26" name="Picture 25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7600"/>
            <a:ext cx="1905000" cy="952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2920308"/>
            <a:ext cx="648989" cy="1035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0" b="1" i="0" spc="-29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889" y="3385147"/>
            <a:ext cx="833539" cy="2939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years of delivery</a:t>
            </a:r>
          </a:p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since 1995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966769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1" i="0" spc="-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Engineering the facilities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245572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0" i="0" spc="-40">
                <a:solidFill>
                  <a:srgbClr val="E7EBF0"/>
                </a:solidFill>
                <a:latin typeface="Poppins Medium"/>
                <a:ea typeface="Poppins Medium"/>
                <a:cs typeface="Poppins Medium"/>
              </a:rPr>
              <a:t>advanced industry runs 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775" y="4718050"/>
            <a:ext cx="33724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778375"/>
            <a:ext cx="34359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EPC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6217" y="4718050"/>
            <a:ext cx="2305545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042" y="4778375"/>
            <a:ext cx="2311895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Process Critical Utilities &amp; Total Tool Installation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775" y="5026025"/>
            <a:ext cx="98127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086350"/>
            <a:ext cx="98762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Energy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413375"/>
            <a:ext cx="3505200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For cleanroom critical industries: semiconductor, data centre, EV battery, pharmaceutical and energy.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861050"/>
            <a:ext cx="35052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969000"/>
            <a:ext cx="35052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6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ISO 9001 · ISO 14001 · ISO 45001 · CIDB G7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parts. Every section is numbered, named and opens with a one-line summary.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1925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17" y="1682750"/>
            <a:ext cx="304621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17" y="1907781"/>
            <a:ext cx="304621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are, how we are built, and what we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About IAQ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IAQ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Global Footprint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Core Values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Business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Delivery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Scope of Services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00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Industry Focus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7233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7233" y="161925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5403" y="1682750"/>
            <a:ext cx="298926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25403" y="1907781"/>
            <a:ext cx="2989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work itself, grouped by industry and region.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233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033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Portfolio Overview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7233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7233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033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Malaysia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7233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7233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033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Singapore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233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7233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033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Data Centre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7233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233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9033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EV Battery · Europe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7233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7233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033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Europe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77233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7233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033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&amp; Display · China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233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7233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033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Photovoltaics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7233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233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9033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Pharmaceutical &amp; Medical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77233" y="45033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233" y="45668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033" y="45668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District Cooling &amp; Energy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7233" y="47509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7233" y="48144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02.11+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033" y="48144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Full Project Reference List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4866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44866" y="161925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3063" y="1682750"/>
            <a:ext cx="297924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03063" y="1907781"/>
            <a:ext cx="297924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standards every project is held to.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44866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76666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ESG Commitments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4866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44866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76666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Certifications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44866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866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76666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Builder of the Year 2024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44866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44866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66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 &amp; Recognition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44866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4866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76666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Closing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44866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44866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76666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Contacts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02 / 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678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01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01.1 TO 01.9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Established 1995 · 31 years in total facility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530+ people across 7 global offices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9001 · ISO 14001 · ISO 45001 certified</a:t>
            </a:r>
          </a:p>
        </p:txBody>
      </p:sp>
      <p:pic>
        <p:nvPicPr>
          <p:cNvPr id="15" name="Picture 14" descr="company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115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115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7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About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 and what we build. The delivery models are in 01.7.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4826000" cy="10372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Established 1995.</a:t>
            </a:r>
          </a:p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 trailblazer in total facility solutions.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94102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Engineering, procurement, construction and maintenance for the industries where contamination, uptime and safety decide the outcome, from semiconductor wafer fabs to gigafactories, data centres and pharmaceutical plants.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80994"/>
            <a:ext cx="4826000" cy="549872"/>
          </a:xfrm>
          <a:prstGeom prst="rect">
            <a:avLst/>
          </a:prstGeom>
          <a:solidFill>
            <a:srgbClr val="101A2B">
              <a:alpha val="43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3633394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595294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IAQ Technology International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3822598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1200" y="3784498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200001031412 (534019-T)</a:t>
            </a:r>
          </a:p>
        </p:txBody>
      </p:sp>
      <p:pic>
        <p:nvPicPr>
          <p:cNvPr id="17" name="Picture 16" descr="about-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701800"/>
            <a:ext cx="5981700" cy="29908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600" y="4857750"/>
            <a:ext cx="48260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v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273675"/>
            <a:ext cx="660400" cy="66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12900" y="5306714"/>
            <a:ext cx="3632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5583536"/>
            <a:ext cx="36322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 be a regional facility solutions provider with engineering excellence that facilitates technological innovation and advancement in quality of life.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700" y="4857750"/>
            <a:ext cx="59817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mi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5273675"/>
            <a:ext cx="660400" cy="66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04000" y="5306714"/>
            <a:ext cx="4787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0" y="5583536"/>
            <a:ext cx="47879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Providing innovative, sustainable facility and engineering solutions benefitting our clients and stakeholders, driven by our leadership, employees and partners globally.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 / 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IAQ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company in six numbers, the delivery cycle behind them, and the certifications that stand behind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822450" cy="1632744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58092"/>
            <a:ext cx="330200" cy="3302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1a75c4aa5e0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2134292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3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81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799ada602348c6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00" y="2134292"/>
            <a:ext cx="177800" cy="177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781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1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EMPLOYEES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9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87e6c0d13f89a4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100" y="2134292"/>
            <a:ext cx="177800" cy="177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069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69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42db20855d65e2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900" y="213429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357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57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BUILT-UP AREA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45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1f8802463176fa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0700" y="2134292"/>
            <a:ext cx="177800" cy="177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645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45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GLOBAL OFFICES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53600" y="1701800"/>
            <a:ext cx="182880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3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81937597fe2cd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2134292"/>
            <a:ext cx="177800" cy="177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93300" y="2388292"/>
            <a:ext cx="154940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/ 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300" y="2888653"/>
            <a:ext cx="15494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CARBON FOOTPRINT REDUCED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525044"/>
            <a:ext cx="10972800" cy="22343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3525044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500" y="3860006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3747294"/>
            <a:ext cx="7112000" cy="3000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12"/>
              </a:lnSpc>
            </a:pPr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proudly Malaysian company on three continents, delivering mission-critical cleanroom facilities where contamination control, precision and compliance are absolute.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589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319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773d159918c4119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2100" y="4522191"/>
            <a:ext cx="209550" cy="2095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791691" y="4366616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91691" y="4392016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58589" y="4976216"/>
            <a:ext cx="816572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8806" y="5238452"/>
            <a:ext cx="8961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consultation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306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035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48987b432b220d4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50" y="4522191"/>
            <a:ext cx="209550" cy="2095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3544195" y="4366616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4195" y="4392016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89459" y="4976216"/>
            <a:ext cx="89803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44419" y="5238452"/>
            <a:ext cx="98821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&amp; supply chain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022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752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9fa5c40822603ab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5400" y="4522191"/>
            <a:ext cx="209550" cy="20955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5318227" y="4366616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18227" y="4392016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63694" y="4976216"/>
            <a:ext cx="89296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8044" y="5238452"/>
            <a:ext cx="1084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7392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7468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174bccb33fb11ec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7050" y="4522191"/>
            <a:ext cx="209550" cy="2095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7091166" y="4366616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91166" y="4392016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1450" y="4976216"/>
            <a:ext cx="920648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61608" y="5238452"/>
            <a:ext cx="12404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install and hookup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45575" y="4652366"/>
            <a:ext cx="109855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51852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4" name="Picture 73" descr="961a833f2fe1a0e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48700" y="4522191"/>
            <a:ext cx="209550" cy="209550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8861031" y="4366616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61031" y="4392016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1659" y="4976216"/>
            <a:ext cx="50353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067" y="5238452"/>
            <a:ext cx="11407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&amp; handover</a:t>
            </a:r>
          </a:p>
        </p:txBody>
      </p:sp>
      <p:sp>
        <p:nvSpPr>
          <p:cNvPr id="79" name="Oval 78"/>
          <p:cNvSpPr/>
          <p:nvPr/>
        </p:nvSpPr>
        <p:spPr>
          <a:xfrm>
            <a:off x="10290175" y="4392016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79" descr="553c29aa91a1b02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20350" y="4522191"/>
            <a:ext cx="209550" cy="20955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10630891" y="4366616"/>
            <a:ext cx="17998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630891" y="4392016"/>
            <a:ext cx="17998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69614" y="4976216"/>
            <a:ext cx="91092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2397" y="5238452"/>
            <a:ext cx="1085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" y="5949848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CERTIFICATION &amp; RECOGNITION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9600" y="6121298"/>
            <a:ext cx="1345508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09600" y="6203848"/>
            <a:ext cx="1345508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9001:2015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31308" y="6121298"/>
            <a:ext cx="137983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31308" y="6203848"/>
            <a:ext cx="137983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14001:2015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487344" y="6121298"/>
            <a:ext cx="1399381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487344" y="6203848"/>
            <a:ext cx="1399381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45001:2018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62925" y="6121298"/>
            <a:ext cx="940492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962925" y="6203848"/>
            <a:ext cx="940492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CIDB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979617" y="6121298"/>
            <a:ext cx="894753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79617" y="6203848"/>
            <a:ext cx="894753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PKK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950570" y="6121298"/>
            <a:ext cx="170100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950570" y="6203848"/>
            <a:ext cx="170100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HIGHWIRE SAFETY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GOLD AWARD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727777" y="6121298"/>
            <a:ext cx="1818284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27777" y="6203848"/>
            <a:ext cx="1818284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MCIEA 2024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BUILDER OF THE YEAR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 / 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IAQ's own timeline, 1995 to 2026: the offices opened along the way, and the projects that marked each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03450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OFFICES OPENED</a:t>
            </a:r>
          </a:p>
        </p:txBody>
      </p:sp>
      <p:pic>
        <p:nvPicPr>
          <p:cNvPr id="12" name="Picture 11" descr="d8e638e5dfea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36750"/>
            <a:ext cx="215900" cy="107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000" y="1847850"/>
            <a:ext cx="3823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2006600"/>
            <a:ext cx="382391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pic>
        <p:nvPicPr>
          <p:cNvPr id="15" name="Picture 14" descr="36915e38abb37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171" y="1918792"/>
            <a:ext cx="212671" cy="14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62956" y="1847850"/>
            <a:ext cx="36810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Morocco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2956" y="2006600"/>
            <a:ext cx="36810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2000</a:t>
            </a:r>
          </a:p>
        </p:txBody>
      </p:sp>
      <p:pic>
        <p:nvPicPr>
          <p:cNvPr id="18" name="Picture 17" descr="d9e1aaea8eb2d2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4840" y="1918792"/>
            <a:ext cx="212671" cy="143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22625" y="1847850"/>
            <a:ext cx="2477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China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2625" y="2006600"/>
            <a:ext cx="247752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2006</a:t>
            </a:r>
          </a:p>
        </p:txBody>
      </p:sp>
      <p:pic>
        <p:nvPicPr>
          <p:cNvPr id="21" name="Picture 20" descr="a41ff103a2c805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222" y="1923256"/>
            <a:ext cx="208540" cy="134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1942" y="1847850"/>
            <a:ext cx="2866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Poland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942" y="2006600"/>
            <a:ext cx="286645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2007</a:t>
            </a:r>
          </a:p>
        </p:txBody>
      </p:sp>
      <p:pic>
        <p:nvPicPr>
          <p:cNvPr id="24" name="Picture 23" descr="ccab05aa1cd926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368" y="1918792"/>
            <a:ext cx="212671" cy="1438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0153" y="1847850"/>
            <a:ext cx="2847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153" y="2006600"/>
            <a:ext cx="2847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2008</a:t>
            </a:r>
          </a:p>
        </p:txBody>
      </p:sp>
      <p:pic>
        <p:nvPicPr>
          <p:cNvPr id="27" name="Picture 26" descr="3484b1595ff1e2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0758" y="1923256"/>
            <a:ext cx="208540" cy="134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16478" y="1847850"/>
            <a:ext cx="3492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6478" y="2006600"/>
            <a:ext cx="34925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pic>
        <p:nvPicPr>
          <p:cNvPr id="30" name="Picture 29" descr="669b9a824696c9c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9508" y="1918792"/>
            <a:ext cx="212671" cy="1438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57294" y="1847850"/>
            <a:ext cx="4393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294" y="2006600"/>
            <a:ext cx="439344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pic>
        <p:nvPicPr>
          <p:cNvPr id="33" name="Picture 32" descr="a1bc6b949f166d8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2483" y="1923256"/>
            <a:ext cx="208540" cy="134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88203" y="1847850"/>
            <a:ext cx="4025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8203" y="2006600"/>
            <a:ext cx="40253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pic>
        <p:nvPicPr>
          <p:cNvPr id="36" name="Picture 35" descr="593927064182df0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4516" y="1918792"/>
            <a:ext cx="212671" cy="1438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82302" y="1847850"/>
            <a:ext cx="576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2302" y="2006600"/>
            <a:ext cx="5764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pic>
        <p:nvPicPr>
          <p:cNvPr id="39" name="Picture 38" descr="b7ef0ae251f8b2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2541" y="1918792"/>
            <a:ext cx="212671" cy="14386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350327" y="1847850"/>
            <a:ext cx="23157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0327" y="2006600"/>
            <a:ext cx="231578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42" name="Oval 41"/>
          <p:cNvSpPr/>
          <p:nvPr/>
        </p:nvSpPr>
        <p:spPr>
          <a:xfrm>
            <a:off x="609600" y="2384425"/>
            <a:ext cx="57150" cy="571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2349500"/>
            <a:ext cx="804170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E2A3D"/>
                </a:solidFill>
                <a:latin typeface="League Spartan SemiBold"/>
                <a:ea typeface="League Spartan SemiBold"/>
                <a:cs typeface="League Spartan SemiBold"/>
              </a:rPr>
              <a:t>EPCC PROJECTS</a:t>
            </a:r>
          </a:p>
        </p:txBody>
      </p:sp>
      <p:sp>
        <p:nvSpPr>
          <p:cNvPr id="44" name="Oval 43"/>
          <p:cNvSpPr/>
          <p:nvPr/>
        </p:nvSpPr>
        <p:spPr>
          <a:xfrm>
            <a:off x="1553470" y="2384425"/>
            <a:ext cx="57150" cy="571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3470" y="2349500"/>
            <a:ext cx="926008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2A150"/>
                </a:solidFill>
                <a:latin typeface="League Spartan SemiBold"/>
                <a:ea typeface="League Spartan SemiBold"/>
                <a:cs typeface="League Spartan SemiBold"/>
              </a:rPr>
              <a:t>ENERGY PROJECTS</a:t>
            </a:r>
          </a:p>
        </p:txBody>
      </p:sp>
      <p:sp>
        <p:nvSpPr>
          <p:cNvPr id="46" name="Oval 45"/>
          <p:cNvSpPr/>
          <p:nvPr/>
        </p:nvSpPr>
        <p:spPr>
          <a:xfrm>
            <a:off x="2619178" y="2384425"/>
            <a:ext cx="57150" cy="571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9178" y="2349500"/>
            <a:ext cx="1173162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7A3DB8"/>
                </a:solidFill>
                <a:latin typeface="League Spartan SemiBold"/>
                <a:ea typeface="League Spartan SemiBold"/>
                <a:cs typeface="League Spartan SemiBold"/>
              </a:rPr>
              <a:t>TOOL UTILITY PROJECTS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55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6800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Established as a cleanroom specialist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550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5733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4940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07259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40509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0509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ST Microelectronics, Class 10K cleanroom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050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331047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2310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80969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14219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14219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Western Digital PJ, Class 10 cleanroom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1421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104756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9681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54672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7922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7922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MEMC Ipoh, Class 1 cleanroom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7922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7845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522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381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61631" y="3176289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1631" y="3135014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MRT Project tunnel station M&amp;E</a:t>
            </a:r>
          </a:p>
        </p:txBody>
      </p:sp>
      <p:sp>
        <p:nvSpPr>
          <p:cNvPr id="75" name="Oval 74"/>
          <p:cNvSpPr/>
          <p:nvPr/>
        </p:nvSpPr>
        <p:spPr>
          <a:xfrm>
            <a:off x="4161631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1631" y="343207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(EPC) Infineon MKZ, Class 1K cleanroom</a:t>
            </a:r>
          </a:p>
        </p:txBody>
      </p:sp>
      <p:sp>
        <p:nvSpPr>
          <p:cNvPr id="77" name="Oval 76"/>
          <p:cNvSpPr/>
          <p:nvPr/>
        </p:nvSpPr>
        <p:spPr>
          <a:xfrm>
            <a:off x="4161631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61631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SilTerra FAB</a:t>
            </a:r>
          </a:p>
        </p:txBody>
      </p:sp>
      <p:sp>
        <p:nvSpPr>
          <p:cNvPr id="79" name="Oval 78"/>
          <p:cNvSpPr/>
          <p:nvPr/>
        </p:nvSpPr>
        <p:spPr>
          <a:xfrm>
            <a:off x="4161631" y="3947516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1631" y="3906241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(PCC) Rapid Project Siemens powerplant piping works</a:t>
            </a:r>
          </a:p>
        </p:txBody>
      </p:sp>
      <p:sp>
        <p:nvSpPr>
          <p:cNvPr id="81" name="Oval 80"/>
          <p:cNvSpPr/>
          <p:nvPr/>
        </p:nvSpPr>
        <p:spPr>
          <a:xfrm>
            <a:off x="4161631" y="4244581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1631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(BOT) Pagoh Edu Hub DCS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163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5216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423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02091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935341" y="503763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5341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(GC) KLCC DCC Plant, largest DCC plant in Malaysia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534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2587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94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580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09050" y="424458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709050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Ain Medicare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09050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9958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9165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49605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82855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855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Vital HC</a:t>
            </a:r>
          </a:p>
        </p:txBody>
      </p:sp>
      <p:sp>
        <p:nvSpPr>
          <p:cNvPr id="101" name="Oval 100"/>
          <p:cNvSpPr/>
          <p:nvPr/>
        </p:nvSpPr>
        <p:spPr>
          <a:xfrm>
            <a:off x="6482855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82855" y="517346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Robert Bosch</a:t>
            </a:r>
          </a:p>
        </p:txBody>
      </p:sp>
      <p:sp>
        <p:nvSpPr>
          <p:cNvPr id="103" name="Oval 102"/>
          <p:cNvSpPr/>
          <p:nvPr/>
        </p:nvSpPr>
        <p:spPr>
          <a:xfrm>
            <a:off x="6482855" y="5391842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82855" y="5350567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P Project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82855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7339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6545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923314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56564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6564" y="3432073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Microsoft Data Center</a:t>
            </a:r>
          </a:p>
        </p:txBody>
      </p:sp>
      <p:sp>
        <p:nvSpPr>
          <p:cNvPr id="111" name="Oval 110"/>
          <p:cNvSpPr/>
          <p:nvPr/>
        </p:nvSpPr>
        <p:spPr>
          <a:xfrm>
            <a:off x="7256564" y="3650456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56564" y="360918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SilTerra expansion</a:t>
            </a:r>
          </a:p>
        </p:txBody>
      </p:sp>
      <p:sp>
        <p:nvSpPr>
          <p:cNvPr id="113" name="Oval 112"/>
          <p:cNvSpPr/>
          <p:nvPr/>
        </p:nvSpPr>
        <p:spPr>
          <a:xfrm>
            <a:off x="7256564" y="382756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56564" y="3786289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(EPCM / D&amp;B) Soitec PR1A expansion</a:t>
            </a:r>
          </a:p>
        </p:txBody>
      </p:sp>
      <p:sp>
        <p:nvSpPr>
          <p:cNvPr id="115" name="Oval 114"/>
          <p:cNvSpPr/>
          <p:nvPr/>
        </p:nvSpPr>
        <p:spPr>
          <a:xfrm>
            <a:off x="7256564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256564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EPCM) Infineon IFKM3 expansion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56564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4710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39164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97017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030267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30267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XFAB 40K expansion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026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20805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1286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470727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03977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03977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Progressive Build P Project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0397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294514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657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4436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77686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77686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Hasegawa</a:t>
            </a:r>
          </a:p>
        </p:txBody>
      </p:sp>
      <p:sp>
        <p:nvSpPr>
          <p:cNvPr id="135" name="Oval 134"/>
          <p:cNvSpPr/>
          <p:nvPr/>
        </p:nvSpPr>
        <p:spPr>
          <a:xfrm>
            <a:off x="9577686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77686" y="5173466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160MW hyperscale data centre</a:t>
            </a:r>
          </a:p>
        </p:txBody>
      </p:sp>
      <p:sp>
        <p:nvSpPr>
          <p:cNvPr id="137" name="Oval 136"/>
          <p:cNvSpPr/>
          <p:nvPr/>
        </p:nvSpPr>
        <p:spPr>
          <a:xfrm>
            <a:off x="9577686" y="5511800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7686" y="5470525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ESCM Germany</a:t>
            </a:r>
          </a:p>
        </p:txBody>
      </p:sp>
      <p:sp>
        <p:nvSpPr>
          <p:cNvPr id="139" name="Oval 138"/>
          <p:cNvSpPr/>
          <p:nvPr/>
        </p:nvSpPr>
        <p:spPr>
          <a:xfrm>
            <a:off x="9577686" y="5688908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77686" y="564763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KLCC DCS chiller upgrading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77686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6822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60286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18145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351395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351395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(D&amp;B) Tata Dholera DF1</a:t>
            </a:r>
          </a:p>
        </p:txBody>
      </p:sp>
      <p:sp>
        <p:nvSpPr>
          <p:cNvPr id="147" name="Oval 146"/>
          <p:cNvSpPr/>
          <p:nvPr/>
        </p:nvSpPr>
        <p:spPr>
          <a:xfrm>
            <a:off x="10351395" y="3947516"/>
            <a:ext cx="31750" cy="317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351395" y="390624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7A3DB8"/>
                </a:solidFill>
                <a:latin typeface="Urbanist Medium"/>
                <a:ea typeface="Urbanist Medium"/>
                <a:cs typeface="Urbanist Medium"/>
              </a:rPr>
              <a:t>(EPCM / HU) Micron MSH</a:t>
            </a:r>
          </a:p>
        </p:txBody>
      </p:sp>
      <p:sp>
        <p:nvSpPr>
          <p:cNvPr id="149" name="Oval 148"/>
          <p:cNvSpPr/>
          <p:nvPr/>
        </p:nvSpPr>
        <p:spPr>
          <a:xfrm>
            <a:off x="10351395" y="412462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351395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GDC Putrajaya chiller upgrading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351395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84193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3399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 / 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288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288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009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Global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markets, from the Malaysian headquarters outward.</a:t>
            </a:r>
          </a:p>
        </p:txBody>
      </p:sp>
      <p:pic>
        <p:nvPicPr>
          <p:cNvPr id="10" name="Picture 9" descr="map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90108"/>
            <a:ext cx="5270500" cy="2871591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643361" y="4010222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1461" y="4048322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3861" y="4041972"/>
            <a:ext cx="74959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UNITED STATES</a:t>
            </a:r>
          </a:p>
        </p:txBody>
      </p:sp>
      <p:sp>
        <p:nvSpPr>
          <p:cNvPr id="14" name="Oval 13"/>
          <p:cNvSpPr/>
          <p:nvPr/>
        </p:nvSpPr>
        <p:spPr>
          <a:xfrm>
            <a:off x="2881909" y="3437338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0009" y="3475438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3895" y="3367488"/>
            <a:ext cx="423564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IRELAND</a:t>
            </a:r>
          </a:p>
        </p:txBody>
      </p:sp>
      <p:sp>
        <p:nvSpPr>
          <p:cNvPr id="17" name="Oval 16"/>
          <p:cNvSpPr/>
          <p:nvPr/>
        </p:nvSpPr>
        <p:spPr>
          <a:xfrm>
            <a:off x="3169145" y="3234931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07245" y="3273031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3634" y="3203181"/>
            <a:ext cx="411061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SWEDEN</a:t>
            </a:r>
          </a:p>
        </p:txBody>
      </p:sp>
      <p:sp>
        <p:nvSpPr>
          <p:cNvPr id="20" name="Oval 19"/>
          <p:cNvSpPr/>
          <p:nvPr/>
        </p:nvSpPr>
        <p:spPr>
          <a:xfrm>
            <a:off x="3158630" y="3491903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96730" y="3530003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458" y="3657003"/>
            <a:ext cx="49272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GERMANY</a:t>
            </a:r>
          </a:p>
        </p:txBody>
      </p:sp>
      <p:sp>
        <p:nvSpPr>
          <p:cNvPr id="23" name="Oval 22"/>
          <p:cNvSpPr/>
          <p:nvPr/>
        </p:nvSpPr>
        <p:spPr>
          <a:xfrm>
            <a:off x="4104678" y="4102100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42778" y="4140200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5178" y="4133850"/>
            <a:ext cx="28049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INDIA</a:t>
            </a:r>
          </a:p>
        </p:txBody>
      </p:sp>
      <p:sp>
        <p:nvSpPr>
          <p:cNvPr id="26" name="Oval 25"/>
          <p:cNvSpPr/>
          <p:nvPr/>
        </p:nvSpPr>
        <p:spPr>
          <a:xfrm>
            <a:off x="4499966" y="412799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8066" y="416609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466" y="4045445"/>
            <a:ext cx="498475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9" name="Oval 28"/>
          <p:cNvSpPr/>
          <p:nvPr/>
        </p:nvSpPr>
        <p:spPr>
          <a:xfrm>
            <a:off x="4507808" y="414377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5908" y="418187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8308" y="4315225"/>
            <a:ext cx="57825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pic>
        <p:nvPicPr>
          <p:cNvPr id="32" name="Picture 31" descr="d732deedda998c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318645"/>
            <a:ext cx="292100" cy="1460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2293245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7400" y="2299595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7400" y="2482456"/>
            <a:ext cx="4445000" cy="247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1"/>
              </a:lnSpc>
            </a:pPr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Turnkey design, procurement, construction and commissioning for hi-tech clients. Selangor (HQ), Penang, Johor and Kuching.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000" y="2838253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c277a8d47ac4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9" y="2952553"/>
            <a:ext cx="289582" cy="1825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29400" y="2927153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7400" y="2933503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7400" y="3116364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Gigafactory construction for EV battery manufacture, part of Europe’s clean and digital transition.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23000" y="3338709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c36c0a20ee0fb2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621" y="3453009"/>
            <a:ext cx="288859" cy="1946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29400" y="3427609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7400" y="3433959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7400" y="3616820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services to global clients in the semiconductor industry.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3000" y="3839172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d61d50bfbd6642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4259" y="3953472"/>
            <a:ext cx="289582" cy="18256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29400" y="3928072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7400" y="3934422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7400" y="4117283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services following the semiconductor industry expansion in Europe.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3000" y="4339628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80a93db4bbe9f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4621" y="4453928"/>
            <a:ext cx="288859" cy="1946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29400" y="4428528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7400" y="4434878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7400" y="4617739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D&amp;B turnkey delivery for India’s first wafer fab.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000" y="4840091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f872ae0da7726d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4621" y="4954391"/>
            <a:ext cx="288859" cy="1946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29400" y="4928991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7400" y="4935341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7400" y="5118202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Entry to the US following the localisation of advanced technology facilities.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23000" y="5340547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b8d461d3ed08853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621" y="5454847"/>
            <a:ext cx="288859" cy="1946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429447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7400" y="5435797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Ireland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7400" y="5618658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to support a client’s wafer fabrication project.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45250"/>
            <a:ext cx="4051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 / 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Core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commitments that govern how every project is run. Not words, but working rules.</a:t>
            </a:r>
          </a:p>
        </p:txBody>
      </p:sp>
      <p:pic>
        <p:nvPicPr>
          <p:cNvPr id="10" name="Picture 9" descr="val-safety.jpg"/>
          <p:cNvPicPr>
            <a:picLocks noChangeAspect="1"/>
          </p:cNvPicPr>
          <p:nvPr/>
        </p:nvPicPr>
        <p:blipFill>
          <a:blip r:embed="rId3"/>
          <a:srcRect t="3858" b="3858"/>
          <a:stretch>
            <a:fillRect/>
          </a:stretch>
        </p:blipFill>
        <p:spPr>
          <a:xfrm>
            <a:off x="609600" y="1701800"/>
            <a:ext cx="3522066" cy="13548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305663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05663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550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99854683d601e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75" y="2983605"/>
            <a:ext cx="184150" cy="184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27748" y="308838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300" y="331063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300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services and works are carried out to the highest standard of safety and ethics.</a:t>
            </a:r>
          </a:p>
        </p:txBody>
      </p:sp>
      <p:pic>
        <p:nvPicPr>
          <p:cNvPr id="19" name="Picture 18" descr="val-quality.jpg"/>
          <p:cNvPicPr>
            <a:picLocks noChangeAspect="1"/>
          </p:cNvPicPr>
          <p:nvPr/>
        </p:nvPicPr>
        <p:blipFill>
          <a:blip r:embed="rId5"/>
          <a:srcRect t="3860" b="3860"/>
          <a:stretch>
            <a:fillRect/>
          </a:stretch>
        </p:blipFill>
        <p:spPr>
          <a:xfrm>
            <a:off x="4334866" y="1701800"/>
            <a:ext cx="3522167" cy="135483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34866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866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42816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74566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6ec4f700394a58e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341" y="2983605"/>
            <a:ext cx="184150" cy="18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6162" y="308838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4566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 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566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 take pride in the quality of solutions delivered, to achieve maximum client satisfaction.</a:t>
            </a:r>
          </a:p>
        </p:txBody>
      </p:sp>
      <p:pic>
        <p:nvPicPr>
          <p:cNvPr id="28" name="Picture 27" descr="val-integrity.jpg"/>
          <p:cNvPicPr>
            <a:picLocks noChangeAspect="1"/>
          </p:cNvPicPr>
          <p:nvPr/>
        </p:nvPicPr>
        <p:blipFill>
          <a:blip r:embed="rId7"/>
          <a:srcRect t="3860" b="3860"/>
          <a:stretch>
            <a:fillRect/>
          </a:stretch>
        </p:blipFill>
        <p:spPr>
          <a:xfrm>
            <a:off x="8060233" y="1701800"/>
            <a:ext cx="3522167" cy="135483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060233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0233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68183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99933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55ebaca750fd99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708" y="2983605"/>
            <a:ext cx="184150" cy="1841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11509" y="308838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9933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Honesty and 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933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core code of conduct, fostering trust, accountability, professionalism and ethical practice.</a:t>
            </a:r>
          </a:p>
        </p:txBody>
      </p:sp>
      <p:pic>
        <p:nvPicPr>
          <p:cNvPr id="37" name="Picture 36" descr="val-efficiency.jpg"/>
          <p:cNvPicPr>
            <a:picLocks noChangeAspect="1"/>
          </p:cNvPicPr>
          <p:nvPr/>
        </p:nvPicPr>
        <p:blipFill>
          <a:blip r:embed="rId9"/>
          <a:srcRect t="3858" b="3858"/>
          <a:stretch>
            <a:fillRect/>
          </a:stretch>
        </p:blipFill>
        <p:spPr>
          <a:xfrm>
            <a:off x="609600" y="4121150"/>
            <a:ext cx="3522066" cy="135483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9600" y="547598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547598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550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9300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38706b2873ba3e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075" y="5402955"/>
            <a:ext cx="184150" cy="184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639744" y="5507730"/>
            <a:ext cx="364928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00" y="572998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Efficiency &amp; Proficiency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300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Committed to maximising available resources to achieve the best result collectively.</a:t>
            </a:r>
          </a:p>
        </p:txBody>
      </p:sp>
      <p:pic>
        <p:nvPicPr>
          <p:cNvPr id="46" name="Picture 45" descr="value-5.jpg"/>
          <p:cNvPicPr>
            <a:picLocks noChangeAspect="1"/>
          </p:cNvPicPr>
          <p:nvPr/>
        </p:nvPicPr>
        <p:blipFill>
          <a:blip r:embed="rId11"/>
          <a:srcRect t="30332" b="30332"/>
          <a:stretch>
            <a:fillRect/>
          </a:stretch>
        </p:blipFill>
        <p:spPr>
          <a:xfrm>
            <a:off x="4334866" y="4121150"/>
            <a:ext cx="3522167" cy="13548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334866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4866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442816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74566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d40577d8b8373a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9341" y="5402955"/>
            <a:ext cx="184150" cy="1841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3042" y="5507730"/>
            <a:ext cx="3569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4566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4566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way of working revolves around engineering principles, developing precise and sustainable solutions.</a:t>
            </a:r>
          </a:p>
        </p:txBody>
      </p:sp>
      <p:pic>
        <p:nvPicPr>
          <p:cNvPr id="55" name="Picture 54" descr="val-excellence.jpg"/>
          <p:cNvPicPr>
            <a:picLocks noChangeAspect="1"/>
          </p:cNvPicPr>
          <p:nvPr/>
        </p:nvPicPr>
        <p:blipFill>
          <a:blip r:embed="rId13"/>
          <a:srcRect t="3860" b="3860"/>
          <a:stretch>
            <a:fillRect/>
          </a:stretch>
        </p:blipFill>
        <p:spPr>
          <a:xfrm>
            <a:off x="8060233" y="4121150"/>
            <a:ext cx="3522167" cy="135483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60233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60233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68183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99933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1654ba9e054b8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4708" y="5402955"/>
            <a:ext cx="184150" cy="18415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02181" y="5507730"/>
            <a:ext cx="353219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9933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Pursuit of Excellence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9933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Devoted to excellence in all our works, providing sustainable solutions to complex challenges.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 / 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Business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delivery capabilities under one group, covering the full chain.</a:t>
            </a:r>
          </a:p>
        </p:txBody>
      </p:sp>
      <p:pic>
        <p:nvPicPr>
          <p:cNvPr id="10" name="Picture 9" descr="bu-epc.jpg"/>
          <p:cNvPicPr>
            <a:picLocks noChangeAspect="1"/>
          </p:cNvPicPr>
          <p:nvPr/>
        </p:nvPicPr>
        <p:blipFill>
          <a:blip r:embed="rId3"/>
          <a:srcRect l="2737" r="2737"/>
          <a:stretch>
            <a:fillRect/>
          </a:stretch>
        </p:blipFill>
        <p:spPr>
          <a:xfrm>
            <a:off x="609600" y="1701800"/>
            <a:ext cx="3539033" cy="281543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SOLUTIONS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and Construction (EPC)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from conception to operation, completion and maintenance. Every stage managed, from initial design through commissioning, so clients in hi-tech industries can bring their visions to life.</a:t>
            </a:r>
          </a:p>
        </p:txBody>
      </p:sp>
      <p:pic>
        <p:nvPicPr>
          <p:cNvPr id="17" name="Picture 16" descr="bu-utilities.jpg"/>
          <p:cNvPicPr>
            <a:picLocks noChangeAspect="1"/>
          </p:cNvPicPr>
          <p:nvPr/>
        </p:nvPicPr>
        <p:blipFill>
          <a:blip r:embed="rId4"/>
          <a:srcRect l="2737" r="2737"/>
          <a:stretch>
            <a:fillRect/>
          </a:stretch>
        </p:blipFill>
        <p:spPr>
          <a:xfrm>
            <a:off x="4326433" y="1701800"/>
            <a:ext cx="3539033" cy="281543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26433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33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8833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UTILITY SOLUTIONS SDN BHD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8833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Critical Utilities &amp; Total Tool Installation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33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partner for semiconductor manufacturing: process-critical utility infrastructure and total tool installation, bridging facility readiness and manufacturing start-up to accelerate fab ramp-up.</a:t>
            </a:r>
          </a:p>
        </p:txBody>
      </p:sp>
      <p:pic>
        <p:nvPicPr>
          <p:cNvPr id="24" name="Picture 23" descr="bu-energy.jpg"/>
          <p:cNvPicPr>
            <a:picLocks noChangeAspect="1"/>
          </p:cNvPicPr>
          <p:nvPr/>
        </p:nvPicPr>
        <p:blipFill>
          <a:blip r:embed="rId5"/>
          <a:srcRect l="2737" r="2737"/>
          <a:stretch>
            <a:fillRect/>
          </a:stretch>
        </p:blipFill>
        <p:spPr>
          <a:xfrm>
            <a:off x="8043266" y="1701800"/>
            <a:ext cx="3539033" cy="28154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43266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3266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5666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5666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ENERGY FACILITY MANAGEMENT SDN BHD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5666" y="5323681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5666" y="5586813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management solutions that optimise operations and reduce carbon footprint, keeping facilities running at the highest levels of efficiency and sustainability.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4072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 / 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Delivery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three models IAQ contracts under, across the full life of a facility.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23281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0400" y="1847850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&amp; Construction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2139950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 for semiconductor manufacturing, bridging facility readiness and manufacturing start-up to accelerate fab ramp-up.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0400" y="2417762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0400" y="2481262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0595" y="2417762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0595" y="2481262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65512" y="2417762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12" y="2481262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1806" y="2417762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806" y="2481262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4334" y="2417762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4334" y="2481262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0400" y="2684462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SilTerra expansion · Soitec PR1A expansion · Infineon IFKM3 expansion · Micron MSH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388519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3388519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810000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0400" y="3534569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Procurement, Construction &amp; 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0400" y="3826669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delivery from conception to operation, completion and maintenance, with every stage managed from initial design through commissioning.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0400" y="4104481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0400" y="4167981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0595" y="4104481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0595" y="4167981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12" y="4104481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12" y="4167981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1806" y="4104481"/>
            <a:ext cx="840778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1806" y="4167981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4334" y="4104481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4334" y="4167981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0400" y="4371181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ST Microelectronics · SilTerra FAB · ESCM Germany · KLCC DCS chiller upgrading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075238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600" y="5075238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9600" y="5496719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EFM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0400" y="5221288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Facility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0400" y="5513388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Ongoing energy and facility management that optimises operations and reduces carbon footprint, keeping facilities at the highest levels of efficiency.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30400" y="5791200"/>
            <a:ext cx="718445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30400" y="5854700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0595" y="5791200"/>
            <a:ext cx="753167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80595" y="5854700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65512" y="5791200"/>
            <a:ext cx="794544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5512" y="5854700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1806" y="5791200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1806" y="5854700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4334" y="5791200"/>
            <a:ext cx="617836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4334" y="5854700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0400" y="6057900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KLCC DCC Plant · GDC Putrajaya chiller upgrading · Pagoh Edu Hub DCS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445250"/>
            <a:ext cx="3866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 / 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5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5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7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Scope of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Eight packages self-performed under one contract, set against the building they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7158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a8a25ccbfab8d3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41436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19200" y="2059089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2135289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Civil, Structural &amp; Architectural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15566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300" y="3255861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465cf7309ea92f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325711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19200" y="3243364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3319564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Air Conditioning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3499841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ACMV, make-up air, recirculation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300" y="444013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3113b7619c39d6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50998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19200" y="4427639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4503839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HT &amp; LV Electrical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4684116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9300" y="5624411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905bb009fcc2dd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5694261"/>
            <a:ext cx="177800" cy="177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19200" y="5611914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9200" y="5688114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Fire Protection System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5868391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Detection, suppression, compliance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1917" y="3049988"/>
            <a:ext cx="15281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ONE MODEL, EIGHT PACKAGES</a:t>
            </a:r>
          </a:p>
        </p:txBody>
      </p:sp>
      <p:pic>
        <p:nvPicPr>
          <p:cNvPr id="36" name="Picture 35" descr="fab-se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88" y="3291288"/>
            <a:ext cx="3809825" cy="12310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445000" y="4700092"/>
            <a:ext cx="3302000" cy="284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7"/>
              </a:lnSpc>
            </a:pPr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package on this page is installed in the same building, by IAQ’s own crews, under one programme.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170180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96300" y="207158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956b515dbea6a77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85200" y="2141436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66200" y="2059089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6200" y="2135289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Cleanroom 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6200" y="2315566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 · Class 1 to Class 100K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288607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496300" y="3255861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d9cef67a22a5d48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85200" y="3325711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966200" y="3243364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6200" y="3319564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Utilities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6200" y="3499841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 and exhaust systems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56600" y="4070350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96300" y="444013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9ece152f686524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5200" y="4509986"/>
            <a:ext cx="177800" cy="1778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966200" y="4427639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6200" y="4503839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Facility Monitoring &amp; Control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6200" y="4684116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56600" y="5254625"/>
            <a:ext cx="3225800" cy="10953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496300" y="5624411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fff2032a73c317d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85200" y="5694261"/>
            <a:ext cx="177800" cy="1778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966200" y="5611914"/>
            <a:ext cx="2476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200" y="5688114"/>
            <a:ext cx="24765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Tools Hookup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6200" y="5868391"/>
            <a:ext cx="24765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tool install and hookup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445250"/>
            <a:ext cx="36334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 / 67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Industry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sectors, one discipline: contamination control under code and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t="14386" b="14386"/>
          <a:stretch>
            <a:fillRect/>
          </a:stretch>
        </p:blipFill>
        <p:spPr>
          <a:xfrm>
            <a:off x="609600" y="1701800"/>
            <a:ext cx="2628900" cy="125611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2d759c1b963bb9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103963"/>
            <a:ext cx="279400" cy="279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6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Semiconductor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&amp;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09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oft-kul03.jpg"/>
          <p:cNvPicPr>
            <a:picLocks noChangeAspect="1"/>
          </p:cNvPicPr>
          <p:nvPr/>
        </p:nvPicPr>
        <p:blipFill>
          <a:blip r:embed="rId5"/>
          <a:srcRect t="14184" b="14184"/>
          <a:stretch>
            <a:fillRect/>
          </a:stretch>
        </p:blipFill>
        <p:spPr>
          <a:xfrm>
            <a:off x="3390900" y="1701800"/>
            <a:ext cx="2628900" cy="125611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3909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7b5162a93860da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7900" y="3103963"/>
            <a:ext cx="279400" cy="279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179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Data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79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cooling, security, uptime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northvolt.jpg"/>
          <p:cNvPicPr>
            <a:picLocks noChangeAspect="1"/>
          </p:cNvPicPr>
          <p:nvPr/>
        </p:nvPicPr>
        <p:blipFill>
          <a:blip r:embed="rId7"/>
          <a:srcRect t="14308" b="14308"/>
          <a:stretch>
            <a:fillRect/>
          </a:stretch>
        </p:blipFill>
        <p:spPr>
          <a:xfrm>
            <a:off x="6172200" y="1701800"/>
            <a:ext cx="2628900" cy="125611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2254e19f3fd52c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9200" y="3103963"/>
            <a:ext cx="279400" cy="27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992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EV 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92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rooms, moisture control, explosion proofing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35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klcc-dcp.jpg"/>
          <p:cNvPicPr>
            <a:picLocks noChangeAspect="1"/>
          </p:cNvPicPr>
          <p:nvPr/>
        </p:nvPicPr>
        <p:blipFill>
          <a:blip r:embed="rId9"/>
          <a:srcRect t="14308" b="14308"/>
          <a:stretch>
            <a:fillRect/>
          </a:stretch>
        </p:blipFill>
        <p:spPr>
          <a:xfrm>
            <a:off x="8953500" y="1701800"/>
            <a:ext cx="2628900" cy="125611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9535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42abb2a0250a26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0500" y="3103963"/>
            <a:ext cx="279400" cy="279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805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District Cooling &amp; Heating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05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Urban energy plant and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irst-solar.jpg"/>
          <p:cNvPicPr>
            <a:picLocks noChangeAspect="1"/>
          </p:cNvPicPr>
          <p:nvPr/>
        </p:nvPicPr>
        <p:blipFill>
          <a:blip r:embed="rId11"/>
          <a:srcRect t="14400" b="14400"/>
          <a:stretch>
            <a:fillRect/>
          </a:stretch>
        </p:blipFill>
        <p:spPr>
          <a:xfrm>
            <a:off x="609600" y="4102100"/>
            <a:ext cx="2628900" cy="125611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096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15d111e96fdac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600" y="5504263"/>
            <a:ext cx="279400" cy="279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66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Photovoltaics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Cell and module lines, toxic material handling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09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pharmaniaga.jpg"/>
          <p:cNvPicPr>
            <a:picLocks noChangeAspect="1"/>
          </p:cNvPicPr>
          <p:nvPr/>
        </p:nvPicPr>
        <p:blipFill>
          <a:blip r:embed="rId13"/>
          <a:srcRect t="14164" b="14164"/>
          <a:stretch>
            <a:fillRect/>
          </a:stretch>
        </p:blipFill>
        <p:spPr>
          <a:xfrm>
            <a:off x="3390900" y="4102100"/>
            <a:ext cx="2628900" cy="1256113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33909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8ffbfbf647a81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5504263"/>
            <a:ext cx="279400" cy="279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5179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Pharmaceuticals &amp; Hospitals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9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grades, regulated environments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nd-food.jpg"/>
          <p:cNvPicPr>
            <a:picLocks noChangeAspect="1"/>
          </p:cNvPicPr>
          <p:nvPr/>
        </p:nvPicPr>
        <p:blipFill>
          <a:blip r:embed="rId15"/>
          <a:srcRect t="14355" b="14355"/>
          <a:stretch>
            <a:fillRect/>
          </a:stretch>
        </p:blipFill>
        <p:spPr>
          <a:xfrm>
            <a:off x="6172200" y="4102100"/>
            <a:ext cx="2628900" cy="125611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1722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733fe00a3df82e6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9200" y="5504263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992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Food &amp; Beverage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Hygienic design, quality and safety standards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3500" y="4102100"/>
            <a:ext cx="2628900" cy="22479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d352321f5524ec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69400" y="4779067"/>
            <a:ext cx="355600" cy="355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69400" y="5268017"/>
            <a:ext cx="1132878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Your facility next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69400" y="5538489"/>
            <a:ext cx="148242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Total facility solutions, end to end.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3 to ISO 8 · Class 1 to Class 100K</a:t>
            </a:r>
          </a:p>
        </p:txBody>
      </p:sp>
      <p:pic>
        <p:nvPicPr>
          <p:cNvPr id="15" name="Picture 14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Portfolio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the reference book breaks down by region, and which sections cover what.</a:t>
            </a:r>
          </a:p>
        </p:txBody>
      </p:sp>
      <p:pic>
        <p:nvPicPr>
          <p:cNvPr id="10" name="Picture 9" descr="map-my-s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1882625"/>
            <a:ext cx="3395066" cy="251738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80833"/>
            <a:ext cx="3522066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80833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4720533"/>
            <a:ext cx="32426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 TO 02.4 · 02.8 TO 02.10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4834833"/>
            <a:ext cx="324266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5071669"/>
            <a:ext cx="3242666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data centre, pharmaceutical, photovoltaics, district cooling and energy.</a:t>
            </a:r>
          </a:p>
        </p:txBody>
      </p:sp>
      <p:pic>
        <p:nvPicPr>
          <p:cNvPr id="16" name="Picture 15" descr="map-europ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66" y="1809445"/>
            <a:ext cx="3395167" cy="26637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34866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866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4566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02.5 TO 02.6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566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566" y="5071669"/>
            <a:ext cx="3242767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EV battery gigafactories, wafer fabs and advanced semiconductor in Sweden, Norway, France and Poland.</a:t>
            </a:r>
          </a:p>
        </p:txBody>
      </p:sp>
      <p:pic>
        <p:nvPicPr>
          <p:cNvPr id="22" name="Picture 21" descr="map-chi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733" y="1870680"/>
            <a:ext cx="3395167" cy="2541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60233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0233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933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933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933" y="5071669"/>
            <a:ext cx="324276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display, pharmaceutical, automotive and R&amp;D facilities.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9133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9133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8666" y="5698433"/>
            <a:ext cx="3513633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8666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CONTRACT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8666" y="6240659"/>
            <a:ext cx="3513633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GC · EPCC · EPCM · PCC · Tool Hookup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41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41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61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and assembly. The full reference list follows from 02.11.</a:t>
            </a:r>
          </a:p>
        </p:txBody>
      </p:sp>
      <p:pic>
        <p:nvPicPr>
          <p:cNvPr id="10" name="Picture 9" descr="infineon-kulim.jpg"/>
          <p:cNvPicPr>
            <a:picLocks noChangeAspect="1"/>
          </p:cNvPicPr>
          <p:nvPr/>
        </p:nvPicPr>
        <p:blipFill>
          <a:blip r:embed="rId3"/>
          <a:srcRect t="12732" b="12732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 for WP06, KLM3 Expansion, 35,000 m² cleanroom area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cleanroom and mechanical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· 6 · 7 (CLASS 10 · 100 · 1K · 10K)</a:t>
            </a:r>
          </a:p>
        </p:txBody>
      </p:sp>
      <p:pic>
        <p:nvPicPr>
          <p:cNvPr id="29" name="Picture 28" descr="p-project.jpg"/>
          <p:cNvPicPr>
            <a:picLocks noChangeAspect="1"/>
          </p:cNvPicPr>
          <p:nvPr/>
        </p:nvPicPr>
        <p:blipFill>
          <a:blip r:embed="rId4"/>
          <a:srcRect t="12472" b="12472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ADVANCED PACKAGING · 75,000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Progressive-built EPCM contract model for the client's advanced packaging facility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GC: CSA, MEP, process utilities, chemical &amp; gases system, waste treatment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TO 7 (CLASS 10 TO 10K)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567" y="6429375"/>
            <a:ext cx="15327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MALAYSIA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in Singapore since 2023.</a:t>
            </a:r>
          </a:p>
        </p:txBody>
      </p:sp>
      <p:pic>
        <p:nvPicPr>
          <p:cNvPr id="10" name="Picture 9" descr="teksend.jpg"/>
          <p:cNvPicPr>
            <a:picLocks noChangeAspect="1"/>
          </p:cNvPicPr>
          <p:nvPr/>
        </p:nvPicPr>
        <p:blipFill>
          <a:blip r:embed="rId3"/>
          <a:srcRect t="12773" b="12773"/>
          <a:stretch>
            <a:fillRect/>
          </a:stretch>
        </p:blipFill>
        <p:spPr>
          <a:xfrm>
            <a:off x="609600" y="174059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13942"/>
            <a:ext cx="5346700" cy="1897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PHOTOMASK 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Teksend Photomask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49530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006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495300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0062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495300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0062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022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Addition and alteration to an existing two-storey building with cleanroom facilities and ancillary office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388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340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7150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ACMV, electrical, process utility, BMS, PA, WWT, UPW, tool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9118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60071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600075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micron-msh.jpg"/>
          <p:cNvPicPr>
            <a:picLocks noChangeAspect="1"/>
          </p:cNvPicPr>
          <p:nvPr/>
        </p:nvPicPr>
        <p:blipFill>
          <a:blip r:embed="rId4"/>
          <a:srcRect t="12525" b="12525"/>
          <a:stretch>
            <a:fillRect/>
          </a:stretch>
        </p:blipFill>
        <p:spPr>
          <a:xfrm>
            <a:off x="6235700" y="174059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13942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PROGRESSIVE TOOL HOOKUP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MSH Tool HU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495300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0062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81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7900" y="53022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2,000 progressive tool hookup services for MSH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8100" y="54991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100" y="55943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900" y="55753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 tool hook 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7791" y="6429375"/>
            <a:ext cx="162450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SINGAPORE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024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024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144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Data Centre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and colocation, 9.6 MW to 160 MW.</a:t>
            </a:r>
          </a:p>
        </p:txBody>
      </p:sp>
      <p:pic>
        <p:nvPicPr>
          <p:cNvPr id="10" name="Picture 9" descr="hyperscale-dc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94022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160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Hyperscale Data 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Office, data halls and mechanical utility building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18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Construction, completion, testing &amp; commissioning for mechanical packages 1 &amp; 2</a:t>
            </a:r>
          </a:p>
        </p:txBody>
      </p:sp>
      <p:pic>
        <p:nvPicPr>
          <p:cNvPr id="22" name="Picture 21" descr="microsoft-kul03.jpg"/>
          <p:cNvPicPr>
            <a:picLocks noChangeAspect="1"/>
          </p:cNvPicPr>
          <p:nvPr/>
        </p:nvPicPr>
        <p:blipFill>
          <a:blip r:embed="rId4"/>
          <a:srcRect t="12521" b="12521"/>
          <a:stretch>
            <a:fillRect/>
          </a:stretch>
        </p:blipFill>
        <p:spPr>
          <a:xfrm>
            <a:off x="6235700" y="1940223"/>
            <a:ext cx="5346700" cy="26733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KUL03 PHASE 1 · 9.6 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Microsoft DTC-KUL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275" y="515263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100" y="520025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5666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2491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79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9.6 MW data centre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81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1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79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CHW and CW piping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381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 / 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0230" y="6429375"/>
            <a:ext cx="7020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DATA CENTRE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EV Battery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 for the gigafactories: moisture control and contamination control at scale.</a:t>
            </a:r>
          </a:p>
        </p:txBody>
      </p:sp>
      <p:pic>
        <p:nvPicPr>
          <p:cNvPr id="10" name="Picture 9" descr="northvolt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SKELLEFTEÅ, SWEDEN · 62,000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Northvolt AB Gigafactory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423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248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Europe gigafactory for lithium-ion battery manufacture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architecture 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7" name="Picture 26" descr="morrow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NORWAY · BATTERY COAST · 8,600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Morrow Batteries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76678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3503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Norway's Battery Coast project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architectural system, ACMV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1958" y="6429375"/>
            <a:ext cx="11504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EV BATTERY · EUROPE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Following the fabs into Europe: advanced-node cleanrooms and progressive hookup.</a:t>
            </a:r>
          </a:p>
        </p:txBody>
      </p:sp>
      <p:pic>
        <p:nvPicPr>
          <p:cNvPr id="10" name="Picture 9" descr="confidential-cmos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28/22nm CMOS · 16/12nm FinFET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Design, supply, installation &amp; commissioning of cleanroom facilities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&amp; mechanical general contractor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st-casablanca.jpg"/>
          <p:cNvPicPr>
            <a:picLocks noChangeAspect="1"/>
          </p:cNvPicPr>
          <p:nvPr/>
        </p:nvPicPr>
        <p:blipFill>
          <a:blip r:embed="rId4"/>
          <a:srcRect t="12798" b="12798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CASABLANCA, MOROCCO · 60,000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60,000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mechanical, electrical, process utilities and hookup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2463" y="6429375"/>
            <a:ext cx="14298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EUROPE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&amp; Display ·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across semiconductor, display and precision manufacturing.</a:t>
            </a:r>
          </a:p>
        </p:txBody>
      </p:sp>
      <p:pic>
        <p:nvPicPr>
          <p:cNvPr id="10" name="Picture 9" descr="ferrotec-hangzhou.jpg"/>
          <p:cNvPicPr>
            <a:picLocks noChangeAspect="1"/>
          </p:cNvPicPr>
          <p:nvPr/>
        </p:nvPicPr>
        <p:blipFill>
          <a:blip r:embed="rId3"/>
          <a:srcRect t="1798" b="1798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HANGZHOU · 23,400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Ferrotec Semiconductor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23,400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(CLASS 10 &amp; 100)</a:t>
            </a:r>
          </a:p>
        </p:txBody>
      </p:sp>
      <p:pic>
        <p:nvPicPr>
          <p:cNvPr id="29" name="Picture 28" descr="infineon-wuxi.jpg"/>
          <p:cNvPicPr>
            <a:picLocks noChangeAspect="1"/>
          </p:cNvPicPr>
          <p:nvPr/>
        </p:nvPicPr>
        <p:blipFill>
          <a:blip r:embed="rId4"/>
          <a:srcRect t="11489" b="11489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WUXI · 8,000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356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24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8,000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0809" y="6429375"/>
            <a:ext cx="3315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CHINA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0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0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Photovoltaics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Solar cell and module manufacturing, including toxic material and waste handling.</a:t>
            </a:r>
          </a:p>
        </p:txBody>
      </p:sp>
      <p:pic>
        <p:nvPicPr>
          <p:cNvPr id="10" name="Picture 9" descr="first-solar.jpg"/>
          <p:cNvPicPr>
            <a:picLocks noChangeAspect="1"/>
          </p:cNvPicPr>
          <p:nvPr/>
        </p:nvPicPr>
        <p:blipFill>
          <a:blip r:embed="rId3"/>
          <a:srcRect t="12747" b="12747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First Solar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5720" y="502285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2545" y="507047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First Solar KMW building in Kulim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mechanical &amp; electrical, KMW building; CSA and M&amp;E for forming gas plant; M&amp;E for SCO1</a:t>
            </a:r>
          </a:p>
        </p:txBody>
      </p:sp>
      <p:pic>
        <p:nvPicPr>
          <p:cNvPr id="26" name="Picture 25" descr="chint-solar.jpg"/>
          <p:cNvPicPr>
            <a:picLocks noChangeAspect="1"/>
          </p:cNvPicPr>
          <p:nvPr/>
        </p:nvPicPr>
        <p:blipFill>
          <a:blip r:embed="rId4"/>
          <a:srcRect t="10386" b="10386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 · 57,000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Chint Solar Technology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57,000 m²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ACMV, process utilities and tools hookup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 / 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6242" y="6429375"/>
            <a:ext cx="8561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PHOTOVOLTAICS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Pharmaceutical &amp; Medical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 and regulated environments, from parenteral facilities to medical device plants.</a:t>
            </a:r>
          </a:p>
        </p:txBody>
      </p:sp>
      <p:pic>
        <p:nvPicPr>
          <p:cNvPr id="10" name="Picture 9" descr="insulet.jpg"/>
          <p:cNvPicPr>
            <a:picLocks noChangeAspect="1"/>
          </p:cNvPicPr>
          <p:nvPr/>
        </p:nvPicPr>
        <p:blipFill>
          <a:blip r:embed="rId3"/>
          <a:srcRect t="12700" b="1270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GREENFIELD · MEDICAL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Insulet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Electronic medical device manufacturing plant, greenfield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 mechanical, cleanroom &amp; electrical package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9" name="Picture 28" descr="pharmaniaga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PUCHONG, SELANGOR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Pharmaniaga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Small volume parenteral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air conditioning and mechanical ventilation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· 7 · 8 (CLASS 100 · 10K · 100K)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6175" y="6429375"/>
            <a:ext cx="15461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PHARMACEUTICAL &amp; MEDICAL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419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419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539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District Cooling &amp;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Plant, chillers and co-generation for urban and industrial energy.</a:t>
            </a:r>
          </a:p>
        </p:txBody>
      </p:sp>
      <p:pic>
        <p:nvPicPr>
          <p:cNvPr id="10" name="Picture 9" descr="klcc-dcp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7037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43723"/>
            <a:ext cx="5346700" cy="16241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GAS DISTRICT COOLING (M) SDN BHD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District Cooling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82781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30406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623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6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2391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9216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444731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LARGEST DISTRICT COOLING CENTRE IN MALAYSIA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15388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10638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91588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ACMV, electrical &amp; instrumentation, fire protection, process utility, plumbing &amp; sanitary, water treatment, CSA</a:t>
            </a:r>
          </a:p>
        </p:txBody>
      </p:sp>
      <p:pic>
        <p:nvPicPr>
          <p:cNvPr id="26" name="Picture 25" descr="gdc-putrajaya.jpg"/>
          <p:cNvPicPr>
            <a:picLocks noChangeAspect="1"/>
          </p:cNvPicPr>
          <p:nvPr/>
        </p:nvPicPr>
        <p:blipFill>
          <a:blip r:embed="rId4"/>
          <a:srcRect t="12773" b="12773"/>
          <a:stretch>
            <a:fillRect/>
          </a:stretch>
        </p:blipFill>
        <p:spPr>
          <a:xfrm>
            <a:off x="6235700" y="1870373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543723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PICC PLANT, PUTRAJAYA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GDC Putrajaya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8278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13040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566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249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71820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645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4320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For the Putrajaya International Convention Centre (PICC) plant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62888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7241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705081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plant electrification, chiller replacement and associated works at Gas District Cooling Putrajaya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8095" y="6429375"/>
            <a:ext cx="1574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DISTRICT COOLING &amp; ENERGY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701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701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38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1–2 of 73 from IAQ’s own reference list.</a:t>
            </a:r>
          </a:p>
        </p:txBody>
      </p:sp>
      <p:pic>
        <p:nvPicPr>
          <p:cNvPr id="10" name="Picture 9" descr="p2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F10A &amp; F10NX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Interior design &amp; mechanical fit out, F10NX office optimisation</a:t>
            </a:r>
          </a:p>
        </p:txBody>
      </p:sp>
      <p:pic>
        <p:nvPicPr>
          <p:cNvPr id="21" name="Picture 20" descr="p2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Caterpillar Asia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Three storey office renovation, 7T office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3–4 of 73 from IAQ’s own reference list.</a:t>
            </a:r>
          </a:p>
        </p:txBody>
      </p:sp>
      <p:pic>
        <p:nvPicPr>
          <p:cNvPr id="10" name="Picture 9" descr="p2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GC, greenfield food flavouring plant, 40,000 m²</a:t>
            </a:r>
          </a:p>
        </p:txBody>
      </p:sp>
      <p:pic>
        <p:nvPicPr>
          <p:cNvPr id="19" name="Picture 18" descr="p2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Kuching 40K Expansion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76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44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build, wafer fab extension, 30K to 40K capacity, 40,000 m²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 &amp;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5–6 of 73 from IAQ’s own reference list.</a:t>
            </a:r>
          </a:p>
        </p:txBody>
      </p:sp>
      <p:pic>
        <p:nvPicPr>
          <p:cNvPr id="10" name="Picture 9" descr="p2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PR1A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 consultant, new greenfield plant, 45,000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 &amp; 7</a:t>
            </a:r>
          </a:p>
        </p:txBody>
      </p:sp>
      <p:pic>
        <p:nvPicPr>
          <p:cNvPr id="24" name="Picture 23" descr="p2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Robert Bosch Testing Manufacturing Plant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greenfield testing and manufacturing plant, 25,000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7–8 of 73 from IAQ’s own reference list.</a:t>
            </a:r>
          </a:p>
        </p:txBody>
      </p:sp>
      <p:pic>
        <p:nvPicPr>
          <p:cNvPr id="10" name="Picture 9" descr="p2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Wafer Fab Facility &amp;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and design &amp; build, FAB1E A/B expansion, new CUB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2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 – MEP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275956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282306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SPECIALIST CONTRACTING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Retrofit existing office into mega lab, 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2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9–10 of 73 from IAQ’s own reference list.</a:t>
            </a:r>
          </a:p>
        </p:txBody>
      </p:sp>
      <p:pic>
        <p:nvPicPr>
          <p:cNvPr id="10" name="Picture 9" descr="p2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Instrument,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Facilitation works for residual management, 32,000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2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KUALA LUMPUR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DLP cleanroom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51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51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71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11–12 of 73 from IAQ’s own reference list.</a:t>
            </a:r>
          </a:p>
        </p:txBody>
      </p:sp>
      <p:pic>
        <p:nvPicPr>
          <p:cNvPr id="10" name="Picture 9" descr="p2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PETALING JAYA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Western Digital (M)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Phase 2 and 3 renovation, mechanical, electrical and cleanroom</a:t>
            </a:r>
          </a:p>
        </p:txBody>
      </p:sp>
      <p:pic>
        <p:nvPicPr>
          <p:cNvPr id="23" name="Picture 22" descr="p2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PENANG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WD Media (M)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976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44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MA 28 &amp; MA 29, cleanroom, HVAC, FMCS, hookup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 / 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13–14 of 73 from IAQ’s own reference list.</a:t>
            </a:r>
          </a:p>
        </p:txBody>
      </p:sp>
      <p:pic>
        <p:nvPicPr>
          <p:cNvPr id="10" name="Picture 9" descr="p2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JOHOR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3 storey production factory, cleanroom and ACMV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4" name="Picture 23" descr="p2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MELAKA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 (M) Sdn Bhd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EPCM-GMP, Block 8 testing, probe &amp; assembly, 43,000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31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31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51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15–16 of 73 from IAQ’s own reference list.</a:t>
            </a:r>
          </a:p>
        </p:txBody>
      </p:sp>
      <p:pic>
        <p:nvPicPr>
          <p:cNvPr id="10" name="Picture 9" descr="p3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MEMC Ipoh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7331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4156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 project, MEP, cleanroom, FMCS, CSA and tools hookup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3 TO 7 (CLASS 1–10K)</a:t>
            </a:r>
          </a:p>
        </p:txBody>
      </p:sp>
      <p:pic>
        <p:nvPicPr>
          <p:cNvPr id="26" name="Picture 25" descr="p3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Flextronic Shah Alam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33kV substation, mechanical, cleanroom, civil and structural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31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42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42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62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17–18 of 73 from IAQ’s own reference list.</a:t>
            </a:r>
          </a:p>
        </p:txBody>
      </p:sp>
      <p:pic>
        <p:nvPicPr>
          <p:cNvPr id="10" name="Picture 9" descr="p31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AUO Sunpower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8755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5580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Fab 3A solar cell manufacturing, CSA, utilities, HVAC, electrical</a:t>
            </a:r>
          </a:p>
        </p:txBody>
      </p:sp>
      <p:pic>
        <p:nvPicPr>
          <p:cNvPr id="23" name="Picture 22" descr="p3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Vital Healthcare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medical device plant, 33kV substation, MEP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32 / 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56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56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682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19–20 of 73 from IAQ’s own reference list.</a:t>
            </a:r>
          </a:p>
        </p:txBody>
      </p:sp>
      <p:pic>
        <p:nvPicPr>
          <p:cNvPr id="10" name="Picture 9" descr="p3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Ain Medicare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CSA, cleanroom and M&amp;E, pharmaceutical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6" name="Picture 25" descr="p3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Elegant Aura (M)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HVAC and cleanroom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GMP GRADE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994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21–22 of 73 from IAQ’s own reference list.</a:t>
            </a:r>
          </a:p>
        </p:txBody>
      </p:sp>
      <p:pic>
        <p:nvPicPr>
          <p:cNvPr id="10" name="Picture 9" descr="p3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National University of Singapore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M&amp;E and cleanroom, tissue culture laboratory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pic>
        <p:nvPicPr>
          <p:cNvPr id="22" name="Picture 21" descr="p3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Matrix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8366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5191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9427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6252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CSA, HVAC, electrical, fire protection and process utilities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977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30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30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24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23–24 of 73 from IAQ’s own reference list.</a:t>
            </a:r>
          </a:p>
        </p:txBody>
      </p:sp>
      <p:pic>
        <p:nvPicPr>
          <p:cNvPr id="10" name="Picture 9" descr="p36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Hasegawa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Spray dryer &amp; microwave tunnel renovation, MDR mechanical, ACMV</a:t>
            </a:r>
          </a:p>
        </p:txBody>
      </p:sp>
      <p:pic>
        <p:nvPicPr>
          <p:cNvPr id="21" name="Picture 20" descr="p37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KGP KL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8366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191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452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134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two electrical centrifugal chillers, KLCC district cooling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25–26 of 73 from IAQ’s own reference list.</a:t>
            </a:r>
          </a:p>
        </p:txBody>
      </p:sp>
      <p:pic>
        <p:nvPicPr>
          <p:cNvPr id="10" name="Picture 9" descr="p38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MCD Chemical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Field erection of mechanical piping system</a:t>
            </a:r>
          </a:p>
        </p:txBody>
      </p:sp>
      <p:pic>
        <p:nvPicPr>
          <p:cNvPr id="19" name="Picture 18" descr="p39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Pagoh Education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operation and maintenance of DCS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36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27–28 of 73 from IAQ’s own reference list.</a:t>
            </a:r>
          </a:p>
        </p:txBody>
      </p:sp>
      <p:pic>
        <p:nvPicPr>
          <p:cNvPr id="10" name="Picture 9" descr="p39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Petronas Pengerang Co-gen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erection, BoP piping &amp; WCCT, first co-gen plant in SEA</a:t>
            </a:r>
          </a:p>
        </p:txBody>
      </p:sp>
      <p:pic>
        <p:nvPicPr>
          <p:cNvPr id="19" name="Picture 18" descr="p4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Envision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dry room architecture 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3997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29–30 of 73 from IAQ’s own reference list.</a:t>
            </a:r>
          </a:p>
        </p:txBody>
      </p:sp>
      <p:pic>
        <p:nvPicPr>
          <p:cNvPr id="10" name="Picture 9" descr="p4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ACC Phase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Greenfield, 8,000 m² dry room architectural system, 35,000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4" name="Picture 23" descr="p4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Semiconductor, Paris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MEP, 11,000 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38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31–32 of 73 from IAQ’s own reference list.</a:t>
            </a:r>
          </a:p>
        </p:txBody>
      </p:sp>
      <p:pic>
        <p:nvPicPr>
          <p:cNvPr id="10" name="Picture 9" descr="p4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Semiconductor, Paris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MEP and tools hookup, progressive hookup,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4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MOROCCO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Nemotek, Rabat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 works, 11,000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0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39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33–34 of 73 from IAQ’s own reference list.</a:t>
            </a:r>
          </a:p>
        </p:txBody>
      </p:sp>
      <p:pic>
        <p:nvPicPr>
          <p:cNvPr id="10" name="Picture 9" descr="p4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Kimoto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 &amp; electrical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6" name="Picture 25" descr="p4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Sumika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532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00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93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2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architecture, mechanical &amp; electrical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40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7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7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35–36 of 73 from IAQ’s own reference list.</a:t>
            </a:r>
          </a:p>
        </p:txBody>
      </p:sp>
      <p:pic>
        <p:nvPicPr>
          <p:cNvPr id="10" name="Picture 9" descr="p48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All-Cent RF Technology (Wuxi)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25,600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4" name="Picture 23" descr="p4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SMIC, Ningbo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22,000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41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37–38 of 73 from IAQ’s own reference list.</a:t>
            </a:r>
          </a:p>
        </p:txBody>
      </p:sp>
      <p:pic>
        <p:nvPicPr>
          <p:cNvPr id="10" name="Picture 9" descr="p5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Kunshan Visionox Display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cleanroom, MEP and hookup works, 27,000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6" name="Picture 25" descr="p5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GS Magic Drive Inc.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68,000 m²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42 / 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9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9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1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39–40 of 73 from IAQ’s own reference list.</a:t>
            </a:r>
          </a:p>
        </p:txBody>
      </p:sp>
      <p:pic>
        <p:nvPicPr>
          <p:cNvPr id="10" name="Picture 9" descr="p51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STS Microelectronics (Shenzhen)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Class 1K system, 4,800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pic>
        <p:nvPicPr>
          <p:cNvPr id="22" name="Picture 21" descr="p51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Shantou Goworld Display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14,300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43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41–42 of 73 from IAQ’s own reference list.</a:t>
            </a:r>
          </a:p>
        </p:txBody>
      </p:sp>
      <p:pic>
        <p:nvPicPr>
          <p:cNvPr id="10" name="Picture 9" descr="p52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CSR Zhuzhou Electric Locomotive Research Institute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5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M-Flex (Suzhou)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598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44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43–44 of 73 from IAQ’s own reference list.</a:t>
            </a:r>
          </a:p>
        </p:txBody>
      </p:sp>
      <p:pic>
        <p:nvPicPr>
          <p:cNvPr id="10" name="Picture 9" descr="p5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Maxtor Technology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95,000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2" name="Picture 21" descr="p5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MMI Industries (Wuxi)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7,200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76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76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8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45–46 of 73 from IAQ’s own reference list.</a:t>
            </a:r>
          </a:p>
        </p:txBody>
      </p:sp>
      <p:pic>
        <p:nvPicPr>
          <p:cNvPr id="10" name="Picture 9" descr="p5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Snap On Asia Manufacturing (Kunshan)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CSA, steel structure and MEP, 4,800 m²</a:t>
            </a:r>
          </a:p>
        </p:txBody>
      </p:sp>
      <p:pic>
        <p:nvPicPr>
          <p:cNvPr id="21" name="Picture 20" descr="p5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Huawei Technologies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3,400 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46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29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29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49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47–48 of 73 from IAQ’s own reference list.</a:t>
            </a:r>
          </a:p>
        </p:txBody>
      </p:sp>
      <p:pic>
        <p:nvPicPr>
          <p:cNvPr id="10" name="Picture 9" descr="p5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Golden Concord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38,500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5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Shanghai Roche Pharmaceuticals Ltd.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980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18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18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38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49–50 of 73 from IAQ’s own reference list.</a:t>
            </a:r>
          </a:p>
        </p:txBody>
      </p:sp>
      <p:pic>
        <p:nvPicPr>
          <p:cNvPr id="10" name="Picture 9" descr="p5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Forecyte Bio Limited (Shanghai)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13,800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Ascentage Pharma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25,800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7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2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26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46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51–52 of 73 from IAQ’s own reference list.</a:t>
            </a:r>
          </a:p>
        </p:txBody>
      </p:sp>
      <p:pic>
        <p:nvPicPr>
          <p:cNvPr id="10" name="Picture 9" descr="p5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Jiangsu Genscript Biotech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6,000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Mindray Group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12,000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4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49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0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0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2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53–54 of 73 from IAQ’s own reference list.</a:t>
            </a:r>
          </a:p>
        </p:txBody>
      </p:sp>
      <p:pic>
        <p:nvPicPr>
          <p:cNvPr id="10" name="Picture 9" descr="p5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EpimAb Biotechnology Su Zhou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5,200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Longxiang Pharma Science and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46,000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B,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50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07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27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55–56 of 73 from IAQ’s own reference list.</a:t>
            </a:r>
          </a:p>
        </p:txBody>
      </p:sp>
      <p:pic>
        <p:nvPicPr>
          <p:cNvPr id="10" name="Picture 9" descr="p5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Sumitomo Medical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pic>
        <p:nvPicPr>
          <p:cNvPr id="22" name="Picture 21" descr="p5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Capsugel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21,500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51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17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17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37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57–58 of 73 from IAQ’s own reference list.</a:t>
            </a:r>
          </a:p>
        </p:txBody>
      </p:sp>
      <p:pic>
        <p:nvPicPr>
          <p:cNvPr id="10" name="Picture 9" descr="p60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AW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45,000 m²</a:t>
            </a:r>
          </a:p>
        </p:txBody>
      </p:sp>
      <p:pic>
        <p:nvPicPr>
          <p:cNvPr id="19" name="Picture 18" descr="p60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AAM Automobile (Changshu)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18,000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52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14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14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66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59–60 of 73 from IAQ’s own reference list.</a:t>
            </a:r>
          </a:p>
        </p:txBody>
      </p:sp>
      <p:pic>
        <p:nvPicPr>
          <p:cNvPr id="10" name="Picture 9" descr="p61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ZF (China) Investment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44,000 m²</a:t>
            </a:r>
          </a:p>
        </p:txBody>
      </p:sp>
      <p:pic>
        <p:nvPicPr>
          <p:cNvPr id="19" name="Picture 18" descr="p61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Umicore Automotive Catalyst (Su Zhou)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6,800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53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61–62 of 73 from IAQ’s own reference list.</a:t>
            </a:r>
          </a:p>
        </p:txBody>
      </p:sp>
      <p:pic>
        <p:nvPicPr>
          <p:cNvPr id="10" name="Picture 9" descr="p6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Mary Kay (China) Cosmetics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26,000 m²</a:t>
            </a:r>
          </a:p>
        </p:txBody>
      </p:sp>
      <p:pic>
        <p:nvPicPr>
          <p:cNvPr id="21" name="Picture 20" descr="p6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Celestica (Dongguan-SSL) Technology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13,000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63–64 of 73 from IAQ’s own reference list.</a:t>
            </a:r>
          </a:p>
        </p:txBody>
      </p:sp>
      <p:pic>
        <p:nvPicPr>
          <p:cNvPr id="10" name="Picture 9" descr="p63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Intercos Cosmetics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30,000 m²</a:t>
            </a:r>
          </a:p>
        </p:txBody>
      </p:sp>
      <p:pic>
        <p:nvPicPr>
          <p:cNvPr id="21" name="Picture 20" descr="p63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Voith Fabric (Kunshan)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11,000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09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55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9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9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19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65–66 of 73 from IAQ’s own reference list.</a:t>
            </a:r>
          </a:p>
        </p:txBody>
      </p:sp>
      <p:pic>
        <p:nvPicPr>
          <p:cNvPr id="10" name="Picture 9" descr="p64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HVOLT Lithium-ion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Air-conditioning system, 79,000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 Su Senior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70,000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48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48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67–68 of 73 from IAQ’s own reference list.</a:t>
            </a:r>
          </a:p>
        </p:txBody>
      </p:sp>
      <p:pic>
        <p:nvPicPr>
          <p:cNvPr id="10" name="Picture 9" descr="p6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Jin Neng Clean Energy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20,000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2" name="Picture 21" descr="p6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Juli New Energy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9,600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05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69–70 of 73 from IAQ’s own reference list.</a:t>
            </a:r>
          </a:p>
        </p:txBody>
      </p:sp>
      <p:pic>
        <p:nvPicPr>
          <p:cNvPr id="10" name="Picture 9" descr="p66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Baoding Fengfan Storage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4,000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7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Unilever R&amp;D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01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69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58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7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7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9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71–72 of 73 from IAQ’s own reference list.</a:t>
            </a:r>
          </a:p>
        </p:txBody>
      </p:sp>
      <p:pic>
        <p:nvPicPr>
          <p:cNvPr id="10" name="Picture 9" descr="p67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GE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36,000 m²</a:t>
            </a:r>
          </a:p>
        </p:txBody>
      </p:sp>
      <p:pic>
        <p:nvPicPr>
          <p:cNvPr id="21" name="Picture 20" descr="p68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Dow Shanghai R&amp;D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100,000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59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 73 of 73 from IAQ’s own reference list.</a:t>
            </a:r>
          </a:p>
        </p:txBody>
      </p:sp>
      <p:pic>
        <p:nvPicPr>
          <p:cNvPr id="10" name="Picture 9" descr="p68b.jpg"/>
          <p:cNvPicPr>
            <a:picLocks noChangeAspect="1"/>
          </p:cNvPicPr>
          <p:nvPr/>
        </p:nvPicPr>
        <p:blipFill>
          <a:blip r:embed="rId3"/>
          <a:srcRect t="7843" b="7843"/>
          <a:stretch>
            <a:fillRect/>
          </a:stretch>
        </p:blipFill>
        <p:spPr>
          <a:xfrm>
            <a:off x="609600" y="2660650"/>
            <a:ext cx="6477000" cy="2730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2660650"/>
            <a:ext cx="4495800" cy="273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660650"/>
            <a:ext cx="19050" cy="273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9650" y="3562648"/>
            <a:ext cx="39687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9650" y="3683298"/>
            <a:ext cx="39687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Rohm and Haas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2825" y="3949306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9650" y="3996931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98980" y="3949306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5805" y="3996931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650" y="4317606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4298556"/>
            <a:ext cx="31559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27,000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60 /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52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03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03.1 TO 03.6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Highwire Gold safety award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45001:2018 occupational health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 tons per annum carbon footprint reduction</a:t>
            </a:r>
          </a:p>
        </p:txBody>
      </p:sp>
      <p:pic>
        <p:nvPicPr>
          <p:cNvPr id="15" name="Picture 14" descr="esg-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ESG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pillars, applied to operations and to every project we take on.</a:t>
            </a:r>
          </a:p>
        </p:txBody>
      </p:sp>
      <p:pic>
        <p:nvPicPr>
          <p:cNvPr id="10" name="Picture 9" descr="value-2.jpg"/>
          <p:cNvPicPr>
            <a:picLocks noChangeAspect="1"/>
          </p:cNvPicPr>
          <p:nvPr/>
        </p:nvPicPr>
        <p:blipFill>
          <a:blip r:embed="rId3"/>
          <a:srcRect t="4238" b="4238"/>
          <a:stretch>
            <a:fillRect/>
          </a:stretch>
        </p:blipFill>
        <p:spPr>
          <a:xfrm>
            <a:off x="609600" y="1701800"/>
            <a:ext cx="3539033" cy="31674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Environmental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Minimising environmental footprint through sustainable design and construction. Energy-efficient solutions and eco-friendly technologies, prioritised at design stage.</a:t>
            </a:r>
          </a:p>
        </p:txBody>
      </p:sp>
      <p:pic>
        <p:nvPicPr>
          <p:cNvPr id="16" name="Picture 15" descr="value-3.jpg"/>
          <p:cNvPicPr>
            <a:picLocks noChangeAspect="1"/>
          </p:cNvPicPr>
          <p:nvPr/>
        </p:nvPicPr>
        <p:blipFill>
          <a:blip r:embed="rId4"/>
          <a:srcRect t="5250" b="5250"/>
          <a:stretch>
            <a:fillRect/>
          </a:stretch>
        </p:blipFill>
        <p:spPr>
          <a:xfrm>
            <a:off x="4326433" y="1701800"/>
            <a:ext cx="3539033" cy="316746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26433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33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8833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8833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Social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754688"/>
            <a:ext cx="3234233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well-being and safety of employees and communities first. A diverse, inclusive work environment and ethical labour practices.</a:t>
            </a:r>
          </a:p>
        </p:txBody>
      </p:sp>
      <p:pic>
        <p:nvPicPr>
          <p:cNvPr id="22" name="Picture 21" descr="value-4.jpg"/>
          <p:cNvPicPr>
            <a:picLocks noChangeAspect="1"/>
          </p:cNvPicPr>
          <p:nvPr/>
        </p:nvPicPr>
        <p:blipFill>
          <a:blip r:embed="rId5"/>
          <a:srcRect t="4995" b="4995"/>
          <a:stretch>
            <a:fillRect/>
          </a:stretch>
        </p:blipFill>
        <p:spPr>
          <a:xfrm>
            <a:off x="8043266" y="1701800"/>
            <a:ext cx="3539033" cy="316746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43266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3266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5666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5666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Corporate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5666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Transparency, accountability and ethical decision-making, with the highest standards of compliance, building trust with clients, partners and stakeholders.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62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management system independently registered, and every licence current.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28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ert-iso9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81" y="1778000"/>
            <a:ext cx="2323638" cy="3296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71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9001:2015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71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Quality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71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514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ert-iso14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482" y="1778000"/>
            <a:ext cx="2333036" cy="32962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7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14001:2015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Environmental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7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ert-iso45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280" y="1778000"/>
            <a:ext cx="2316639" cy="32962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343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45001:2018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43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Occupational Health &amp;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CIDB Grade G7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Unlimited tender capacity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4461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8761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PKK Grade G7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761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Government works 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322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3622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Highwire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3622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Contractor safety 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4183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8483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Energy Commission Class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8483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Suruhanjaya Tenaga, Malaysia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044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ert-bizsa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7038" y="5981402"/>
            <a:ext cx="283667" cy="1333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83344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bizSAFE Level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3344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WSH Council, Singapore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63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award-mciea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4381500" y="952500"/>
            <a:ext cx="7810500" cy="5105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381000"/>
            <a:ext cx="3490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25450"/>
            <a:ext cx="34905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25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1" name="Picture 10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1377950"/>
            <a:ext cx="2413000" cy="1952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</a:pPr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MALAYSIAN CONSTRUCTION INDUSTRY EXCELLENCE AWARDS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44625"/>
            <a:ext cx="3175000" cy="1244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 spc="-3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463108"/>
            <a:ext cx="31750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0" i="0" spc="-5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Builder of the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912669"/>
            <a:ext cx="29845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58719"/>
            <a:ext cx="2984500" cy="593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40"/>
              </a:lnSpc>
            </a:pPr>
            <a:r>
              <a:rPr sz="7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The Construction Industry Development Board’s highest recognition for a contractor. Recipients are judged across company performance, project management, technical expertise, innovation, quality, safety and sustainability.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28256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942556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AWARDED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44156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Solutions Sdn Bhd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314031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428331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CONFERRED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29931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CIDB 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64 / 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475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475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8761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Safety &amp;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our standards are independently verified and recognised.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8388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Judged on the things</a:t>
            </a:r>
          </a:p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that actually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81255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MCIEA recipients are assessed by CIDB against seven criteria. They are the same ground our clients audit us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711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650" y="336361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MOSHPA Safety Award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650" y="3532486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Gold Award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2389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650" y="376039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Highwire safety rating,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650" y="392925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Independent contractor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220667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650" y="4157167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ISO 45001:2018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650" y="432603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Occupational health &amp; safety management</a:t>
            </a:r>
          </a:p>
        </p:txBody>
      </p:sp>
      <p:pic>
        <p:nvPicPr>
          <p:cNvPr id="21" name="Picture 20" descr="safety-review.jpg"/>
          <p:cNvPicPr>
            <a:picLocks noChangeAspect="1"/>
          </p:cNvPicPr>
          <p:nvPr/>
        </p:nvPicPr>
        <p:blipFill>
          <a:blip r:embed="rId3"/>
          <a:srcRect t="16985" b="16985"/>
          <a:stretch>
            <a:fillRect/>
          </a:stretch>
        </p:blipFill>
        <p:spPr>
          <a:xfrm>
            <a:off x="7391400" y="1701800"/>
            <a:ext cx="4191000" cy="307717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09600" y="4944072"/>
            <a:ext cx="10972800" cy="1405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944072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" y="5115522"/>
            <a:ext cx="108118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SEVEN CRITERIA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2838" y="5115522"/>
            <a:ext cx="13890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ASSESSED BY CIDB MALAYSIA</a:t>
            </a:r>
          </a:p>
        </p:txBody>
      </p:sp>
      <p:sp>
        <p:nvSpPr>
          <p:cNvPr id="26" name="Oval 25"/>
          <p:cNvSpPr/>
          <p:nvPr/>
        </p:nvSpPr>
        <p:spPr>
          <a:xfrm>
            <a:off x="80486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d16e9d4b23be9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5423497"/>
            <a:ext cx="158750" cy="1587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0100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Company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Standing and delivery record</a:t>
            </a:r>
          </a:p>
        </p:txBody>
      </p:sp>
      <p:sp>
        <p:nvSpPr>
          <p:cNvPr id="31" name="Oval 30"/>
          <p:cNvSpPr/>
          <p:nvPr/>
        </p:nvSpPr>
        <p:spPr>
          <a:xfrm>
            <a:off x="233967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cb5e617e4f6059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639" y="5423497"/>
            <a:ext cx="158750" cy="1587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34914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4914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4914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Programme, cost and site control</a:t>
            </a:r>
          </a:p>
        </p:txBody>
      </p:sp>
      <p:sp>
        <p:nvSpPr>
          <p:cNvPr id="36" name="Oval 35"/>
          <p:cNvSpPr/>
          <p:nvPr/>
        </p:nvSpPr>
        <p:spPr>
          <a:xfrm>
            <a:off x="387459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f8ec05e19f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555" y="5423497"/>
            <a:ext cx="158750" cy="1587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69830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9830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Technical expertise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9830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Engineering depth and method</a:t>
            </a:r>
          </a:p>
        </p:txBody>
      </p:sp>
      <p:sp>
        <p:nvSpPr>
          <p:cNvPr id="41" name="Oval 40"/>
          <p:cNvSpPr/>
          <p:nvPr/>
        </p:nvSpPr>
        <p:spPr>
          <a:xfrm>
            <a:off x="540950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93740f9917cf46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470" y="5423497"/>
            <a:ext cx="158750" cy="1587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04745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745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Innovation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4745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New method and technology</a:t>
            </a:r>
          </a:p>
        </p:txBody>
      </p:sp>
      <p:sp>
        <p:nvSpPr>
          <p:cNvPr id="46" name="Oval 45"/>
          <p:cNvSpPr/>
          <p:nvPr/>
        </p:nvSpPr>
        <p:spPr>
          <a:xfrm>
            <a:off x="694432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8766c1eb082ad4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284" y="5423497"/>
            <a:ext cx="158750" cy="1587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39559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9559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9559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Workmanship against the standard</a:t>
            </a:r>
          </a:p>
        </p:txBody>
      </p:sp>
      <p:sp>
        <p:nvSpPr>
          <p:cNvPr id="51" name="Oval 50"/>
          <p:cNvSpPr/>
          <p:nvPr/>
        </p:nvSpPr>
        <p:spPr>
          <a:xfrm>
            <a:off x="847923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95c26a6560f2fd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0200" y="5423497"/>
            <a:ext cx="158750" cy="1587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474475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4475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74475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Zero-harm practice on every site</a:t>
            </a:r>
          </a:p>
        </p:txBody>
      </p:sp>
      <p:sp>
        <p:nvSpPr>
          <p:cNvPr id="56" name="Oval 55"/>
          <p:cNvSpPr/>
          <p:nvPr/>
        </p:nvSpPr>
        <p:spPr>
          <a:xfrm>
            <a:off x="1001414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2efb3ecbb35812e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5109" y="5423497"/>
            <a:ext cx="158750" cy="1587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009384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09384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Sustainability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9384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Environmental and social outcome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65 / 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495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495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48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 the facilities advanced industry runs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67647"/>
            <a:ext cx="8255000" cy="11259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815"/>
              </a:lnSpc>
            </a:pPr>
            <a:r>
              <a:rPr sz="3600" b="0" i="0" spc="-72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We infuse safety, quality, efficiency and excellence into every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41616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From engineering design and project management to construction and maintenance, across semiconductor manufacturing, clean energy and every environment in between. IAQ is your trusted partner for total facility solutions.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66 / 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5153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5153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730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For inquiry and business opportunity.</a:t>
            </a:r>
          </a:p>
        </p:txBody>
      </p:sp>
      <p:pic>
        <p:nvPicPr>
          <p:cNvPr id="14" name="Picture 13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85156"/>
            <a:ext cx="1587500" cy="7937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09600" y="2818606"/>
            <a:ext cx="27940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2958306"/>
            <a:ext cx="2794000" cy="477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6"/>
              </a:lnSpc>
            </a:pPr>
            <a:r>
              <a:rPr sz="8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Engineering, procurement, construction and energy management for the industries where contamination, uptime and safety decide the outcome. Established 1995.</a:t>
            </a:r>
          </a:p>
        </p:txBody>
      </p:sp>
      <p:pic>
        <p:nvPicPr>
          <p:cNvPr id="17" name="Picture 16" descr="qr-web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84588"/>
            <a:ext cx="939800" cy="939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687888"/>
            <a:ext cx="881856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WEBSITE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770438"/>
            <a:ext cx="881856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iaqtechnology.com.my</a:t>
            </a:r>
          </a:p>
        </p:txBody>
      </p:sp>
      <p:pic>
        <p:nvPicPr>
          <p:cNvPr id="20" name="Picture 19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00" y="3684588"/>
            <a:ext cx="939800" cy="939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89100" y="4687888"/>
            <a:ext cx="983355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9100" y="4770438"/>
            <a:ext cx="983355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Group of Companies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51300" y="2747270"/>
            <a:ext cx="2417166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1300" y="2747270"/>
            <a:ext cx="24171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6400" y="2969520"/>
            <a:ext cx="208696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BUSINESS DEVELOPMENT 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6400" y="3191770"/>
            <a:ext cx="20869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Nelson Tan Wee Keong</a:t>
            </a:r>
          </a:p>
        </p:txBody>
      </p:sp>
      <p:pic>
        <p:nvPicPr>
          <p:cNvPr id="27" name="Picture 26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3497066"/>
            <a:ext cx="107950" cy="1079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06900" y="3492995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nelsontan@iaqtechnology.com.my</a:t>
            </a:r>
          </a:p>
        </p:txBody>
      </p:sp>
      <p:pic>
        <p:nvPicPr>
          <p:cNvPr id="29" name="Picture 28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6400" y="3695802"/>
            <a:ext cx="107950" cy="1079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406900" y="3691731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+6012-372 7329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8166" y="2747270"/>
            <a:ext cx="2417267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8166" y="2747270"/>
            <a:ext cx="24172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73266" y="2969520"/>
            <a:ext cx="2087067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SENIOR ENGINEER, BUSINESS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3266" y="3191770"/>
            <a:ext cx="2087067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Sunny Lim Qin Xiang</a:t>
            </a:r>
          </a:p>
        </p:txBody>
      </p:sp>
      <p:pic>
        <p:nvPicPr>
          <p:cNvPr id="35" name="Picture 34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66" y="3497066"/>
            <a:ext cx="107950" cy="1079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63766" y="3492995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qinxiang.lim@iaqtechnology.com.my</a:t>
            </a:r>
          </a:p>
        </p:txBody>
      </p:sp>
      <p:pic>
        <p:nvPicPr>
          <p:cNvPr id="37" name="Picture 36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266" y="3695802"/>
            <a:ext cx="107950" cy="1079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3766" y="3691731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+6016-442 4578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65133" y="2747270"/>
            <a:ext cx="2417166" cy="19050"/>
          </a:xfrm>
          <a:prstGeom prst="rect">
            <a:avLst/>
          </a:prstGeom>
          <a:solidFill>
            <a:srgbClr val="EC232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75948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65133" y="4017467"/>
            <a:ext cx="2417166" cy="635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5133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10158" y="2864745"/>
            <a:ext cx="861022" cy="142875"/>
          </a:xfrm>
          <a:prstGeom prst="rect">
            <a:avLst/>
          </a:prstGeom>
          <a:noFill/>
          <a:ln w="6350">
            <a:solidFill>
              <a:srgbClr val="EC2326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6983" y="2906020"/>
            <a:ext cx="867372" cy="57150"/>
          </a:xfrm>
          <a:prstGeom prst="rect">
            <a:avLst/>
          </a:prstGeom>
          <a:noFill/>
        </p:spPr>
        <p:txBody>
          <a:bodyPr wrap="none" lIns="57150" rIns="57150" tIns="0" bIns="0" anchor="ctr">
            <a:noAutofit/>
          </a:bodyPr>
          <a:lstStyle/>
          <a:p>
            <a:pPr algn="l"/>
            <a:r>
              <a:rPr sz="520" b="0" i="0" spc="10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 BE CONFIRMED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36583" y="2969520"/>
            <a:ext cx="2074266" cy="69850"/>
          </a:xfrm>
          <a:prstGeom prst="rect">
            <a:avLst/>
          </a:prstGeom>
          <a:noFill/>
        </p:spPr>
        <p:txBody>
          <a:bodyPr wrap="none" lIns="0" rIns="76200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ROLE TO BE ADVISED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583" y="3191770"/>
            <a:ext cx="20742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96A2B2"/>
                </a:solidFill>
                <a:latin typeface="Poppins SemiBold"/>
                <a:ea typeface="Poppins SemiBold"/>
                <a:cs typeface="Poppins SemiBold"/>
              </a:rPr>
              <a:t>Name to be advised</a:t>
            </a:r>
          </a:p>
        </p:txBody>
      </p:sp>
      <p:pic>
        <p:nvPicPr>
          <p:cNvPr id="47" name="Picture 46" descr="92265448a5d11e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583" y="3497066"/>
            <a:ext cx="107950" cy="1079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27083" y="3492995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name@iaqtechnology.com.my</a:t>
            </a:r>
          </a:p>
        </p:txBody>
      </p:sp>
      <p:pic>
        <p:nvPicPr>
          <p:cNvPr id="49" name="Picture 48" descr="a1667763ab6ea0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583" y="3695802"/>
            <a:ext cx="107950" cy="1079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27083" y="3691731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+60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221688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5380438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9300" y="5329638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Technology International Sdn Bhd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532336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5652986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9300" y="5602186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200001031412 (534019-T)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04891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" y="5925541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BUSINESS ENQUIRIES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9300" y="5874741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business@iaqtechnology.com.my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077445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6198095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9300" y="6147295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12, Jalan Sungai Jeluh 32/192, Kawasan Perindustrian Kemuning, Seksyen 32, 40460 Shah Alam, Selangor, Malaysia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445250"/>
            <a:ext cx="4024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67 / 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