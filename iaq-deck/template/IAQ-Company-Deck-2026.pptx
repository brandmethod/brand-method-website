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fntdata" ContentType="application/x-fontdata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</p:sldIdLst>
  <p:sldSz cx="12192000" cy="6858000" type="screen4x3"/>
  <p:notesSz cx="6858000" cy="9144000"/>
  <p:embeddedFontLst>
    <p:embeddedFont>
      <p:font typeface="League Spartan" pitchFamily="34" charset="0"/>
      <p:regular r:id="rId95"/>
    </p:embeddedFont>
    <p:embeddedFont>
      <p:font typeface="League Spartan Medium" pitchFamily="34" charset="0"/>
      <p:regular r:id="rId96"/>
    </p:embeddedFont>
    <p:embeddedFont>
      <p:font typeface="League Spartan SemiBold" pitchFamily="34" charset="0"/>
      <p:regular r:id="rId97"/>
    </p:embeddedFont>
    <p:embeddedFont>
      <p:font typeface="Poppins Medium" pitchFamily="34" charset="0"/>
      <p:regular r:id="rId98"/>
    </p:embeddedFont>
    <p:embeddedFont>
      <p:font typeface="Poppins SemiBold" pitchFamily="34" charset="0"/>
      <p:regular r:id="rId99"/>
    </p:embeddedFont>
    <p:embeddedFont>
      <p:font typeface="Poppins" pitchFamily="34" charset="0"/>
      <p:bold r:id="rId100"/>
    </p:embeddedFont>
    <p:embeddedFont>
      <p:font typeface="Urbanist" pitchFamily="34" charset="0"/>
      <p:regular r:id="rId101"/>
    </p:embeddedFont>
    <p:embeddedFont>
      <p:font typeface="Urbanist Medium" pitchFamily="34" charset="0"/>
      <p:regular r:id="rId102"/>
    </p:embeddedFont>
    <p:embeddedFont>
      <p:font typeface="Urbanist SemiBold" pitchFamily="34" charset="0"/>
      <p:regular r:id="rId10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font" Target="fonts/font95.fntdata"/><Relationship Id="rId96" Type="http://schemas.openxmlformats.org/officeDocument/2006/relationships/font" Target="fonts/font96.fntdata"/><Relationship Id="rId97" Type="http://schemas.openxmlformats.org/officeDocument/2006/relationships/font" Target="fonts/font97.fntdata"/><Relationship Id="rId98" Type="http://schemas.openxmlformats.org/officeDocument/2006/relationships/font" Target="fonts/font98.fntdata"/><Relationship Id="rId99" Type="http://schemas.openxmlformats.org/officeDocument/2006/relationships/font" Target="fonts/font99.fntdata"/><Relationship Id="rId100" Type="http://schemas.openxmlformats.org/officeDocument/2006/relationships/font" Target="fonts/font100.fntdata"/><Relationship Id="rId101" Type="http://schemas.openxmlformats.org/officeDocument/2006/relationships/font" Target="fonts/font101.fntdata"/><Relationship Id="rId102" Type="http://schemas.openxmlformats.org/officeDocument/2006/relationships/font" Target="fonts/font102.fntdata"/><Relationship Id="rId103" Type="http://schemas.openxmlformats.org/officeDocument/2006/relationships/font" Target="fonts/font103.fntdata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4.png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5.jpg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6.png"/><Relationship Id="rId3" Type="http://schemas.openxmlformats.org/officeDocument/2006/relationships/image" Target="../media/image197.jpg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8.png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9.png"/><Relationship Id="rId3" Type="http://schemas.openxmlformats.org/officeDocument/2006/relationships/image" Target="../media/image200.png"/><Relationship Id="rId4" Type="http://schemas.openxmlformats.org/officeDocument/2006/relationships/image" Target="../media/image201.png"/><Relationship Id="rId5" Type="http://schemas.openxmlformats.org/officeDocument/2006/relationships/image" Target="../media/image202.png"/><Relationship Id="rId6" Type="http://schemas.openxmlformats.org/officeDocument/2006/relationships/image" Target="../media/image203.png"/><Relationship Id="rId7" Type="http://schemas.openxmlformats.org/officeDocument/2006/relationships/image" Target="../media/image204.png"/><Relationship Id="rId8" Type="http://schemas.openxmlformats.org/officeDocument/2006/relationships/image" Target="../media/image205.png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6.png"/></Relationships>
</file>

<file path=ppt/slideLayouts/_rels/slideLayout1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7.png"/></Relationships>
</file>

<file path=ppt/slideLayouts/_rels/slideLayout1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8.png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Relationship Id="rId6" Type="http://schemas.openxmlformats.org/officeDocument/2006/relationships/image" Target="../media/image212.png"/><Relationship Id="rId7" Type="http://schemas.openxmlformats.org/officeDocument/2006/relationships/image" Target="../media/image213.png"/></Relationships>
</file>

<file path=ppt/slideLayouts/_rels/slideLayout2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4.png"/></Relationships>
</file>

<file path=ppt/slideLayouts/_rels/slideLayout2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5.png"/><Relationship Id="rId3" Type="http://schemas.openxmlformats.org/officeDocument/2006/relationships/image" Target="../media/image216.png"/><Relationship Id="rId4" Type="http://schemas.openxmlformats.org/officeDocument/2006/relationships/image" Target="../media/image217.png"/><Relationship Id="rId5" Type="http://schemas.openxmlformats.org/officeDocument/2006/relationships/image" Target="../media/image218.png"/><Relationship Id="rId6" Type="http://schemas.openxmlformats.org/officeDocument/2006/relationships/image" Target="../media/image219.png"/><Relationship Id="rId7" Type="http://schemas.openxmlformats.org/officeDocument/2006/relationships/image" Target="../media/image220.png"/></Relationships>
</file>

<file path=ppt/slideLayouts/_rels/slideLayout2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1.png"/></Relationships>
</file>

<file path=ppt/slideLayouts/_rels/slideLayout2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2.png"/><Relationship Id="rId3" Type="http://schemas.openxmlformats.org/officeDocument/2006/relationships/image" Target="../media/image223.png"/><Relationship Id="rId4" Type="http://schemas.openxmlformats.org/officeDocument/2006/relationships/image" Target="../media/image224.png"/><Relationship Id="rId5" Type="http://schemas.openxmlformats.org/officeDocument/2006/relationships/image" Target="../media/image225.png"/><Relationship Id="rId6" Type="http://schemas.openxmlformats.org/officeDocument/2006/relationships/image" Target="../media/image226.png"/><Relationship Id="rId7" Type="http://schemas.openxmlformats.org/officeDocument/2006/relationships/image" Target="../media/image227.png"/><Relationship Id="rId8" Type="http://schemas.openxmlformats.org/officeDocument/2006/relationships/image" Target="../media/image228.png"/><Relationship Id="rId9" Type="http://schemas.openxmlformats.org/officeDocument/2006/relationships/image" Target="../media/image229.png"/></Relationships>
</file>

<file path=ppt/slideLayouts/_rels/slideLayout2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0.png"/><Relationship Id="rId3" Type="http://schemas.openxmlformats.org/officeDocument/2006/relationships/image" Target="../media/image231.jpg"/></Relationships>
</file>

<file path=ppt/slideLayouts/_rels/slideLayout2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2.png"/></Relationships>
</file>

<file path=ppt/slideLayouts/_rels/slideLayout2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3.png"/></Relationships>
</file>

<file path=ppt/slideLayouts/_rels/slideLayout2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4.png"/><Relationship Id="rId3" Type="http://schemas.openxmlformats.org/officeDocument/2006/relationships/image" Target="../media/image235.jpg"/></Relationships>
</file>

<file path=ppt/slideLayouts/_rels/slideLayout2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6.png"/></Relationships>
</file>

<file path=ppt/slideLayouts/_rels/slideLayout2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7.png"/></Relationships>
</file>

<file path=ppt/slideLayouts/_rels/slideLayout3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8.png"/><Relationship Id="rId3" Type="http://schemas.openxmlformats.org/officeDocument/2006/relationships/image" Target="../media/image239.jpg"/></Relationships>
</file>

<file path=ppt/slideLayouts/_rels/slideLayout3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0.png"/><Relationship Id="rId3" Type="http://schemas.openxmlformats.org/officeDocument/2006/relationships/image" Target="../media/image241.jpg"/><Relationship Id="rId4" Type="http://schemas.openxmlformats.org/officeDocument/2006/relationships/image" Target="../media/image242.jpg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IAQ · Blank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Title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6"/>
          <p:cNvSpPr/>
          <p:nvPr/>
        </p:nvSpPr>
        <p:spPr>
          <a:xfrm>
            <a:off x="609600" y="381000"/>
            <a:ext cx="23822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3822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10" name="Text 2"/>
          <p:cNvSpPr>
            <a:spLocks noGrp="1"/>
          </p:cNvSpPr>
          <p:nvPr>
            <p:ph type="body" idx="21"/>
          </p:nvPr>
        </p:nvSpPr>
        <p:spPr>
          <a:xfrm>
            <a:off x="949427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pic>
        <p:nvPicPr>
          <p:cNvPr id="11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12" name="Text 3"/>
          <p:cNvSpPr>
            <a:spLocks noGrp="1"/>
          </p:cNvSpPr>
          <p:nvPr>
            <p:ph type="body" idx="22"/>
          </p:nvPr>
        </p:nvSpPr>
        <p:spPr>
          <a:xfrm>
            <a:off x="609600" y="3119139"/>
            <a:ext cx="109728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00" b="0" i="0" spc="16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16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KICKER · TWO OR THREE WORDS</a:t>
            </a:r>
          </a:p>
        </p:txBody>
      </p:sp>
      <p:sp>
        <p:nvSpPr>
          <p:cNvPr id="13" name="Title"/>
          <p:cNvSpPr>
            <a:spLocks noGrp="1"/>
          </p:cNvSpPr>
          <p:nvPr>
            <p:ph type="title"/>
          </p:nvPr>
        </p:nvSpPr>
        <p:spPr>
          <a:xfrm>
            <a:off x="609600" y="3290589"/>
            <a:ext cx="6985000" cy="10242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>
            <a:lvl1pPr algn="l">
              <a:lnSpc>
                <a:spcPts val="3465"/>
              </a:lnSpc>
              <a:buNone/>
              <a:defRPr sz="3300" b="0" i="0" spc="-99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>
              <a:lnSpc>
                <a:spcPts val="3465"/>
              </a:lnSpc>
            </a:pPr>
            <a:r>
              <a:rPr sz="3300" b="0" i="0" spc="-99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The one line this deck is about, eight words or fewer.</a:t>
            </a:r>
          </a:p>
        </p:txBody>
      </p:sp>
      <p:sp>
        <p:nvSpPr>
          <p:cNvPr id="14" name="Text 4"/>
          <p:cNvSpPr>
            <a:spLocks noGrp="1"/>
          </p:cNvSpPr>
          <p:nvPr>
            <p:ph type="body" idx="23"/>
          </p:nvPr>
        </p:nvSpPr>
        <p:spPr>
          <a:xfrm>
            <a:off x="609600" y="4431011"/>
            <a:ext cx="45720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00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10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sentence under it saying who it is for and what it covers.</a:t>
            </a:r>
          </a:p>
        </p:txBody>
      </p:sp>
      <p:sp>
        <p:nvSpPr>
          <p:cNvPr id="15" name="Text 5"/>
          <p:cNvSpPr>
            <a:spLocks noGrp="1"/>
          </p:cNvSpPr>
          <p:nvPr>
            <p:ph type="body" idx="24"/>
          </p:nvPr>
        </p:nvSpPr>
        <p:spPr>
          <a:xfrm>
            <a:off x="609600" y="4856461"/>
            <a:ext cx="109728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35">
                <a:solidFill>
                  <a:srgbClr val="64707A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35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PREPARED FOR · CLIENT · DATE</a:t>
            </a:r>
          </a:p>
        </p:txBody>
      </p:sp>
      <p:sp>
        <p:nvSpPr>
          <p:cNvPr id="17" name="Text 6"/>
          <p:cNvSpPr>
            <a:spLocks noGrp="1"/>
          </p:cNvSpPr>
          <p:nvPr>
            <p:ph type="body" idx="25"/>
          </p:nvPr>
        </p:nvSpPr>
        <p:spPr>
          <a:xfrm>
            <a:off x="11299628" y="6429375"/>
            <a:ext cx="28277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TITLE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Section divider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6"/>
          <p:cNvSpPr/>
          <p:nvPr/>
        </p:nvSpPr>
        <p:spPr>
          <a:xfrm>
            <a:off x="609600" y="304800"/>
            <a:ext cx="25965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 1"/>
          <p:cNvSpPr>
            <a:spLocks noGrp="1"/>
          </p:cNvSpPr>
          <p:nvPr>
            <p:ph type="body" idx="20"/>
          </p:nvPr>
        </p:nvSpPr>
        <p:spPr>
          <a:xfrm>
            <a:off x="609600" y="349250"/>
            <a:ext cx="25965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10" name="Text 2"/>
          <p:cNvSpPr>
            <a:spLocks noGrp="1"/>
          </p:cNvSpPr>
          <p:nvPr>
            <p:ph type="body" idx="21"/>
          </p:nvPr>
        </p:nvSpPr>
        <p:spPr>
          <a:xfrm>
            <a:off x="970858" y="3381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sp>
        <p:nvSpPr>
          <p:cNvPr id="11" name="Text 3"/>
          <p:cNvSpPr>
            <a:spLocks noGrp="1"/>
          </p:cNvSpPr>
          <p:nvPr>
            <p:ph type="body" idx="22"/>
          </p:nvPr>
        </p:nvSpPr>
        <p:spPr>
          <a:xfrm>
            <a:off x="609600" y="2188566"/>
            <a:ext cx="7949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50" b="0" i="0" spc="15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50" b="0" i="0" spc="15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PART 00 OF 00</a:t>
            </a:r>
          </a:p>
        </p:txBody>
      </p:sp>
      <p:sp>
        <p:nvSpPr>
          <p:cNvPr id="12" name="Title"/>
          <p:cNvSpPr>
            <a:spLocks noGrp="1"/>
          </p:cNvSpPr>
          <p:nvPr>
            <p:ph type="title"/>
          </p:nvPr>
        </p:nvSpPr>
        <p:spPr>
          <a:xfrm>
            <a:off x="609600" y="1998066"/>
            <a:ext cx="5279428" cy="169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500" b="1" i="0" spc="-475">
                <a:solidFill>
                  <a:srgbClr val="EC23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l"/>
            <a:r>
              <a:rPr sz="9500" b="1" i="0" spc="-475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00</a:t>
            </a:r>
          </a:p>
        </p:txBody>
      </p:sp>
      <p:sp>
        <p:nvSpPr>
          <p:cNvPr id="13" name="Text 4"/>
          <p:cNvSpPr>
            <a:spLocks noGrp="1"/>
          </p:cNvSpPr>
          <p:nvPr>
            <p:ph type="body" idx="23"/>
          </p:nvPr>
        </p:nvSpPr>
        <p:spPr>
          <a:xfrm>
            <a:off x="609600" y="3398241"/>
            <a:ext cx="5279428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3000" b="0" i="0" spc="-75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3000" b="0" i="0" spc="-75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Section name</a:t>
            </a:r>
          </a:p>
        </p:txBody>
      </p:sp>
      <p:sp>
        <p:nvSpPr>
          <p:cNvPr id="14" name="Text 5"/>
          <p:cNvSpPr>
            <a:spLocks noGrp="1"/>
          </p:cNvSpPr>
          <p:nvPr>
            <p:ph type="body" idx="24"/>
          </p:nvPr>
        </p:nvSpPr>
        <p:spPr>
          <a:xfrm>
            <a:off x="609600" y="3951884"/>
            <a:ext cx="5279428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00" b="0" i="0" spc="140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defRPr>
            </a:lvl1pPr>
          </a:lstStyle>
          <a:p>
            <a:pPr algn="l"/>
            <a:r>
              <a:rPr sz="700" b="0" i="0" spc="140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WHAT THIS PART COVERS</a:t>
            </a:r>
          </a:p>
        </p:txBody>
      </p:sp>
      <p:sp>
        <p:nvSpPr>
          <p:cNvPr id="15" name="Rectangle 13"/>
          <p:cNvSpPr/>
          <p:nvPr/>
        </p:nvSpPr>
        <p:spPr>
          <a:xfrm>
            <a:off x="609600" y="4224934"/>
            <a:ext cx="5279428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 6"/>
          <p:cNvSpPr>
            <a:spLocks noGrp="1"/>
          </p:cNvSpPr>
          <p:nvPr>
            <p:ph type="body" idx="25"/>
          </p:nvPr>
        </p:nvSpPr>
        <p:spPr>
          <a:xfrm>
            <a:off x="609600" y="4383684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defRPr>
            </a:lvl1pPr>
          </a:lstStyle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A fact worth leading with</a:t>
            </a:r>
          </a:p>
        </p:txBody>
      </p:sp>
      <p:sp>
        <p:nvSpPr>
          <p:cNvPr id="17" name="Text 7"/>
          <p:cNvSpPr>
            <a:spLocks noGrp="1"/>
          </p:cNvSpPr>
          <p:nvPr>
            <p:ph type="body" idx="26"/>
          </p:nvPr>
        </p:nvSpPr>
        <p:spPr>
          <a:xfrm>
            <a:off x="609600" y="4580534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defRPr>
            </a:lvl1pPr>
          </a:lstStyle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A second fact, the same length</a:t>
            </a:r>
          </a:p>
        </p:txBody>
      </p:sp>
      <p:pic>
        <p:nvPicPr>
          <p:cNvPr id="18" name="Picture 16" descr="refs-cr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4628" y="0"/>
            <a:ext cx="5947372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Statement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609600" y="381000"/>
            <a:ext cx="2569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569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6" name="Text 2"/>
          <p:cNvSpPr>
            <a:spLocks noGrp="1"/>
          </p:cNvSpPr>
          <p:nvPr>
            <p:ph type="body" idx="21"/>
          </p:nvPr>
        </p:nvSpPr>
        <p:spPr>
          <a:xfrm>
            <a:off x="968178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7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8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10" name="Text 3"/>
          <p:cNvSpPr>
            <a:spLocks noGrp="1"/>
          </p:cNvSpPr>
          <p:nvPr>
            <p:ph type="body" idx="22"/>
          </p:nvPr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1" name="Text 4"/>
          <p:cNvSpPr>
            <a:spLocks noGrp="1"/>
          </p:cNvSpPr>
          <p:nvPr>
            <p:ph type="body" idx="23"/>
          </p:nvPr>
        </p:nvSpPr>
        <p:spPr>
          <a:xfrm>
            <a:off x="609600" y="1651000"/>
            <a:ext cx="6273800" cy="7159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>
            <a:lvl1pPr algn="l">
              <a:lnSpc>
                <a:spcPts val="2438"/>
              </a:lnSpc>
              <a:buNone/>
              <a:defRPr sz="2300" b="0" i="0" spc="-46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>
              <a:lnSpc>
                <a:spcPts val="2438"/>
              </a:lnSpc>
            </a:pPr>
            <a:r>
              <a:rPr sz="2300" b="0" i="0" spc="-46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The statement, two lines at most, said plainly.</a:t>
            </a:r>
          </a:p>
        </p:txBody>
      </p:sp>
      <p:sp>
        <p:nvSpPr>
          <p:cNvPr id="12" name="Text 5"/>
          <p:cNvSpPr>
            <a:spLocks noGrp="1"/>
          </p:cNvSpPr>
          <p:nvPr>
            <p:ph type="body" idx="24"/>
          </p:nvPr>
        </p:nvSpPr>
        <p:spPr>
          <a:xfrm>
            <a:off x="609600" y="2441575"/>
            <a:ext cx="4310755" cy="33903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>
            <a:lvl1pPr algn="l">
              <a:lnSpc>
                <a:spcPts val="1520"/>
              </a:lnSpc>
              <a:buNone/>
              <a:def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>
              <a:lnSpc>
                <a:spcPts val="1520"/>
              </a:lnSpc>
            </a:pPr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Two or three sentences carrying the argument. Say what is true, what it is worth, and leave the rest to the next page.</a:t>
            </a:r>
          </a:p>
        </p:txBody>
      </p:sp>
      <p:pic>
        <p:nvPicPr>
          <p:cNvPr id="13" name="Picture 11" descr="glance-cleanroom.jpg"/>
          <p:cNvPicPr>
            <a:picLocks noChangeAspect="1"/>
          </p:cNvPicPr>
          <p:nvPr/>
        </p:nvPicPr>
        <p:blipFill>
          <a:blip r:embed="rId3"/>
          <a:srcRect t="86" b="86"/>
          <a:stretch>
            <a:fillRect/>
          </a:stretch>
        </p:blipFill>
        <p:spPr>
          <a:xfrm>
            <a:off x="7391400" y="1701800"/>
            <a:ext cx="4191000" cy="4648200"/>
          </a:xfrm>
          <a:prstGeom prst="rect">
            <a:avLst/>
          </a:prstGeom>
        </p:spPr>
      </p:pic>
      <p:sp>
        <p:nvSpPr>
          <p:cNvPr id="15" name="Text 6"/>
          <p:cNvSpPr>
            <a:spLocks noGrp="1"/>
          </p:cNvSpPr>
          <p:nvPr>
            <p:ph type="body" idx="25"/>
          </p:nvPr>
        </p:nvSpPr>
        <p:spPr>
          <a:xfrm>
            <a:off x="10989075" y="6429375"/>
            <a:ext cx="5933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STATEMENT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Highlights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609600" y="381000"/>
            <a:ext cx="255486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55486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6" name="Text 2"/>
          <p:cNvSpPr>
            <a:spLocks noGrp="1"/>
          </p:cNvSpPr>
          <p:nvPr>
            <p:ph type="body" idx="21"/>
          </p:nvPr>
        </p:nvSpPr>
        <p:spPr>
          <a:xfrm>
            <a:off x="966686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7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8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10" name="Text 3"/>
          <p:cNvSpPr>
            <a:spLocks noGrp="1"/>
          </p:cNvSpPr>
          <p:nvPr>
            <p:ph type="body" idx="22"/>
          </p:nvPr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1" name="Rectangle 9"/>
          <p:cNvSpPr/>
          <p:nvPr/>
        </p:nvSpPr>
        <p:spPr>
          <a:xfrm>
            <a:off x="609600" y="1701800"/>
            <a:ext cx="2738438" cy="46482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 4"/>
          <p:cNvSpPr>
            <a:spLocks noGrp="1"/>
          </p:cNvSpPr>
          <p:nvPr>
            <p:ph type="body" idx="23"/>
          </p:nvPr>
        </p:nvSpPr>
        <p:spPr>
          <a:xfrm>
            <a:off x="825500" y="3592512"/>
            <a:ext cx="23066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13" name="Text 5"/>
          <p:cNvSpPr>
            <a:spLocks noGrp="1"/>
          </p:cNvSpPr>
          <p:nvPr>
            <p:ph type="body" idx="24"/>
          </p:nvPr>
        </p:nvSpPr>
        <p:spPr>
          <a:xfrm>
            <a:off x="825500" y="3643312"/>
            <a:ext cx="2306638" cy="6921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>
            <a:lvl1pPr algn="l">
              <a:lnSpc>
                <a:spcPts val="3704"/>
              </a:lnSpc>
              <a:buNone/>
              <a:defRPr sz="3900" b="1" i="0" spc="-156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l">
              <a:lnSpc>
                <a:spcPts val="3704"/>
              </a:lnSpc>
            </a:pPr>
            <a:r>
              <a:rPr sz="3900" b="1" i="0" spc="-156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00</a:t>
            </a:r>
            <a:r>
              <a:rPr sz="1100" b="0" i="0" spc="-156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+</a:t>
            </a:r>
          </a:p>
        </p:txBody>
      </p:sp>
      <p:sp>
        <p:nvSpPr>
          <p:cNvPr id="14" name="Text 6"/>
          <p:cNvSpPr>
            <a:spLocks noGrp="1"/>
          </p:cNvSpPr>
          <p:nvPr>
            <p:ph type="body" idx="25"/>
          </p:nvPr>
        </p:nvSpPr>
        <p:spPr>
          <a:xfrm>
            <a:off x="825500" y="4323359"/>
            <a:ext cx="230663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 figure counts, one line</a:t>
            </a:r>
          </a:p>
        </p:txBody>
      </p:sp>
      <p:sp>
        <p:nvSpPr>
          <p:cNvPr id="15" name="Rectangle 13"/>
          <p:cNvSpPr/>
          <p:nvPr/>
        </p:nvSpPr>
        <p:spPr>
          <a:xfrm>
            <a:off x="3354388" y="1701800"/>
            <a:ext cx="2738438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 7"/>
          <p:cNvSpPr>
            <a:spLocks noGrp="1"/>
          </p:cNvSpPr>
          <p:nvPr>
            <p:ph type="body" idx="26"/>
          </p:nvPr>
        </p:nvSpPr>
        <p:spPr>
          <a:xfrm>
            <a:off x="3570288" y="3592512"/>
            <a:ext cx="23066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17" name="Text 8"/>
          <p:cNvSpPr>
            <a:spLocks noGrp="1"/>
          </p:cNvSpPr>
          <p:nvPr>
            <p:ph type="body" idx="27"/>
          </p:nvPr>
        </p:nvSpPr>
        <p:spPr>
          <a:xfrm>
            <a:off x="3570288" y="3643312"/>
            <a:ext cx="2306638" cy="6921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>
            <a:lvl1pPr algn="l">
              <a:lnSpc>
                <a:spcPts val="3704"/>
              </a:lnSpc>
              <a:buNone/>
              <a:defRPr sz="3900" b="1" i="0" spc="-156">
                <a:solidFill>
                  <a:srgbClr val="101A2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l">
              <a:lnSpc>
                <a:spcPts val="3704"/>
              </a:lnSpc>
            </a:pPr>
            <a:r>
              <a:rPr sz="3900" b="1" i="0" spc="-156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00</a:t>
            </a:r>
            <a:r>
              <a:rPr sz="1100" b="0" i="0" spc="-156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unit</a:t>
            </a:r>
          </a:p>
        </p:txBody>
      </p:sp>
      <p:sp>
        <p:nvSpPr>
          <p:cNvPr id="18" name="Text 9"/>
          <p:cNvSpPr>
            <a:spLocks noGrp="1"/>
          </p:cNvSpPr>
          <p:nvPr>
            <p:ph type="body" idx="28"/>
          </p:nvPr>
        </p:nvSpPr>
        <p:spPr>
          <a:xfrm>
            <a:off x="3570288" y="4323359"/>
            <a:ext cx="230663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 figure counts, one line</a:t>
            </a:r>
          </a:p>
        </p:txBody>
      </p:sp>
      <p:sp>
        <p:nvSpPr>
          <p:cNvPr id="19" name="Rectangle 17"/>
          <p:cNvSpPr/>
          <p:nvPr/>
        </p:nvSpPr>
        <p:spPr>
          <a:xfrm>
            <a:off x="6099175" y="1701800"/>
            <a:ext cx="2738438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 10"/>
          <p:cNvSpPr>
            <a:spLocks noGrp="1"/>
          </p:cNvSpPr>
          <p:nvPr>
            <p:ph type="body" idx="29"/>
          </p:nvPr>
        </p:nvSpPr>
        <p:spPr>
          <a:xfrm>
            <a:off x="6315075" y="3592512"/>
            <a:ext cx="23066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21" name="Text 11"/>
          <p:cNvSpPr>
            <a:spLocks noGrp="1"/>
          </p:cNvSpPr>
          <p:nvPr>
            <p:ph type="body" idx="30"/>
          </p:nvPr>
        </p:nvSpPr>
        <p:spPr>
          <a:xfrm>
            <a:off x="6315075" y="3643312"/>
            <a:ext cx="2306638" cy="6921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>
            <a:lvl1pPr algn="l">
              <a:lnSpc>
                <a:spcPts val="3704"/>
              </a:lnSpc>
              <a:buNone/>
              <a:defRPr sz="3900" b="1" i="0" spc="-156">
                <a:solidFill>
                  <a:srgbClr val="101A2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l">
              <a:lnSpc>
                <a:spcPts val="3704"/>
              </a:lnSpc>
            </a:pPr>
            <a:r>
              <a:rPr sz="3900" b="1" i="0" spc="-156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00</a:t>
            </a:r>
            <a:r>
              <a:rPr sz="1100" b="0" i="0" spc="-156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%</a:t>
            </a:r>
          </a:p>
        </p:txBody>
      </p:sp>
      <p:sp>
        <p:nvSpPr>
          <p:cNvPr id="22" name="Text 12"/>
          <p:cNvSpPr>
            <a:spLocks noGrp="1"/>
          </p:cNvSpPr>
          <p:nvPr>
            <p:ph type="body" idx="31"/>
          </p:nvPr>
        </p:nvSpPr>
        <p:spPr>
          <a:xfrm>
            <a:off x="6315075" y="4323359"/>
            <a:ext cx="230663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 figure counts, one line</a:t>
            </a:r>
          </a:p>
        </p:txBody>
      </p:sp>
      <p:sp>
        <p:nvSpPr>
          <p:cNvPr id="23" name="Rectangle 21"/>
          <p:cNvSpPr/>
          <p:nvPr/>
        </p:nvSpPr>
        <p:spPr>
          <a:xfrm>
            <a:off x="8843962" y="1701800"/>
            <a:ext cx="2738438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 13"/>
          <p:cNvSpPr>
            <a:spLocks noGrp="1"/>
          </p:cNvSpPr>
          <p:nvPr>
            <p:ph type="body" idx="32"/>
          </p:nvPr>
        </p:nvSpPr>
        <p:spPr>
          <a:xfrm>
            <a:off x="9059862" y="3592512"/>
            <a:ext cx="23066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25" name="Text 14"/>
          <p:cNvSpPr>
            <a:spLocks noGrp="1"/>
          </p:cNvSpPr>
          <p:nvPr>
            <p:ph type="body" idx="33"/>
          </p:nvPr>
        </p:nvSpPr>
        <p:spPr>
          <a:xfrm>
            <a:off x="9059862" y="3643312"/>
            <a:ext cx="2306638" cy="692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3900" b="1" i="0" spc="-156">
                <a:solidFill>
                  <a:srgbClr val="101A2B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l"/>
            <a:r>
              <a:rPr sz="3900" b="1" i="0" spc="-156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00</a:t>
            </a:r>
          </a:p>
        </p:txBody>
      </p:sp>
      <p:sp>
        <p:nvSpPr>
          <p:cNvPr id="26" name="Text 15"/>
          <p:cNvSpPr>
            <a:spLocks noGrp="1"/>
          </p:cNvSpPr>
          <p:nvPr>
            <p:ph type="body" idx="34"/>
          </p:nvPr>
        </p:nvSpPr>
        <p:spPr>
          <a:xfrm>
            <a:off x="9059862" y="4323359"/>
            <a:ext cx="230663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 figure counts, one line</a:t>
            </a:r>
          </a:p>
        </p:txBody>
      </p:sp>
      <p:sp>
        <p:nvSpPr>
          <p:cNvPr id="28" name="Text 16"/>
          <p:cNvSpPr>
            <a:spLocks noGrp="1"/>
          </p:cNvSpPr>
          <p:nvPr>
            <p:ph type="body" idx="35"/>
          </p:nvPr>
        </p:nvSpPr>
        <p:spPr>
          <a:xfrm>
            <a:off x="10944523" y="6429375"/>
            <a:ext cx="63778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HIGHLIGHTS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Icon cards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609600" y="381000"/>
            <a:ext cx="25747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5747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6" name="Text 2"/>
          <p:cNvSpPr>
            <a:spLocks noGrp="1"/>
          </p:cNvSpPr>
          <p:nvPr>
            <p:ph type="body" idx="21"/>
          </p:nvPr>
        </p:nvSpPr>
        <p:spPr>
          <a:xfrm>
            <a:off x="968673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7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8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10" name="Text 3"/>
          <p:cNvSpPr>
            <a:spLocks noGrp="1"/>
          </p:cNvSpPr>
          <p:nvPr>
            <p:ph type="body" idx="22"/>
          </p:nvPr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1" name="Rectangle 9"/>
          <p:cNvSpPr/>
          <p:nvPr/>
        </p:nvSpPr>
        <p:spPr>
          <a:xfrm>
            <a:off x="609600" y="1701800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0"/>
          <p:cNvSpPr/>
          <p:nvPr/>
        </p:nvSpPr>
        <p:spPr>
          <a:xfrm>
            <a:off x="800100" y="265906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1" descr="03ee66e6a8283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700" y="2760662"/>
            <a:ext cx="203200" cy="203200"/>
          </a:xfrm>
          <a:prstGeom prst="rect">
            <a:avLst/>
          </a:prstGeom>
        </p:spPr>
      </p:pic>
      <p:sp>
        <p:nvSpPr>
          <p:cNvPr id="14" name="Text 4"/>
          <p:cNvSpPr>
            <a:spLocks noGrp="1"/>
          </p:cNvSpPr>
          <p:nvPr>
            <p:ph type="body" idx="23"/>
          </p:nvPr>
        </p:nvSpPr>
        <p:spPr>
          <a:xfrm>
            <a:off x="1333500" y="269170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Item name</a:t>
            </a:r>
          </a:p>
        </p:txBody>
      </p:sp>
      <p:sp>
        <p:nvSpPr>
          <p:cNvPr id="15" name="Text 5"/>
          <p:cNvSpPr>
            <a:spLocks noGrp="1"/>
          </p:cNvSpPr>
          <p:nvPr>
            <p:ph type="body" idx="24"/>
          </p:nvPr>
        </p:nvSpPr>
        <p:spPr>
          <a:xfrm>
            <a:off x="1333500" y="289996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or five words</a:t>
            </a:r>
          </a:p>
        </p:txBody>
      </p:sp>
      <p:sp>
        <p:nvSpPr>
          <p:cNvPr id="16" name="Text 6"/>
          <p:cNvSpPr>
            <a:spLocks noGrp="1"/>
          </p:cNvSpPr>
          <p:nvPr>
            <p:ph type="body" idx="25"/>
          </p:nvPr>
        </p:nvSpPr>
        <p:spPr>
          <a:xfrm>
            <a:off x="3916464" y="1758950"/>
            <a:ext cx="204686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17" name="Rectangle 15"/>
          <p:cNvSpPr/>
          <p:nvPr/>
        </p:nvSpPr>
        <p:spPr>
          <a:xfrm>
            <a:off x="4267200" y="1701800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6"/>
          <p:cNvSpPr/>
          <p:nvPr/>
        </p:nvSpPr>
        <p:spPr>
          <a:xfrm>
            <a:off x="4457700" y="265906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7" descr="03ee66e6a82835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9300" y="2760662"/>
            <a:ext cx="203200" cy="203200"/>
          </a:xfrm>
          <a:prstGeom prst="rect">
            <a:avLst/>
          </a:prstGeom>
        </p:spPr>
      </p:pic>
      <p:sp>
        <p:nvSpPr>
          <p:cNvPr id="20" name="Text 7"/>
          <p:cNvSpPr>
            <a:spLocks noGrp="1"/>
          </p:cNvSpPr>
          <p:nvPr>
            <p:ph type="body" idx="26"/>
          </p:nvPr>
        </p:nvSpPr>
        <p:spPr>
          <a:xfrm>
            <a:off x="4991100" y="269170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Item name</a:t>
            </a:r>
          </a:p>
        </p:txBody>
      </p:sp>
      <p:sp>
        <p:nvSpPr>
          <p:cNvPr id="21" name="Text 8"/>
          <p:cNvSpPr>
            <a:spLocks noGrp="1"/>
          </p:cNvSpPr>
          <p:nvPr>
            <p:ph type="body" idx="27"/>
          </p:nvPr>
        </p:nvSpPr>
        <p:spPr>
          <a:xfrm>
            <a:off x="4991100" y="289996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or five words</a:t>
            </a:r>
          </a:p>
        </p:txBody>
      </p:sp>
      <p:sp>
        <p:nvSpPr>
          <p:cNvPr id="22" name="Text 9"/>
          <p:cNvSpPr>
            <a:spLocks noGrp="1"/>
          </p:cNvSpPr>
          <p:nvPr>
            <p:ph type="body" idx="28"/>
          </p:nvPr>
        </p:nvSpPr>
        <p:spPr>
          <a:xfrm>
            <a:off x="7531894" y="1758950"/>
            <a:ext cx="246856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23" name="Rectangle 21"/>
          <p:cNvSpPr/>
          <p:nvPr/>
        </p:nvSpPr>
        <p:spPr>
          <a:xfrm>
            <a:off x="7924800" y="1701800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2"/>
          <p:cNvSpPr/>
          <p:nvPr/>
        </p:nvSpPr>
        <p:spPr>
          <a:xfrm>
            <a:off x="8115300" y="265906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5" name="Picture 23" descr="03ee66e6a828356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6900" y="2760662"/>
            <a:ext cx="203200" cy="203200"/>
          </a:xfrm>
          <a:prstGeom prst="rect">
            <a:avLst/>
          </a:prstGeom>
        </p:spPr>
      </p:pic>
      <p:sp>
        <p:nvSpPr>
          <p:cNvPr id="26" name="Text 10"/>
          <p:cNvSpPr>
            <a:spLocks noGrp="1"/>
          </p:cNvSpPr>
          <p:nvPr>
            <p:ph type="body" idx="29"/>
          </p:nvPr>
        </p:nvSpPr>
        <p:spPr>
          <a:xfrm>
            <a:off x="8648700" y="269170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Item name</a:t>
            </a:r>
          </a:p>
        </p:txBody>
      </p:sp>
      <p:sp>
        <p:nvSpPr>
          <p:cNvPr id="27" name="Text 11"/>
          <p:cNvSpPr>
            <a:spLocks noGrp="1"/>
          </p:cNvSpPr>
          <p:nvPr>
            <p:ph type="body" idx="30"/>
          </p:nvPr>
        </p:nvSpPr>
        <p:spPr>
          <a:xfrm>
            <a:off x="8648700" y="289996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or five words</a:t>
            </a:r>
          </a:p>
        </p:txBody>
      </p:sp>
      <p:sp>
        <p:nvSpPr>
          <p:cNvPr id="28" name="Text 12"/>
          <p:cNvSpPr>
            <a:spLocks noGrp="1"/>
          </p:cNvSpPr>
          <p:nvPr>
            <p:ph type="body" idx="31"/>
          </p:nvPr>
        </p:nvSpPr>
        <p:spPr>
          <a:xfrm>
            <a:off x="11182153" y="1758950"/>
            <a:ext cx="254197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29" name="Rectangle 27"/>
          <p:cNvSpPr/>
          <p:nvPr/>
        </p:nvSpPr>
        <p:spPr>
          <a:xfrm>
            <a:off x="609600" y="4029075"/>
            <a:ext cx="365760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8"/>
          <p:cNvSpPr/>
          <p:nvPr/>
        </p:nvSpPr>
        <p:spPr>
          <a:xfrm>
            <a:off x="800100" y="4986338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29" descr="03ee66e6a82835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700" y="5087938"/>
            <a:ext cx="203200" cy="203200"/>
          </a:xfrm>
          <a:prstGeom prst="rect">
            <a:avLst/>
          </a:prstGeom>
        </p:spPr>
      </p:pic>
      <p:sp>
        <p:nvSpPr>
          <p:cNvPr id="32" name="Text 13"/>
          <p:cNvSpPr>
            <a:spLocks noGrp="1"/>
          </p:cNvSpPr>
          <p:nvPr>
            <p:ph type="body" idx="32"/>
          </p:nvPr>
        </p:nvSpPr>
        <p:spPr>
          <a:xfrm>
            <a:off x="1333500" y="5018983"/>
            <a:ext cx="274320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Item name</a:t>
            </a:r>
          </a:p>
        </p:txBody>
      </p:sp>
      <p:sp>
        <p:nvSpPr>
          <p:cNvPr id="33" name="Text 14"/>
          <p:cNvSpPr>
            <a:spLocks noGrp="1"/>
          </p:cNvSpPr>
          <p:nvPr>
            <p:ph type="body" idx="33"/>
          </p:nvPr>
        </p:nvSpPr>
        <p:spPr>
          <a:xfrm>
            <a:off x="1333500" y="5227244"/>
            <a:ext cx="27432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or five words</a:t>
            </a:r>
          </a:p>
        </p:txBody>
      </p:sp>
      <p:sp>
        <p:nvSpPr>
          <p:cNvPr id="34" name="Text 15"/>
          <p:cNvSpPr>
            <a:spLocks noGrp="1"/>
          </p:cNvSpPr>
          <p:nvPr>
            <p:ph type="body" idx="34"/>
          </p:nvPr>
        </p:nvSpPr>
        <p:spPr>
          <a:xfrm>
            <a:off x="3857822" y="4086225"/>
            <a:ext cx="269678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04</a:t>
            </a:r>
          </a:p>
        </p:txBody>
      </p:sp>
      <p:sp>
        <p:nvSpPr>
          <p:cNvPr id="35" name="Rectangle 33"/>
          <p:cNvSpPr/>
          <p:nvPr/>
        </p:nvSpPr>
        <p:spPr>
          <a:xfrm>
            <a:off x="4267200" y="4029075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4"/>
          <p:cNvSpPr/>
          <p:nvPr/>
        </p:nvSpPr>
        <p:spPr>
          <a:xfrm>
            <a:off x="4267200" y="4029075"/>
            <a:ext cx="365125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5"/>
          <p:cNvSpPr/>
          <p:nvPr/>
        </p:nvSpPr>
        <p:spPr>
          <a:xfrm>
            <a:off x="4457700" y="498951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8" name="Picture 36" descr="03ee66e6a828356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59300" y="5091112"/>
            <a:ext cx="203200" cy="203200"/>
          </a:xfrm>
          <a:prstGeom prst="rect">
            <a:avLst/>
          </a:prstGeom>
        </p:spPr>
      </p:pic>
      <p:sp>
        <p:nvSpPr>
          <p:cNvPr id="39" name="Text 16"/>
          <p:cNvSpPr>
            <a:spLocks noGrp="1"/>
          </p:cNvSpPr>
          <p:nvPr>
            <p:ph type="body" idx="35"/>
          </p:nvPr>
        </p:nvSpPr>
        <p:spPr>
          <a:xfrm>
            <a:off x="4991100" y="502215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Item name</a:t>
            </a:r>
          </a:p>
        </p:txBody>
      </p:sp>
      <p:sp>
        <p:nvSpPr>
          <p:cNvPr id="40" name="Text 17"/>
          <p:cNvSpPr>
            <a:spLocks noGrp="1"/>
          </p:cNvSpPr>
          <p:nvPr>
            <p:ph type="body" idx="36"/>
          </p:nvPr>
        </p:nvSpPr>
        <p:spPr>
          <a:xfrm>
            <a:off x="4991100" y="523041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or five words</a:t>
            </a:r>
          </a:p>
        </p:txBody>
      </p:sp>
      <p:sp>
        <p:nvSpPr>
          <p:cNvPr id="41" name="Text 18"/>
          <p:cNvSpPr>
            <a:spLocks noGrp="1"/>
          </p:cNvSpPr>
          <p:nvPr>
            <p:ph type="body" idx="37"/>
          </p:nvPr>
        </p:nvSpPr>
        <p:spPr>
          <a:xfrm>
            <a:off x="7514831" y="4092575"/>
            <a:ext cx="263925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05</a:t>
            </a:r>
          </a:p>
        </p:txBody>
      </p:sp>
      <p:sp>
        <p:nvSpPr>
          <p:cNvPr id="42" name="Rectangle 40"/>
          <p:cNvSpPr/>
          <p:nvPr/>
        </p:nvSpPr>
        <p:spPr>
          <a:xfrm>
            <a:off x="7924800" y="4029075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1"/>
          <p:cNvSpPr/>
          <p:nvPr/>
        </p:nvSpPr>
        <p:spPr>
          <a:xfrm>
            <a:off x="7924800" y="4029075"/>
            <a:ext cx="365125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Oval 42"/>
          <p:cNvSpPr/>
          <p:nvPr/>
        </p:nvSpPr>
        <p:spPr>
          <a:xfrm>
            <a:off x="8115300" y="498951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5" name="Picture 43" descr="03ee66e6a828356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16900" y="5091112"/>
            <a:ext cx="203200" cy="203200"/>
          </a:xfrm>
          <a:prstGeom prst="rect">
            <a:avLst/>
          </a:prstGeom>
        </p:spPr>
      </p:pic>
      <p:sp>
        <p:nvSpPr>
          <p:cNvPr id="46" name="Text 19"/>
          <p:cNvSpPr>
            <a:spLocks noGrp="1"/>
          </p:cNvSpPr>
          <p:nvPr>
            <p:ph type="body" idx="38"/>
          </p:nvPr>
        </p:nvSpPr>
        <p:spPr>
          <a:xfrm>
            <a:off x="8648700" y="502215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Item name</a:t>
            </a:r>
          </a:p>
        </p:txBody>
      </p:sp>
      <p:sp>
        <p:nvSpPr>
          <p:cNvPr id="47" name="Text 20"/>
          <p:cNvSpPr>
            <a:spLocks noGrp="1"/>
          </p:cNvSpPr>
          <p:nvPr>
            <p:ph type="body" idx="39"/>
          </p:nvPr>
        </p:nvSpPr>
        <p:spPr>
          <a:xfrm>
            <a:off x="8648700" y="523041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or five words</a:t>
            </a:r>
          </a:p>
        </p:txBody>
      </p:sp>
      <p:sp>
        <p:nvSpPr>
          <p:cNvPr id="48" name="Text 21"/>
          <p:cNvSpPr>
            <a:spLocks noGrp="1"/>
          </p:cNvSpPr>
          <p:nvPr>
            <p:ph type="body" idx="40"/>
          </p:nvPr>
        </p:nvSpPr>
        <p:spPr>
          <a:xfrm>
            <a:off x="11175308" y="4092575"/>
            <a:ext cx="261042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06</a:t>
            </a:r>
          </a:p>
        </p:txBody>
      </p:sp>
      <p:sp>
        <p:nvSpPr>
          <p:cNvPr id="50" name="Text 22"/>
          <p:cNvSpPr>
            <a:spLocks noGrp="1"/>
          </p:cNvSpPr>
          <p:nvPr>
            <p:ph type="body" idx="41"/>
          </p:nvPr>
        </p:nvSpPr>
        <p:spPr>
          <a:xfrm>
            <a:off x="10930534" y="6429375"/>
            <a:ext cx="65186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ICON CARDS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Comparison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609600" y="381000"/>
            <a:ext cx="25945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5945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06</a:t>
            </a:r>
          </a:p>
        </p:txBody>
      </p:sp>
      <p:sp>
        <p:nvSpPr>
          <p:cNvPr id="6" name="Text 2"/>
          <p:cNvSpPr>
            <a:spLocks noGrp="1"/>
          </p:cNvSpPr>
          <p:nvPr>
            <p:ph type="body" idx="21"/>
          </p:nvPr>
        </p:nvSpPr>
        <p:spPr>
          <a:xfrm>
            <a:off x="970655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7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8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10" name="Text 3"/>
          <p:cNvSpPr>
            <a:spLocks noGrp="1"/>
          </p:cNvSpPr>
          <p:nvPr>
            <p:ph type="body" idx="22"/>
          </p:nvPr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1" name="Rectangle 9"/>
          <p:cNvSpPr/>
          <p:nvPr/>
        </p:nvSpPr>
        <p:spPr>
          <a:xfrm>
            <a:off x="609600" y="1701800"/>
            <a:ext cx="3564433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 4"/>
          <p:cNvSpPr>
            <a:spLocks noGrp="1"/>
          </p:cNvSpPr>
          <p:nvPr>
            <p:ph type="body" idx="23"/>
          </p:nvPr>
        </p:nvSpPr>
        <p:spPr>
          <a:xfrm>
            <a:off x="800100" y="1905000"/>
            <a:ext cx="31834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OPTION 01</a:t>
            </a:r>
          </a:p>
        </p:txBody>
      </p:sp>
      <p:sp>
        <p:nvSpPr>
          <p:cNvPr id="13" name="Text 5"/>
          <p:cNvSpPr>
            <a:spLocks noGrp="1"/>
          </p:cNvSpPr>
          <p:nvPr>
            <p:ph type="body" idx="24"/>
          </p:nvPr>
        </p:nvSpPr>
        <p:spPr>
          <a:xfrm>
            <a:off x="800100" y="2082800"/>
            <a:ext cx="3183433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300" b="0" i="0" spc="-26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300" b="0" i="0" spc="-26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First option</a:t>
            </a:r>
          </a:p>
        </p:txBody>
      </p:sp>
      <p:sp>
        <p:nvSpPr>
          <p:cNvPr id="14" name="Rectangle 12"/>
          <p:cNvSpPr/>
          <p:nvPr/>
        </p:nvSpPr>
        <p:spPr>
          <a:xfrm>
            <a:off x="800100" y="2691708"/>
            <a:ext cx="3183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 6"/>
          <p:cNvSpPr>
            <a:spLocks noGrp="1"/>
          </p:cNvSpPr>
          <p:nvPr>
            <p:ph type="body" idx="25"/>
          </p:nvPr>
        </p:nvSpPr>
        <p:spPr>
          <a:xfrm>
            <a:off x="800100" y="2437708"/>
            <a:ext cx="31834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saying what it is.</a:t>
            </a:r>
          </a:p>
        </p:txBody>
      </p:sp>
      <p:sp>
        <p:nvSpPr>
          <p:cNvPr id="16" name="Rectangle 14"/>
          <p:cNvSpPr/>
          <p:nvPr/>
        </p:nvSpPr>
        <p:spPr>
          <a:xfrm>
            <a:off x="800100" y="288220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 7"/>
          <p:cNvSpPr>
            <a:spLocks noGrp="1"/>
          </p:cNvSpPr>
          <p:nvPr>
            <p:ph type="body" idx="26"/>
          </p:nvPr>
        </p:nvSpPr>
        <p:spPr>
          <a:xfrm>
            <a:off x="800100" y="283775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point of difference</a:t>
            </a:r>
          </a:p>
        </p:txBody>
      </p:sp>
      <p:sp>
        <p:nvSpPr>
          <p:cNvPr id="18" name="Rectangle 16"/>
          <p:cNvSpPr/>
          <p:nvPr/>
        </p:nvSpPr>
        <p:spPr>
          <a:xfrm>
            <a:off x="800100" y="311139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 8"/>
          <p:cNvSpPr>
            <a:spLocks noGrp="1"/>
          </p:cNvSpPr>
          <p:nvPr>
            <p:ph type="body" idx="27"/>
          </p:nvPr>
        </p:nvSpPr>
        <p:spPr>
          <a:xfrm>
            <a:off x="800100" y="306694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second point</a:t>
            </a:r>
          </a:p>
        </p:txBody>
      </p:sp>
      <p:sp>
        <p:nvSpPr>
          <p:cNvPr id="20" name="Rectangle 18"/>
          <p:cNvSpPr/>
          <p:nvPr/>
        </p:nvSpPr>
        <p:spPr>
          <a:xfrm>
            <a:off x="800100" y="3340595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 9"/>
          <p:cNvSpPr>
            <a:spLocks noGrp="1"/>
          </p:cNvSpPr>
          <p:nvPr>
            <p:ph type="body" idx="28"/>
          </p:nvPr>
        </p:nvSpPr>
        <p:spPr>
          <a:xfrm>
            <a:off x="800100" y="3296145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third point</a:t>
            </a:r>
          </a:p>
        </p:txBody>
      </p:sp>
      <p:sp>
        <p:nvSpPr>
          <p:cNvPr id="22" name="Rectangle 20"/>
          <p:cNvSpPr/>
          <p:nvPr/>
        </p:nvSpPr>
        <p:spPr>
          <a:xfrm>
            <a:off x="800100" y="3569792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 10"/>
          <p:cNvSpPr>
            <a:spLocks noGrp="1"/>
          </p:cNvSpPr>
          <p:nvPr>
            <p:ph type="body" idx="29"/>
          </p:nvPr>
        </p:nvSpPr>
        <p:spPr>
          <a:xfrm>
            <a:off x="800100" y="3525342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When to choose it</a:t>
            </a:r>
          </a:p>
        </p:txBody>
      </p:sp>
      <p:sp>
        <p:nvSpPr>
          <p:cNvPr id="24" name="Rectangle 22"/>
          <p:cNvSpPr/>
          <p:nvPr/>
        </p:nvSpPr>
        <p:spPr>
          <a:xfrm>
            <a:off x="4313733" y="1701800"/>
            <a:ext cx="3564433" cy="46482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 11"/>
          <p:cNvSpPr>
            <a:spLocks noGrp="1"/>
          </p:cNvSpPr>
          <p:nvPr>
            <p:ph type="body" idx="30"/>
          </p:nvPr>
        </p:nvSpPr>
        <p:spPr>
          <a:xfrm>
            <a:off x="4504233" y="1905000"/>
            <a:ext cx="31834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OPTION 02</a:t>
            </a:r>
          </a:p>
        </p:txBody>
      </p:sp>
      <p:sp>
        <p:nvSpPr>
          <p:cNvPr id="26" name="Text 12"/>
          <p:cNvSpPr>
            <a:spLocks noGrp="1"/>
          </p:cNvSpPr>
          <p:nvPr>
            <p:ph type="body" idx="31"/>
          </p:nvPr>
        </p:nvSpPr>
        <p:spPr>
          <a:xfrm>
            <a:off x="4504233" y="2082800"/>
            <a:ext cx="3183433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300" b="0" i="0" spc="-26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300" b="0" i="0" spc="-26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Second option</a:t>
            </a:r>
          </a:p>
        </p:txBody>
      </p:sp>
      <p:sp>
        <p:nvSpPr>
          <p:cNvPr id="27" name="Rectangle 25"/>
          <p:cNvSpPr/>
          <p:nvPr/>
        </p:nvSpPr>
        <p:spPr>
          <a:xfrm>
            <a:off x="4504233" y="2691708"/>
            <a:ext cx="3183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 13"/>
          <p:cNvSpPr>
            <a:spLocks noGrp="1"/>
          </p:cNvSpPr>
          <p:nvPr>
            <p:ph type="body" idx="32"/>
          </p:nvPr>
        </p:nvSpPr>
        <p:spPr>
          <a:xfrm>
            <a:off x="4504233" y="2437708"/>
            <a:ext cx="31834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saying what it is.</a:t>
            </a:r>
          </a:p>
        </p:txBody>
      </p:sp>
      <p:sp>
        <p:nvSpPr>
          <p:cNvPr id="29" name="Rectangle 27"/>
          <p:cNvSpPr/>
          <p:nvPr/>
        </p:nvSpPr>
        <p:spPr>
          <a:xfrm>
            <a:off x="4504233" y="288220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 14"/>
          <p:cNvSpPr>
            <a:spLocks noGrp="1"/>
          </p:cNvSpPr>
          <p:nvPr>
            <p:ph type="body" idx="33"/>
          </p:nvPr>
        </p:nvSpPr>
        <p:spPr>
          <a:xfrm>
            <a:off x="4504233" y="283775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>
            <a:lvl1pPr algn="l">
              <a:buNone/>
              <a:defRPr sz="819" b="0" i="0">
                <a:solidFill>
                  <a:srgbClr val="E7EBF0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A point of difference</a:t>
            </a:r>
          </a:p>
        </p:txBody>
      </p:sp>
      <p:sp>
        <p:nvSpPr>
          <p:cNvPr id="31" name="Rectangle 29"/>
          <p:cNvSpPr/>
          <p:nvPr/>
        </p:nvSpPr>
        <p:spPr>
          <a:xfrm>
            <a:off x="4504233" y="311139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 15"/>
          <p:cNvSpPr>
            <a:spLocks noGrp="1"/>
          </p:cNvSpPr>
          <p:nvPr>
            <p:ph type="body" idx="34"/>
          </p:nvPr>
        </p:nvSpPr>
        <p:spPr>
          <a:xfrm>
            <a:off x="4504233" y="306694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>
            <a:lvl1pPr algn="l">
              <a:buNone/>
              <a:defRPr sz="819" b="0" i="0">
                <a:solidFill>
                  <a:srgbClr val="E7EBF0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A second point</a:t>
            </a:r>
          </a:p>
        </p:txBody>
      </p:sp>
      <p:sp>
        <p:nvSpPr>
          <p:cNvPr id="33" name="Rectangle 31"/>
          <p:cNvSpPr/>
          <p:nvPr/>
        </p:nvSpPr>
        <p:spPr>
          <a:xfrm>
            <a:off x="4504233" y="3340595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 16"/>
          <p:cNvSpPr>
            <a:spLocks noGrp="1"/>
          </p:cNvSpPr>
          <p:nvPr>
            <p:ph type="body" idx="35"/>
          </p:nvPr>
        </p:nvSpPr>
        <p:spPr>
          <a:xfrm>
            <a:off x="4504233" y="3296145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>
            <a:lvl1pPr algn="l">
              <a:buNone/>
              <a:defRPr sz="819" b="0" i="0">
                <a:solidFill>
                  <a:srgbClr val="E7EBF0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A third point</a:t>
            </a:r>
          </a:p>
        </p:txBody>
      </p:sp>
      <p:sp>
        <p:nvSpPr>
          <p:cNvPr id="35" name="Rectangle 33"/>
          <p:cNvSpPr/>
          <p:nvPr/>
        </p:nvSpPr>
        <p:spPr>
          <a:xfrm>
            <a:off x="4504233" y="3569792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 17"/>
          <p:cNvSpPr>
            <a:spLocks noGrp="1"/>
          </p:cNvSpPr>
          <p:nvPr>
            <p:ph type="body" idx="36"/>
          </p:nvPr>
        </p:nvSpPr>
        <p:spPr>
          <a:xfrm>
            <a:off x="4504233" y="3525342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>
            <a:lvl1pPr algn="l">
              <a:buNone/>
              <a:defRPr sz="819" b="0" i="0">
                <a:solidFill>
                  <a:srgbClr val="E7EBF0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When to choose it</a:t>
            </a:r>
          </a:p>
        </p:txBody>
      </p:sp>
      <p:sp>
        <p:nvSpPr>
          <p:cNvPr id="37" name="Rectangle 35"/>
          <p:cNvSpPr/>
          <p:nvPr/>
        </p:nvSpPr>
        <p:spPr>
          <a:xfrm>
            <a:off x="8017866" y="1701800"/>
            <a:ext cx="3564433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 18"/>
          <p:cNvSpPr>
            <a:spLocks noGrp="1"/>
          </p:cNvSpPr>
          <p:nvPr>
            <p:ph type="body" idx="37"/>
          </p:nvPr>
        </p:nvSpPr>
        <p:spPr>
          <a:xfrm>
            <a:off x="8208366" y="1905000"/>
            <a:ext cx="31834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OPTION 03</a:t>
            </a:r>
          </a:p>
        </p:txBody>
      </p:sp>
      <p:sp>
        <p:nvSpPr>
          <p:cNvPr id="39" name="Text 19"/>
          <p:cNvSpPr>
            <a:spLocks noGrp="1"/>
          </p:cNvSpPr>
          <p:nvPr>
            <p:ph type="body" idx="38"/>
          </p:nvPr>
        </p:nvSpPr>
        <p:spPr>
          <a:xfrm>
            <a:off x="8208366" y="2082800"/>
            <a:ext cx="3183433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300" b="0" i="0" spc="-26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300" b="0" i="0" spc="-26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Third option</a:t>
            </a:r>
          </a:p>
        </p:txBody>
      </p:sp>
      <p:sp>
        <p:nvSpPr>
          <p:cNvPr id="40" name="Rectangle 38"/>
          <p:cNvSpPr/>
          <p:nvPr/>
        </p:nvSpPr>
        <p:spPr>
          <a:xfrm>
            <a:off x="8208366" y="2691708"/>
            <a:ext cx="3183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 20"/>
          <p:cNvSpPr>
            <a:spLocks noGrp="1"/>
          </p:cNvSpPr>
          <p:nvPr>
            <p:ph type="body" idx="39"/>
          </p:nvPr>
        </p:nvSpPr>
        <p:spPr>
          <a:xfrm>
            <a:off x="8208366" y="2437708"/>
            <a:ext cx="31834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saying what it is.</a:t>
            </a:r>
          </a:p>
        </p:txBody>
      </p:sp>
      <p:sp>
        <p:nvSpPr>
          <p:cNvPr id="42" name="Rectangle 40"/>
          <p:cNvSpPr/>
          <p:nvPr/>
        </p:nvSpPr>
        <p:spPr>
          <a:xfrm>
            <a:off x="8208366" y="288220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 21"/>
          <p:cNvSpPr>
            <a:spLocks noGrp="1"/>
          </p:cNvSpPr>
          <p:nvPr>
            <p:ph type="body" idx="40"/>
          </p:nvPr>
        </p:nvSpPr>
        <p:spPr>
          <a:xfrm>
            <a:off x="8208366" y="283775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point of difference</a:t>
            </a:r>
          </a:p>
        </p:txBody>
      </p:sp>
      <p:sp>
        <p:nvSpPr>
          <p:cNvPr id="44" name="Rectangle 42"/>
          <p:cNvSpPr/>
          <p:nvPr/>
        </p:nvSpPr>
        <p:spPr>
          <a:xfrm>
            <a:off x="8208366" y="311139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 22"/>
          <p:cNvSpPr>
            <a:spLocks noGrp="1"/>
          </p:cNvSpPr>
          <p:nvPr>
            <p:ph type="body" idx="41"/>
          </p:nvPr>
        </p:nvSpPr>
        <p:spPr>
          <a:xfrm>
            <a:off x="8208366" y="306694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second point</a:t>
            </a:r>
          </a:p>
        </p:txBody>
      </p:sp>
      <p:sp>
        <p:nvSpPr>
          <p:cNvPr id="46" name="Rectangle 44"/>
          <p:cNvSpPr/>
          <p:nvPr/>
        </p:nvSpPr>
        <p:spPr>
          <a:xfrm>
            <a:off x="8208366" y="3340595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 23"/>
          <p:cNvSpPr>
            <a:spLocks noGrp="1"/>
          </p:cNvSpPr>
          <p:nvPr>
            <p:ph type="body" idx="42"/>
          </p:nvPr>
        </p:nvSpPr>
        <p:spPr>
          <a:xfrm>
            <a:off x="8208366" y="3296145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third point</a:t>
            </a:r>
          </a:p>
        </p:txBody>
      </p:sp>
      <p:sp>
        <p:nvSpPr>
          <p:cNvPr id="48" name="Rectangle 46"/>
          <p:cNvSpPr/>
          <p:nvPr/>
        </p:nvSpPr>
        <p:spPr>
          <a:xfrm>
            <a:off x="8208366" y="3569792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 24"/>
          <p:cNvSpPr>
            <a:spLocks noGrp="1"/>
          </p:cNvSpPr>
          <p:nvPr>
            <p:ph type="body" idx="43"/>
          </p:nvPr>
        </p:nvSpPr>
        <p:spPr>
          <a:xfrm>
            <a:off x="8208366" y="3525342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When to choose it</a:t>
            </a:r>
          </a:p>
        </p:txBody>
      </p:sp>
      <p:sp>
        <p:nvSpPr>
          <p:cNvPr id="51" name="Text 25"/>
          <p:cNvSpPr>
            <a:spLocks noGrp="1"/>
          </p:cNvSpPr>
          <p:nvPr>
            <p:ph type="body" idx="44"/>
          </p:nvPr>
        </p:nvSpPr>
        <p:spPr>
          <a:xfrm>
            <a:off x="10891736" y="6429375"/>
            <a:ext cx="6906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COMPARISON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Org chart · reporting tree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609600" y="381000"/>
            <a:ext cx="25747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5747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07</a:t>
            </a:r>
          </a:p>
        </p:txBody>
      </p:sp>
      <p:sp>
        <p:nvSpPr>
          <p:cNvPr id="6" name="Text 2"/>
          <p:cNvSpPr>
            <a:spLocks noGrp="1"/>
          </p:cNvSpPr>
          <p:nvPr>
            <p:ph type="body" idx="21"/>
          </p:nvPr>
        </p:nvSpPr>
        <p:spPr>
          <a:xfrm>
            <a:off x="968673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7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8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10" name="Text 3"/>
          <p:cNvSpPr>
            <a:spLocks noGrp="1"/>
          </p:cNvSpPr>
          <p:nvPr>
            <p:ph type="body" idx="22"/>
          </p:nvPr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1" name="Rectangle 9"/>
          <p:cNvSpPr/>
          <p:nvPr/>
        </p:nvSpPr>
        <p:spPr>
          <a:xfrm>
            <a:off x="5302250" y="3175000"/>
            <a:ext cx="1587500" cy="65405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 4"/>
          <p:cNvSpPr>
            <a:spLocks noGrp="1"/>
          </p:cNvSpPr>
          <p:nvPr>
            <p:ph type="body" idx="23"/>
          </p:nvPr>
        </p:nvSpPr>
        <p:spPr>
          <a:xfrm>
            <a:off x="5978131" y="3302000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13" name="Text 5"/>
          <p:cNvSpPr>
            <a:spLocks noGrp="1"/>
          </p:cNvSpPr>
          <p:nvPr>
            <p:ph type="body" idx="24"/>
          </p:nvPr>
        </p:nvSpPr>
        <p:spPr>
          <a:xfrm>
            <a:off x="5555558" y="3390900"/>
            <a:ext cx="1080789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 or function</a:t>
            </a:r>
          </a:p>
        </p:txBody>
      </p:sp>
      <p:sp>
        <p:nvSpPr>
          <p:cNvPr id="14" name="Text 6"/>
          <p:cNvSpPr>
            <a:spLocks noGrp="1"/>
          </p:cNvSpPr>
          <p:nvPr>
            <p:ph type="body" idx="25"/>
          </p:nvPr>
        </p:nvSpPr>
        <p:spPr>
          <a:xfrm>
            <a:off x="5483028" y="3587750"/>
            <a:ext cx="122584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they are accountable for</a:t>
            </a:r>
          </a:p>
        </p:txBody>
      </p:sp>
      <p:sp>
        <p:nvSpPr>
          <p:cNvPr id="15" name="Rectangle 13"/>
          <p:cNvSpPr/>
          <p:nvPr/>
        </p:nvSpPr>
        <p:spPr>
          <a:xfrm>
            <a:off x="6089650" y="3829050"/>
            <a:ext cx="12700" cy="2159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4"/>
          <p:cNvSpPr/>
          <p:nvPr/>
        </p:nvSpPr>
        <p:spPr>
          <a:xfrm>
            <a:off x="1981200" y="4044950"/>
            <a:ext cx="8229600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5"/>
          <p:cNvSpPr/>
          <p:nvPr/>
        </p:nvSpPr>
        <p:spPr>
          <a:xfrm>
            <a:off x="1974850" y="4057650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6"/>
          <p:cNvSpPr/>
          <p:nvPr/>
        </p:nvSpPr>
        <p:spPr>
          <a:xfrm>
            <a:off x="4718050" y="4057650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7"/>
          <p:cNvSpPr/>
          <p:nvPr/>
        </p:nvSpPr>
        <p:spPr>
          <a:xfrm>
            <a:off x="7461250" y="4057650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8"/>
          <p:cNvSpPr/>
          <p:nvPr/>
        </p:nvSpPr>
        <p:spPr>
          <a:xfrm>
            <a:off x="10204450" y="4057650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19"/>
          <p:cNvSpPr/>
          <p:nvPr/>
        </p:nvSpPr>
        <p:spPr>
          <a:xfrm>
            <a:off x="609600" y="4222750"/>
            <a:ext cx="2638425" cy="654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 7"/>
          <p:cNvSpPr>
            <a:spLocks noGrp="1"/>
          </p:cNvSpPr>
          <p:nvPr>
            <p:ph type="body" idx="26"/>
          </p:nvPr>
        </p:nvSpPr>
        <p:spPr>
          <a:xfrm>
            <a:off x="1810944" y="4349750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23" name="Text 8"/>
          <p:cNvSpPr>
            <a:spLocks noGrp="1"/>
          </p:cNvSpPr>
          <p:nvPr>
            <p:ph type="body" idx="27"/>
          </p:nvPr>
        </p:nvSpPr>
        <p:spPr>
          <a:xfrm>
            <a:off x="1388370" y="4438650"/>
            <a:ext cx="1080789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 or function</a:t>
            </a:r>
          </a:p>
        </p:txBody>
      </p:sp>
      <p:sp>
        <p:nvSpPr>
          <p:cNvPr id="24" name="Text 9"/>
          <p:cNvSpPr>
            <a:spLocks noGrp="1"/>
          </p:cNvSpPr>
          <p:nvPr>
            <p:ph type="body" idx="28"/>
          </p:nvPr>
        </p:nvSpPr>
        <p:spPr>
          <a:xfrm>
            <a:off x="1765002" y="4635500"/>
            <a:ext cx="32752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</a:t>
            </a:r>
          </a:p>
        </p:txBody>
      </p:sp>
      <p:sp>
        <p:nvSpPr>
          <p:cNvPr id="25" name="Rectangle 23"/>
          <p:cNvSpPr/>
          <p:nvPr/>
        </p:nvSpPr>
        <p:spPr>
          <a:xfrm>
            <a:off x="3387725" y="4222750"/>
            <a:ext cx="2638425" cy="654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 10"/>
          <p:cNvSpPr>
            <a:spLocks noGrp="1"/>
          </p:cNvSpPr>
          <p:nvPr>
            <p:ph type="body" idx="29"/>
          </p:nvPr>
        </p:nvSpPr>
        <p:spPr>
          <a:xfrm>
            <a:off x="4589069" y="4349750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27" name="Text 11"/>
          <p:cNvSpPr>
            <a:spLocks noGrp="1"/>
          </p:cNvSpPr>
          <p:nvPr>
            <p:ph type="body" idx="30"/>
          </p:nvPr>
        </p:nvSpPr>
        <p:spPr>
          <a:xfrm>
            <a:off x="4166495" y="4438650"/>
            <a:ext cx="1080789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 or function</a:t>
            </a:r>
          </a:p>
        </p:txBody>
      </p:sp>
      <p:sp>
        <p:nvSpPr>
          <p:cNvPr id="28" name="Text 12"/>
          <p:cNvSpPr>
            <a:spLocks noGrp="1"/>
          </p:cNvSpPr>
          <p:nvPr>
            <p:ph type="body" idx="31"/>
          </p:nvPr>
        </p:nvSpPr>
        <p:spPr>
          <a:xfrm>
            <a:off x="4543127" y="4635500"/>
            <a:ext cx="32752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</a:t>
            </a:r>
          </a:p>
        </p:txBody>
      </p:sp>
      <p:sp>
        <p:nvSpPr>
          <p:cNvPr id="29" name="Rectangle 27"/>
          <p:cNvSpPr/>
          <p:nvPr/>
        </p:nvSpPr>
        <p:spPr>
          <a:xfrm>
            <a:off x="6165850" y="4222750"/>
            <a:ext cx="2638425" cy="654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 13"/>
          <p:cNvSpPr>
            <a:spLocks noGrp="1"/>
          </p:cNvSpPr>
          <p:nvPr>
            <p:ph type="body" idx="32"/>
          </p:nvPr>
        </p:nvSpPr>
        <p:spPr>
          <a:xfrm>
            <a:off x="7367194" y="4349750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31" name="Text 14"/>
          <p:cNvSpPr>
            <a:spLocks noGrp="1"/>
          </p:cNvSpPr>
          <p:nvPr>
            <p:ph type="body" idx="33"/>
          </p:nvPr>
        </p:nvSpPr>
        <p:spPr>
          <a:xfrm>
            <a:off x="6944620" y="4438650"/>
            <a:ext cx="1080789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 or function</a:t>
            </a:r>
          </a:p>
        </p:txBody>
      </p:sp>
      <p:sp>
        <p:nvSpPr>
          <p:cNvPr id="32" name="Text 15"/>
          <p:cNvSpPr>
            <a:spLocks noGrp="1"/>
          </p:cNvSpPr>
          <p:nvPr>
            <p:ph type="body" idx="34"/>
          </p:nvPr>
        </p:nvSpPr>
        <p:spPr>
          <a:xfrm>
            <a:off x="7321252" y="4635500"/>
            <a:ext cx="32752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</a:t>
            </a:r>
          </a:p>
        </p:txBody>
      </p:sp>
      <p:sp>
        <p:nvSpPr>
          <p:cNvPr id="33" name="Rectangle 31"/>
          <p:cNvSpPr/>
          <p:nvPr/>
        </p:nvSpPr>
        <p:spPr>
          <a:xfrm>
            <a:off x="8943975" y="4222750"/>
            <a:ext cx="2638425" cy="654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 16"/>
          <p:cNvSpPr>
            <a:spLocks noGrp="1"/>
          </p:cNvSpPr>
          <p:nvPr>
            <p:ph type="body" idx="35"/>
          </p:nvPr>
        </p:nvSpPr>
        <p:spPr>
          <a:xfrm>
            <a:off x="10145319" y="4349750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35" name="Text 17"/>
          <p:cNvSpPr>
            <a:spLocks noGrp="1"/>
          </p:cNvSpPr>
          <p:nvPr>
            <p:ph type="body" idx="36"/>
          </p:nvPr>
        </p:nvSpPr>
        <p:spPr>
          <a:xfrm>
            <a:off x="9722745" y="4438650"/>
            <a:ext cx="1080789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 or function</a:t>
            </a:r>
          </a:p>
        </p:txBody>
      </p:sp>
      <p:sp>
        <p:nvSpPr>
          <p:cNvPr id="36" name="Text 18"/>
          <p:cNvSpPr>
            <a:spLocks noGrp="1"/>
          </p:cNvSpPr>
          <p:nvPr>
            <p:ph type="body" idx="37"/>
          </p:nvPr>
        </p:nvSpPr>
        <p:spPr>
          <a:xfrm>
            <a:off x="10099377" y="4635500"/>
            <a:ext cx="32752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</a:t>
            </a:r>
          </a:p>
        </p:txBody>
      </p:sp>
      <p:sp>
        <p:nvSpPr>
          <p:cNvPr id="38" name="Text 19"/>
          <p:cNvSpPr>
            <a:spLocks noGrp="1"/>
          </p:cNvSpPr>
          <p:nvPr>
            <p:ph type="body" idx="38"/>
          </p:nvPr>
        </p:nvSpPr>
        <p:spPr>
          <a:xfrm>
            <a:off x="9959581" y="6429375"/>
            <a:ext cx="162272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ORG CHART · REPORTING TREE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Org chart · flat team band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609600" y="381000"/>
            <a:ext cx="25925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5925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08</a:t>
            </a:r>
          </a:p>
        </p:txBody>
      </p:sp>
      <p:sp>
        <p:nvSpPr>
          <p:cNvPr id="6" name="Text 2"/>
          <p:cNvSpPr>
            <a:spLocks noGrp="1"/>
          </p:cNvSpPr>
          <p:nvPr>
            <p:ph type="body" idx="21"/>
          </p:nvPr>
        </p:nvSpPr>
        <p:spPr>
          <a:xfrm>
            <a:off x="970458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7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8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10" name="Text 3"/>
          <p:cNvSpPr>
            <a:spLocks noGrp="1"/>
          </p:cNvSpPr>
          <p:nvPr>
            <p:ph type="body" idx="22"/>
          </p:nvPr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1" name="Rectangle 9"/>
          <p:cNvSpPr/>
          <p:nvPr/>
        </p:nvSpPr>
        <p:spPr>
          <a:xfrm>
            <a:off x="609600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0"/>
          <p:cNvSpPr/>
          <p:nvPr/>
        </p:nvSpPr>
        <p:spPr>
          <a:xfrm>
            <a:off x="1412183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1" descr="eaec8c1aaf262d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933" y="3609975"/>
            <a:ext cx="266700" cy="266700"/>
          </a:xfrm>
          <a:prstGeom prst="rect">
            <a:avLst/>
          </a:prstGeom>
        </p:spPr>
      </p:pic>
      <p:sp>
        <p:nvSpPr>
          <p:cNvPr id="14" name="Text 4"/>
          <p:cNvSpPr>
            <a:spLocks noGrp="1"/>
          </p:cNvSpPr>
          <p:nvPr>
            <p:ph type="body" idx="23"/>
          </p:nvPr>
        </p:nvSpPr>
        <p:spPr>
          <a:xfrm>
            <a:off x="1586408" y="4111625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15" name="Text 5"/>
          <p:cNvSpPr>
            <a:spLocks noGrp="1"/>
          </p:cNvSpPr>
          <p:nvPr>
            <p:ph type="body" idx="24"/>
          </p:nvPr>
        </p:nvSpPr>
        <p:spPr>
          <a:xfrm>
            <a:off x="1513878" y="4244975"/>
            <a:ext cx="38080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</a:t>
            </a:r>
          </a:p>
        </p:txBody>
      </p:sp>
      <p:sp>
        <p:nvSpPr>
          <p:cNvPr id="16" name="Text 6"/>
          <p:cNvSpPr>
            <a:spLocks noGrp="1"/>
          </p:cNvSpPr>
          <p:nvPr>
            <p:ph type="body" idx="25"/>
          </p:nvPr>
        </p:nvSpPr>
        <p:spPr>
          <a:xfrm>
            <a:off x="1401661" y="4486275"/>
            <a:ext cx="6053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they own</a:t>
            </a:r>
          </a:p>
        </p:txBody>
      </p:sp>
      <p:sp>
        <p:nvSpPr>
          <p:cNvPr id="17" name="Rectangle 15"/>
          <p:cNvSpPr/>
          <p:nvPr/>
        </p:nvSpPr>
        <p:spPr>
          <a:xfrm>
            <a:off x="2805411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6"/>
          <p:cNvSpPr/>
          <p:nvPr/>
        </p:nvSpPr>
        <p:spPr>
          <a:xfrm>
            <a:off x="3607994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7" descr="eaec8c1aaf262d5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6744" y="3609975"/>
            <a:ext cx="266700" cy="266700"/>
          </a:xfrm>
          <a:prstGeom prst="rect">
            <a:avLst/>
          </a:prstGeom>
        </p:spPr>
      </p:pic>
      <p:sp>
        <p:nvSpPr>
          <p:cNvPr id="20" name="Text 7"/>
          <p:cNvSpPr>
            <a:spLocks noGrp="1"/>
          </p:cNvSpPr>
          <p:nvPr>
            <p:ph type="body" idx="26"/>
          </p:nvPr>
        </p:nvSpPr>
        <p:spPr>
          <a:xfrm>
            <a:off x="3782219" y="4111625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21" name="Text 8"/>
          <p:cNvSpPr>
            <a:spLocks noGrp="1"/>
          </p:cNvSpPr>
          <p:nvPr>
            <p:ph type="body" idx="27"/>
          </p:nvPr>
        </p:nvSpPr>
        <p:spPr>
          <a:xfrm>
            <a:off x="3709689" y="4244975"/>
            <a:ext cx="38080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</a:t>
            </a:r>
          </a:p>
        </p:txBody>
      </p:sp>
      <p:sp>
        <p:nvSpPr>
          <p:cNvPr id="22" name="Text 9"/>
          <p:cNvSpPr>
            <a:spLocks noGrp="1"/>
          </p:cNvSpPr>
          <p:nvPr>
            <p:ph type="body" idx="28"/>
          </p:nvPr>
        </p:nvSpPr>
        <p:spPr>
          <a:xfrm>
            <a:off x="3597472" y="4486275"/>
            <a:ext cx="6053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they own</a:t>
            </a:r>
          </a:p>
        </p:txBody>
      </p:sp>
      <p:sp>
        <p:nvSpPr>
          <p:cNvPr id="23" name="Rectangle 21"/>
          <p:cNvSpPr/>
          <p:nvPr/>
        </p:nvSpPr>
        <p:spPr>
          <a:xfrm>
            <a:off x="5001222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2"/>
          <p:cNvSpPr/>
          <p:nvPr/>
        </p:nvSpPr>
        <p:spPr>
          <a:xfrm>
            <a:off x="5803798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5" name="Picture 23" descr="eaec8c1aaf262d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2548" y="3609975"/>
            <a:ext cx="266700" cy="266700"/>
          </a:xfrm>
          <a:prstGeom prst="rect">
            <a:avLst/>
          </a:prstGeom>
        </p:spPr>
      </p:pic>
      <p:sp>
        <p:nvSpPr>
          <p:cNvPr id="26" name="Text 10"/>
          <p:cNvSpPr>
            <a:spLocks noGrp="1"/>
          </p:cNvSpPr>
          <p:nvPr>
            <p:ph type="body" idx="29"/>
          </p:nvPr>
        </p:nvSpPr>
        <p:spPr>
          <a:xfrm>
            <a:off x="5978030" y="4111625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27" name="Text 11"/>
          <p:cNvSpPr>
            <a:spLocks noGrp="1"/>
          </p:cNvSpPr>
          <p:nvPr>
            <p:ph type="body" idx="30"/>
          </p:nvPr>
        </p:nvSpPr>
        <p:spPr>
          <a:xfrm>
            <a:off x="5905500" y="4244975"/>
            <a:ext cx="38080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</a:t>
            </a:r>
          </a:p>
        </p:txBody>
      </p:sp>
      <p:sp>
        <p:nvSpPr>
          <p:cNvPr id="28" name="Text 12"/>
          <p:cNvSpPr>
            <a:spLocks noGrp="1"/>
          </p:cNvSpPr>
          <p:nvPr>
            <p:ph type="body" idx="31"/>
          </p:nvPr>
        </p:nvSpPr>
        <p:spPr>
          <a:xfrm>
            <a:off x="5793283" y="4486275"/>
            <a:ext cx="6053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they own</a:t>
            </a:r>
          </a:p>
        </p:txBody>
      </p:sp>
      <p:sp>
        <p:nvSpPr>
          <p:cNvPr id="29" name="Rectangle 27"/>
          <p:cNvSpPr/>
          <p:nvPr/>
        </p:nvSpPr>
        <p:spPr>
          <a:xfrm>
            <a:off x="7197033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8"/>
          <p:cNvSpPr/>
          <p:nvPr/>
        </p:nvSpPr>
        <p:spPr>
          <a:xfrm>
            <a:off x="7999609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29" descr="eaec8c1aaf262d5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8359" y="3609975"/>
            <a:ext cx="266700" cy="266700"/>
          </a:xfrm>
          <a:prstGeom prst="rect">
            <a:avLst/>
          </a:prstGeom>
        </p:spPr>
      </p:pic>
      <p:sp>
        <p:nvSpPr>
          <p:cNvPr id="32" name="Text 13"/>
          <p:cNvSpPr>
            <a:spLocks noGrp="1"/>
          </p:cNvSpPr>
          <p:nvPr>
            <p:ph type="body" idx="32"/>
          </p:nvPr>
        </p:nvSpPr>
        <p:spPr>
          <a:xfrm>
            <a:off x="8173841" y="4111625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33" name="Text 14"/>
          <p:cNvSpPr>
            <a:spLocks noGrp="1"/>
          </p:cNvSpPr>
          <p:nvPr>
            <p:ph type="body" idx="33"/>
          </p:nvPr>
        </p:nvSpPr>
        <p:spPr>
          <a:xfrm>
            <a:off x="8101311" y="4244975"/>
            <a:ext cx="38080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</a:t>
            </a:r>
          </a:p>
        </p:txBody>
      </p:sp>
      <p:sp>
        <p:nvSpPr>
          <p:cNvPr id="34" name="Text 15"/>
          <p:cNvSpPr>
            <a:spLocks noGrp="1"/>
          </p:cNvSpPr>
          <p:nvPr>
            <p:ph type="body" idx="34"/>
          </p:nvPr>
        </p:nvSpPr>
        <p:spPr>
          <a:xfrm>
            <a:off x="7989094" y="4486275"/>
            <a:ext cx="6053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they own</a:t>
            </a:r>
          </a:p>
        </p:txBody>
      </p:sp>
      <p:sp>
        <p:nvSpPr>
          <p:cNvPr id="35" name="Rectangle 33"/>
          <p:cNvSpPr/>
          <p:nvPr/>
        </p:nvSpPr>
        <p:spPr>
          <a:xfrm>
            <a:off x="9392844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4"/>
          <p:cNvSpPr/>
          <p:nvPr/>
        </p:nvSpPr>
        <p:spPr>
          <a:xfrm>
            <a:off x="10195420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5" descr="eaec8c1aaf262d5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54170" y="3609975"/>
            <a:ext cx="266700" cy="266700"/>
          </a:xfrm>
          <a:prstGeom prst="rect">
            <a:avLst/>
          </a:prstGeom>
        </p:spPr>
      </p:pic>
      <p:sp>
        <p:nvSpPr>
          <p:cNvPr id="38" name="Text 16"/>
          <p:cNvSpPr>
            <a:spLocks noGrp="1"/>
          </p:cNvSpPr>
          <p:nvPr>
            <p:ph type="body" idx="35"/>
          </p:nvPr>
        </p:nvSpPr>
        <p:spPr>
          <a:xfrm>
            <a:off x="10369652" y="4111625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39" name="Text 17"/>
          <p:cNvSpPr>
            <a:spLocks noGrp="1"/>
          </p:cNvSpPr>
          <p:nvPr>
            <p:ph type="body" idx="36"/>
          </p:nvPr>
        </p:nvSpPr>
        <p:spPr>
          <a:xfrm>
            <a:off x="10297122" y="4244975"/>
            <a:ext cx="38080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</a:t>
            </a:r>
          </a:p>
        </p:txBody>
      </p:sp>
      <p:sp>
        <p:nvSpPr>
          <p:cNvPr id="40" name="Text 18"/>
          <p:cNvSpPr>
            <a:spLocks noGrp="1"/>
          </p:cNvSpPr>
          <p:nvPr>
            <p:ph type="body" idx="37"/>
          </p:nvPr>
        </p:nvSpPr>
        <p:spPr>
          <a:xfrm>
            <a:off x="10184905" y="4486275"/>
            <a:ext cx="6053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they own</a:t>
            </a:r>
          </a:p>
        </p:txBody>
      </p:sp>
      <p:sp>
        <p:nvSpPr>
          <p:cNvPr id="42" name="Text 19"/>
          <p:cNvSpPr>
            <a:spLocks noGrp="1"/>
          </p:cNvSpPr>
          <p:nvPr>
            <p:ph type="body" idx="38"/>
          </p:nvPr>
        </p:nvSpPr>
        <p:spPr>
          <a:xfrm>
            <a:off x="9973964" y="6429375"/>
            <a:ext cx="160833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ORG CHART · FLAT TEAM BAND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Org chart · group structure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609600" y="381000"/>
            <a:ext cx="25945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5945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09</a:t>
            </a:r>
          </a:p>
        </p:txBody>
      </p:sp>
      <p:sp>
        <p:nvSpPr>
          <p:cNvPr id="6" name="Text 2"/>
          <p:cNvSpPr>
            <a:spLocks noGrp="1"/>
          </p:cNvSpPr>
          <p:nvPr>
            <p:ph type="body" idx="21"/>
          </p:nvPr>
        </p:nvSpPr>
        <p:spPr>
          <a:xfrm>
            <a:off x="970655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7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8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10" name="Text 3"/>
          <p:cNvSpPr>
            <a:spLocks noGrp="1"/>
          </p:cNvSpPr>
          <p:nvPr>
            <p:ph type="body" idx="22"/>
          </p:nvPr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1" name="Rectangle 9"/>
          <p:cNvSpPr/>
          <p:nvPr/>
        </p:nvSpPr>
        <p:spPr>
          <a:xfrm>
            <a:off x="5209083" y="2937866"/>
            <a:ext cx="1773733" cy="65405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 4"/>
          <p:cNvSpPr>
            <a:spLocks noGrp="1"/>
          </p:cNvSpPr>
          <p:nvPr>
            <p:ph type="body" idx="23"/>
          </p:nvPr>
        </p:nvSpPr>
        <p:spPr>
          <a:xfrm>
            <a:off x="5885459" y="3064866"/>
            <a:ext cx="420986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HOLDING</a:t>
            </a:r>
          </a:p>
        </p:txBody>
      </p:sp>
      <p:sp>
        <p:nvSpPr>
          <p:cNvPr id="13" name="Text 5"/>
          <p:cNvSpPr>
            <a:spLocks noGrp="1"/>
          </p:cNvSpPr>
          <p:nvPr>
            <p:ph type="body" idx="24"/>
          </p:nvPr>
        </p:nvSpPr>
        <p:spPr>
          <a:xfrm>
            <a:off x="5374183" y="3153766"/>
            <a:ext cx="144353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Parent company name</a:t>
            </a:r>
          </a:p>
        </p:txBody>
      </p:sp>
      <p:sp>
        <p:nvSpPr>
          <p:cNvPr id="14" name="Text 6"/>
          <p:cNvSpPr>
            <a:spLocks noGrp="1"/>
          </p:cNvSpPr>
          <p:nvPr>
            <p:ph type="body" idx="25"/>
          </p:nvPr>
        </p:nvSpPr>
        <p:spPr>
          <a:xfrm>
            <a:off x="5714009" y="3350616"/>
            <a:ext cx="76388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Incorporated 0000</a:t>
            </a:r>
          </a:p>
        </p:txBody>
      </p:sp>
      <p:sp>
        <p:nvSpPr>
          <p:cNvPr id="15" name="Rectangle 13"/>
          <p:cNvSpPr/>
          <p:nvPr/>
        </p:nvSpPr>
        <p:spPr>
          <a:xfrm>
            <a:off x="6089650" y="3591916"/>
            <a:ext cx="12700" cy="2159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4"/>
          <p:cNvSpPr/>
          <p:nvPr/>
        </p:nvSpPr>
        <p:spPr>
          <a:xfrm>
            <a:off x="1981200" y="3807816"/>
            <a:ext cx="8229600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5"/>
          <p:cNvSpPr/>
          <p:nvPr/>
        </p:nvSpPr>
        <p:spPr>
          <a:xfrm>
            <a:off x="1974850" y="3820516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6"/>
          <p:cNvSpPr/>
          <p:nvPr/>
        </p:nvSpPr>
        <p:spPr>
          <a:xfrm>
            <a:off x="4718050" y="3820516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7"/>
          <p:cNvSpPr/>
          <p:nvPr/>
        </p:nvSpPr>
        <p:spPr>
          <a:xfrm>
            <a:off x="7461250" y="3820516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8"/>
          <p:cNvSpPr/>
          <p:nvPr/>
        </p:nvSpPr>
        <p:spPr>
          <a:xfrm>
            <a:off x="10204450" y="3820516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19"/>
          <p:cNvSpPr/>
          <p:nvPr/>
        </p:nvSpPr>
        <p:spPr>
          <a:xfrm>
            <a:off x="609600" y="3985616"/>
            <a:ext cx="2647950" cy="1128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 7"/>
          <p:cNvSpPr>
            <a:spLocks noGrp="1"/>
          </p:cNvSpPr>
          <p:nvPr>
            <p:ph type="body" idx="26"/>
          </p:nvPr>
        </p:nvSpPr>
        <p:spPr>
          <a:xfrm>
            <a:off x="762000" y="4138016"/>
            <a:ext cx="23431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COMPANY 00</a:t>
            </a:r>
          </a:p>
        </p:txBody>
      </p:sp>
      <p:sp>
        <p:nvSpPr>
          <p:cNvPr id="23" name="Text 8"/>
          <p:cNvSpPr>
            <a:spLocks noGrp="1"/>
          </p:cNvSpPr>
          <p:nvPr>
            <p:ph type="body" idx="27"/>
          </p:nvPr>
        </p:nvSpPr>
        <p:spPr>
          <a:xfrm>
            <a:off x="762000" y="4245966"/>
            <a:ext cx="234315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Business name</a:t>
            </a:r>
          </a:p>
        </p:txBody>
      </p:sp>
      <p:sp>
        <p:nvSpPr>
          <p:cNvPr id="24" name="Oval 22"/>
          <p:cNvSpPr/>
          <p:nvPr/>
        </p:nvSpPr>
        <p:spPr>
          <a:xfrm>
            <a:off x="762000" y="4544416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 9"/>
          <p:cNvSpPr>
            <a:spLocks noGrp="1"/>
          </p:cNvSpPr>
          <p:nvPr>
            <p:ph type="body" idx="28"/>
          </p:nvPr>
        </p:nvSpPr>
        <p:spPr>
          <a:xfrm>
            <a:off x="762000" y="4499966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>
            <a:lvl1pPr algn="l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26" name="Oval 24"/>
          <p:cNvSpPr/>
          <p:nvPr/>
        </p:nvSpPr>
        <p:spPr>
          <a:xfrm>
            <a:off x="762000" y="4713091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 10"/>
          <p:cNvSpPr>
            <a:spLocks noGrp="1"/>
          </p:cNvSpPr>
          <p:nvPr>
            <p:ph type="body" idx="29"/>
          </p:nvPr>
        </p:nvSpPr>
        <p:spPr>
          <a:xfrm>
            <a:off x="762000" y="4668641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>
            <a:lvl1pPr algn="l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28" name="Oval 26"/>
          <p:cNvSpPr/>
          <p:nvPr/>
        </p:nvSpPr>
        <p:spPr>
          <a:xfrm>
            <a:off x="762000" y="4881759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 11"/>
          <p:cNvSpPr>
            <a:spLocks noGrp="1"/>
          </p:cNvSpPr>
          <p:nvPr>
            <p:ph type="body" idx="30"/>
          </p:nvPr>
        </p:nvSpPr>
        <p:spPr>
          <a:xfrm>
            <a:off x="762000" y="4837309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>
            <a:lvl1pPr algn="l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Where it works</a:t>
            </a:r>
          </a:p>
        </p:txBody>
      </p:sp>
      <p:sp>
        <p:nvSpPr>
          <p:cNvPr id="30" name="Rectangle 28"/>
          <p:cNvSpPr/>
          <p:nvPr/>
        </p:nvSpPr>
        <p:spPr>
          <a:xfrm>
            <a:off x="3384550" y="3985616"/>
            <a:ext cx="2647950" cy="1128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 12"/>
          <p:cNvSpPr>
            <a:spLocks noGrp="1"/>
          </p:cNvSpPr>
          <p:nvPr>
            <p:ph type="body" idx="31"/>
          </p:nvPr>
        </p:nvSpPr>
        <p:spPr>
          <a:xfrm>
            <a:off x="3536950" y="4138016"/>
            <a:ext cx="23431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COMPANY 00</a:t>
            </a:r>
          </a:p>
        </p:txBody>
      </p:sp>
      <p:sp>
        <p:nvSpPr>
          <p:cNvPr id="32" name="Text 13"/>
          <p:cNvSpPr>
            <a:spLocks noGrp="1"/>
          </p:cNvSpPr>
          <p:nvPr>
            <p:ph type="body" idx="32"/>
          </p:nvPr>
        </p:nvSpPr>
        <p:spPr>
          <a:xfrm>
            <a:off x="3536950" y="4245966"/>
            <a:ext cx="234315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Business name</a:t>
            </a:r>
          </a:p>
        </p:txBody>
      </p:sp>
      <p:sp>
        <p:nvSpPr>
          <p:cNvPr id="33" name="Oval 31"/>
          <p:cNvSpPr/>
          <p:nvPr/>
        </p:nvSpPr>
        <p:spPr>
          <a:xfrm>
            <a:off x="3536950" y="4544416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 14"/>
          <p:cNvSpPr>
            <a:spLocks noGrp="1"/>
          </p:cNvSpPr>
          <p:nvPr>
            <p:ph type="body" idx="33"/>
          </p:nvPr>
        </p:nvSpPr>
        <p:spPr>
          <a:xfrm>
            <a:off x="3536950" y="4499966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>
            <a:lvl1pPr algn="l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35" name="Oval 33"/>
          <p:cNvSpPr/>
          <p:nvPr/>
        </p:nvSpPr>
        <p:spPr>
          <a:xfrm>
            <a:off x="3536950" y="4713091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 15"/>
          <p:cNvSpPr>
            <a:spLocks noGrp="1"/>
          </p:cNvSpPr>
          <p:nvPr>
            <p:ph type="body" idx="34"/>
          </p:nvPr>
        </p:nvSpPr>
        <p:spPr>
          <a:xfrm>
            <a:off x="3536950" y="4668641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>
            <a:lvl1pPr algn="l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37" name="Oval 35"/>
          <p:cNvSpPr/>
          <p:nvPr/>
        </p:nvSpPr>
        <p:spPr>
          <a:xfrm>
            <a:off x="3536950" y="4881759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 16"/>
          <p:cNvSpPr>
            <a:spLocks noGrp="1"/>
          </p:cNvSpPr>
          <p:nvPr>
            <p:ph type="body" idx="35"/>
          </p:nvPr>
        </p:nvSpPr>
        <p:spPr>
          <a:xfrm>
            <a:off x="3536950" y="4837309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>
            <a:lvl1pPr algn="l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Where it works</a:t>
            </a:r>
          </a:p>
        </p:txBody>
      </p:sp>
      <p:sp>
        <p:nvSpPr>
          <p:cNvPr id="39" name="Rectangle 37"/>
          <p:cNvSpPr/>
          <p:nvPr/>
        </p:nvSpPr>
        <p:spPr>
          <a:xfrm>
            <a:off x="6159500" y="3985616"/>
            <a:ext cx="2647950" cy="1128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 17"/>
          <p:cNvSpPr>
            <a:spLocks noGrp="1"/>
          </p:cNvSpPr>
          <p:nvPr>
            <p:ph type="body" idx="36"/>
          </p:nvPr>
        </p:nvSpPr>
        <p:spPr>
          <a:xfrm>
            <a:off x="6311900" y="4138016"/>
            <a:ext cx="23431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COMPANY 00</a:t>
            </a:r>
          </a:p>
        </p:txBody>
      </p:sp>
      <p:sp>
        <p:nvSpPr>
          <p:cNvPr id="41" name="Text 18"/>
          <p:cNvSpPr>
            <a:spLocks noGrp="1"/>
          </p:cNvSpPr>
          <p:nvPr>
            <p:ph type="body" idx="37"/>
          </p:nvPr>
        </p:nvSpPr>
        <p:spPr>
          <a:xfrm>
            <a:off x="6311900" y="4245966"/>
            <a:ext cx="234315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Business name</a:t>
            </a:r>
          </a:p>
        </p:txBody>
      </p:sp>
      <p:sp>
        <p:nvSpPr>
          <p:cNvPr id="42" name="Oval 40"/>
          <p:cNvSpPr/>
          <p:nvPr/>
        </p:nvSpPr>
        <p:spPr>
          <a:xfrm>
            <a:off x="6311900" y="4544416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 19"/>
          <p:cNvSpPr>
            <a:spLocks noGrp="1"/>
          </p:cNvSpPr>
          <p:nvPr>
            <p:ph type="body" idx="38"/>
          </p:nvPr>
        </p:nvSpPr>
        <p:spPr>
          <a:xfrm>
            <a:off x="6311900" y="4499966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>
            <a:lvl1pPr algn="l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44" name="Oval 42"/>
          <p:cNvSpPr/>
          <p:nvPr/>
        </p:nvSpPr>
        <p:spPr>
          <a:xfrm>
            <a:off x="6311900" y="4713091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 20"/>
          <p:cNvSpPr>
            <a:spLocks noGrp="1"/>
          </p:cNvSpPr>
          <p:nvPr>
            <p:ph type="body" idx="39"/>
          </p:nvPr>
        </p:nvSpPr>
        <p:spPr>
          <a:xfrm>
            <a:off x="6311900" y="4668641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>
            <a:lvl1pPr algn="l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46" name="Oval 44"/>
          <p:cNvSpPr/>
          <p:nvPr/>
        </p:nvSpPr>
        <p:spPr>
          <a:xfrm>
            <a:off x="6311900" y="4881759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 21"/>
          <p:cNvSpPr>
            <a:spLocks noGrp="1"/>
          </p:cNvSpPr>
          <p:nvPr>
            <p:ph type="body" idx="40"/>
          </p:nvPr>
        </p:nvSpPr>
        <p:spPr>
          <a:xfrm>
            <a:off x="6311900" y="4837309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>
            <a:lvl1pPr algn="l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Where it works</a:t>
            </a:r>
          </a:p>
        </p:txBody>
      </p:sp>
      <p:sp>
        <p:nvSpPr>
          <p:cNvPr id="48" name="Rectangle 46"/>
          <p:cNvSpPr/>
          <p:nvPr/>
        </p:nvSpPr>
        <p:spPr>
          <a:xfrm>
            <a:off x="8934450" y="3985616"/>
            <a:ext cx="2647950" cy="1128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 22"/>
          <p:cNvSpPr>
            <a:spLocks noGrp="1"/>
          </p:cNvSpPr>
          <p:nvPr>
            <p:ph type="body" idx="41"/>
          </p:nvPr>
        </p:nvSpPr>
        <p:spPr>
          <a:xfrm>
            <a:off x="9086850" y="4138016"/>
            <a:ext cx="23431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COMPANY 00</a:t>
            </a:r>
          </a:p>
        </p:txBody>
      </p:sp>
      <p:sp>
        <p:nvSpPr>
          <p:cNvPr id="50" name="Text 23"/>
          <p:cNvSpPr>
            <a:spLocks noGrp="1"/>
          </p:cNvSpPr>
          <p:nvPr>
            <p:ph type="body" idx="42"/>
          </p:nvPr>
        </p:nvSpPr>
        <p:spPr>
          <a:xfrm>
            <a:off x="9086850" y="4245966"/>
            <a:ext cx="234315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Business name</a:t>
            </a:r>
          </a:p>
        </p:txBody>
      </p:sp>
      <p:sp>
        <p:nvSpPr>
          <p:cNvPr id="51" name="Oval 49"/>
          <p:cNvSpPr/>
          <p:nvPr/>
        </p:nvSpPr>
        <p:spPr>
          <a:xfrm>
            <a:off x="9086850" y="4544416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 24"/>
          <p:cNvSpPr>
            <a:spLocks noGrp="1"/>
          </p:cNvSpPr>
          <p:nvPr>
            <p:ph type="body" idx="43"/>
          </p:nvPr>
        </p:nvSpPr>
        <p:spPr>
          <a:xfrm>
            <a:off x="9086850" y="4499966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>
            <a:lvl1pPr algn="l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53" name="Oval 51"/>
          <p:cNvSpPr/>
          <p:nvPr/>
        </p:nvSpPr>
        <p:spPr>
          <a:xfrm>
            <a:off x="9086850" y="4713091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 25"/>
          <p:cNvSpPr>
            <a:spLocks noGrp="1"/>
          </p:cNvSpPr>
          <p:nvPr>
            <p:ph type="body" idx="44"/>
          </p:nvPr>
        </p:nvSpPr>
        <p:spPr>
          <a:xfrm>
            <a:off x="9086850" y="4668641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>
            <a:lvl1pPr algn="l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55" name="Oval 53"/>
          <p:cNvSpPr/>
          <p:nvPr/>
        </p:nvSpPr>
        <p:spPr>
          <a:xfrm>
            <a:off x="9086850" y="4881759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 26"/>
          <p:cNvSpPr>
            <a:spLocks noGrp="1"/>
          </p:cNvSpPr>
          <p:nvPr>
            <p:ph type="body" idx="45"/>
          </p:nvPr>
        </p:nvSpPr>
        <p:spPr>
          <a:xfrm>
            <a:off x="9086850" y="4837309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>
            <a:lvl1pPr algn="l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Where it works</a:t>
            </a:r>
          </a:p>
        </p:txBody>
      </p:sp>
      <p:sp>
        <p:nvSpPr>
          <p:cNvPr id="58" name="Text 27"/>
          <p:cNvSpPr>
            <a:spLocks noGrp="1"/>
          </p:cNvSpPr>
          <p:nvPr>
            <p:ph type="body" idx="46"/>
          </p:nvPr>
        </p:nvSpPr>
        <p:spPr>
          <a:xfrm>
            <a:off x="9849447" y="6429375"/>
            <a:ext cx="173285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ORG CHART · GROUP STRUCTURE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Process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609600" y="381000"/>
            <a:ext cx="23822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3822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10</a:t>
            </a:r>
          </a:p>
        </p:txBody>
      </p:sp>
      <p:sp>
        <p:nvSpPr>
          <p:cNvPr id="6" name="Text 2"/>
          <p:cNvSpPr>
            <a:spLocks noGrp="1"/>
          </p:cNvSpPr>
          <p:nvPr>
            <p:ph type="body" idx="21"/>
          </p:nvPr>
        </p:nvSpPr>
        <p:spPr>
          <a:xfrm>
            <a:off x="949427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7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8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10" name="Text 3"/>
          <p:cNvSpPr>
            <a:spLocks noGrp="1"/>
          </p:cNvSpPr>
          <p:nvPr>
            <p:ph type="body" idx="22"/>
          </p:nvPr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1" name="Rectangle 9"/>
          <p:cNvSpPr/>
          <p:nvPr/>
        </p:nvSpPr>
        <p:spPr>
          <a:xfrm>
            <a:off x="609600" y="1701800"/>
            <a:ext cx="109728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0"/>
          <p:cNvSpPr/>
          <p:nvPr/>
        </p:nvSpPr>
        <p:spPr>
          <a:xfrm>
            <a:off x="609600" y="1701800"/>
            <a:ext cx="109728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 4"/>
          <p:cNvSpPr>
            <a:spLocks noGrp="1"/>
          </p:cNvSpPr>
          <p:nvPr>
            <p:ph type="body" idx="23"/>
          </p:nvPr>
        </p:nvSpPr>
        <p:spPr>
          <a:xfrm>
            <a:off x="825500" y="1953419"/>
            <a:ext cx="16510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PROCESS NAME</a:t>
            </a:r>
          </a:p>
        </p:txBody>
      </p:sp>
      <p:sp>
        <p:nvSpPr>
          <p:cNvPr id="14" name="Text 5"/>
          <p:cNvSpPr>
            <a:spLocks noGrp="1"/>
          </p:cNvSpPr>
          <p:nvPr>
            <p:ph type="body" idx="24"/>
          </p:nvPr>
        </p:nvSpPr>
        <p:spPr>
          <a:xfrm>
            <a:off x="2692400" y="1924050"/>
            <a:ext cx="7112000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8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saying what the process is and where it starts.</a:t>
            </a:r>
          </a:p>
        </p:txBody>
      </p:sp>
      <p:sp>
        <p:nvSpPr>
          <p:cNvPr id="15" name="Rectangle 13"/>
          <p:cNvSpPr/>
          <p:nvPr/>
        </p:nvSpPr>
        <p:spPr>
          <a:xfrm>
            <a:off x="2136083" y="3952678"/>
            <a:ext cx="14528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4"/>
          <p:cNvSpPr/>
          <p:nvPr/>
        </p:nvSpPr>
        <p:spPr>
          <a:xfrm>
            <a:off x="1609033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5" descr="f708961398c251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9208" y="3822503"/>
            <a:ext cx="209550" cy="209550"/>
          </a:xfrm>
          <a:prstGeom prst="rect">
            <a:avLst/>
          </a:prstGeom>
        </p:spPr>
      </p:pic>
      <p:sp>
        <p:nvSpPr>
          <p:cNvPr id="18" name="Rectangle 16"/>
          <p:cNvSpPr/>
          <p:nvPr/>
        </p:nvSpPr>
        <p:spPr>
          <a:xfrm>
            <a:off x="1968798" y="3666928"/>
            <a:ext cx="160934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 6"/>
          <p:cNvSpPr>
            <a:spLocks noGrp="1"/>
          </p:cNvSpPr>
          <p:nvPr>
            <p:ph type="body" idx="25"/>
          </p:nvPr>
        </p:nvSpPr>
        <p:spPr>
          <a:xfrm>
            <a:off x="1968798" y="3692328"/>
            <a:ext cx="160934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>
            <a:lvl1pPr algn="ctr">
              <a:buNone/>
              <a:def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20" name="Text 7"/>
          <p:cNvSpPr>
            <a:spLocks noGrp="1"/>
          </p:cNvSpPr>
          <p:nvPr>
            <p:ph type="body" idx="26"/>
          </p:nvPr>
        </p:nvSpPr>
        <p:spPr>
          <a:xfrm>
            <a:off x="1424089" y="4276528"/>
            <a:ext cx="83988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Stage name</a:t>
            </a:r>
          </a:p>
        </p:txBody>
      </p:sp>
      <p:sp>
        <p:nvSpPr>
          <p:cNvPr id="21" name="Text 8"/>
          <p:cNvSpPr>
            <a:spLocks noGrp="1"/>
          </p:cNvSpPr>
          <p:nvPr>
            <p:ph type="body" idx="27"/>
          </p:nvPr>
        </p:nvSpPr>
        <p:spPr>
          <a:xfrm>
            <a:off x="1431030" y="4538764"/>
            <a:ext cx="8259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or four words</a:t>
            </a:r>
          </a:p>
        </p:txBody>
      </p:sp>
      <p:sp>
        <p:nvSpPr>
          <p:cNvPr id="22" name="Rectangle 20"/>
          <p:cNvSpPr/>
          <p:nvPr/>
        </p:nvSpPr>
        <p:spPr>
          <a:xfrm>
            <a:off x="4262044" y="3952678"/>
            <a:ext cx="14528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1"/>
          <p:cNvSpPr/>
          <p:nvPr/>
        </p:nvSpPr>
        <p:spPr>
          <a:xfrm>
            <a:off x="3734994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2" descr="f708961398c251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5169" y="3822503"/>
            <a:ext cx="209550" cy="209550"/>
          </a:xfrm>
          <a:prstGeom prst="rect">
            <a:avLst/>
          </a:prstGeom>
        </p:spPr>
      </p:pic>
      <p:sp>
        <p:nvSpPr>
          <p:cNvPr id="25" name="Rectangle 23"/>
          <p:cNvSpPr/>
          <p:nvPr/>
        </p:nvSpPr>
        <p:spPr>
          <a:xfrm>
            <a:off x="4075608" y="3666928"/>
            <a:ext cx="180080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 9"/>
          <p:cNvSpPr>
            <a:spLocks noGrp="1"/>
          </p:cNvSpPr>
          <p:nvPr>
            <p:ph type="body" idx="28"/>
          </p:nvPr>
        </p:nvSpPr>
        <p:spPr>
          <a:xfrm>
            <a:off x="4075608" y="3692328"/>
            <a:ext cx="180080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>
            <a:lvl1pPr algn="ctr">
              <a:buNone/>
              <a:def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27" name="Text 10"/>
          <p:cNvSpPr>
            <a:spLocks noGrp="1"/>
          </p:cNvSpPr>
          <p:nvPr>
            <p:ph type="body" idx="29"/>
          </p:nvPr>
        </p:nvSpPr>
        <p:spPr>
          <a:xfrm>
            <a:off x="3550050" y="4276528"/>
            <a:ext cx="83988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Stage name</a:t>
            </a:r>
          </a:p>
        </p:txBody>
      </p:sp>
      <p:sp>
        <p:nvSpPr>
          <p:cNvPr id="28" name="Text 11"/>
          <p:cNvSpPr>
            <a:spLocks noGrp="1"/>
          </p:cNvSpPr>
          <p:nvPr>
            <p:ph type="body" idx="30"/>
          </p:nvPr>
        </p:nvSpPr>
        <p:spPr>
          <a:xfrm>
            <a:off x="3556991" y="4538764"/>
            <a:ext cx="8259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or four words</a:t>
            </a:r>
          </a:p>
        </p:txBody>
      </p:sp>
      <p:sp>
        <p:nvSpPr>
          <p:cNvPr id="29" name="Rectangle 27"/>
          <p:cNvSpPr/>
          <p:nvPr/>
        </p:nvSpPr>
        <p:spPr>
          <a:xfrm>
            <a:off x="6388005" y="3952678"/>
            <a:ext cx="14528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8"/>
          <p:cNvSpPr/>
          <p:nvPr/>
        </p:nvSpPr>
        <p:spPr>
          <a:xfrm>
            <a:off x="5860948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29" descr="f708961398c2513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1123" y="3822503"/>
            <a:ext cx="209550" cy="209550"/>
          </a:xfrm>
          <a:prstGeom prst="rect">
            <a:avLst/>
          </a:prstGeom>
        </p:spPr>
      </p:pic>
      <p:sp>
        <p:nvSpPr>
          <p:cNvPr id="32" name="Rectangle 30"/>
          <p:cNvSpPr/>
          <p:nvPr/>
        </p:nvSpPr>
        <p:spPr>
          <a:xfrm>
            <a:off x="6203950" y="3666928"/>
            <a:ext cx="177698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 12"/>
          <p:cNvSpPr>
            <a:spLocks noGrp="1"/>
          </p:cNvSpPr>
          <p:nvPr>
            <p:ph type="body" idx="31"/>
          </p:nvPr>
        </p:nvSpPr>
        <p:spPr>
          <a:xfrm>
            <a:off x="6203950" y="3692328"/>
            <a:ext cx="177698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>
            <a:lvl1pPr algn="ctr">
              <a:buNone/>
              <a:def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34" name="Text 13"/>
          <p:cNvSpPr>
            <a:spLocks noGrp="1"/>
          </p:cNvSpPr>
          <p:nvPr>
            <p:ph type="body" idx="32"/>
          </p:nvPr>
        </p:nvSpPr>
        <p:spPr>
          <a:xfrm>
            <a:off x="5676005" y="4276528"/>
            <a:ext cx="83988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Stage name</a:t>
            </a:r>
          </a:p>
        </p:txBody>
      </p:sp>
      <p:sp>
        <p:nvSpPr>
          <p:cNvPr id="35" name="Text 14"/>
          <p:cNvSpPr>
            <a:spLocks noGrp="1"/>
          </p:cNvSpPr>
          <p:nvPr>
            <p:ph type="body" idx="33"/>
          </p:nvPr>
        </p:nvSpPr>
        <p:spPr>
          <a:xfrm>
            <a:off x="5682952" y="4538764"/>
            <a:ext cx="8259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or four words</a:t>
            </a:r>
          </a:p>
        </p:txBody>
      </p:sp>
      <p:sp>
        <p:nvSpPr>
          <p:cNvPr id="36" name="Rectangle 34"/>
          <p:cNvSpPr/>
          <p:nvPr/>
        </p:nvSpPr>
        <p:spPr>
          <a:xfrm>
            <a:off x="8513966" y="3952678"/>
            <a:ext cx="14528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5"/>
          <p:cNvSpPr/>
          <p:nvPr/>
        </p:nvSpPr>
        <p:spPr>
          <a:xfrm>
            <a:off x="7986909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8" name="Picture 36" descr="f708961398c2513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7084" y="3822503"/>
            <a:ext cx="209550" cy="209550"/>
          </a:xfrm>
          <a:prstGeom prst="rect">
            <a:avLst/>
          </a:prstGeom>
        </p:spPr>
      </p:pic>
      <p:sp>
        <p:nvSpPr>
          <p:cNvPr id="39" name="Rectangle 37"/>
          <p:cNvSpPr/>
          <p:nvPr/>
        </p:nvSpPr>
        <p:spPr>
          <a:xfrm>
            <a:off x="8331200" y="3666928"/>
            <a:ext cx="176409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 15"/>
          <p:cNvSpPr>
            <a:spLocks noGrp="1"/>
          </p:cNvSpPr>
          <p:nvPr>
            <p:ph type="body" idx="34"/>
          </p:nvPr>
        </p:nvSpPr>
        <p:spPr>
          <a:xfrm>
            <a:off x="8331200" y="3692328"/>
            <a:ext cx="176409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>
            <a:lvl1pPr algn="ctr">
              <a:buNone/>
              <a:def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41" name="Text 16"/>
          <p:cNvSpPr>
            <a:spLocks noGrp="1"/>
          </p:cNvSpPr>
          <p:nvPr>
            <p:ph type="body" idx="35"/>
          </p:nvPr>
        </p:nvSpPr>
        <p:spPr>
          <a:xfrm>
            <a:off x="7801966" y="4276528"/>
            <a:ext cx="83988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Stage name</a:t>
            </a:r>
          </a:p>
        </p:txBody>
      </p:sp>
      <p:sp>
        <p:nvSpPr>
          <p:cNvPr id="42" name="Text 17"/>
          <p:cNvSpPr>
            <a:spLocks noGrp="1"/>
          </p:cNvSpPr>
          <p:nvPr>
            <p:ph type="body" idx="36"/>
          </p:nvPr>
        </p:nvSpPr>
        <p:spPr>
          <a:xfrm>
            <a:off x="7808912" y="4538764"/>
            <a:ext cx="8259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or four words</a:t>
            </a:r>
          </a:p>
        </p:txBody>
      </p:sp>
      <p:sp>
        <p:nvSpPr>
          <p:cNvPr id="43" name="Oval 41"/>
          <p:cNvSpPr/>
          <p:nvPr/>
        </p:nvSpPr>
        <p:spPr>
          <a:xfrm>
            <a:off x="10112870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4" name="Picture 42" descr="f708961398c2513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43045" y="3822503"/>
            <a:ext cx="209550" cy="209550"/>
          </a:xfrm>
          <a:prstGeom prst="rect">
            <a:avLst/>
          </a:prstGeom>
        </p:spPr>
      </p:pic>
      <p:sp>
        <p:nvSpPr>
          <p:cNvPr id="45" name="Rectangle 43"/>
          <p:cNvSpPr/>
          <p:nvPr/>
        </p:nvSpPr>
        <p:spPr>
          <a:xfrm>
            <a:off x="10455377" y="3666928"/>
            <a:ext cx="178200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 18"/>
          <p:cNvSpPr>
            <a:spLocks noGrp="1"/>
          </p:cNvSpPr>
          <p:nvPr>
            <p:ph type="body" idx="37"/>
          </p:nvPr>
        </p:nvSpPr>
        <p:spPr>
          <a:xfrm>
            <a:off x="10455377" y="3692328"/>
            <a:ext cx="178200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>
            <a:lvl1pPr algn="ctr">
              <a:buNone/>
              <a:def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47" name="Text 19"/>
          <p:cNvSpPr>
            <a:spLocks noGrp="1"/>
          </p:cNvSpPr>
          <p:nvPr>
            <p:ph type="body" idx="38"/>
          </p:nvPr>
        </p:nvSpPr>
        <p:spPr>
          <a:xfrm>
            <a:off x="9927927" y="4276528"/>
            <a:ext cx="83988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Stage name</a:t>
            </a:r>
          </a:p>
        </p:txBody>
      </p:sp>
      <p:sp>
        <p:nvSpPr>
          <p:cNvPr id="48" name="Text 20"/>
          <p:cNvSpPr>
            <a:spLocks noGrp="1"/>
          </p:cNvSpPr>
          <p:nvPr>
            <p:ph type="body" idx="39"/>
          </p:nvPr>
        </p:nvSpPr>
        <p:spPr>
          <a:xfrm>
            <a:off x="9934873" y="4538764"/>
            <a:ext cx="8259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or four words</a:t>
            </a:r>
          </a:p>
        </p:txBody>
      </p:sp>
      <p:sp>
        <p:nvSpPr>
          <p:cNvPr id="50" name="Text 21"/>
          <p:cNvSpPr>
            <a:spLocks noGrp="1"/>
          </p:cNvSpPr>
          <p:nvPr>
            <p:ph type="body" idx="40"/>
          </p:nvPr>
        </p:nvSpPr>
        <p:spPr>
          <a:xfrm>
            <a:off x="11107934" y="6429375"/>
            <a:ext cx="4743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PROCESS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Timeline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609600" y="381000"/>
            <a:ext cx="21421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1421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11</a:t>
            </a:r>
          </a:p>
        </p:txBody>
      </p:sp>
      <p:sp>
        <p:nvSpPr>
          <p:cNvPr id="6" name="Text 2"/>
          <p:cNvSpPr>
            <a:spLocks noGrp="1"/>
          </p:cNvSpPr>
          <p:nvPr>
            <p:ph type="body" idx="21"/>
          </p:nvPr>
        </p:nvSpPr>
        <p:spPr>
          <a:xfrm>
            <a:off x="925411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7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8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10" name="Text 3"/>
          <p:cNvSpPr>
            <a:spLocks noGrp="1"/>
          </p:cNvSpPr>
          <p:nvPr>
            <p:ph type="body" idx="22"/>
          </p:nvPr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1" name="Text 4"/>
          <p:cNvSpPr>
            <a:spLocks noGrp="1"/>
          </p:cNvSpPr>
          <p:nvPr>
            <p:ph type="body" idx="23"/>
          </p:nvPr>
        </p:nvSpPr>
        <p:spPr>
          <a:xfrm>
            <a:off x="698500" y="2587327"/>
            <a:ext cx="1915122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Event</a:t>
            </a:r>
          </a:p>
        </p:txBody>
      </p:sp>
      <p:sp>
        <p:nvSpPr>
          <p:cNvPr id="12" name="Text 5"/>
          <p:cNvSpPr>
            <a:spLocks noGrp="1"/>
          </p:cNvSpPr>
          <p:nvPr>
            <p:ph type="body" idx="24"/>
          </p:nvPr>
        </p:nvSpPr>
        <p:spPr>
          <a:xfrm>
            <a:off x="698500" y="2795588"/>
            <a:ext cx="191512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on what happened</a:t>
            </a:r>
          </a:p>
        </p:txBody>
      </p:sp>
      <p:sp>
        <p:nvSpPr>
          <p:cNvPr id="13" name="Text 6"/>
          <p:cNvSpPr>
            <a:spLocks noGrp="1"/>
          </p:cNvSpPr>
          <p:nvPr>
            <p:ph type="body" idx="25"/>
          </p:nvPr>
        </p:nvSpPr>
        <p:spPr>
          <a:xfrm>
            <a:off x="5138344" y="2587327"/>
            <a:ext cx="1915217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Event</a:t>
            </a:r>
          </a:p>
        </p:txBody>
      </p:sp>
      <p:sp>
        <p:nvSpPr>
          <p:cNvPr id="14" name="Text 7"/>
          <p:cNvSpPr>
            <a:spLocks noGrp="1"/>
          </p:cNvSpPr>
          <p:nvPr>
            <p:ph type="body" idx="26"/>
          </p:nvPr>
        </p:nvSpPr>
        <p:spPr>
          <a:xfrm>
            <a:off x="5138344" y="2795588"/>
            <a:ext cx="191521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on what happened</a:t>
            </a:r>
          </a:p>
        </p:txBody>
      </p:sp>
      <p:sp>
        <p:nvSpPr>
          <p:cNvPr id="15" name="Text 8"/>
          <p:cNvSpPr>
            <a:spLocks noGrp="1"/>
          </p:cNvSpPr>
          <p:nvPr>
            <p:ph type="body" idx="27"/>
          </p:nvPr>
        </p:nvSpPr>
        <p:spPr>
          <a:xfrm>
            <a:off x="9578283" y="2587327"/>
            <a:ext cx="1915217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Event</a:t>
            </a:r>
          </a:p>
        </p:txBody>
      </p:sp>
      <p:sp>
        <p:nvSpPr>
          <p:cNvPr id="16" name="Text 9"/>
          <p:cNvSpPr>
            <a:spLocks noGrp="1"/>
          </p:cNvSpPr>
          <p:nvPr>
            <p:ph type="body" idx="28"/>
          </p:nvPr>
        </p:nvSpPr>
        <p:spPr>
          <a:xfrm>
            <a:off x="9578283" y="2795588"/>
            <a:ext cx="191521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on what happened</a:t>
            </a:r>
          </a:p>
        </p:txBody>
      </p:sp>
      <p:sp>
        <p:nvSpPr>
          <p:cNvPr id="17" name="Rectangle 15"/>
          <p:cNvSpPr/>
          <p:nvPr/>
        </p:nvSpPr>
        <p:spPr>
          <a:xfrm>
            <a:off x="609600" y="4025900"/>
            <a:ext cx="10972800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6"/>
          <p:cNvSpPr/>
          <p:nvPr/>
        </p:nvSpPr>
        <p:spPr>
          <a:xfrm>
            <a:off x="1510011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 10"/>
          <p:cNvSpPr>
            <a:spLocks noGrp="1"/>
          </p:cNvSpPr>
          <p:nvPr>
            <p:ph type="body" idx="29"/>
          </p:nvPr>
        </p:nvSpPr>
        <p:spPr>
          <a:xfrm>
            <a:off x="1503661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0000</a:t>
            </a:r>
          </a:p>
        </p:txBody>
      </p:sp>
      <p:sp>
        <p:nvSpPr>
          <p:cNvPr id="20" name="Oval 18"/>
          <p:cNvSpPr/>
          <p:nvPr/>
        </p:nvSpPr>
        <p:spPr>
          <a:xfrm>
            <a:off x="3704533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 11"/>
          <p:cNvSpPr>
            <a:spLocks noGrp="1"/>
          </p:cNvSpPr>
          <p:nvPr>
            <p:ph type="body" idx="30"/>
          </p:nvPr>
        </p:nvSpPr>
        <p:spPr>
          <a:xfrm>
            <a:off x="3698183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0000</a:t>
            </a:r>
          </a:p>
        </p:txBody>
      </p:sp>
      <p:sp>
        <p:nvSpPr>
          <p:cNvPr id="22" name="Oval 20"/>
          <p:cNvSpPr/>
          <p:nvPr/>
        </p:nvSpPr>
        <p:spPr>
          <a:xfrm>
            <a:off x="5899048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 12"/>
          <p:cNvSpPr>
            <a:spLocks noGrp="1"/>
          </p:cNvSpPr>
          <p:nvPr>
            <p:ph type="body" idx="31"/>
          </p:nvPr>
        </p:nvSpPr>
        <p:spPr>
          <a:xfrm>
            <a:off x="5892698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0000</a:t>
            </a:r>
          </a:p>
        </p:txBody>
      </p:sp>
      <p:sp>
        <p:nvSpPr>
          <p:cNvPr id="24" name="Oval 22"/>
          <p:cNvSpPr/>
          <p:nvPr/>
        </p:nvSpPr>
        <p:spPr>
          <a:xfrm>
            <a:off x="8093672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 13"/>
          <p:cNvSpPr>
            <a:spLocks noGrp="1"/>
          </p:cNvSpPr>
          <p:nvPr>
            <p:ph type="body" idx="32"/>
          </p:nvPr>
        </p:nvSpPr>
        <p:spPr>
          <a:xfrm>
            <a:off x="8087322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0000</a:t>
            </a:r>
          </a:p>
        </p:txBody>
      </p:sp>
      <p:sp>
        <p:nvSpPr>
          <p:cNvPr id="26" name="Oval 24"/>
          <p:cNvSpPr/>
          <p:nvPr/>
        </p:nvSpPr>
        <p:spPr>
          <a:xfrm>
            <a:off x="10288194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 14"/>
          <p:cNvSpPr>
            <a:spLocks noGrp="1"/>
          </p:cNvSpPr>
          <p:nvPr>
            <p:ph type="body" idx="33"/>
          </p:nvPr>
        </p:nvSpPr>
        <p:spPr>
          <a:xfrm>
            <a:off x="10281844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0000</a:t>
            </a:r>
          </a:p>
        </p:txBody>
      </p:sp>
      <p:sp>
        <p:nvSpPr>
          <p:cNvPr id="28" name="Text 15"/>
          <p:cNvSpPr>
            <a:spLocks noGrp="1"/>
          </p:cNvSpPr>
          <p:nvPr>
            <p:ph type="body" idx="34"/>
          </p:nvPr>
        </p:nvSpPr>
        <p:spPr>
          <a:xfrm>
            <a:off x="2918422" y="5114627"/>
            <a:ext cx="1915122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Event</a:t>
            </a:r>
          </a:p>
        </p:txBody>
      </p:sp>
      <p:sp>
        <p:nvSpPr>
          <p:cNvPr id="29" name="Text 16"/>
          <p:cNvSpPr>
            <a:spLocks noGrp="1"/>
          </p:cNvSpPr>
          <p:nvPr>
            <p:ph type="body" idx="35"/>
          </p:nvPr>
        </p:nvSpPr>
        <p:spPr>
          <a:xfrm>
            <a:off x="2918422" y="5322888"/>
            <a:ext cx="191512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on what happened</a:t>
            </a:r>
          </a:p>
        </p:txBody>
      </p:sp>
      <p:sp>
        <p:nvSpPr>
          <p:cNvPr id="30" name="Text 17"/>
          <p:cNvSpPr>
            <a:spLocks noGrp="1"/>
          </p:cNvSpPr>
          <p:nvPr>
            <p:ph type="body" idx="36"/>
          </p:nvPr>
        </p:nvSpPr>
        <p:spPr>
          <a:xfrm>
            <a:off x="7358361" y="5114627"/>
            <a:ext cx="1915122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Event</a:t>
            </a:r>
          </a:p>
        </p:txBody>
      </p:sp>
      <p:sp>
        <p:nvSpPr>
          <p:cNvPr id="31" name="Text 18"/>
          <p:cNvSpPr>
            <a:spLocks noGrp="1"/>
          </p:cNvSpPr>
          <p:nvPr>
            <p:ph type="body" idx="37"/>
          </p:nvPr>
        </p:nvSpPr>
        <p:spPr>
          <a:xfrm>
            <a:off x="7358361" y="5322888"/>
            <a:ext cx="191512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on what happened</a:t>
            </a:r>
          </a:p>
        </p:txBody>
      </p:sp>
      <p:sp>
        <p:nvSpPr>
          <p:cNvPr id="33" name="Text 19"/>
          <p:cNvSpPr>
            <a:spLocks noGrp="1"/>
          </p:cNvSpPr>
          <p:nvPr>
            <p:ph type="body" idx="38"/>
          </p:nvPr>
        </p:nvSpPr>
        <p:spPr>
          <a:xfrm>
            <a:off x="11098314" y="6429375"/>
            <a:ext cx="48408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TIMELINE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Infographic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609600" y="381000"/>
            <a:ext cx="23564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3564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12</a:t>
            </a:r>
          </a:p>
        </p:txBody>
      </p:sp>
      <p:sp>
        <p:nvSpPr>
          <p:cNvPr id="6" name="Text 2"/>
          <p:cNvSpPr>
            <a:spLocks noGrp="1"/>
          </p:cNvSpPr>
          <p:nvPr>
            <p:ph type="body" idx="21"/>
          </p:nvPr>
        </p:nvSpPr>
        <p:spPr>
          <a:xfrm>
            <a:off x="946842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7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8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10" name="Text 3"/>
          <p:cNvSpPr>
            <a:spLocks noGrp="1"/>
          </p:cNvSpPr>
          <p:nvPr>
            <p:ph type="body" idx="22"/>
          </p:nvPr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1" name="Rectangle 9"/>
          <p:cNvSpPr/>
          <p:nvPr/>
        </p:nvSpPr>
        <p:spPr>
          <a:xfrm>
            <a:off x="609600" y="1701800"/>
            <a:ext cx="3225800" cy="14900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0"/>
          <p:cNvSpPr/>
          <p:nvPr/>
        </p:nvSpPr>
        <p:spPr>
          <a:xfrm>
            <a:off x="1104900" y="2269033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1" descr="82ae29156ce4de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800" y="2357933"/>
            <a:ext cx="177800" cy="177800"/>
          </a:xfrm>
          <a:prstGeom prst="rect">
            <a:avLst/>
          </a:prstGeom>
        </p:spPr>
      </p:pic>
      <p:sp>
        <p:nvSpPr>
          <p:cNvPr id="14" name="Text 4"/>
          <p:cNvSpPr>
            <a:spLocks noGrp="1"/>
          </p:cNvSpPr>
          <p:nvPr>
            <p:ph type="body" idx="23"/>
          </p:nvPr>
        </p:nvSpPr>
        <p:spPr>
          <a:xfrm>
            <a:off x="1943100" y="2256434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15" name="Text 5"/>
          <p:cNvSpPr>
            <a:spLocks noGrp="1"/>
          </p:cNvSpPr>
          <p:nvPr>
            <p:ph type="body" idx="24"/>
          </p:nvPr>
        </p:nvSpPr>
        <p:spPr>
          <a:xfrm>
            <a:off x="1943100" y="2332634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16" name="Text 6"/>
          <p:cNvSpPr>
            <a:spLocks noGrp="1"/>
          </p:cNvSpPr>
          <p:nvPr>
            <p:ph type="body" idx="25"/>
          </p:nvPr>
        </p:nvSpPr>
        <p:spPr>
          <a:xfrm>
            <a:off x="1943100" y="2512911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17" name="Rectangle 15"/>
          <p:cNvSpPr/>
          <p:nvPr/>
        </p:nvSpPr>
        <p:spPr>
          <a:xfrm>
            <a:off x="609600" y="3280766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6"/>
          <p:cNvSpPr/>
          <p:nvPr/>
        </p:nvSpPr>
        <p:spPr>
          <a:xfrm>
            <a:off x="1104900" y="3847998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7" descr="82ae29156ce4de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3800" y="3936898"/>
            <a:ext cx="177800" cy="177800"/>
          </a:xfrm>
          <a:prstGeom prst="rect">
            <a:avLst/>
          </a:prstGeom>
        </p:spPr>
      </p:pic>
      <p:sp>
        <p:nvSpPr>
          <p:cNvPr id="20" name="Text 7"/>
          <p:cNvSpPr>
            <a:spLocks noGrp="1"/>
          </p:cNvSpPr>
          <p:nvPr>
            <p:ph type="body" idx="26"/>
          </p:nvPr>
        </p:nvSpPr>
        <p:spPr>
          <a:xfrm>
            <a:off x="1943100" y="3835400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21" name="Text 8"/>
          <p:cNvSpPr>
            <a:spLocks noGrp="1"/>
          </p:cNvSpPr>
          <p:nvPr>
            <p:ph type="body" idx="27"/>
          </p:nvPr>
        </p:nvSpPr>
        <p:spPr>
          <a:xfrm>
            <a:off x="1943100" y="3911600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22" name="Text 9"/>
          <p:cNvSpPr>
            <a:spLocks noGrp="1"/>
          </p:cNvSpPr>
          <p:nvPr>
            <p:ph type="body" idx="28"/>
          </p:nvPr>
        </p:nvSpPr>
        <p:spPr>
          <a:xfrm>
            <a:off x="1943100" y="4091883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23" name="Rectangle 21"/>
          <p:cNvSpPr/>
          <p:nvPr/>
        </p:nvSpPr>
        <p:spPr>
          <a:xfrm>
            <a:off x="609600" y="4859833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2"/>
          <p:cNvSpPr/>
          <p:nvPr/>
        </p:nvSpPr>
        <p:spPr>
          <a:xfrm>
            <a:off x="1104900" y="5427066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5" name="Picture 23" descr="82ae29156ce4de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3800" y="5515966"/>
            <a:ext cx="177800" cy="177800"/>
          </a:xfrm>
          <a:prstGeom prst="rect">
            <a:avLst/>
          </a:prstGeom>
        </p:spPr>
      </p:pic>
      <p:sp>
        <p:nvSpPr>
          <p:cNvPr id="26" name="Text 10"/>
          <p:cNvSpPr>
            <a:spLocks noGrp="1"/>
          </p:cNvSpPr>
          <p:nvPr>
            <p:ph type="body" idx="29"/>
          </p:nvPr>
        </p:nvSpPr>
        <p:spPr>
          <a:xfrm>
            <a:off x="1943100" y="5414467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27" name="Text 11"/>
          <p:cNvSpPr>
            <a:spLocks noGrp="1"/>
          </p:cNvSpPr>
          <p:nvPr>
            <p:ph type="body" idx="30"/>
          </p:nvPr>
        </p:nvSpPr>
        <p:spPr>
          <a:xfrm>
            <a:off x="1943100" y="5490667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28" name="Text 12"/>
          <p:cNvSpPr>
            <a:spLocks noGrp="1"/>
          </p:cNvSpPr>
          <p:nvPr>
            <p:ph type="body" idx="31"/>
          </p:nvPr>
        </p:nvSpPr>
        <p:spPr>
          <a:xfrm>
            <a:off x="1943100" y="5670950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29" name="Rectangle 27"/>
          <p:cNvSpPr/>
          <p:nvPr/>
        </p:nvSpPr>
        <p:spPr>
          <a:xfrm>
            <a:off x="4000500" y="1701800"/>
            <a:ext cx="41910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 13"/>
          <p:cNvSpPr>
            <a:spLocks noGrp="1"/>
          </p:cNvSpPr>
          <p:nvPr>
            <p:ph type="body" idx="32"/>
          </p:nvPr>
        </p:nvSpPr>
        <p:spPr>
          <a:xfrm>
            <a:off x="5405044" y="3128569"/>
            <a:ext cx="138191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650" b="0" i="0" spc="13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50" b="0" i="0" spc="13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CAPTION OVER THE VISUAL</a:t>
            </a:r>
          </a:p>
        </p:txBody>
      </p:sp>
      <p:pic>
        <p:nvPicPr>
          <p:cNvPr id="31" name="Picture 29" descr="fab-s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1088" y="3369869"/>
            <a:ext cx="3809825" cy="1231005"/>
          </a:xfrm>
          <a:prstGeom prst="rect">
            <a:avLst/>
          </a:prstGeom>
        </p:spPr>
      </p:pic>
      <p:sp>
        <p:nvSpPr>
          <p:cNvPr id="32" name="Text 14"/>
          <p:cNvSpPr>
            <a:spLocks noGrp="1"/>
          </p:cNvSpPr>
          <p:nvPr>
            <p:ph type="body" idx="33"/>
          </p:nvPr>
        </p:nvSpPr>
        <p:spPr>
          <a:xfrm>
            <a:off x="4482408" y="4778673"/>
            <a:ext cx="3227089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ctr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under the visual saying what the whole thing adds up to.</a:t>
            </a:r>
          </a:p>
        </p:txBody>
      </p:sp>
      <p:sp>
        <p:nvSpPr>
          <p:cNvPr id="33" name="Rectangle 31"/>
          <p:cNvSpPr/>
          <p:nvPr/>
        </p:nvSpPr>
        <p:spPr>
          <a:xfrm>
            <a:off x="8356600" y="1701800"/>
            <a:ext cx="3225800" cy="14900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2"/>
          <p:cNvSpPr/>
          <p:nvPr/>
        </p:nvSpPr>
        <p:spPr>
          <a:xfrm>
            <a:off x="8851900" y="2269033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5" name="Picture 33" descr="82ae29156ce4de5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40800" y="2357933"/>
            <a:ext cx="177800" cy="177800"/>
          </a:xfrm>
          <a:prstGeom prst="rect">
            <a:avLst/>
          </a:prstGeom>
        </p:spPr>
      </p:pic>
      <p:sp>
        <p:nvSpPr>
          <p:cNvPr id="36" name="Text 15"/>
          <p:cNvSpPr>
            <a:spLocks noGrp="1"/>
          </p:cNvSpPr>
          <p:nvPr>
            <p:ph type="body" idx="34"/>
          </p:nvPr>
        </p:nvSpPr>
        <p:spPr>
          <a:xfrm>
            <a:off x="9690100" y="2256434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37" name="Text 16"/>
          <p:cNvSpPr>
            <a:spLocks noGrp="1"/>
          </p:cNvSpPr>
          <p:nvPr>
            <p:ph type="body" idx="35"/>
          </p:nvPr>
        </p:nvSpPr>
        <p:spPr>
          <a:xfrm>
            <a:off x="9690100" y="2332634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38" name="Text 17"/>
          <p:cNvSpPr>
            <a:spLocks noGrp="1"/>
          </p:cNvSpPr>
          <p:nvPr>
            <p:ph type="body" idx="36"/>
          </p:nvPr>
        </p:nvSpPr>
        <p:spPr>
          <a:xfrm>
            <a:off x="9690100" y="2512911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39" name="Rectangle 37"/>
          <p:cNvSpPr/>
          <p:nvPr/>
        </p:nvSpPr>
        <p:spPr>
          <a:xfrm>
            <a:off x="8356600" y="3280766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8"/>
          <p:cNvSpPr/>
          <p:nvPr/>
        </p:nvSpPr>
        <p:spPr>
          <a:xfrm>
            <a:off x="8851900" y="3847998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1" name="Picture 39" descr="82ae29156ce4de5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40800" y="3936898"/>
            <a:ext cx="177800" cy="177800"/>
          </a:xfrm>
          <a:prstGeom prst="rect">
            <a:avLst/>
          </a:prstGeom>
        </p:spPr>
      </p:pic>
      <p:sp>
        <p:nvSpPr>
          <p:cNvPr id="42" name="Text 18"/>
          <p:cNvSpPr>
            <a:spLocks noGrp="1"/>
          </p:cNvSpPr>
          <p:nvPr>
            <p:ph type="body" idx="37"/>
          </p:nvPr>
        </p:nvSpPr>
        <p:spPr>
          <a:xfrm>
            <a:off x="9690100" y="3835400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43" name="Text 19"/>
          <p:cNvSpPr>
            <a:spLocks noGrp="1"/>
          </p:cNvSpPr>
          <p:nvPr>
            <p:ph type="body" idx="38"/>
          </p:nvPr>
        </p:nvSpPr>
        <p:spPr>
          <a:xfrm>
            <a:off x="9690100" y="3911600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44" name="Text 20"/>
          <p:cNvSpPr>
            <a:spLocks noGrp="1"/>
          </p:cNvSpPr>
          <p:nvPr>
            <p:ph type="body" idx="39"/>
          </p:nvPr>
        </p:nvSpPr>
        <p:spPr>
          <a:xfrm>
            <a:off x="9690100" y="4091883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45" name="Rectangle 43"/>
          <p:cNvSpPr/>
          <p:nvPr/>
        </p:nvSpPr>
        <p:spPr>
          <a:xfrm>
            <a:off x="8356600" y="4859833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4"/>
          <p:cNvSpPr/>
          <p:nvPr/>
        </p:nvSpPr>
        <p:spPr>
          <a:xfrm>
            <a:off x="8851900" y="5427066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5" descr="82ae29156ce4de5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40800" y="5515966"/>
            <a:ext cx="177800" cy="177800"/>
          </a:xfrm>
          <a:prstGeom prst="rect">
            <a:avLst/>
          </a:prstGeom>
        </p:spPr>
      </p:pic>
      <p:sp>
        <p:nvSpPr>
          <p:cNvPr id="48" name="Text 21"/>
          <p:cNvSpPr>
            <a:spLocks noGrp="1"/>
          </p:cNvSpPr>
          <p:nvPr>
            <p:ph type="body" idx="40"/>
          </p:nvPr>
        </p:nvSpPr>
        <p:spPr>
          <a:xfrm>
            <a:off x="9690100" y="5414467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06</a:t>
            </a:r>
          </a:p>
        </p:txBody>
      </p:sp>
      <p:sp>
        <p:nvSpPr>
          <p:cNvPr id="49" name="Text 22"/>
          <p:cNvSpPr>
            <a:spLocks noGrp="1"/>
          </p:cNvSpPr>
          <p:nvPr>
            <p:ph type="body" idx="41"/>
          </p:nvPr>
        </p:nvSpPr>
        <p:spPr>
          <a:xfrm>
            <a:off x="9690100" y="5490667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50" name="Text 23"/>
          <p:cNvSpPr>
            <a:spLocks noGrp="1"/>
          </p:cNvSpPr>
          <p:nvPr>
            <p:ph type="body" idx="42"/>
          </p:nvPr>
        </p:nvSpPr>
        <p:spPr>
          <a:xfrm>
            <a:off x="9690100" y="5670950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52" name="Text 24"/>
          <p:cNvSpPr>
            <a:spLocks noGrp="1"/>
          </p:cNvSpPr>
          <p:nvPr>
            <p:ph type="body" idx="43"/>
          </p:nvPr>
        </p:nvSpPr>
        <p:spPr>
          <a:xfrm>
            <a:off x="10867231" y="6429375"/>
            <a:ext cx="71516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INFOGRAPHIC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Image and specs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609600" y="381000"/>
            <a:ext cx="23296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3296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13</a:t>
            </a:r>
          </a:p>
        </p:txBody>
      </p:sp>
      <p:sp>
        <p:nvSpPr>
          <p:cNvPr id="6" name="Text 2"/>
          <p:cNvSpPr>
            <a:spLocks noGrp="1"/>
          </p:cNvSpPr>
          <p:nvPr>
            <p:ph type="body" idx="21"/>
          </p:nvPr>
        </p:nvSpPr>
        <p:spPr>
          <a:xfrm>
            <a:off x="944169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7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8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10" name="Text 3"/>
          <p:cNvSpPr>
            <a:spLocks noGrp="1"/>
          </p:cNvSpPr>
          <p:nvPr>
            <p:ph type="body" idx="22"/>
          </p:nvPr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1" name="Rectangle 9"/>
          <p:cNvSpPr/>
          <p:nvPr/>
        </p:nvSpPr>
        <p:spPr>
          <a:xfrm>
            <a:off x="609600" y="1701800"/>
            <a:ext cx="65278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0" descr="infineon-kulim.jpg"/>
          <p:cNvPicPr>
            <a:picLocks noChangeAspect="1"/>
          </p:cNvPicPr>
          <p:nvPr/>
        </p:nvPicPr>
        <p:blipFill>
          <a:blip r:embed="rId3"/>
          <a:srcRect l="2896" r="2896"/>
          <a:stretch>
            <a:fillRect/>
          </a:stretch>
        </p:blipFill>
        <p:spPr>
          <a:xfrm>
            <a:off x="609600" y="1701800"/>
            <a:ext cx="6527800" cy="4648200"/>
          </a:xfrm>
          <a:prstGeom prst="rect">
            <a:avLst/>
          </a:prstGeom>
        </p:spPr>
      </p:pic>
      <p:sp>
        <p:nvSpPr>
          <p:cNvPr id="13" name="Text 4"/>
          <p:cNvSpPr>
            <a:spLocks noGrp="1"/>
          </p:cNvSpPr>
          <p:nvPr>
            <p:ph type="body" idx="23"/>
          </p:nvPr>
        </p:nvSpPr>
        <p:spPr>
          <a:xfrm>
            <a:off x="7391400" y="3132830"/>
            <a:ext cx="41910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LOCATION · WHAT KIND OF FACILITY</a:t>
            </a:r>
          </a:p>
        </p:txBody>
      </p:sp>
      <p:sp>
        <p:nvSpPr>
          <p:cNvPr id="14" name="Text 5"/>
          <p:cNvSpPr>
            <a:spLocks noGrp="1"/>
          </p:cNvSpPr>
          <p:nvPr>
            <p:ph type="body" idx="24"/>
          </p:nvPr>
        </p:nvSpPr>
        <p:spPr>
          <a:xfrm>
            <a:off x="7391400" y="3304280"/>
            <a:ext cx="41910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0" i="0" spc="-4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700" b="0" i="0" spc="-4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Project or product name</a:t>
            </a:r>
          </a:p>
        </p:txBody>
      </p:sp>
      <p:sp>
        <p:nvSpPr>
          <p:cNvPr id="15" name="Rectangle 13"/>
          <p:cNvSpPr/>
          <p:nvPr/>
        </p:nvSpPr>
        <p:spPr>
          <a:xfrm>
            <a:off x="7394575" y="3714452"/>
            <a:ext cx="759917" cy="165100"/>
          </a:xfrm>
          <a:prstGeom prst="rect">
            <a:avLst/>
          </a:prstGeom>
          <a:noFill/>
          <a:ln w="635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 6"/>
          <p:cNvSpPr>
            <a:spLocks noGrp="1"/>
          </p:cNvSpPr>
          <p:nvPr>
            <p:ph type="body" idx="25"/>
          </p:nvPr>
        </p:nvSpPr>
        <p:spPr>
          <a:xfrm>
            <a:off x="7391400" y="3762077"/>
            <a:ext cx="766267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>
            <a:lvl1pPr algn="l">
              <a:buNone/>
              <a:defRPr sz="600" b="0" i="0" spc="96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00" b="0" i="0" spc="96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SERVICE LINE</a:t>
            </a:r>
          </a:p>
        </p:txBody>
      </p:sp>
      <p:sp>
        <p:nvSpPr>
          <p:cNvPr id="17" name="Rectangle 15"/>
          <p:cNvSpPr/>
          <p:nvPr/>
        </p:nvSpPr>
        <p:spPr>
          <a:xfrm>
            <a:off x="8211642" y="3714452"/>
            <a:ext cx="759917" cy="165100"/>
          </a:xfrm>
          <a:prstGeom prst="rect">
            <a:avLst/>
          </a:prstGeom>
          <a:noFill/>
          <a:ln w="635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 7"/>
          <p:cNvSpPr>
            <a:spLocks noGrp="1"/>
          </p:cNvSpPr>
          <p:nvPr>
            <p:ph type="body" idx="26"/>
          </p:nvPr>
        </p:nvSpPr>
        <p:spPr>
          <a:xfrm>
            <a:off x="8208467" y="3762077"/>
            <a:ext cx="766267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>
            <a:lvl1pPr algn="l">
              <a:buNone/>
              <a:defRPr sz="600" b="0" i="0" spc="96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00" b="0" i="0" spc="96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SERVICE LINE</a:t>
            </a:r>
          </a:p>
        </p:txBody>
      </p:sp>
      <p:sp>
        <p:nvSpPr>
          <p:cNvPr id="19" name="Rectangle 17"/>
          <p:cNvSpPr/>
          <p:nvPr/>
        </p:nvSpPr>
        <p:spPr>
          <a:xfrm>
            <a:off x="9028709" y="3714452"/>
            <a:ext cx="759917" cy="165100"/>
          </a:xfrm>
          <a:prstGeom prst="rect">
            <a:avLst/>
          </a:prstGeom>
          <a:noFill/>
          <a:ln w="635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 8"/>
          <p:cNvSpPr>
            <a:spLocks noGrp="1"/>
          </p:cNvSpPr>
          <p:nvPr>
            <p:ph type="body" idx="27"/>
          </p:nvPr>
        </p:nvSpPr>
        <p:spPr>
          <a:xfrm>
            <a:off x="9025534" y="3762077"/>
            <a:ext cx="766267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>
            <a:lvl1pPr algn="l">
              <a:buNone/>
              <a:defRPr sz="600" b="0" i="0" spc="96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00" b="0" i="0" spc="96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SERVICE LINE</a:t>
            </a:r>
          </a:p>
        </p:txBody>
      </p:sp>
      <p:sp>
        <p:nvSpPr>
          <p:cNvPr id="21" name="Text 9"/>
          <p:cNvSpPr>
            <a:spLocks noGrp="1"/>
          </p:cNvSpPr>
          <p:nvPr>
            <p:ph type="body" idx="28"/>
          </p:nvPr>
        </p:nvSpPr>
        <p:spPr>
          <a:xfrm>
            <a:off x="7391400" y="4098627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 10"/>
          <p:cNvSpPr>
            <a:spLocks noGrp="1"/>
          </p:cNvSpPr>
          <p:nvPr>
            <p:ph type="body" idx="29"/>
          </p:nvPr>
        </p:nvSpPr>
        <p:spPr>
          <a:xfrm>
            <a:off x="8483600" y="4054177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on what the job was</a:t>
            </a:r>
          </a:p>
        </p:txBody>
      </p:sp>
      <p:sp>
        <p:nvSpPr>
          <p:cNvPr id="23" name="Text 11"/>
          <p:cNvSpPr>
            <a:spLocks noGrp="1"/>
          </p:cNvSpPr>
          <p:nvPr>
            <p:ph type="body" idx="30"/>
          </p:nvPr>
        </p:nvSpPr>
        <p:spPr>
          <a:xfrm>
            <a:off x="7391400" y="4338638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4" name="Text 12"/>
          <p:cNvSpPr>
            <a:spLocks noGrp="1"/>
          </p:cNvSpPr>
          <p:nvPr>
            <p:ph type="body" idx="31"/>
          </p:nvPr>
        </p:nvSpPr>
        <p:spPr>
          <a:xfrm>
            <a:off x="8483600" y="4294188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was in the contract</a:t>
            </a:r>
          </a:p>
        </p:txBody>
      </p:sp>
      <p:sp>
        <p:nvSpPr>
          <p:cNvPr id="25" name="Text 13"/>
          <p:cNvSpPr>
            <a:spLocks noGrp="1"/>
          </p:cNvSpPr>
          <p:nvPr>
            <p:ph type="body" idx="32"/>
          </p:nvPr>
        </p:nvSpPr>
        <p:spPr>
          <a:xfrm>
            <a:off x="7391400" y="4578648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6" name="Text 14"/>
          <p:cNvSpPr>
            <a:spLocks noGrp="1"/>
          </p:cNvSpPr>
          <p:nvPr>
            <p:ph type="body" idx="33"/>
          </p:nvPr>
        </p:nvSpPr>
        <p:spPr>
          <a:xfrm>
            <a:off x="8483600" y="4534198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Class or grade, if it applies</a:t>
            </a:r>
          </a:p>
        </p:txBody>
      </p:sp>
      <p:sp>
        <p:nvSpPr>
          <p:cNvPr id="27" name="Text 15"/>
          <p:cNvSpPr>
            <a:spLocks noGrp="1"/>
          </p:cNvSpPr>
          <p:nvPr>
            <p:ph type="body" idx="34"/>
          </p:nvPr>
        </p:nvSpPr>
        <p:spPr>
          <a:xfrm>
            <a:off x="7391400" y="4818659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COMPLETED</a:t>
            </a:r>
          </a:p>
        </p:txBody>
      </p:sp>
      <p:sp>
        <p:nvSpPr>
          <p:cNvPr id="28" name="Text 16"/>
          <p:cNvSpPr>
            <a:spLocks noGrp="1"/>
          </p:cNvSpPr>
          <p:nvPr>
            <p:ph type="body" idx="35"/>
          </p:nvPr>
        </p:nvSpPr>
        <p:spPr>
          <a:xfrm>
            <a:off x="8483600" y="4774209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Year</a:t>
            </a:r>
          </a:p>
        </p:txBody>
      </p:sp>
      <p:sp>
        <p:nvSpPr>
          <p:cNvPr id="30" name="Text 17"/>
          <p:cNvSpPr>
            <a:spLocks noGrp="1"/>
          </p:cNvSpPr>
          <p:nvPr>
            <p:ph type="body" idx="36"/>
          </p:nvPr>
        </p:nvSpPr>
        <p:spPr>
          <a:xfrm>
            <a:off x="10623252" y="6429375"/>
            <a:ext cx="95914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IMAGE AND SPECS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Programme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609600" y="381000"/>
            <a:ext cx="2315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315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14</a:t>
            </a:r>
          </a:p>
        </p:txBody>
      </p:sp>
      <p:sp>
        <p:nvSpPr>
          <p:cNvPr id="6" name="Text 2"/>
          <p:cNvSpPr>
            <a:spLocks noGrp="1"/>
          </p:cNvSpPr>
          <p:nvPr>
            <p:ph type="body" idx="21"/>
          </p:nvPr>
        </p:nvSpPr>
        <p:spPr>
          <a:xfrm>
            <a:off x="942778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7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8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10" name="Text 3"/>
          <p:cNvSpPr>
            <a:spLocks noGrp="1"/>
          </p:cNvSpPr>
          <p:nvPr>
            <p:ph type="body" idx="22"/>
          </p:nvPr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1" name="Text 4"/>
          <p:cNvSpPr>
            <a:spLocks noGrp="1"/>
          </p:cNvSpPr>
          <p:nvPr>
            <p:ph type="body" idx="23"/>
          </p:nvPr>
        </p:nvSpPr>
        <p:spPr>
          <a:xfrm>
            <a:off x="2844800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2" name="Text 5"/>
          <p:cNvSpPr>
            <a:spLocks noGrp="1"/>
          </p:cNvSpPr>
          <p:nvPr>
            <p:ph type="body" idx="24"/>
          </p:nvPr>
        </p:nvSpPr>
        <p:spPr>
          <a:xfrm>
            <a:off x="4301033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3" name="Text 6"/>
          <p:cNvSpPr>
            <a:spLocks noGrp="1"/>
          </p:cNvSpPr>
          <p:nvPr>
            <p:ph type="body" idx="25"/>
          </p:nvPr>
        </p:nvSpPr>
        <p:spPr>
          <a:xfrm>
            <a:off x="5757266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4" name="Text 7"/>
          <p:cNvSpPr>
            <a:spLocks noGrp="1"/>
          </p:cNvSpPr>
          <p:nvPr>
            <p:ph type="body" idx="26"/>
          </p:nvPr>
        </p:nvSpPr>
        <p:spPr>
          <a:xfrm>
            <a:off x="7213498" y="1701800"/>
            <a:ext cx="145633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5" name="Text 8"/>
          <p:cNvSpPr>
            <a:spLocks noGrp="1"/>
          </p:cNvSpPr>
          <p:nvPr>
            <p:ph type="body" idx="27"/>
          </p:nvPr>
        </p:nvSpPr>
        <p:spPr>
          <a:xfrm>
            <a:off x="8669833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6" name="Text 9"/>
          <p:cNvSpPr>
            <a:spLocks noGrp="1"/>
          </p:cNvSpPr>
          <p:nvPr>
            <p:ph type="body" idx="28"/>
          </p:nvPr>
        </p:nvSpPr>
        <p:spPr>
          <a:xfrm>
            <a:off x="10126066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ctr">
              <a:buNone/>
              <a:def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7" name="Text 10"/>
          <p:cNvSpPr>
            <a:spLocks noGrp="1"/>
          </p:cNvSpPr>
          <p:nvPr>
            <p:ph type="body" idx="29"/>
          </p:nvPr>
        </p:nvSpPr>
        <p:spPr>
          <a:xfrm>
            <a:off x="609600" y="1943100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18" name="Text 11"/>
          <p:cNvSpPr>
            <a:spLocks noGrp="1"/>
          </p:cNvSpPr>
          <p:nvPr>
            <p:ph type="body" idx="30"/>
          </p:nvPr>
        </p:nvSpPr>
        <p:spPr>
          <a:xfrm>
            <a:off x="609600" y="2072583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19" name="Rectangle 17"/>
          <p:cNvSpPr/>
          <p:nvPr/>
        </p:nvSpPr>
        <p:spPr>
          <a:xfrm>
            <a:off x="2844800" y="1976044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8"/>
          <p:cNvSpPr/>
          <p:nvPr/>
        </p:nvSpPr>
        <p:spPr>
          <a:xfrm>
            <a:off x="2844800" y="1976044"/>
            <a:ext cx="291216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 12"/>
          <p:cNvSpPr>
            <a:spLocks noGrp="1"/>
          </p:cNvSpPr>
          <p:nvPr>
            <p:ph type="body" idx="31"/>
          </p:nvPr>
        </p:nvSpPr>
        <p:spPr>
          <a:xfrm>
            <a:off x="5304733" y="2023669"/>
            <a:ext cx="388741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580" b="0" i="0" spc="8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580" b="0" i="0" spc="8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Milestone</a:t>
            </a:r>
          </a:p>
        </p:txBody>
      </p:sp>
      <p:sp>
        <p:nvSpPr>
          <p:cNvPr id="22" name="Text 13"/>
          <p:cNvSpPr>
            <a:spLocks noGrp="1"/>
          </p:cNvSpPr>
          <p:nvPr>
            <p:ph type="body" idx="32"/>
          </p:nvPr>
        </p:nvSpPr>
        <p:spPr>
          <a:xfrm>
            <a:off x="609600" y="2762942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23" name="Text 14"/>
          <p:cNvSpPr>
            <a:spLocks noGrp="1"/>
          </p:cNvSpPr>
          <p:nvPr>
            <p:ph type="body" idx="33"/>
          </p:nvPr>
        </p:nvSpPr>
        <p:spPr>
          <a:xfrm>
            <a:off x="609600" y="2892425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24" name="Rectangle 22"/>
          <p:cNvSpPr/>
          <p:nvPr/>
        </p:nvSpPr>
        <p:spPr>
          <a:xfrm>
            <a:off x="2844800" y="2795886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3"/>
          <p:cNvSpPr/>
          <p:nvPr/>
        </p:nvSpPr>
        <p:spPr>
          <a:xfrm>
            <a:off x="4301331" y="2795886"/>
            <a:ext cx="2912167" cy="165100"/>
          </a:xfrm>
          <a:prstGeom prst="rect">
            <a:avLst/>
          </a:prstGeom>
          <a:solidFill>
            <a:srgbClr val="EC2326">
              <a:alpha val="2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 15"/>
          <p:cNvSpPr>
            <a:spLocks noGrp="1"/>
          </p:cNvSpPr>
          <p:nvPr>
            <p:ph type="body" idx="34"/>
          </p:nvPr>
        </p:nvSpPr>
        <p:spPr>
          <a:xfrm>
            <a:off x="609600" y="3582791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27" name="Text 16"/>
          <p:cNvSpPr>
            <a:spLocks noGrp="1"/>
          </p:cNvSpPr>
          <p:nvPr>
            <p:ph type="body" idx="35"/>
          </p:nvPr>
        </p:nvSpPr>
        <p:spPr>
          <a:xfrm>
            <a:off x="609600" y="3712267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28" name="Rectangle 26"/>
          <p:cNvSpPr/>
          <p:nvPr/>
        </p:nvSpPr>
        <p:spPr>
          <a:xfrm>
            <a:off x="2844800" y="3615728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7"/>
          <p:cNvSpPr/>
          <p:nvPr/>
        </p:nvSpPr>
        <p:spPr>
          <a:xfrm>
            <a:off x="5756967" y="3615728"/>
            <a:ext cx="291216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 17"/>
          <p:cNvSpPr>
            <a:spLocks noGrp="1"/>
          </p:cNvSpPr>
          <p:nvPr>
            <p:ph type="body" idx="36"/>
          </p:nvPr>
        </p:nvSpPr>
        <p:spPr>
          <a:xfrm>
            <a:off x="609600" y="4402633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31" name="Text 18"/>
          <p:cNvSpPr>
            <a:spLocks noGrp="1"/>
          </p:cNvSpPr>
          <p:nvPr>
            <p:ph type="body" idx="37"/>
          </p:nvPr>
        </p:nvSpPr>
        <p:spPr>
          <a:xfrm>
            <a:off x="609600" y="4532116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32" name="Rectangle 30"/>
          <p:cNvSpPr/>
          <p:nvPr/>
        </p:nvSpPr>
        <p:spPr>
          <a:xfrm>
            <a:off x="2844800" y="4435577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1"/>
          <p:cNvSpPr/>
          <p:nvPr/>
        </p:nvSpPr>
        <p:spPr>
          <a:xfrm>
            <a:off x="7213600" y="4435577"/>
            <a:ext cx="291216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 19"/>
          <p:cNvSpPr>
            <a:spLocks noGrp="1"/>
          </p:cNvSpPr>
          <p:nvPr>
            <p:ph type="body" idx="38"/>
          </p:nvPr>
        </p:nvSpPr>
        <p:spPr>
          <a:xfrm>
            <a:off x="609600" y="5222481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35" name="Text 20"/>
          <p:cNvSpPr>
            <a:spLocks noGrp="1"/>
          </p:cNvSpPr>
          <p:nvPr>
            <p:ph type="body" idx="39"/>
          </p:nvPr>
        </p:nvSpPr>
        <p:spPr>
          <a:xfrm>
            <a:off x="609600" y="5351958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36" name="Rectangle 34"/>
          <p:cNvSpPr/>
          <p:nvPr/>
        </p:nvSpPr>
        <p:spPr>
          <a:xfrm>
            <a:off x="2844800" y="5255419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5"/>
          <p:cNvSpPr/>
          <p:nvPr/>
        </p:nvSpPr>
        <p:spPr>
          <a:xfrm>
            <a:off x="8378228" y="5255419"/>
            <a:ext cx="233025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 21"/>
          <p:cNvSpPr>
            <a:spLocks noGrp="1"/>
          </p:cNvSpPr>
          <p:nvPr>
            <p:ph type="body" idx="40"/>
          </p:nvPr>
        </p:nvSpPr>
        <p:spPr>
          <a:xfrm>
            <a:off x="609600" y="6042323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39" name="Text 22"/>
          <p:cNvSpPr>
            <a:spLocks noGrp="1"/>
          </p:cNvSpPr>
          <p:nvPr>
            <p:ph type="body" idx="41"/>
          </p:nvPr>
        </p:nvSpPr>
        <p:spPr>
          <a:xfrm>
            <a:off x="609600" y="6171806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40" name="Rectangle 38"/>
          <p:cNvSpPr/>
          <p:nvPr/>
        </p:nvSpPr>
        <p:spPr>
          <a:xfrm>
            <a:off x="2844800" y="6075261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39"/>
          <p:cNvSpPr/>
          <p:nvPr/>
        </p:nvSpPr>
        <p:spPr>
          <a:xfrm>
            <a:off x="9252052" y="6075261"/>
            <a:ext cx="233025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 23"/>
          <p:cNvSpPr>
            <a:spLocks noGrp="1"/>
          </p:cNvSpPr>
          <p:nvPr>
            <p:ph type="body" idx="42"/>
          </p:nvPr>
        </p:nvSpPr>
        <p:spPr>
          <a:xfrm>
            <a:off x="11130064" y="6122886"/>
            <a:ext cx="388741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580" b="0" i="0" spc="8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580" b="0" i="0" spc="8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Milestone</a:t>
            </a:r>
          </a:p>
        </p:txBody>
      </p:sp>
      <p:sp>
        <p:nvSpPr>
          <p:cNvPr id="44" name="Text 24"/>
          <p:cNvSpPr>
            <a:spLocks noGrp="1"/>
          </p:cNvSpPr>
          <p:nvPr>
            <p:ph type="body" idx="43"/>
          </p:nvPr>
        </p:nvSpPr>
        <p:spPr>
          <a:xfrm>
            <a:off x="10931627" y="6429375"/>
            <a:ext cx="6506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PROGRAMME</a:t>
            </a: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Table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609600" y="381000"/>
            <a:ext cx="23346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3346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15</a:t>
            </a:r>
          </a:p>
        </p:txBody>
      </p:sp>
      <p:sp>
        <p:nvSpPr>
          <p:cNvPr id="6" name="Text 2"/>
          <p:cNvSpPr>
            <a:spLocks noGrp="1"/>
          </p:cNvSpPr>
          <p:nvPr>
            <p:ph type="body" idx="21"/>
          </p:nvPr>
        </p:nvSpPr>
        <p:spPr>
          <a:xfrm>
            <a:off x="944664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7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8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10" name="Text 3"/>
          <p:cNvSpPr>
            <a:spLocks noGrp="1"/>
          </p:cNvSpPr>
          <p:nvPr>
            <p:ph type="body" idx="22"/>
          </p:nvPr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1" name="Rectangle 9"/>
          <p:cNvSpPr/>
          <p:nvPr/>
        </p:nvSpPr>
        <p:spPr>
          <a:xfrm>
            <a:off x="609600" y="1701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 4"/>
          <p:cNvSpPr>
            <a:spLocks noGrp="1"/>
          </p:cNvSpPr>
          <p:nvPr>
            <p:ph type="body" idx="23"/>
          </p:nvPr>
        </p:nvSpPr>
        <p:spPr>
          <a:xfrm>
            <a:off x="609600" y="1816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COLUMN</a:t>
            </a:r>
          </a:p>
        </p:txBody>
      </p:sp>
      <p:sp>
        <p:nvSpPr>
          <p:cNvPr id="13" name="Rectangle 11"/>
          <p:cNvSpPr/>
          <p:nvPr/>
        </p:nvSpPr>
        <p:spPr>
          <a:xfrm>
            <a:off x="2804122" y="1701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 5"/>
          <p:cNvSpPr>
            <a:spLocks noGrp="1"/>
          </p:cNvSpPr>
          <p:nvPr>
            <p:ph type="body" idx="24"/>
          </p:nvPr>
        </p:nvSpPr>
        <p:spPr>
          <a:xfrm>
            <a:off x="2804122" y="1816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COLUMN</a:t>
            </a:r>
          </a:p>
        </p:txBody>
      </p:sp>
      <p:sp>
        <p:nvSpPr>
          <p:cNvPr id="15" name="Rectangle 13"/>
          <p:cNvSpPr/>
          <p:nvPr/>
        </p:nvSpPr>
        <p:spPr>
          <a:xfrm>
            <a:off x="4998644" y="1701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 6"/>
          <p:cNvSpPr>
            <a:spLocks noGrp="1"/>
          </p:cNvSpPr>
          <p:nvPr>
            <p:ph type="body" idx="25"/>
          </p:nvPr>
        </p:nvSpPr>
        <p:spPr>
          <a:xfrm>
            <a:off x="4998644" y="1816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COLUMN</a:t>
            </a:r>
          </a:p>
        </p:txBody>
      </p:sp>
      <p:sp>
        <p:nvSpPr>
          <p:cNvPr id="17" name="Rectangle 15"/>
          <p:cNvSpPr/>
          <p:nvPr/>
        </p:nvSpPr>
        <p:spPr>
          <a:xfrm>
            <a:off x="7193159" y="1701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 7"/>
          <p:cNvSpPr>
            <a:spLocks noGrp="1"/>
          </p:cNvSpPr>
          <p:nvPr>
            <p:ph type="body" idx="26"/>
          </p:nvPr>
        </p:nvSpPr>
        <p:spPr>
          <a:xfrm>
            <a:off x="7193159" y="1816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COLUMN</a:t>
            </a:r>
          </a:p>
        </p:txBody>
      </p:sp>
      <p:sp>
        <p:nvSpPr>
          <p:cNvPr id="19" name="Rectangle 17"/>
          <p:cNvSpPr/>
          <p:nvPr/>
        </p:nvSpPr>
        <p:spPr>
          <a:xfrm>
            <a:off x="9387681" y="1701800"/>
            <a:ext cx="2194719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 8"/>
          <p:cNvSpPr>
            <a:spLocks noGrp="1"/>
          </p:cNvSpPr>
          <p:nvPr>
            <p:ph type="body" idx="27"/>
          </p:nvPr>
        </p:nvSpPr>
        <p:spPr>
          <a:xfrm>
            <a:off x="9387681" y="1816100"/>
            <a:ext cx="2194719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COLUMN</a:t>
            </a:r>
          </a:p>
        </p:txBody>
      </p:sp>
      <p:sp>
        <p:nvSpPr>
          <p:cNvPr id="21" name="Rectangle 19"/>
          <p:cNvSpPr/>
          <p:nvPr/>
        </p:nvSpPr>
        <p:spPr>
          <a:xfrm>
            <a:off x="609600" y="2006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 9"/>
          <p:cNvSpPr>
            <a:spLocks noGrp="1"/>
          </p:cNvSpPr>
          <p:nvPr>
            <p:ph type="body" idx="28"/>
          </p:nvPr>
        </p:nvSpPr>
        <p:spPr>
          <a:xfrm>
            <a:off x="609600" y="2304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23" name="Rectangle 21"/>
          <p:cNvSpPr/>
          <p:nvPr/>
        </p:nvSpPr>
        <p:spPr>
          <a:xfrm>
            <a:off x="2804122" y="2006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 10"/>
          <p:cNvSpPr>
            <a:spLocks noGrp="1"/>
          </p:cNvSpPr>
          <p:nvPr>
            <p:ph type="body" idx="29"/>
          </p:nvPr>
        </p:nvSpPr>
        <p:spPr>
          <a:xfrm>
            <a:off x="2804122" y="2304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25" name="Rectangle 23"/>
          <p:cNvSpPr/>
          <p:nvPr/>
        </p:nvSpPr>
        <p:spPr>
          <a:xfrm>
            <a:off x="4998644" y="2006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 11"/>
          <p:cNvSpPr>
            <a:spLocks noGrp="1"/>
          </p:cNvSpPr>
          <p:nvPr>
            <p:ph type="body" idx="30"/>
          </p:nvPr>
        </p:nvSpPr>
        <p:spPr>
          <a:xfrm>
            <a:off x="4998644" y="2304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27" name="Rectangle 25"/>
          <p:cNvSpPr/>
          <p:nvPr/>
        </p:nvSpPr>
        <p:spPr>
          <a:xfrm>
            <a:off x="7193159" y="2006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 12"/>
          <p:cNvSpPr>
            <a:spLocks noGrp="1"/>
          </p:cNvSpPr>
          <p:nvPr>
            <p:ph type="body" idx="31"/>
          </p:nvPr>
        </p:nvSpPr>
        <p:spPr>
          <a:xfrm>
            <a:off x="7193159" y="2304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29" name="Rectangle 27"/>
          <p:cNvSpPr/>
          <p:nvPr/>
        </p:nvSpPr>
        <p:spPr>
          <a:xfrm>
            <a:off x="9387681" y="2006600"/>
            <a:ext cx="2194719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 13"/>
          <p:cNvSpPr>
            <a:spLocks noGrp="1"/>
          </p:cNvSpPr>
          <p:nvPr>
            <p:ph type="body" idx="32"/>
          </p:nvPr>
        </p:nvSpPr>
        <p:spPr>
          <a:xfrm>
            <a:off x="9387681" y="23041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31" name="Rectangle 29"/>
          <p:cNvSpPr/>
          <p:nvPr/>
        </p:nvSpPr>
        <p:spPr>
          <a:xfrm>
            <a:off x="609600" y="2730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 14"/>
          <p:cNvSpPr>
            <a:spLocks noGrp="1"/>
          </p:cNvSpPr>
          <p:nvPr>
            <p:ph type="body" idx="33"/>
          </p:nvPr>
        </p:nvSpPr>
        <p:spPr>
          <a:xfrm>
            <a:off x="609600" y="3028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33" name="Rectangle 31"/>
          <p:cNvSpPr/>
          <p:nvPr/>
        </p:nvSpPr>
        <p:spPr>
          <a:xfrm>
            <a:off x="2804122" y="2730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 15"/>
          <p:cNvSpPr>
            <a:spLocks noGrp="1"/>
          </p:cNvSpPr>
          <p:nvPr>
            <p:ph type="body" idx="34"/>
          </p:nvPr>
        </p:nvSpPr>
        <p:spPr>
          <a:xfrm>
            <a:off x="2804122" y="3028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35" name="Rectangle 33"/>
          <p:cNvSpPr/>
          <p:nvPr/>
        </p:nvSpPr>
        <p:spPr>
          <a:xfrm>
            <a:off x="4998644" y="2730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 16"/>
          <p:cNvSpPr>
            <a:spLocks noGrp="1"/>
          </p:cNvSpPr>
          <p:nvPr>
            <p:ph type="body" idx="35"/>
          </p:nvPr>
        </p:nvSpPr>
        <p:spPr>
          <a:xfrm>
            <a:off x="4998644" y="3028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37" name="Rectangle 35"/>
          <p:cNvSpPr/>
          <p:nvPr/>
        </p:nvSpPr>
        <p:spPr>
          <a:xfrm>
            <a:off x="7193159" y="2730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 17"/>
          <p:cNvSpPr>
            <a:spLocks noGrp="1"/>
          </p:cNvSpPr>
          <p:nvPr>
            <p:ph type="body" idx="36"/>
          </p:nvPr>
        </p:nvSpPr>
        <p:spPr>
          <a:xfrm>
            <a:off x="7193159" y="3028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39" name="Rectangle 37"/>
          <p:cNvSpPr/>
          <p:nvPr/>
        </p:nvSpPr>
        <p:spPr>
          <a:xfrm>
            <a:off x="9387681" y="2730500"/>
            <a:ext cx="2194719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 18"/>
          <p:cNvSpPr>
            <a:spLocks noGrp="1"/>
          </p:cNvSpPr>
          <p:nvPr>
            <p:ph type="body" idx="37"/>
          </p:nvPr>
        </p:nvSpPr>
        <p:spPr>
          <a:xfrm>
            <a:off x="9387681" y="30280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41" name="Rectangle 39"/>
          <p:cNvSpPr/>
          <p:nvPr/>
        </p:nvSpPr>
        <p:spPr>
          <a:xfrm>
            <a:off x="609600" y="3454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 19"/>
          <p:cNvSpPr>
            <a:spLocks noGrp="1"/>
          </p:cNvSpPr>
          <p:nvPr>
            <p:ph type="body" idx="38"/>
          </p:nvPr>
        </p:nvSpPr>
        <p:spPr>
          <a:xfrm>
            <a:off x="609600" y="3751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43" name="Rectangle 41"/>
          <p:cNvSpPr/>
          <p:nvPr/>
        </p:nvSpPr>
        <p:spPr>
          <a:xfrm>
            <a:off x="2804122" y="3454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 20"/>
          <p:cNvSpPr>
            <a:spLocks noGrp="1"/>
          </p:cNvSpPr>
          <p:nvPr>
            <p:ph type="body" idx="39"/>
          </p:nvPr>
        </p:nvSpPr>
        <p:spPr>
          <a:xfrm>
            <a:off x="2804122" y="3751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45" name="Rectangle 43"/>
          <p:cNvSpPr/>
          <p:nvPr/>
        </p:nvSpPr>
        <p:spPr>
          <a:xfrm>
            <a:off x="4998644" y="3454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 21"/>
          <p:cNvSpPr>
            <a:spLocks noGrp="1"/>
          </p:cNvSpPr>
          <p:nvPr>
            <p:ph type="body" idx="40"/>
          </p:nvPr>
        </p:nvSpPr>
        <p:spPr>
          <a:xfrm>
            <a:off x="4998644" y="3751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47" name="Rectangle 45"/>
          <p:cNvSpPr/>
          <p:nvPr/>
        </p:nvSpPr>
        <p:spPr>
          <a:xfrm>
            <a:off x="7193159" y="3454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 22"/>
          <p:cNvSpPr>
            <a:spLocks noGrp="1"/>
          </p:cNvSpPr>
          <p:nvPr>
            <p:ph type="body" idx="41"/>
          </p:nvPr>
        </p:nvSpPr>
        <p:spPr>
          <a:xfrm>
            <a:off x="7193159" y="3751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49" name="Rectangle 47"/>
          <p:cNvSpPr/>
          <p:nvPr/>
        </p:nvSpPr>
        <p:spPr>
          <a:xfrm>
            <a:off x="9387681" y="3454400"/>
            <a:ext cx="2194719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 23"/>
          <p:cNvSpPr>
            <a:spLocks noGrp="1"/>
          </p:cNvSpPr>
          <p:nvPr>
            <p:ph type="body" idx="42"/>
          </p:nvPr>
        </p:nvSpPr>
        <p:spPr>
          <a:xfrm>
            <a:off x="9387681" y="37519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51" name="Rectangle 49"/>
          <p:cNvSpPr/>
          <p:nvPr/>
        </p:nvSpPr>
        <p:spPr>
          <a:xfrm>
            <a:off x="609600" y="4178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 24"/>
          <p:cNvSpPr>
            <a:spLocks noGrp="1"/>
          </p:cNvSpPr>
          <p:nvPr>
            <p:ph type="body" idx="43"/>
          </p:nvPr>
        </p:nvSpPr>
        <p:spPr>
          <a:xfrm>
            <a:off x="609600" y="4475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53" name="Rectangle 51"/>
          <p:cNvSpPr/>
          <p:nvPr/>
        </p:nvSpPr>
        <p:spPr>
          <a:xfrm>
            <a:off x="2804122" y="4178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 25"/>
          <p:cNvSpPr>
            <a:spLocks noGrp="1"/>
          </p:cNvSpPr>
          <p:nvPr>
            <p:ph type="body" idx="44"/>
          </p:nvPr>
        </p:nvSpPr>
        <p:spPr>
          <a:xfrm>
            <a:off x="2804122" y="4475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55" name="Rectangle 53"/>
          <p:cNvSpPr/>
          <p:nvPr/>
        </p:nvSpPr>
        <p:spPr>
          <a:xfrm>
            <a:off x="4998644" y="4178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 26"/>
          <p:cNvSpPr>
            <a:spLocks noGrp="1"/>
          </p:cNvSpPr>
          <p:nvPr>
            <p:ph type="body" idx="45"/>
          </p:nvPr>
        </p:nvSpPr>
        <p:spPr>
          <a:xfrm>
            <a:off x="4998644" y="4475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57" name="Rectangle 55"/>
          <p:cNvSpPr/>
          <p:nvPr/>
        </p:nvSpPr>
        <p:spPr>
          <a:xfrm>
            <a:off x="7193159" y="4178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 27"/>
          <p:cNvSpPr>
            <a:spLocks noGrp="1"/>
          </p:cNvSpPr>
          <p:nvPr>
            <p:ph type="body" idx="46"/>
          </p:nvPr>
        </p:nvSpPr>
        <p:spPr>
          <a:xfrm>
            <a:off x="7193159" y="4475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59" name="Rectangle 57"/>
          <p:cNvSpPr/>
          <p:nvPr/>
        </p:nvSpPr>
        <p:spPr>
          <a:xfrm>
            <a:off x="9387681" y="4178300"/>
            <a:ext cx="2194719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 28"/>
          <p:cNvSpPr>
            <a:spLocks noGrp="1"/>
          </p:cNvSpPr>
          <p:nvPr>
            <p:ph type="body" idx="47"/>
          </p:nvPr>
        </p:nvSpPr>
        <p:spPr>
          <a:xfrm>
            <a:off x="9387681" y="44758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61" name="Rectangle 59"/>
          <p:cNvSpPr/>
          <p:nvPr/>
        </p:nvSpPr>
        <p:spPr>
          <a:xfrm>
            <a:off x="609600" y="4902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 29"/>
          <p:cNvSpPr>
            <a:spLocks noGrp="1"/>
          </p:cNvSpPr>
          <p:nvPr>
            <p:ph type="body" idx="48"/>
          </p:nvPr>
        </p:nvSpPr>
        <p:spPr>
          <a:xfrm>
            <a:off x="609600" y="5199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63" name="Rectangle 61"/>
          <p:cNvSpPr/>
          <p:nvPr/>
        </p:nvSpPr>
        <p:spPr>
          <a:xfrm>
            <a:off x="2804122" y="4902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 30"/>
          <p:cNvSpPr>
            <a:spLocks noGrp="1"/>
          </p:cNvSpPr>
          <p:nvPr>
            <p:ph type="body" idx="49"/>
          </p:nvPr>
        </p:nvSpPr>
        <p:spPr>
          <a:xfrm>
            <a:off x="2804122" y="5199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65" name="Rectangle 63"/>
          <p:cNvSpPr/>
          <p:nvPr/>
        </p:nvSpPr>
        <p:spPr>
          <a:xfrm>
            <a:off x="4998644" y="4902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 31"/>
          <p:cNvSpPr>
            <a:spLocks noGrp="1"/>
          </p:cNvSpPr>
          <p:nvPr>
            <p:ph type="body" idx="50"/>
          </p:nvPr>
        </p:nvSpPr>
        <p:spPr>
          <a:xfrm>
            <a:off x="4998644" y="5199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67" name="Rectangle 65"/>
          <p:cNvSpPr/>
          <p:nvPr/>
        </p:nvSpPr>
        <p:spPr>
          <a:xfrm>
            <a:off x="7193159" y="4902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 32"/>
          <p:cNvSpPr>
            <a:spLocks noGrp="1"/>
          </p:cNvSpPr>
          <p:nvPr>
            <p:ph type="body" idx="51"/>
          </p:nvPr>
        </p:nvSpPr>
        <p:spPr>
          <a:xfrm>
            <a:off x="7193159" y="5199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69" name="Rectangle 67"/>
          <p:cNvSpPr/>
          <p:nvPr/>
        </p:nvSpPr>
        <p:spPr>
          <a:xfrm>
            <a:off x="9387681" y="4902200"/>
            <a:ext cx="2194719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 33"/>
          <p:cNvSpPr>
            <a:spLocks noGrp="1"/>
          </p:cNvSpPr>
          <p:nvPr>
            <p:ph type="body" idx="52"/>
          </p:nvPr>
        </p:nvSpPr>
        <p:spPr>
          <a:xfrm>
            <a:off x="9387681" y="51997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71" name="Rectangle 69"/>
          <p:cNvSpPr/>
          <p:nvPr/>
        </p:nvSpPr>
        <p:spPr>
          <a:xfrm>
            <a:off x="609600" y="5626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 34"/>
          <p:cNvSpPr>
            <a:spLocks noGrp="1"/>
          </p:cNvSpPr>
          <p:nvPr>
            <p:ph type="body" idx="53"/>
          </p:nvPr>
        </p:nvSpPr>
        <p:spPr>
          <a:xfrm>
            <a:off x="609600" y="5923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73" name="Rectangle 71"/>
          <p:cNvSpPr/>
          <p:nvPr/>
        </p:nvSpPr>
        <p:spPr>
          <a:xfrm>
            <a:off x="2804122" y="5626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 35"/>
          <p:cNvSpPr>
            <a:spLocks noGrp="1"/>
          </p:cNvSpPr>
          <p:nvPr>
            <p:ph type="body" idx="54"/>
          </p:nvPr>
        </p:nvSpPr>
        <p:spPr>
          <a:xfrm>
            <a:off x="2804122" y="5923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75" name="Rectangle 73"/>
          <p:cNvSpPr/>
          <p:nvPr/>
        </p:nvSpPr>
        <p:spPr>
          <a:xfrm>
            <a:off x="4998644" y="5626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 36"/>
          <p:cNvSpPr>
            <a:spLocks noGrp="1"/>
          </p:cNvSpPr>
          <p:nvPr>
            <p:ph type="body" idx="55"/>
          </p:nvPr>
        </p:nvSpPr>
        <p:spPr>
          <a:xfrm>
            <a:off x="4998644" y="5923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77" name="Rectangle 75"/>
          <p:cNvSpPr/>
          <p:nvPr/>
        </p:nvSpPr>
        <p:spPr>
          <a:xfrm>
            <a:off x="7193159" y="5626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 37"/>
          <p:cNvSpPr>
            <a:spLocks noGrp="1"/>
          </p:cNvSpPr>
          <p:nvPr>
            <p:ph type="body" idx="56"/>
          </p:nvPr>
        </p:nvSpPr>
        <p:spPr>
          <a:xfrm>
            <a:off x="7193159" y="5923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79" name="Rectangle 77"/>
          <p:cNvSpPr/>
          <p:nvPr/>
        </p:nvSpPr>
        <p:spPr>
          <a:xfrm>
            <a:off x="9387681" y="5626100"/>
            <a:ext cx="2194719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 38"/>
          <p:cNvSpPr>
            <a:spLocks noGrp="1"/>
          </p:cNvSpPr>
          <p:nvPr>
            <p:ph type="body" idx="57"/>
          </p:nvPr>
        </p:nvSpPr>
        <p:spPr>
          <a:xfrm>
            <a:off x="9387681" y="59236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>
            <a:lvl1pPr algn="l">
              <a:buNone/>
              <a:def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82" name="Text 39"/>
          <p:cNvSpPr>
            <a:spLocks noGrp="1"/>
          </p:cNvSpPr>
          <p:nvPr>
            <p:ph type="body" idx="58"/>
          </p:nvPr>
        </p:nvSpPr>
        <p:spPr>
          <a:xfrm>
            <a:off x="11270456" y="6429375"/>
            <a:ext cx="3119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TABLE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Full-bleed image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6"/>
          <p:cNvSpPr/>
          <p:nvPr/>
        </p:nvSpPr>
        <p:spPr>
          <a:xfrm>
            <a:off x="609600" y="381000"/>
            <a:ext cx="23544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3544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16</a:t>
            </a:r>
          </a:p>
        </p:txBody>
      </p:sp>
      <p:sp>
        <p:nvSpPr>
          <p:cNvPr id="10" name="Text 2"/>
          <p:cNvSpPr>
            <a:spLocks noGrp="1"/>
          </p:cNvSpPr>
          <p:nvPr>
            <p:ph type="body" idx="21"/>
          </p:nvPr>
        </p:nvSpPr>
        <p:spPr>
          <a:xfrm>
            <a:off x="946645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pic>
        <p:nvPicPr>
          <p:cNvPr id="11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pic>
        <p:nvPicPr>
          <p:cNvPr id="12" name="Picture 10" descr="cover-site.jpg"/>
          <p:cNvPicPr>
            <a:picLocks noChangeAspect="1"/>
          </p:cNvPicPr>
          <p:nvPr/>
        </p:nvPicPr>
        <p:blipFill>
          <a:blip r:embed="rId3"/>
          <a:srcRect t="20848" b="2084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Rectangle 11"/>
          <p:cNvSpPr/>
          <p:nvPr/>
        </p:nvSpPr>
        <p:spPr>
          <a:xfrm>
            <a:off x="0" y="0"/>
            <a:ext cx="4826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itle"/>
          <p:cNvSpPr>
            <a:spLocks noGrp="1"/>
          </p:cNvSpPr>
          <p:nvPr>
            <p:ph type="title"/>
          </p:nvPr>
        </p:nvSpPr>
        <p:spPr>
          <a:xfrm>
            <a:off x="609600" y="4898034"/>
            <a:ext cx="3810000" cy="7545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>
            <a:lvl1pPr algn="l">
              <a:lnSpc>
                <a:spcPts val="2592"/>
              </a:lnSpc>
              <a:buNone/>
              <a:defRPr sz="2400" b="0" i="0" spc="-60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>
              <a:lnSpc>
                <a:spcPts val="2592"/>
              </a:lnSpc>
            </a:pPr>
            <a:r>
              <a:rPr sz="2400" b="0" i="0" spc="-60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One line over the photograph.</a:t>
            </a:r>
          </a:p>
        </p:txBody>
      </p:sp>
      <p:sp>
        <p:nvSpPr>
          <p:cNvPr id="15" name="Text 3"/>
          <p:cNvSpPr>
            <a:spLocks noGrp="1"/>
          </p:cNvSpPr>
          <p:nvPr>
            <p:ph type="body" idx="22"/>
          </p:nvPr>
        </p:nvSpPr>
        <p:spPr>
          <a:xfrm>
            <a:off x="609600" y="5746750"/>
            <a:ext cx="38100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00" b="0" i="0">
                <a:solidFill>
                  <a:srgbClr val="E7EBF0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90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A sentence under it, if the line needs support. Otherwise leave it out.</a:t>
            </a:r>
          </a:p>
        </p:txBody>
      </p:sp>
      <p:sp>
        <p:nvSpPr>
          <p:cNvPr id="17" name="Text 4"/>
          <p:cNvSpPr>
            <a:spLocks noGrp="1"/>
          </p:cNvSpPr>
          <p:nvPr>
            <p:ph type="body" idx="23"/>
          </p:nvPr>
        </p:nvSpPr>
        <p:spPr>
          <a:xfrm>
            <a:off x="10590905" y="6429375"/>
            <a:ext cx="99149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FULL-BLEED IMAGE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Closing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6"/>
          <p:cNvSpPr/>
          <p:nvPr/>
        </p:nvSpPr>
        <p:spPr>
          <a:xfrm>
            <a:off x="609600" y="381000"/>
            <a:ext cx="23346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3346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17</a:t>
            </a:r>
          </a:p>
        </p:txBody>
      </p:sp>
      <p:sp>
        <p:nvSpPr>
          <p:cNvPr id="10" name="Text 2"/>
          <p:cNvSpPr>
            <a:spLocks noGrp="1"/>
          </p:cNvSpPr>
          <p:nvPr>
            <p:ph type="body" idx="21"/>
          </p:nvPr>
        </p:nvSpPr>
        <p:spPr>
          <a:xfrm>
            <a:off x="944664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pic>
        <p:nvPicPr>
          <p:cNvPr id="11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12" name="Title"/>
          <p:cNvSpPr>
            <a:spLocks noGrp="1"/>
          </p:cNvSpPr>
          <p:nvPr>
            <p:ph type="title"/>
          </p:nvPr>
        </p:nvSpPr>
        <p:spPr>
          <a:xfrm>
            <a:off x="609600" y="3014662"/>
            <a:ext cx="6985000" cy="584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3300" b="0" i="0" spc="-99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3300" b="0" i="0" spc="-99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The closing line, six words or fewer.</a:t>
            </a:r>
          </a:p>
        </p:txBody>
      </p:sp>
      <p:sp>
        <p:nvSpPr>
          <p:cNvPr id="13" name="Text 3"/>
          <p:cNvSpPr>
            <a:spLocks noGrp="1"/>
          </p:cNvSpPr>
          <p:nvPr>
            <p:ph type="body" idx="22"/>
          </p:nvPr>
        </p:nvSpPr>
        <p:spPr>
          <a:xfrm>
            <a:off x="609600" y="3715048"/>
            <a:ext cx="45720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00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10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sentence saying what you want to happen next.</a:t>
            </a:r>
          </a:p>
        </p:txBody>
      </p:sp>
      <p:sp>
        <p:nvSpPr>
          <p:cNvPr id="14" name="Text 4"/>
          <p:cNvSpPr>
            <a:spLocks noGrp="1"/>
          </p:cNvSpPr>
          <p:nvPr>
            <p:ph type="body" idx="23"/>
          </p:nvPr>
        </p:nvSpPr>
        <p:spPr>
          <a:xfrm>
            <a:off x="609600" y="4140498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15" name="Text 5"/>
          <p:cNvSpPr>
            <a:spLocks noGrp="1"/>
          </p:cNvSpPr>
          <p:nvPr>
            <p:ph type="body" idx="24"/>
          </p:nvPr>
        </p:nvSpPr>
        <p:spPr>
          <a:xfrm>
            <a:off x="1701800" y="4096048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The detail</a:t>
            </a:r>
          </a:p>
        </p:txBody>
      </p:sp>
      <p:sp>
        <p:nvSpPr>
          <p:cNvPr id="16" name="Text 6"/>
          <p:cNvSpPr>
            <a:spLocks noGrp="1"/>
          </p:cNvSpPr>
          <p:nvPr>
            <p:ph type="body" idx="25"/>
          </p:nvPr>
        </p:nvSpPr>
        <p:spPr>
          <a:xfrm>
            <a:off x="609600" y="4380509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17" name="Text 7"/>
          <p:cNvSpPr>
            <a:spLocks noGrp="1"/>
          </p:cNvSpPr>
          <p:nvPr>
            <p:ph type="body" idx="26"/>
          </p:nvPr>
        </p:nvSpPr>
        <p:spPr>
          <a:xfrm>
            <a:off x="1701800" y="4336059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The detail</a:t>
            </a:r>
          </a:p>
        </p:txBody>
      </p:sp>
      <p:sp>
        <p:nvSpPr>
          <p:cNvPr id="18" name="Text 8"/>
          <p:cNvSpPr>
            <a:spLocks noGrp="1"/>
          </p:cNvSpPr>
          <p:nvPr>
            <p:ph type="body" idx="27"/>
          </p:nvPr>
        </p:nvSpPr>
        <p:spPr>
          <a:xfrm>
            <a:off x="609600" y="4620520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19" name="Text 9"/>
          <p:cNvSpPr>
            <a:spLocks noGrp="1"/>
          </p:cNvSpPr>
          <p:nvPr>
            <p:ph type="body" idx="28"/>
          </p:nvPr>
        </p:nvSpPr>
        <p:spPr>
          <a:xfrm>
            <a:off x="1701800" y="4576070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The detail</a:t>
            </a:r>
          </a:p>
        </p:txBody>
      </p:sp>
      <p:sp>
        <p:nvSpPr>
          <p:cNvPr id="20" name="Text 10"/>
          <p:cNvSpPr>
            <a:spLocks noGrp="1"/>
          </p:cNvSpPr>
          <p:nvPr>
            <p:ph type="body" idx="29"/>
          </p:nvPr>
        </p:nvSpPr>
        <p:spPr>
          <a:xfrm>
            <a:off x="609600" y="4860531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21" name="Text 11"/>
          <p:cNvSpPr>
            <a:spLocks noGrp="1"/>
          </p:cNvSpPr>
          <p:nvPr>
            <p:ph type="body" idx="30"/>
          </p:nvPr>
        </p:nvSpPr>
        <p:spPr>
          <a:xfrm>
            <a:off x="1701800" y="4816081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The detail</a:t>
            </a:r>
          </a:p>
        </p:txBody>
      </p:sp>
      <p:sp>
        <p:nvSpPr>
          <p:cNvPr id="23" name="Text 12"/>
          <p:cNvSpPr>
            <a:spLocks noGrp="1"/>
          </p:cNvSpPr>
          <p:nvPr>
            <p:ph type="body" idx="31"/>
          </p:nvPr>
        </p:nvSpPr>
        <p:spPr>
          <a:xfrm>
            <a:off x="11111313" y="6429375"/>
            <a:ext cx="47109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CLOSING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Agenda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609600" y="381000"/>
            <a:ext cx="23535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3535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18</a:t>
            </a:r>
          </a:p>
        </p:txBody>
      </p:sp>
      <p:sp>
        <p:nvSpPr>
          <p:cNvPr id="6" name="Text 2"/>
          <p:cNvSpPr>
            <a:spLocks noGrp="1"/>
          </p:cNvSpPr>
          <p:nvPr>
            <p:ph type="body" idx="21"/>
          </p:nvPr>
        </p:nvSpPr>
        <p:spPr>
          <a:xfrm>
            <a:off x="946550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7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8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10" name="Text 3"/>
          <p:cNvSpPr>
            <a:spLocks noGrp="1"/>
          </p:cNvSpPr>
          <p:nvPr>
            <p:ph type="body" idx="22"/>
          </p:nvPr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1" name="Text 4"/>
          <p:cNvSpPr>
            <a:spLocks noGrp="1"/>
          </p:cNvSpPr>
          <p:nvPr>
            <p:ph type="body" idx="23"/>
          </p:nvPr>
        </p:nvSpPr>
        <p:spPr>
          <a:xfrm>
            <a:off x="609600" y="1631950"/>
            <a:ext cx="3547466" cy="463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2600" b="1" i="0" spc="-104">
                <a:solidFill>
                  <a:srgbClr val="64707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l"/>
            <a:r>
              <a:rPr sz="2600" b="1" i="0" spc="-104">
                <a:solidFill>
                  <a:srgbClr val="64707A"/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12" name="Rectangle 10"/>
          <p:cNvSpPr/>
          <p:nvPr/>
        </p:nvSpPr>
        <p:spPr>
          <a:xfrm>
            <a:off x="609600" y="2397722"/>
            <a:ext cx="3547466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 5"/>
          <p:cNvSpPr>
            <a:spLocks noGrp="1"/>
          </p:cNvSpPr>
          <p:nvPr>
            <p:ph type="body" idx="24"/>
          </p:nvPr>
        </p:nvSpPr>
        <p:spPr>
          <a:xfrm>
            <a:off x="609600" y="2114550"/>
            <a:ext cx="3547466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200" b="0" i="0" spc="-2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200" b="0" i="0" spc="-2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14" name="Text 6"/>
          <p:cNvSpPr>
            <a:spLocks noGrp="1"/>
          </p:cNvSpPr>
          <p:nvPr>
            <p:ph type="body" idx="25"/>
          </p:nvPr>
        </p:nvSpPr>
        <p:spPr>
          <a:xfrm>
            <a:off x="609600" y="2562822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01.1</a:t>
            </a:r>
          </a:p>
        </p:txBody>
      </p:sp>
      <p:sp>
        <p:nvSpPr>
          <p:cNvPr id="15" name="Text 7"/>
          <p:cNvSpPr>
            <a:spLocks noGrp="1"/>
          </p:cNvSpPr>
          <p:nvPr>
            <p:ph type="body" idx="26"/>
          </p:nvPr>
        </p:nvSpPr>
        <p:spPr>
          <a:xfrm>
            <a:off x="977900" y="2518372"/>
            <a:ext cx="3179166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defRPr>
            </a:lvl1pPr>
          </a:lstStyle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16" name="Text 8"/>
          <p:cNvSpPr>
            <a:spLocks noGrp="1"/>
          </p:cNvSpPr>
          <p:nvPr>
            <p:ph type="body" idx="27"/>
          </p:nvPr>
        </p:nvSpPr>
        <p:spPr>
          <a:xfrm>
            <a:off x="609600" y="277931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01.2</a:t>
            </a:r>
          </a:p>
        </p:txBody>
      </p:sp>
      <p:sp>
        <p:nvSpPr>
          <p:cNvPr id="17" name="Text 9"/>
          <p:cNvSpPr>
            <a:spLocks noGrp="1"/>
          </p:cNvSpPr>
          <p:nvPr>
            <p:ph type="body" idx="28"/>
          </p:nvPr>
        </p:nvSpPr>
        <p:spPr>
          <a:xfrm>
            <a:off x="977900" y="2734869"/>
            <a:ext cx="3179166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defRPr>
            </a:lvl1pPr>
          </a:lstStyle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18" name="Text 10"/>
          <p:cNvSpPr>
            <a:spLocks noGrp="1"/>
          </p:cNvSpPr>
          <p:nvPr>
            <p:ph type="body" idx="29"/>
          </p:nvPr>
        </p:nvSpPr>
        <p:spPr>
          <a:xfrm>
            <a:off x="609600" y="299580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01.3</a:t>
            </a:r>
          </a:p>
        </p:txBody>
      </p:sp>
      <p:sp>
        <p:nvSpPr>
          <p:cNvPr id="19" name="Text 11"/>
          <p:cNvSpPr>
            <a:spLocks noGrp="1"/>
          </p:cNvSpPr>
          <p:nvPr>
            <p:ph type="body" idx="30"/>
          </p:nvPr>
        </p:nvSpPr>
        <p:spPr>
          <a:xfrm>
            <a:off x="977900" y="2951359"/>
            <a:ext cx="3179166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defRPr>
            </a:lvl1pPr>
          </a:lstStyle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20" name="Text 12"/>
          <p:cNvSpPr>
            <a:spLocks noGrp="1"/>
          </p:cNvSpPr>
          <p:nvPr>
            <p:ph type="body" idx="31"/>
          </p:nvPr>
        </p:nvSpPr>
        <p:spPr>
          <a:xfrm>
            <a:off x="609600" y="3212306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01.4</a:t>
            </a:r>
          </a:p>
        </p:txBody>
      </p:sp>
      <p:sp>
        <p:nvSpPr>
          <p:cNvPr id="21" name="Text 13"/>
          <p:cNvSpPr>
            <a:spLocks noGrp="1"/>
          </p:cNvSpPr>
          <p:nvPr>
            <p:ph type="body" idx="32"/>
          </p:nvPr>
        </p:nvSpPr>
        <p:spPr>
          <a:xfrm>
            <a:off x="977900" y="3167856"/>
            <a:ext cx="3179166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defRPr>
            </a:lvl1pPr>
          </a:lstStyle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22" name="Text 14"/>
          <p:cNvSpPr>
            <a:spLocks noGrp="1"/>
          </p:cNvSpPr>
          <p:nvPr>
            <p:ph type="body" idx="33"/>
          </p:nvPr>
        </p:nvSpPr>
        <p:spPr>
          <a:xfrm>
            <a:off x="4322166" y="1631950"/>
            <a:ext cx="3547567" cy="463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2600" b="1" i="0" spc="-104">
                <a:solidFill>
                  <a:srgbClr val="64707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l"/>
            <a:r>
              <a:rPr sz="2600" b="1" i="0" spc="-104">
                <a:solidFill>
                  <a:srgbClr val="64707A"/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23" name="Rectangle 21"/>
          <p:cNvSpPr/>
          <p:nvPr/>
        </p:nvSpPr>
        <p:spPr>
          <a:xfrm>
            <a:off x="4322166" y="2397722"/>
            <a:ext cx="3547567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 15"/>
          <p:cNvSpPr>
            <a:spLocks noGrp="1"/>
          </p:cNvSpPr>
          <p:nvPr>
            <p:ph type="body" idx="34"/>
          </p:nvPr>
        </p:nvSpPr>
        <p:spPr>
          <a:xfrm>
            <a:off x="4322166" y="2114550"/>
            <a:ext cx="3547567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200" b="0" i="0" spc="-2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200" b="0" i="0" spc="-2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25" name="Text 16"/>
          <p:cNvSpPr>
            <a:spLocks noGrp="1"/>
          </p:cNvSpPr>
          <p:nvPr>
            <p:ph type="body" idx="35"/>
          </p:nvPr>
        </p:nvSpPr>
        <p:spPr>
          <a:xfrm>
            <a:off x="4322166" y="2562822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02.1</a:t>
            </a:r>
          </a:p>
        </p:txBody>
      </p:sp>
      <p:sp>
        <p:nvSpPr>
          <p:cNvPr id="26" name="Text 17"/>
          <p:cNvSpPr>
            <a:spLocks noGrp="1"/>
          </p:cNvSpPr>
          <p:nvPr>
            <p:ph type="body" idx="36"/>
          </p:nvPr>
        </p:nvSpPr>
        <p:spPr>
          <a:xfrm>
            <a:off x="4690466" y="2518372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defRPr>
            </a:lvl1pPr>
          </a:lstStyle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27" name="Text 18"/>
          <p:cNvSpPr>
            <a:spLocks noGrp="1"/>
          </p:cNvSpPr>
          <p:nvPr>
            <p:ph type="body" idx="37"/>
          </p:nvPr>
        </p:nvSpPr>
        <p:spPr>
          <a:xfrm>
            <a:off x="4322166" y="277931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02.2</a:t>
            </a:r>
          </a:p>
        </p:txBody>
      </p:sp>
      <p:sp>
        <p:nvSpPr>
          <p:cNvPr id="28" name="Text 19"/>
          <p:cNvSpPr>
            <a:spLocks noGrp="1"/>
          </p:cNvSpPr>
          <p:nvPr>
            <p:ph type="body" idx="38"/>
          </p:nvPr>
        </p:nvSpPr>
        <p:spPr>
          <a:xfrm>
            <a:off x="4690466" y="2734869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defRPr>
            </a:lvl1pPr>
          </a:lstStyle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29" name="Text 20"/>
          <p:cNvSpPr>
            <a:spLocks noGrp="1"/>
          </p:cNvSpPr>
          <p:nvPr>
            <p:ph type="body" idx="39"/>
          </p:nvPr>
        </p:nvSpPr>
        <p:spPr>
          <a:xfrm>
            <a:off x="4322166" y="299580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02.3</a:t>
            </a:r>
          </a:p>
        </p:txBody>
      </p:sp>
      <p:sp>
        <p:nvSpPr>
          <p:cNvPr id="30" name="Text 21"/>
          <p:cNvSpPr>
            <a:spLocks noGrp="1"/>
          </p:cNvSpPr>
          <p:nvPr>
            <p:ph type="body" idx="40"/>
          </p:nvPr>
        </p:nvSpPr>
        <p:spPr>
          <a:xfrm>
            <a:off x="4690466" y="2951359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defRPr>
            </a:lvl1pPr>
          </a:lstStyle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31" name="Text 22"/>
          <p:cNvSpPr>
            <a:spLocks noGrp="1"/>
          </p:cNvSpPr>
          <p:nvPr>
            <p:ph type="body" idx="41"/>
          </p:nvPr>
        </p:nvSpPr>
        <p:spPr>
          <a:xfrm>
            <a:off x="4322166" y="3212306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02.4</a:t>
            </a:r>
          </a:p>
        </p:txBody>
      </p:sp>
      <p:sp>
        <p:nvSpPr>
          <p:cNvPr id="32" name="Text 23"/>
          <p:cNvSpPr>
            <a:spLocks noGrp="1"/>
          </p:cNvSpPr>
          <p:nvPr>
            <p:ph type="body" idx="42"/>
          </p:nvPr>
        </p:nvSpPr>
        <p:spPr>
          <a:xfrm>
            <a:off x="4690466" y="3167856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defRPr>
            </a:lvl1pPr>
          </a:lstStyle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33" name="Text 24"/>
          <p:cNvSpPr>
            <a:spLocks noGrp="1"/>
          </p:cNvSpPr>
          <p:nvPr>
            <p:ph type="body" idx="43"/>
          </p:nvPr>
        </p:nvSpPr>
        <p:spPr>
          <a:xfrm>
            <a:off x="8034833" y="1631950"/>
            <a:ext cx="3547567" cy="463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2600" b="1" i="0" spc="-104">
                <a:solidFill>
                  <a:srgbClr val="64707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l"/>
            <a:r>
              <a:rPr sz="2600" b="1" i="0" spc="-104">
                <a:solidFill>
                  <a:srgbClr val="64707A"/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34" name="Rectangle 32"/>
          <p:cNvSpPr/>
          <p:nvPr/>
        </p:nvSpPr>
        <p:spPr>
          <a:xfrm>
            <a:off x="8034833" y="2397722"/>
            <a:ext cx="3547567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 25"/>
          <p:cNvSpPr>
            <a:spLocks noGrp="1"/>
          </p:cNvSpPr>
          <p:nvPr>
            <p:ph type="body" idx="44"/>
          </p:nvPr>
        </p:nvSpPr>
        <p:spPr>
          <a:xfrm>
            <a:off x="8034833" y="2114550"/>
            <a:ext cx="3547567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200" b="0" i="0" spc="-2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200" b="0" i="0" spc="-2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36" name="Text 26"/>
          <p:cNvSpPr>
            <a:spLocks noGrp="1"/>
          </p:cNvSpPr>
          <p:nvPr>
            <p:ph type="body" idx="45"/>
          </p:nvPr>
        </p:nvSpPr>
        <p:spPr>
          <a:xfrm>
            <a:off x="8034833" y="2562822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03.1</a:t>
            </a:r>
          </a:p>
        </p:txBody>
      </p:sp>
      <p:sp>
        <p:nvSpPr>
          <p:cNvPr id="37" name="Text 27"/>
          <p:cNvSpPr>
            <a:spLocks noGrp="1"/>
          </p:cNvSpPr>
          <p:nvPr>
            <p:ph type="body" idx="46"/>
          </p:nvPr>
        </p:nvSpPr>
        <p:spPr>
          <a:xfrm>
            <a:off x="8403133" y="2518372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defRPr>
            </a:lvl1pPr>
          </a:lstStyle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38" name="Text 28"/>
          <p:cNvSpPr>
            <a:spLocks noGrp="1"/>
          </p:cNvSpPr>
          <p:nvPr>
            <p:ph type="body" idx="47"/>
          </p:nvPr>
        </p:nvSpPr>
        <p:spPr>
          <a:xfrm>
            <a:off x="8034833" y="277931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03.2</a:t>
            </a:r>
          </a:p>
        </p:txBody>
      </p:sp>
      <p:sp>
        <p:nvSpPr>
          <p:cNvPr id="39" name="Text 29"/>
          <p:cNvSpPr>
            <a:spLocks noGrp="1"/>
          </p:cNvSpPr>
          <p:nvPr>
            <p:ph type="body" idx="48"/>
          </p:nvPr>
        </p:nvSpPr>
        <p:spPr>
          <a:xfrm>
            <a:off x="8403133" y="2734869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defRPr>
            </a:lvl1pPr>
          </a:lstStyle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40" name="Text 30"/>
          <p:cNvSpPr>
            <a:spLocks noGrp="1"/>
          </p:cNvSpPr>
          <p:nvPr>
            <p:ph type="body" idx="49"/>
          </p:nvPr>
        </p:nvSpPr>
        <p:spPr>
          <a:xfrm>
            <a:off x="8034833" y="299580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03.3</a:t>
            </a:r>
          </a:p>
        </p:txBody>
      </p:sp>
      <p:sp>
        <p:nvSpPr>
          <p:cNvPr id="41" name="Text 31"/>
          <p:cNvSpPr>
            <a:spLocks noGrp="1"/>
          </p:cNvSpPr>
          <p:nvPr>
            <p:ph type="body" idx="50"/>
          </p:nvPr>
        </p:nvSpPr>
        <p:spPr>
          <a:xfrm>
            <a:off x="8403133" y="2951359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defRPr>
            </a:lvl1pPr>
          </a:lstStyle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42" name="Text 32"/>
          <p:cNvSpPr>
            <a:spLocks noGrp="1"/>
          </p:cNvSpPr>
          <p:nvPr>
            <p:ph type="body" idx="51"/>
          </p:nvPr>
        </p:nvSpPr>
        <p:spPr>
          <a:xfrm>
            <a:off x="8034833" y="3212306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03.4</a:t>
            </a:r>
          </a:p>
        </p:txBody>
      </p:sp>
      <p:sp>
        <p:nvSpPr>
          <p:cNvPr id="43" name="Text 33"/>
          <p:cNvSpPr>
            <a:spLocks noGrp="1"/>
          </p:cNvSpPr>
          <p:nvPr>
            <p:ph type="body" idx="52"/>
          </p:nvPr>
        </p:nvSpPr>
        <p:spPr>
          <a:xfrm>
            <a:off x="8403133" y="3167856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defRPr>
            </a:lvl1pPr>
          </a:lstStyle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45" name="Text 34"/>
          <p:cNvSpPr>
            <a:spLocks noGrp="1"/>
          </p:cNvSpPr>
          <p:nvPr>
            <p:ph type="body" idx="53"/>
          </p:nvPr>
        </p:nvSpPr>
        <p:spPr>
          <a:xfrm>
            <a:off x="11154969" y="6429375"/>
            <a:ext cx="4274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AGENDA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Quote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609600" y="381000"/>
            <a:ext cx="23544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3544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19</a:t>
            </a:r>
          </a:p>
        </p:txBody>
      </p:sp>
      <p:sp>
        <p:nvSpPr>
          <p:cNvPr id="6" name="Text 2"/>
          <p:cNvSpPr>
            <a:spLocks noGrp="1"/>
          </p:cNvSpPr>
          <p:nvPr>
            <p:ph type="body" idx="21"/>
          </p:nvPr>
        </p:nvSpPr>
        <p:spPr>
          <a:xfrm>
            <a:off x="946645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7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8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10" name="Text 3"/>
          <p:cNvSpPr>
            <a:spLocks noGrp="1"/>
          </p:cNvSpPr>
          <p:nvPr>
            <p:ph type="body" idx="22"/>
          </p:nvPr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1" name="Text 4"/>
          <p:cNvSpPr>
            <a:spLocks noGrp="1"/>
          </p:cNvSpPr>
          <p:nvPr>
            <p:ph type="body" idx="23"/>
          </p:nvPr>
        </p:nvSpPr>
        <p:spPr>
          <a:xfrm>
            <a:off x="609600" y="2946400"/>
            <a:ext cx="7112000" cy="806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4500" b="1" i="0">
                <a:solidFill>
                  <a:srgbClr val="64707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l"/>
            <a:r>
              <a:rPr sz="4500" b="1" i="0">
                <a:solidFill>
                  <a:srgbClr val="64707A"/>
                </a:solidFill>
                <a:latin typeface="Poppins"/>
                <a:ea typeface="Poppins"/>
                <a:cs typeface="Poppins"/>
              </a:rPr>
              <a:t>“</a:t>
            </a:r>
          </a:p>
        </p:txBody>
      </p:sp>
      <p:sp>
        <p:nvSpPr>
          <p:cNvPr id="12" name="Text 5"/>
          <p:cNvSpPr>
            <a:spLocks noGrp="1"/>
          </p:cNvSpPr>
          <p:nvPr>
            <p:ph type="body" idx="24"/>
          </p:nvPr>
        </p:nvSpPr>
        <p:spPr>
          <a:xfrm>
            <a:off x="609600" y="3683000"/>
            <a:ext cx="7112000" cy="6381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>
            <a:lvl1pPr algn="l">
              <a:lnSpc>
                <a:spcPts val="2375"/>
              </a:lnSpc>
              <a:buNone/>
              <a:defRPr sz="1900" b="0" i="0" spc="-38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>
              <a:lnSpc>
                <a:spcPts val="2375"/>
              </a:lnSpc>
            </a:pPr>
            <a:r>
              <a:rPr sz="1900" b="0" i="0" spc="-38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The quotation, two lines at most. Cut it back until only the part worth repeating is left.</a:t>
            </a:r>
          </a:p>
        </p:txBody>
      </p:sp>
      <p:sp>
        <p:nvSpPr>
          <p:cNvPr id="13" name="Rectangle 11"/>
          <p:cNvSpPr/>
          <p:nvPr/>
        </p:nvSpPr>
        <p:spPr>
          <a:xfrm>
            <a:off x="609600" y="4483100"/>
            <a:ext cx="7112000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 6"/>
          <p:cNvSpPr>
            <a:spLocks noGrp="1"/>
          </p:cNvSpPr>
          <p:nvPr>
            <p:ph type="body" idx="25"/>
          </p:nvPr>
        </p:nvSpPr>
        <p:spPr>
          <a:xfrm>
            <a:off x="609600" y="4622800"/>
            <a:ext cx="71120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00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defRPr>
            </a:lvl1pPr>
          </a:lstStyle>
          <a:p>
            <a:pPr algn="l"/>
            <a:r>
              <a:rPr sz="900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Name of the person</a:t>
            </a:r>
          </a:p>
        </p:txBody>
      </p:sp>
      <p:sp>
        <p:nvSpPr>
          <p:cNvPr id="15" name="Text 7"/>
          <p:cNvSpPr>
            <a:spLocks noGrp="1"/>
          </p:cNvSpPr>
          <p:nvPr>
            <p:ph type="body" idx="26"/>
          </p:nvPr>
        </p:nvSpPr>
        <p:spPr>
          <a:xfrm>
            <a:off x="609600" y="4794250"/>
            <a:ext cx="71120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20" b="0" i="0" spc="125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25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 · ORGANISATION</a:t>
            </a:r>
          </a:p>
        </p:txBody>
      </p:sp>
      <p:sp>
        <p:nvSpPr>
          <p:cNvPr id="16" name="Rectangle 14"/>
          <p:cNvSpPr/>
          <p:nvPr/>
        </p:nvSpPr>
        <p:spPr>
          <a:xfrm>
            <a:off x="8026400" y="1701800"/>
            <a:ext cx="35560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5" descr="refs-crew.jpg"/>
          <p:cNvPicPr>
            <a:picLocks noChangeAspect="1"/>
          </p:cNvPicPr>
          <p:nvPr/>
        </p:nvPicPr>
        <p:blipFill>
          <a:blip r:embed="rId3"/>
          <a:srcRect l="5883" r="5883"/>
          <a:stretch>
            <a:fillRect/>
          </a:stretch>
        </p:blipFill>
        <p:spPr>
          <a:xfrm>
            <a:off x="8026400" y="1701800"/>
            <a:ext cx="3556000" cy="4648200"/>
          </a:xfrm>
          <a:prstGeom prst="rect">
            <a:avLst/>
          </a:prstGeom>
        </p:spPr>
      </p:pic>
      <p:sp>
        <p:nvSpPr>
          <p:cNvPr id="19" name="Text 8"/>
          <p:cNvSpPr>
            <a:spLocks noGrp="1"/>
          </p:cNvSpPr>
          <p:nvPr>
            <p:ph type="body" idx="27"/>
          </p:nvPr>
        </p:nvSpPr>
        <p:spPr>
          <a:xfrm>
            <a:off x="11226902" y="6429375"/>
            <a:ext cx="35549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QUOTE</a:t>
            </a: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AQ · Before and after">
    <p:spTree>
      <p:nvGrpSpPr>
        <p:cNvPr id="1" name=""/>
        <p:cNvGrpSpPr/>
        <p:nvPr/>
      </p:nvGrpSpPr>
      <p:grpSpPr>
        <a:xfrm>
          <a:off x="0" y="0"/>
          <a:chOff x="0" y="0"/>
          <a:ext cx="0" cy="0"/>
          <a:chExt cx="0" cy="0"/>
        </a:xfrm>
      </p:grpSpPr>
      <p:sp>
        <p:nvSpPr>
          <p:cNvPr id="3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2"/>
          <p:cNvSpPr/>
          <p:nvPr/>
        </p:nvSpPr>
        <p:spPr>
          <a:xfrm>
            <a:off x="609600" y="381000"/>
            <a:ext cx="25965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 1"/>
          <p:cNvSpPr>
            <a:spLocks noGrp="1"/>
          </p:cNvSpPr>
          <p:nvPr>
            <p:ph type="body" idx="20"/>
          </p:nvPr>
        </p:nvSpPr>
        <p:spPr>
          <a:xfrm>
            <a:off x="609600" y="425450"/>
            <a:ext cx="25965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>
            <a:lvl1pPr algn="l">
              <a:buNone/>
              <a:def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20</a:t>
            </a:r>
          </a:p>
        </p:txBody>
      </p:sp>
      <p:sp>
        <p:nvSpPr>
          <p:cNvPr id="6" name="Text 2"/>
          <p:cNvSpPr>
            <a:spLocks noGrp="1"/>
          </p:cNvSpPr>
          <p:nvPr>
            <p:ph type="body" idx="21"/>
          </p:nvPr>
        </p:nvSpPr>
        <p:spPr>
          <a:xfrm>
            <a:off x="970858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7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8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itle"/>
          <p:cNvSpPr>
            <a:spLocks noGrp="1"/>
          </p:cNvSpPr>
          <p:nvPr>
            <p:ph type="title"/>
          </p:nvPr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10" name="Text 3"/>
          <p:cNvSpPr>
            <a:spLocks noGrp="1"/>
          </p:cNvSpPr>
          <p:nvPr>
            <p:ph type="body" idx="22"/>
          </p:nvPr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1" name="Rectangle 9"/>
          <p:cNvSpPr/>
          <p:nvPr/>
        </p:nvSpPr>
        <p:spPr>
          <a:xfrm>
            <a:off x="609600" y="1701800"/>
            <a:ext cx="5403850" cy="41746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0"/>
          <p:cNvSpPr/>
          <p:nvPr/>
        </p:nvSpPr>
        <p:spPr>
          <a:xfrm>
            <a:off x="609600" y="1701800"/>
            <a:ext cx="567830" cy="1905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 4"/>
          <p:cNvSpPr>
            <a:spLocks noGrp="1"/>
          </p:cNvSpPr>
          <p:nvPr>
            <p:ph type="body" idx="23"/>
          </p:nvPr>
        </p:nvSpPr>
        <p:spPr>
          <a:xfrm>
            <a:off x="609600" y="1758950"/>
            <a:ext cx="567830" cy="76200"/>
          </a:xfrm>
          <a:prstGeom prst="rect">
            <a:avLst/>
          </a:prstGeom>
          <a:noFill/>
        </p:spPr>
        <p:txBody>
          <a:bodyPr wrap="none" lIns="101600" rIns="101600" tIns="0" bIns="0" anchor="ctr">
            <a:noAutofit/>
          </a:bodyPr>
          <a:lstStyle>
            <a:lvl1pPr algn="l">
              <a:buNone/>
              <a:defRPr sz="620" b="0" i="0" spc="125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25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BEFORE</a:t>
            </a:r>
          </a:p>
        </p:txBody>
      </p:sp>
      <p:pic>
        <p:nvPicPr>
          <p:cNvPr id="14" name="Picture 12" descr="about-facility.jpg"/>
          <p:cNvPicPr>
            <a:picLocks noChangeAspect="1"/>
          </p:cNvPicPr>
          <p:nvPr/>
        </p:nvPicPr>
        <p:blipFill>
          <a:blip r:embed="rId3"/>
          <a:srcRect l="17639" r="17639"/>
          <a:stretch>
            <a:fillRect/>
          </a:stretch>
        </p:blipFill>
        <p:spPr>
          <a:xfrm>
            <a:off x="609600" y="1701800"/>
            <a:ext cx="5403850" cy="4174630"/>
          </a:xfrm>
          <a:prstGeom prst="rect">
            <a:avLst/>
          </a:prstGeom>
        </p:spPr>
      </p:pic>
      <p:sp>
        <p:nvSpPr>
          <p:cNvPr id="15" name="Text 5"/>
          <p:cNvSpPr>
            <a:spLocks noGrp="1"/>
          </p:cNvSpPr>
          <p:nvPr>
            <p:ph type="body" idx="24"/>
          </p:nvPr>
        </p:nvSpPr>
        <p:spPr>
          <a:xfrm>
            <a:off x="609600" y="5971680"/>
            <a:ext cx="540385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What it was</a:t>
            </a:r>
          </a:p>
        </p:txBody>
      </p:sp>
      <p:sp>
        <p:nvSpPr>
          <p:cNvPr id="16" name="Text 6"/>
          <p:cNvSpPr>
            <a:spLocks noGrp="1"/>
          </p:cNvSpPr>
          <p:nvPr>
            <p:ph type="body" idx="25"/>
          </p:nvPr>
        </p:nvSpPr>
        <p:spPr>
          <a:xfrm>
            <a:off x="609600" y="6215463"/>
            <a:ext cx="5403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or two sentences on the state it started in.</a:t>
            </a:r>
          </a:p>
        </p:txBody>
      </p:sp>
      <p:sp>
        <p:nvSpPr>
          <p:cNvPr id="17" name="Rectangle 15"/>
          <p:cNvSpPr/>
          <p:nvPr/>
        </p:nvSpPr>
        <p:spPr>
          <a:xfrm>
            <a:off x="6178550" y="1701800"/>
            <a:ext cx="5403850" cy="41746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6"/>
          <p:cNvSpPr/>
          <p:nvPr/>
        </p:nvSpPr>
        <p:spPr>
          <a:xfrm>
            <a:off x="6178550" y="1701800"/>
            <a:ext cx="499370" cy="1905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 7"/>
          <p:cNvSpPr>
            <a:spLocks noGrp="1"/>
          </p:cNvSpPr>
          <p:nvPr>
            <p:ph type="body" idx="26"/>
          </p:nvPr>
        </p:nvSpPr>
        <p:spPr>
          <a:xfrm>
            <a:off x="6178550" y="1758950"/>
            <a:ext cx="499370" cy="76200"/>
          </a:xfrm>
          <a:prstGeom prst="rect">
            <a:avLst/>
          </a:prstGeom>
          <a:noFill/>
        </p:spPr>
        <p:txBody>
          <a:bodyPr wrap="none" lIns="101600" rIns="101600" tIns="0" bIns="0" anchor="ctr">
            <a:noAutofit/>
          </a:bodyPr>
          <a:lstStyle>
            <a:lvl1pPr algn="l">
              <a:buNone/>
              <a:defRPr sz="620" b="0" i="0" spc="125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defRPr>
            </a:lvl1pPr>
          </a:lstStyle>
          <a:p>
            <a:pPr algn="l"/>
            <a:r>
              <a:rPr sz="620" b="0" i="0" spc="125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AFTER</a:t>
            </a:r>
          </a:p>
        </p:txBody>
      </p:sp>
      <p:pic>
        <p:nvPicPr>
          <p:cNvPr id="20" name="Picture 18" descr="glance-cleanroom.jpg"/>
          <p:cNvPicPr>
            <a:picLocks noChangeAspect="1"/>
          </p:cNvPicPr>
          <p:nvPr/>
        </p:nvPicPr>
        <p:blipFill>
          <a:blip r:embed="rId4"/>
          <a:srcRect t="15233" b="15233"/>
          <a:stretch>
            <a:fillRect/>
          </a:stretch>
        </p:blipFill>
        <p:spPr>
          <a:xfrm>
            <a:off x="6178550" y="1701800"/>
            <a:ext cx="5403850" cy="4174630"/>
          </a:xfrm>
          <a:prstGeom prst="rect">
            <a:avLst/>
          </a:prstGeom>
        </p:spPr>
      </p:pic>
      <p:sp>
        <p:nvSpPr>
          <p:cNvPr id="21" name="Text 8"/>
          <p:cNvSpPr>
            <a:spLocks noGrp="1"/>
          </p:cNvSpPr>
          <p:nvPr>
            <p:ph type="body" idx="27"/>
          </p:nvPr>
        </p:nvSpPr>
        <p:spPr>
          <a:xfrm>
            <a:off x="6178550" y="5971680"/>
            <a:ext cx="540385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What it became</a:t>
            </a:r>
          </a:p>
        </p:txBody>
      </p:sp>
      <p:sp>
        <p:nvSpPr>
          <p:cNvPr id="22" name="Text 9"/>
          <p:cNvSpPr>
            <a:spLocks noGrp="1"/>
          </p:cNvSpPr>
          <p:nvPr>
            <p:ph type="body" idx="28"/>
          </p:nvPr>
        </p:nvSpPr>
        <p:spPr>
          <a:xfrm>
            <a:off x="6178550" y="6215463"/>
            <a:ext cx="5403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defRPr>
            </a:lvl1pPr>
          </a:lstStyle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or two sentences on the state it ended in.</a:t>
            </a:r>
          </a:p>
        </p:txBody>
      </p:sp>
      <p:sp>
        <p:nvSpPr>
          <p:cNvPr id="24" name="Text 10"/>
          <p:cNvSpPr>
            <a:spLocks noGrp="1"/>
          </p:cNvSpPr>
          <p:nvPr>
            <p:ph type="body" idx="29"/>
          </p:nvPr>
        </p:nvSpPr>
        <p:spPr>
          <a:xfrm>
            <a:off x="10569080" y="6429375"/>
            <a:ext cx="101332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defRPr>
            </a:lvl1pPr>
          </a:lstStyle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BEFORE AND AFTER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9" name="Slide Number"/>
          <p:cNvSpPr>
            <a:spLocks noGrp="1"/>
          </p:cNvSpPr>
          <p:nvPr>
            <p:ph type="sldNum" idx="12"/>
          </p:nvPr>
        </p:nvSpPr>
        <p:spPr>
          <a:xfrm>
            <a:off x="609600" y="6445250"/>
            <a:ext cx="1147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>
            <a:lvl1pPr algn="l">
              <a:buNone/>
              <a:def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defRPr>
            </a:lvl1pPr>
          </a:lstStyle>
          <a:p>
            <a:pPr algn="l"/>
            <a:fld id="{B7D3B2A1-4E6C-41E2-9B53-2A4C6E1F7A10}" type="slidenum">
              <a:rPr lang="en-GB"/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  <p:sldLayoutId id="2147483656" r:id="rId13"/>
    <p:sldLayoutId id="2147483657" r:id="rId14"/>
    <p:sldLayoutId id="2147483658" r:id="rId15"/>
    <p:sldLayoutId id="2147483659" r:id="rId16"/>
    <p:sldLayoutId id="2147483660" r:id="rId17"/>
    <p:sldLayoutId id="2147483661" r:id="rId18"/>
    <p:sldLayoutId id="2147483662" r:id="rId19"/>
    <p:sldLayoutId id="2147483663" r:id="rId20"/>
    <p:sldLayoutId id="2147483664" r:id="rId21"/>
    <p:sldLayoutId id="2147483665" r:id="rId22"/>
    <p:sldLayoutId id="2147483666" r:id="rId23"/>
    <p:sldLayoutId id="2147483667" r:id="rId24"/>
    <p:sldLayoutId id="2147483668" r:id="rId25"/>
    <p:sldLayoutId id="2147483669" r:id="rId26"/>
    <p:sldLayoutId id="2147483670" r:id="rId27"/>
    <p:sldLayoutId id="2147483671" r:id="rId28"/>
    <p:sldLayoutId id="2147483672" r:id="rId29"/>
    <p:sldLayoutId id="2147483673" r:id="rId30"/>
    <p:sldLayoutId id="2147483674" r:id="rId31"/>
    <p:sldLayoutId id="2147483675" r:id="rId3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jp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Relationship Id="rId13" Type="http://schemas.openxmlformats.org/officeDocument/2006/relationships/image" Target="../media/image18.png"/><Relationship Id="rId14" Type="http://schemas.openxmlformats.org/officeDocument/2006/relationships/image" Target="../media/image1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Relationship Id="rId10" Type="http://schemas.openxmlformats.org/officeDocument/2006/relationships/image" Target="../media/image27.png"/><Relationship Id="rId11" Type="http://schemas.openxmlformats.org/officeDocument/2006/relationships/image" Target="../media/image28.png"/><Relationship Id="rId12" Type="http://schemas.openxmlformats.org/officeDocument/2006/relationships/image" Target="../media/image2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8.jpg"/><Relationship Id="rId4" Type="http://schemas.openxmlformats.org/officeDocument/2006/relationships/image" Target="../media/image39.png"/><Relationship Id="rId5" Type="http://schemas.openxmlformats.org/officeDocument/2006/relationships/image" Target="../media/image40.jpg"/><Relationship Id="rId6" Type="http://schemas.openxmlformats.org/officeDocument/2006/relationships/image" Target="../media/image41.png"/><Relationship Id="rId7" Type="http://schemas.openxmlformats.org/officeDocument/2006/relationships/image" Target="../media/image42.jpg"/><Relationship Id="rId8" Type="http://schemas.openxmlformats.org/officeDocument/2006/relationships/image" Target="../media/image43.png"/><Relationship Id="rId9" Type="http://schemas.openxmlformats.org/officeDocument/2006/relationships/image" Target="../media/image44.jpg"/><Relationship Id="rId10" Type="http://schemas.openxmlformats.org/officeDocument/2006/relationships/image" Target="../media/image45.png"/><Relationship Id="rId11" Type="http://schemas.openxmlformats.org/officeDocument/2006/relationships/image" Target="../media/image46.jpg"/><Relationship Id="rId12" Type="http://schemas.openxmlformats.org/officeDocument/2006/relationships/image" Target="../media/image47.png"/><Relationship Id="rId13" Type="http://schemas.openxmlformats.org/officeDocument/2006/relationships/image" Target="../media/image48.jpg"/><Relationship Id="rId14" Type="http://schemas.openxmlformats.org/officeDocument/2006/relationships/image" Target="../media/image4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0.jpg"/><Relationship Id="rId4" Type="http://schemas.openxmlformats.org/officeDocument/2006/relationships/image" Target="../media/image51.jpg"/><Relationship Id="rId5" Type="http://schemas.openxmlformats.org/officeDocument/2006/relationships/image" Target="../media/image5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Relationship Id="rId7" Type="http://schemas.openxmlformats.org/officeDocument/2006/relationships/image" Target="../media/image57.png"/><Relationship Id="rId8" Type="http://schemas.openxmlformats.org/officeDocument/2006/relationships/image" Target="../media/image58.png"/><Relationship Id="rId9" Type="http://schemas.openxmlformats.org/officeDocument/2006/relationships/image" Target="../media/image59.png"/><Relationship Id="rId10" Type="http://schemas.openxmlformats.org/officeDocument/2006/relationships/image" Target="../media/image60.png"/><Relationship Id="rId11" Type="http://schemas.openxmlformats.org/officeDocument/2006/relationships/image" Target="../media/image6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2.jpg"/><Relationship Id="rId4" Type="http://schemas.openxmlformats.org/officeDocument/2006/relationships/image" Target="../media/image63.png"/><Relationship Id="rId5" Type="http://schemas.openxmlformats.org/officeDocument/2006/relationships/image" Target="../media/image64.jpg"/><Relationship Id="rId6" Type="http://schemas.openxmlformats.org/officeDocument/2006/relationships/image" Target="../media/image65.png"/><Relationship Id="rId7" Type="http://schemas.openxmlformats.org/officeDocument/2006/relationships/image" Target="../media/image66.jpg"/><Relationship Id="rId8" Type="http://schemas.openxmlformats.org/officeDocument/2006/relationships/image" Target="../media/image67.png"/><Relationship Id="rId9" Type="http://schemas.openxmlformats.org/officeDocument/2006/relationships/image" Target="../media/image68.jpg"/><Relationship Id="rId10" Type="http://schemas.openxmlformats.org/officeDocument/2006/relationships/image" Target="../media/image69.png"/><Relationship Id="rId11" Type="http://schemas.openxmlformats.org/officeDocument/2006/relationships/image" Target="../media/image70.jpg"/><Relationship Id="rId12" Type="http://schemas.openxmlformats.org/officeDocument/2006/relationships/image" Target="../media/image71.png"/><Relationship Id="rId13" Type="http://schemas.openxmlformats.org/officeDocument/2006/relationships/image" Target="../media/image72.jpg"/><Relationship Id="rId14" Type="http://schemas.openxmlformats.org/officeDocument/2006/relationships/image" Target="../media/image73.png"/><Relationship Id="rId15" Type="http://schemas.openxmlformats.org/officeDocument/2006/relationships/image" Target="../media/image74.jpg"/><Relationship Id="rId16" Type="http://schemas.openxmlformats.org/officeDocument/2006/relationships/image" Target="../media/image75.png"/><Relationship Id="rId17" Type="http://schemas.openxmlformats.org/officeDocument/2006/relationships/image" Target="../media/image7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8.jpg"/><Relationship Id="rId4" Type="http://schemas.openxmlformats.org/officeDocument/2006/relationships/image" Target="../media/image79.jpg"/><Relationship Id="rId5" Type="http://schemas.openxmlformats.org/officeDocument/2006/relationships/image" Target="../media/image80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2.jpg"/><Relationship Id="rId4" Type="http://schemas.openxmlformats.org/officeDocument/2006/relationships/image" Target="../media/image8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2.jpg"/><Relationship Id="rId4" Type="http://schemas.openxmlformats.org/officeDocument/2006/relationships/image" Target="../media/image8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4.jpg"/><Relationship Id="rId4" Type="http://schemas.openxmlformats.org/officeDocument/2006/relationships/image" Target="../media/image6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6.jpg"/><Relationship Id="rId4" Type="http://schemas.openxmlformats.org/officeDocument/2006/relationships/image" Target="../media/image8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6.jpg"/><Relationship Id="rId4" Type="http://schemas.openxmlformats.org/officeDocument/2006/relationships/image" Target="../media/image87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8.jpg"/><Relationship Id="rId4" Type="http://schemas.openxmlformats.org/officeDocument/2006/relationships/image" Target="../media/image89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0.jpg"/><Relationship Id="rId4" Type="http://schemas.openxmlformats.org/officeDocument/2006/relationships/image" Target="../media/image90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1.jpg"/><Relationship Id="rId4" Type="http://schemas.openxmlformats.org/officeDocument/2006/relationships/image" Target="../media/image7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8.jpg"/><Relationship Id="rId4" Type="http://schemas.openxmlformats.org/officeDocument/2006/relationships/image" Target="../media/image92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3.jpg"/><Relationship Id="rId4" Type="http://schemas.openxmlformats.org/officeDocument/2006/relationships/image" Target="../media/image9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5.jpg"/><Relationship Id="rId4" Type="http://schemas.openxmlformats.org/officeDocument/2006/relationships/image" Target="../media/image9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7.jpg"/><Relationship Id="rId4" Type="http://schemas.openxmlformats.org/officeDocument/2006/relationships/image" Target="../media/image98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9.jpg"/><Relationship Id="rId4" Type="http://schemas.openxmlformats.org/officeDocument/2006/relationships/image" Target="../media/image100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1.jpg"/><Relationship Id="rId4" Type="http://schemas.openxmlformats.org/officeDocument/2006/relationships/image" Target="../media/image102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3.jpg"/><Relationship Id="rId4" Type="http://schemas.openxmlformats.org/officeDocument/2006/relationships/image" Target="../media/image104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5.jpg"/><Relationship Id="rId4" Type="http://schemas.openxmlformats.org/officeDocument/2006/relationships/image" Target="../media/image106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7.jpg"/><Relationship Id="rId4" Type="http://schemas.openxmlformats.org/officeDocument/2006/relationships/image" Target="../media/image108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9.jpg"/><Relationship Id="rId4" Type="http://schemas.openxmlformats.org/officeDocument/2006/relationships/image" Target="../media/image110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1.jpg"/><Relationship Id="rId4" Type="http://schemas.openxmlformats.org/officeDocument/2006/relationships/image" Target="../media/image112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3.jpg"/><Relationship Id="rId4" Type="http://schemas.openxmlformats.org/officeDocument/2006/relationships/image" Target="../media/image11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5.jpg"/><Relationship Id="rId4" Type="http://schemas.openxmlformats.org/officeDocument/2006/relationships/image" Target="../media/image116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7.jpg"/><Relationship Id="rId4" Type="http://schemas.openxmlformats.org/officeDocument/2006/relationships/image" Target="../media/image118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9.jpg"/><Relationship Id="rId4" Type="http://schemas.openxmlformats.org/officeDocument/2006/relationships/image" Target="../media/image120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1.jpg"/><Relationship Id="rId4" Type="http://schemas.openxmlformats.org/officeDocument/2006/relationships/image" Target="../media/image122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3.jpg"/><Relationship Id="rId4" Type="http://schemas.openxmlformats.org/officeDocument/2006/relationships/image" Target="../media/image124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5.jpg"/><Relationship Id="rId4" Type="http://schemas.openxmlformats.org/officeDocument/2006/relationships/image" Target="../media/image126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7.jpg"/><Relationship Id="rId4" Type="http://schemas.openxmlformats.org/officeDocument/2006/relationships/image" Target="../media/image128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9.jpg"/><Relationship Id="rId4" Type="http://schemas.openxmlformats.org/officeDocument/2006/relationships/image" Target="../media/image130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1.jpg"/><Relationship Id="rId4" Type="http://schemas.openxmlformats.org/officeDocument/2006/relationships/image" Target="../media/image132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3.jpg"/><Relationship Id="rId4" Type="http://schemas.openxmlformats.org/officeDocument/2006/relationships/image" Target="../media/image134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5.jpg"/><Relationship Id="rId4" Type="http://schemas.openxmlformats.org/officeDocument/2006/relationships/image" Target="../media/image136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7.jpg"/><Relationship Id="rId4" Type="http://schemas.openxmlformats.org/officeDocument/2006/relationships/image" Target="../media/image138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9.jpg"/><Relationship Id="rId4" Type="http://schemas.openxmlformats.org/officeDocument/2006/relationships/image" Target="../media/image140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1.jpg"/><Relationship Id="rId4" Type="http://schemas.openxmlformats.org/officeDocument/2006/relationships/image" Target="../media/image142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3.jpg"/><Relationship Id="rId4" Type="http://schemas.openxmlformats.org/officeDocument/2006/relationships/image" Target="../media/image144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5.jpg"/><Relationship Id="rId4" Type="http://schemas.openxmlformats.org/officeDocument/2006/relationships/image" Target="../media/image146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7.jpg"/><Relationship Id="rId4" Type="http://schemas.openxmlformats.org/officeDocument/2006/relationships/image" Target="../media/image148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9.jpg"/><Relationship Id="rId4" Type="http://schemas.openxmlformats.org/officeDocument/2006/relationships/image" Target="../media/image150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1.jpg"/><Relationship Id="rId4" Type="http://schemas.openxmlformats.org/officeDocument/2006/relationships/image" Target="../media/image152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3.jpg"/><Relationship Id="rId4" Type="http://schemas.openxmlformats.org/officeDocument/2006/relationships/image" Target="../media/image154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5.jpg"/><Relationship Id="rId4" Type="http://schemas.openxmlformats.org/officeDocument/2006/relationships/image" Target="../media/image156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7.jpg"/><Relationship Id="rId4" Type="http://schemas.openxmlformats.org/officeDocument/2006/relationships/image" Target="../media/image158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9.jpg"/><Relationship Id="rId4" Type="http://schemas.openxmlformats.org/officeDocument/2006/relationships/image" Target="../media/image160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1.jpg"/><Relationship Id="rId4" Type="http://schemas.openxmlformats.org/officeDocument/2006/relationships/image" Target="../media/image162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3.jpg"/><Relationship Id="rId4" Type="http://schemas.openxmlformats.org/officeDocument/2006/relationships/image" Target="../media/image164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5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6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7.jpg"/><Relationship Id="rId4" Type="http://schemas.openxmlformats.org/officeDocument/2006/relationships/image" Target="../media/image168.jpg"/><Relationship Id="rId5" Type="http://schemas.openxmlformats.org/officeDocument/2006/relationships/image" Target="../media/image169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70.jpg"/><Relationship Id="rId4" Type="http://schemas.openxmlformats.org/officeDocument/2006/relationships/image" Target="../media/image171.jpg"/><Relationship Id="rId5" Type="http://schemas.openxmlformats.org/officeDocument/2006/relationships/image" Target="../media/image172.jpg"/><Relationship Id="rId6" Type="http://schemas.openxmlformats.org/officeDocument/2006/relationships/image" Target="../media/image17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4.jpg"/><Relationship Id="rId3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75.jpg"/><Relationship Id="rId4" Type="http://schemas.openxmlformats.org/officeDocument/2006/relationships/image" Target="../media/image176.png"/><Relationship Id="rId5" Type="http://schemas.openxmlformats.org/officeDocument/2006/relationships/image" Target="../media/image177.png"/><Relationship Id="rId6" Type="http://schemas.openxmlformats.org/officeDocument/2006/relationships/image" Target="../media/image178.png"/><Relationship Id="rId7" Type="http://schemas.openxmlformats.org/officeDocument/2006/relationships/image" Target="../media/image179.png"/><Relationship Id="rId8" Type="http://schemas.openxmlformats.org/officeDocument/2006/relationships/image" Target="../media/image180.png"/><Relationship Id="rId9" Type="http://schemas.openxmlformats.org/officeDocument/2006/relationships/image" Target="../media/image181.png"/><Relationship Id="rId10" Type="http://schemas.openxmlformats.org/officeDocument/2006/relationships/image" Target="../media/image18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83.png"/><Relationship Id="rId4" Type="http://schemas.openxmlformats.org/officeDocument/2006/relationships/image" Target="../media/image184.png"/><Relationship Id="rId5" Type="http://schemas.openxmlformats.org/officeDocument/2006/relationships/image" Target="../media/image185.png"/><Relationship Id="rId6" Type="http://schemas.openxmlformats.org/officeDocument/2006/relationships/image" Target="../media/image186.png"/><Relationship Id="rId7" Type="http://schemas.openxmlformats.org/officeDocument/2006/relationships/image" Target="../media/image187.png"/><Relationship Id="rId8" Type="http://schemas.openxmlformats.org/officeDocument/2006/relationships/image" Target="../media/image188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89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90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9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92.png"/><Relationship Id="rId4" Type="http://schemas.openxmlformats.org/officeDocument/2006/relationships/image" Target="../media/image193.png"/><Relationship Id="rId5" Type="http://schemas.openxmlformats.org/officeDocument/2006/relationships/image" Target="../media/image57.png"/><Relationship Id="rId6" Type="http://schemas.openxmlformats.org/officeDocument/2006/relationships/image" Target="../media/image62.jpg"/><Relationship Id="rId7" Type="http://schemas.openxmlformats.org/officeDocument/2006/relationships/image" Target="../media/image2.png"/><Relationship Id="rId8" Type="http://schemas.openxmlformats.org/officeDocument/2006/relationships/image" Target="../media/image1.jpg"/><Relationship Id="rId9" Type="http://schemas.openxmlformats.org/officeDocument/2006/relationships/image" Target="../media/image77.jpg"/><Relationship Id="rId10" Type="http://schemas.openxmlformats.org/officeDocument/2006/relationships/image" Target="../media/image5.jpg"/><Relationship Id="rId11" Type="http://schemas.openxmlformats.org/officeDocument/2006/relationships/image" Target="../media/image189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93.png"/><Relationship Id="rId4" Type="http://schemas.openxmlformats.org/officeDocument/2006/relationships/image" Target="../media/image57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2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7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jpg"/><Relationship Id="rId4" Type="http://schemas.openxmlformats.org/officeDocument/2006/relationships/image" Target="../media/image18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0"/>
            <a:ext cx="9525" cy="6858000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24000" y="0"/>
            <a:ext cx="9525" cy="6858000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0" y="0"/>
            <a:ext cx="9525" cy="6858000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48000" y="0"/>
            <a:ext cx="9525" cy="6858000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10000" y="0"/>
            <a:ext cx="9525" cy="6858000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762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1524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2286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3048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3810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4572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5334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096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cover-site.jpg"/>
          <p:cNvPicPr>
            <a:picLocks noChangeAspect="1"/>
          </p:cNvPicPr>
          <p:nvPr/>
        </p:nvPicPr>
        <p:blipFill>
          <a:blip r:embed="rId2"/>
          <a:srcRect t="4121" b="4121"/>
          <a:stretch>
            <a:fillRect/>
          </a:stretch>
        </p:blipFill>
        <p:spPr>
          <a:xfrm>
            <a:off x="4445000" y="0"/>
            <a:ext cx="7747000" cy="6858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9600" y="304800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660400"/>
            <a:ext cx="3835400" cy="9525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6438900"/>
            <a:ext cx="202168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62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PRESENTATION SLIDE · EDITION 2026</a:t>
            </a:r>
          </a:p>
        </p:txBody>
      </p:sp>
      <p:pic>
        <p:nvPicPr>
          <p:cNvPr id="26" name="Picture 25" descr="iaq-logo-tag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117600"/>
            <a:ext cx="1905000" cy="9525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9600" y="2920308"/>
            <a:ext cx="648989" cy="1035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0" b="1" i="0" spc="-29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2889" y="3385147"/>
            <a:ext cx="833539" cy="2939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years of delivery</a:t>
            </a:r>
          </a:p>
          <a:p>
            <a:pPr algn="l">
              <a:lnSpc>
                <a:spcPts val="1215"/>
              </a:lnSpc>
            </a:pPr>
            <a:r>
              <a:rPr sz="90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since 1995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3966769"/>
            <a:ext cx="350520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800" b="1" i="0" spc="-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Engineering the facilities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4245572"/>
            <a:ext cx="350520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800" b="0" i="0" spc="-40">
                <a:solidFill>
                  <a:srgbClr val="E7EBF0"/>
                </a:solidFill>
                <a:latin typeface="Poppins Medium"/>
                <a:ea typeface="Poppins Medium"/>
                <a:cs typeface="Poppins Medium"/>
              </a:rPr>
              <a:t>advanced industry runs 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775" y="4718050"/>
            <a:ext cx="337242" cy="231775"/>
          </a:xfrm>
          <a:prstGeom prst="rect">
            <a:avLst/>
          </a:prstGeom>
          <a:noFill/>
          <a:ln w="635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9600" y="4778375"/>
            <a:ext cx="343592" cy="101600"/>
          </a:xfrm>
          <a:prstGeom prst="rect">
            <a:avLst/>
          </a:prstGeom>
          <a:noFill/>
        </p:spPr>
        <p:txBody>
          <a:bodyPr wrap="none" lIns="88900" rIns="88900" tIns="0" bIns="0" anchor="ctr">
            <a:noAutofit/>
          </a:bodyPr>
          <a:lstStyle/>
          <a:p>
            <a:pPr algn="l"/>
            <a:r>
              <a:rPr sz="68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EPC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26217" y="4718050"/>
            <a:ext cx="2305545" cy="231775"/>
          </a:xfrm>
          <a:prstGeom prst="rect">
            <a:avLst/>
          </a:prstGeom>
          <a:noFill/>
          <a:ln w="635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3042" y="4778375"/>
            <a:ext cx="2311895" cy="101600"/>
          </a:xfrm>
          <a:prstGeom prst="rect">
            <a:avLst/>
          </a:prstGeom>
          <a:noFill/>
        </p:spPr>
        <p:txBody>
          <a:bodyPr wrap="none" lIns="88900" rIns="88900" tIns="0" bIns="0" anchor="ctr">
            <a:noAutofit/>
          </a:bodyPr>
          <a:lstStyle/>
          <a:p>
            <a:pPr algn="l"/>
            <a:r>
              <a:rPr sz="68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Process Critical Utilities &amp; Total Tool Installation Solutions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2775" y="5026025"/>
            <a:ext cx="981272" cy="231775"/>
          </a:xfrm>
          <a:prstGeom prst="rect">
            <a:avLst/>
          </a:prstGeom>
          <a:noFill/>
          <a:ln w="635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600" y="5086350"/>
            <a:ext cx="987622" cy="101600"/>
          </a:xfrm>
          <a:prstGeom prst="rect">
            <a:avLst/>
          </a:prstGeom>
          <a:noFill/>
        </p:spPr>
        <p:txBody>
          <a:bodyPr wrap="none" lIns="88900" rIns="88900" tIns="0" bIns="0" anchor="ctr">
            <a:noAutofit/>
          </a:bodyPr>
          <a:lstStyle/>
          <a:p>
            <a:pPr algn="l"/>
            <a:r>
              <a:rPr sz="68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Energy Management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5413375"/>
            <a:ext cx="3505200" cy="2682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For cleanroom critical industries: semiconductor, data centre, EV battery, pharmaceutical and energy.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600" y="5861050"/>
            <a:ext cx="35052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600" y="5969000"/>
            <a:ext cx="35052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6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ISO 9001 · ISO 14001 · ISO 45001 · CIDB G7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pic>
        <p:nvPicPr>
          <p:cNvPr id="4" name="Picture 3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parts. Every section is numbered, named and opens with a one-line summary.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41144"/>
            <a:ext cx="3437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1619250"/>
            <a:ext cx="276917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817" y="1682750"/>
            <a:ext cx="3046216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The Company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0817" y="1907781"/>
            <a:ext cx="304621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Who we are, how we are built, and what we deliver.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23379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" y="23379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About IAQ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25221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" y="25856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1400" y="25856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IAQ at a Glance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27697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28332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1400" y="28332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Milestones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30174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30809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1400" y="30809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Global Footprint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" y="32650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600" y="33285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1400" y="33285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Core Values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35127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35762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1400" y="35762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Business Units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37603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8238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1400" y="38238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Delivery Models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40080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40715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1400" y="40715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Scope of Services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9600" y="42556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600" y="43191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1400" y="43191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Industry Focus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77233" y="2141144"/>
            <a:ext cx="3437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77233" y="1619250"/>
            <a:ext cx="333870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25403" y="1682750"/>
            <a:ext cx="2989262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Project References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25403" y="1907781"/>
            <a:ext cx="298926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The work itself, grouped by industry and region.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77233" y="23379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09033" y="23379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Portfolio Overview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77233" y="25221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77233" y="25856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9033" y="25856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Semiconductor · Malaysia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77233" y="27697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77233" y="28332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09033" y="28332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Semiconductor · Singapore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77233" y="30174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77233" y="30809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09033" y="30809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Data Centre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377233" y="32650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77233" y="33285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09033" y="33285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EV Battery · Europe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77233" y="35127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77233" y="35762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09033" y="35762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Semiconductor · Europe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77233" y="37603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377233" y="38238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9033" y="38238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Semiconductor &amp; Display · China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77233" y="40080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377233" y="40715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033" y="40715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Photovoltaics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377233" y="42556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77233" y="43191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09033" y="43191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Pharmaceutical &amp; Medical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377233" y="45033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377233" y="45668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02.10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033" y="45668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District Cooling &amp; Energy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77233" y="47509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377233" y="48144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02.11+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09033" y="48144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Full Project Reference List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44866" y="2141144"/>
            <a:ext cx="3437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44866" y="1619250"/>
            <a:ext cx="343891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603063" y="1682750"/>
            <a:ext cx="2979242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Safety, Quality &amp; ESG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603063" y="1907781"/>
            <a:ext cx="297924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The standards every project is held to.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44866" y="23379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03.1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576666" y="23379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ESG Commitments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44866" y="25221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44866" y="25856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03.2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576666" y="25856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Certifications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144866" y="27697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144866" y="28332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03.3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76666" y="28332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Builder of the Year 2024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44866" y="30174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44866" y="30809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03.4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576666" y="30809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Safety &amp; Recognition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144866" y="32650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44866" y="33285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03.5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76666" y="33285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Closing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44866" y="35127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44866" y="35762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03.6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576666" y="35762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Contacts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9600" y="6445250"/>
            <a:ext cx="40719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02 / 67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024000" y="6429375"/>
            <a:ext cx="55830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CONTENTS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090141"/>
            <a:ext cx="76785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5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PART 01 OF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99641"/>
            <a:ext cx="5279428" cy="169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0" b="1" i="0" spc="-475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299816"/>
            <a:ext cx="5279428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0" i="0" spc="-75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The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853459"/>
            <a:ext cx="5279428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140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SECTIONS 01.1 TO 01.9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126509"/>
            <a:ext cx="5279428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428525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Established 1995 · 31 years in total facility solutions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48210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530+ people across 7 global offices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67895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ISO 9001 · ISO 14001 · ISO 45001 certified</a:t>
            </a:r>
          </a:p>
        </p:txBody>
      </p:sp>
      <p:pic>
        <p:nvPicPr>
          <p:cNvPr id="15" name="Picture 14" descr="company-offi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4628" y="0"/>
            <a:ext cx="5947372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9600" y="304800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445250"/>
            <a:ext cx="40471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03 / 67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1155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1155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2750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About IAQ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Who we are and what we build. The delivery models are in 01.7.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651000"/>
            <a:ext cx="4826000" cy="10372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484"/>
              </a:lnSpc>
            </a:pPr>
            <a:r>
              <a:rPr sz="2300" b="0" i="0" spc="-4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Established 1995.</a:t>
            </a:r>
          </a:p>
          <a:p>
            <a:pPr algn="l">
              <a:lnSpc>
                <a:spcPts val="2484"/>
              </a:lnSpc>
            </a:pPr>
            <a:r>
              <a:rPr sz="2300" b="0" i="0" spc="-4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A trailblazer in total facility solutions.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794102"/>
            <a:ext cx="4310755" cy="53200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20"/>
              </a:lnSpc>
            </a:pPr>
            <a:r>
              <a:rPr sz="950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Engineering, procurement, construction and maintenance for the industries where contamination, uptime and safety decide the outcome, from semiconductor wafer fabs to gigafactories, data centres and pharmaceutical plants.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480994"/>
            <a:ext cx="4826000" cy="549872"/>
          </a:xfrm>
          <a:prstGeom prst="rect">
            <a:avLst/>
          </a:prstGeom>
          <a:solidFill>
            <a:srgbClr val="101A2B">
              <a:alpha val="43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300" y="3633394"/>
            <a:ext cx="1117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REGISTERED 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1200" y="3595294"/>
            <a:ext cx="3314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IAQ Technology International Sdn Bhd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300" y="3822598"/>
            <a:ext cx="1117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REGISTRATION NO.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81200" y="3784498"/>
            <a:ext cx="3314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200001031412 (534019-T)</a:t>
            </a:r>
          </a:p>
        </p:txBody>
      </p:sp>
      <p:pic>
        <p:nvPicPr>
          <p:cNvPr id="17" name="Picture 16" descr="about-facilit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700" y="1701800"/>
            <a:ext cx="5981700" cy="299085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609600" y="4857750"/>
            <a:ext cx="4826000" cy="1492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vis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" y="5273675"/>
            <a:ext cx="660400" cy="660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12900" y="5306714"/>
            <a:ext cx="36322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-2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Vision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12900" y="5583536"/>
            <a:ext cx="3632200" cy="2730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00"/>
              </a:lnSpc>
            </a:pPr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To be a regional facility solutions provider with engineering excellence that facilitates technological innovation and advancement in quality of life.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00700" y="4857750"/>
            <a:ext cx="5981700" cy="1492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icon-mis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1200" y="5273675"/>
            <a:ext cx="660400" cy="660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604000" y="5306714"/>
            <a:ext cx="47879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-2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Mission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04000" y="5583536"/>
            <a:ext cx="4787900" cy="2730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00"/>
              </a:lnSpc>
            </a:pPr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Providing innovative, sustainable facility and engineering solutions benefitting our clients and stakeholders, driven by our leadership, employees and partners globally.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445250"/>
            <a:ext cx="40302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04 / 67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8263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298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298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4181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IAQ at a Glance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The company in six numbers, the delivery cycle behind them, and the certifications that stand behind both.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1822450" cy="1632744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49300" y="2058092"/>
            <a:ext cx="330200" cy="330200"/>
          </a:xfrm>
          <a:prstGeom prst="ellipse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f21a75c4aa5e04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2134292"/>
            <a:ext cx="177800" cy="177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9300" y="2388292"/>
            <a:ext cx="1543050" cy="463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600" b="1" i="0" spc="-78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300" y="2888653"/>
            <a:ext cx="15430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03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YEARS EXPERIENCE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38400" y="1701800"/>
            <a:ext cx="1822450" cy="1632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578100" y="2058092"/>
            <a:ext cx="330200" cy="330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799ada602348c6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300" y="2134292"/>
            <a:ext cx="177800" cy="177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78100" y="2388292"/>
            <a:ext cx="1543050" cy="4635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40"/>
              </a:lnSpc>
            </a:pPr>
            <a:r>
              <a:rPr sz="2600" b="1" i="0" spc="-78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530</a:t>
            </a:r>
            <a:r>
              <a:rPr sz="900" b="0" i="0" spc="-9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78100" y="2888653"/>
            <a:ext cx="15430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0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EMPLOYEES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7200" y="1701800"/>
            <a:ext cx="1822450" cy="1632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06900" y="2058092"/>
            <a:ext cx="330200" cy="330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87e6c0d13f89a4f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3100" y="2134292"/>
            <a:ext cx="177800" cy="177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406900" y="2388292"/>
            <a:ext cx="1543050" cy="4635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40"/>
              </a:lnSpc>
            </a:pPr>
            <a:r>
              <a:rPr sz="2600" b="1" i="0" spc="-78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235</a:t>
            </a:r>
            <a:r>
              <a:rPr sz="900" b="0" i="0" spc="-9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6900" y="2888653"/>
            <a:ext cx="15430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0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PROJECTS COMPLETED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0" y="1701800"/>
            <a:ext cx="1822450" cy="1632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35700" y="2058092"/>
            <a:ext cx="330200" cy="330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42db20855d65e2b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1900" y="2134292"/>
            <a:ext cx="177800" cy="177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235700" y="2388292"/>
            <a:ext cx="1543050" cy="4635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40"/>
              </a:lnSpc>
            </a:pPr>
            <a:r>
              <a:rPr sz="2600" b="1" i="0" spc="-78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1.5</a:t>
            </a:r>
            <a:r>
              <a:rPr sz="900" b="0" i="0" spc="-9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mil m²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5700" y="2888653"/>
            <a:ext cx="15430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0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 BUILT-UP AREA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24800" y="1701800"/>
            <a:ext cx="1822450" cy="1632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064500" y="2058092"/>
            <a:ext cx="330200" cy="330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2" name="Picture 31" descr="1f8802463176fa4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0700" y="2134292"/>
            <a:ext cx="177800" cy="1778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064500" y="2388292"/>
            <a:ext cx="1543050" cy="463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600" b="1" i="0" spc="-78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64500" y="2888653"/>
            <a:ext cx="15430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0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GLOBAL OFFICES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53600" y="1701800"/>
            <a:ext cx="1828800" cy="1632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893300" y="2058092"/>
            <a:ext cx="330200" cy="330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281937597fe2cdc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69500" y="2134292"/>
            <a:ext cx="177800" cy="177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893300" y="2388292"/>
            <a:ext cx="1549400" cy="4635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40"/>
              </a:lnSpc>
            </a:pPr>
            <a:r>
              <a:rPr sz="2600" b="1" i="0" spc="-78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20</a:t>
            </a:r>
            <a:r>
              <a:rPr sz="900" b="0" i="0" spc="-9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t / yr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93300" y="2888653"/>
            <a:ext cx="15494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0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CARBON FOOTPRINT REDUCED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3525044"/>
            <a:ext cx="10972800" cy="22343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09600" y="3525044"/>
            <a:ext cx="109728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5500" y="3860006"/>
            <a:ext cx="16510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THE DELIVERY CYCLE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92400" y="3747294"/>
            <a:ext cx="7112000" cy="3000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12"/>
              </a:lnSpc>
            </a:pPr>
            <a:r>
              <a:rPr sz="8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proudly Malaysian company on three continents, delivering mission-critical cleanroom facilities where contamination control, precision and compliance are absolute.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958975" y="4652366"/>
            <a:ext cx="1098550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431925" y="4392016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6" name="Picture 45" descr="773d159918c4119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62100" y="4522191"/>
            <a:ext cx="209550" cy="209550"/>
          </a:xfrm>
          <a:prstGeom prst="rect">
            <a:avLst/>
          </a:prstGeom>
        </p:spPr>
      </p:pic>
      <p:sp>
        <p:nvSpPr>
          <p:cNvPr id="47" name="Rectangle 46"/>
          <p:cNvSpPr/>
          <p:nvPr/>
        </p:nvSpPr>
        <p:spPr>
          <a:xfrm>
            <a:off x="1791691" y="4366616"/>
            <a:ext cx="160934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791691" y="4392016"/>
            <a:ext cx="160934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58589" y="4976216"/>
            <a:ext cx="816572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Engineering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18806" y="5238452"/>
            <a:ext cx="896144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Design &amp; consultation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730625" y="4652366"/>
            <a:ext cx="1098550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203575" y="4392016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3" name="Picture 52" descr="48987b432b220d4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33750" y="4522191"/>
            <a:ext cx="209550" cy="209550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3544195" y="4366616"/>
            <a:ext cx="180080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544195" y="4392016"/>
            <a:ext cx="180080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89459" y="4976216"/>
            <a:ext cx="89803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Procurement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44419" y="5238452"/>
            <a:ext cx="98821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Sourcing &amp; supply chain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02275" y="4652366"/>
            <a:ext cx="1098550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75225" y="4392016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0" name="Picture 59" descr="9fa5c40822603ab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05400" y="4522191"/>
            <a:ext cx="209550" cy="209550"/>
          </a:xfrm>
          <a:prstGeom prst="rect">
            <a:avLst/>
          </a:prstGeom>
        </p:spPr>
      </p:pic>
      <p:sp>
        <p:nvSpPr>
          <p:cNvPr id="61" name="Rectangle 60"/>
          <p:cNvSpPr/>
          <p:nvPr/>
        </p:nvSpPr>
        <p:spPr>
          <a:xfrm>
            <a:off x="5318227" y="4366616"/>
            <a:ext cx="177698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18227" y="4392016"/>
            <a:ext cx="177698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63694" y="4976216"/>
            <a:ext cx="89296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Construction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68044" y="5238452"/>
            <a:ext cx="108426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Self-performed packages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273925" y="4652366"/>
            <a:ext cx="1098550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746875" y="4392016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7" name="Picture 66" descr="174bccb33fb11ec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77050" y="4522191"/>
            <a:ext cx="209550" cy="209550"/>
          </a:xfrm>
          <a:prstGeom prst="rect">
            <a:avLst/>
          </a:prstGeom>
        </p:spPr>
      </p:pic>
      <p:sp>
        <p:nvSpPr>
          <p:cNvPr id="68" name="Rectangle 67"/>
          <p:cNvSpPr/>
          <p:nvPr/>
        </p:nvSpPr>
        <p:spPr>
          <a:xfrm>
            <a:off x="7091166" y="4366616"/>
            <a:ext cx="176409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091166" y="4392016"/>
            <a:ext cx="176409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521450" y="4976216"/>
            <a:ext cx="920648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Tools Hookup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61608" y="5238452"/>
            <a:ext cx="1240434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Progressive install and hookup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045575" y="4652366"/>
            <a:ext cx="1098550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8518525" y="4392016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4" name="Picture 73" descr="961a833f2fe1a0ec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48700" y="4522191"/>
            <a:ext cx="209550" cy="209550"/>
          </a:xfrm>
          <a:prstGeom prst="rect">
            <a:avLst/>
          </a:prstGeom>
        </p:spPr>
      </p:pic>
      <p:sp>
        <p:nvSpPr>
          <p:cNvPr id="75" name="Rectangle 74"/>
          <p:cNvSpPr/>
          <p:nvPr/>
        </p:nvSpPr>
        <p:spPr>
          <a:xfrm>
            <a:off x="8861031" y="4366616"/>
            <a:ext cx="178200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861031" y="4392016"/>
            <a:ext cx="178200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01659" y="4976216"/>
            <a:ext cx="503536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Testing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83067" y="5238452"/>
            <a:ext cx="114072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Commissioning &amp; handover</a:t>
            </a:r>
          </a:p>
        </p:txBody>
      </p:sp>
      <p:sp>
        <p:nvSpPr>
          <p:cNvPr id="79" name="Oval 78"/>
          <p:cNvSpPr/>
          <p:nvPr/>
        </p:nvSpPr>
        <p:spPr>
          <a:xfrm>
            <a:off x="10290175" y="4392016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0" name="Picture 79" descr="553c29aa91a1b02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420350" y="4522191"/>
            <a:ext cx="209550" cy="209550"/>
          </a:xfrm>
          <a:prstGeom prst="rect">
            <a:avLst/>
          </a:prstGeom>
        </p:spPr>
      </p:pic>
      <p:sp>
        <p:nvSpPr>
          <p:cNvPr id="81" name="Rectangle 80"/>
          <p:cNvSpPr/>
          <p:nvPr/>
        </p:nvSpPr>
        <p:spPr>
          <a:xfrm>
            <a:off x="10630891" y="4366616"/>
            <a:ext cx="179984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630891" y="4392016"/>
            <a:ext cx="179984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069614" y="4976216"/>
            <a:ext cx="910927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Maintenance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82397" y="5238452"/>
            <a:ext cx="108535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Operate, service, optimise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9600" y="5949848"/>
            <a:ext cx="109728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CERTIFICATION &amp; RECOGNITION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600" y="6121298"/>
            <a:ext cx="1345508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09600" y="6203848"/>
            <a:ext cx="1345508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INTERTEK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ISO 9001:2015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031308" y="6121298"/>
            <a:ext cx="1379836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031308" y="6203848"/>
            <a:ext cx="1379836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INTERTEK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ISO 14001:2015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487344" y="6121298"/>
            <a:ext cx="1399381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487344" y="6203848"/>
            <a:ext cx="1399381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INTERTEK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ISO 45001:2018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962925" y="6121298"/>
            <a:ext cx="940492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62925" y="6203848"/>
            <a:ext cx="940492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CIDB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GRADE G7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79617" y="6121298"/>
            <a:ext cx="894753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979617" y="6203848"/>
            <a:ext cx="894753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PKK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GRADE G7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950570" y="6121298"/>
            <a:ext cx="1701006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950570" y="6203848"/>
            <a:ext cx="1701006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HIGHWIRE SAFETY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GOLD AWARD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727777" y="6121298"/>
            <a:ext cx="1818284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727777" y="6203848"/>
            <a:ext cx="1818284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MCIEA 2024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BUILDER OF THE YEAR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09600" y="6445250"/>
            <a:ext cx="40550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05 / 67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838161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030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030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1502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Milestones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IAQ's own timeline, 1995 to 2026: the offices opened along the way, and the projects that marked each year.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203450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1701800"/>
            <a:ext cx="109728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OFFICES OPENED</a:t>
            </a:r>
          </a:p>
        </p:txBody>
      </p:sp>
      <p:pic>
        <p:nvPicPr>
          <p:cNvPr id="12" name="Picture 11" descr="d8e638e5dfea34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936750"/>
            <a:ext cx="215900" cy="1079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9000" y="1847850"/>
            <a:ext cx="38239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000" y="2006600"/>
            <a:ext cx="382391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1995</a:t>
            </a:r>
          </a:p>
        </p:txBody>
      </p:sp>
      <p:pic>
        <p:nvPicPr>
          <p:cNvPr id="15" name="Picture 14" descr="36915e38abb376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5171" y="1918792"/>
            <a:ext cx="212671" cy="14386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62956" y="1847850"/>
            <a:ext cx="36810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Morocco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62956" y="2006600"/>
            <a:ext cx="368103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2000</a:t>
            </a:r>
          </a:p>
        </p:txBody>
      </p:sp>
      <p:pic>
        <p:nvPicPr>
          <p:cNvPr id="18" name="Picture 17" descr="d9e1aaea8eb2d2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44840" y="1918792"/>
            <a:ext cx="212671" cy="14386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222625" y="1847850"/>
            <a:ext cx="24775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China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22625" y="2006600"/>
            <a:ext cx="247752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2006</a:t>
            </a:r>
          </a:p>
        </p:txBody>
      </p:sp>
      <p:pic>
        <p:nvPicPr>
          <p:cNvPr id="21" name="Picture 20" descr="a41ff103a2c8054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86222" y="1923256"/>
            <a:ext cx="208540" cy="13493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261942" y="1847850"/>
            <a:ext cx="28664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Poland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1942" y="2006600"/>
            <a:ext cx="286645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2007</a:t>
            </a:r>
          </a:p>
        </p:txBody>
      </p:sp>
      <p:pic>
        <p:nvPicPr>
          <p:cNvPr id="24" name="Picture 23" descr="ccab05aa1cd9261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62368" y="1918792"/>
            <a:ext cx="212671" cy="14386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40153" y="1847850"/>
            <a:ext cx="28475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France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0153" y="2006600"/>
            <a:ext cx="284759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2008</a:t>
            </a:r>
          </a:p>
        </p:txBody>
      </p:sp>
      <p:pic>
        <p:nvPicPr>
          <p:cNvPr id="27" name="Picture 26" descr="3484b1595ff1e23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40758" y="1923256"/>
            <a:ext cx="208540" cy="13493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16478" y="1847850"/>
            <a:ext cx="3492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Sweden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6478" y="2006600"/>
            <a:ext cx="349250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2020</a:t>
            </a:r>
          </a:p>
        </p:txBody>
      </p:sp>
      <p:pic>
        <p:nvPicPr>
          <p:cNvPr id="30" name="Picture 29" descr="669b9a824696c9c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79508" y="1918792"/>
            <a:ext cx="212671" cy="14386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557294" y="1847850"/>
            <a:ext cx="439344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Singapore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57294" y="2006600"/>
            <a:ext cx="439344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2023</a:t>
            </a:r>
          </a:p>
        </p:txBody>
      </p:sp>
      <p:pic>
        <p:nvPicPr>
          <p:cNvPr id="33" name="Picture 32" descr="a1bc6b949f166d87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12483" y="1923256"/>
            <a:ext cx="208540" cy="13493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788203" y="1847850"/>
            <a:ext cx="4025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Germany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88203" y="2006600"/>
            <a:ext cx="402533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2025</a:t>
            </a:r>
          </a:p>
        </p:txBody>
      </p:sp>
      <p:pic>
        <p:nvPicPr>
          <p:cNvPr id="36" name="Picture 35" descr="593927064182df0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04516" y="1918792"/>
            <a:ext cx="212671" cy="14386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982302" y="1847850"/>
            <a:ext cx="57645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United States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82302" y="2006600"/>
            <a:ext cx="576459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2026</a:t>
            </a:r>
          </a:p>
        </p:txBody>
      </p:sp>
      <p:pic>
        <p:nvPicPr>
          <p:cNvPr id="39" name="Picture 38" descr="b7ef0ae251f8b270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072541" y="1918792"/>
            <a:ext cx="212671" cy="14386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1350327" y="1847850"/>
            <a:ext cx="23157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India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50327" y="2006600"/>
            <a:ext cx="231578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2026</a:t>
            </a:r>
          </a:p>
        </p:txBody>
      </p:sp>
      <p:sp>
        <p:nvSpPr>
          <p:cNvPr id="42" name="Oval 41"/>
          <p:cNvSpPr/>
          <p:nvPr/>
        </p:nvSpPr>
        <p:spPr>
          <a:xfrm>
            <a:off x="609600" y="2384425"/>
            <a:ext cx="57150" cy="571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600" y="2349500"/>
            <a:ext cx="804170" cy="69850"/>
          </a:xfrm>
          <a:prstGeom prst="rect">
            <a:avLst/>
          </a:prstGeom>
          <a:noFill/>
        </p:spPr>
        <p:txBody>
          <a:bodyPr wrap="none" lIns="107950" rIns="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1E2A3D"/>
                </a:solidFill>
                <a:latin typeface="League Spartan SemiBold"/>
                <a:ea typeface="League Spartan SemiBold"/>
                <a:cs typeface="League Spartan SemiBold"/>
              </a:rPr>
              <a:t>EPCC PROJECTS</a:t>
            </a:r>
          </a:p>
        </p:txBody>
      </p:sp>
      <p:sp>
        <p:nvSpPr>
          <p:cNvPr id="44" name="Oval 43"/>
          <p:cNvSpPr/>
          <p:nvPr/>
        </p:nvSpPr>
        <p:spPr>
          <a:xfrm>
            <a:off x="1553470" y="2384425"/>
            <a:ext cx="57150" cy="5715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553470" y="2349500"/>
            <a:ext cx="926008" cy="69850"/>
          </a:xfrm>
          <a:prstGeom prst="rect">
            <a:avLst/>
          </a:prstGeom>
          <a:noFill/>
        </p:spPr>
        <p:txBody>
          <a:bodyPr wrap="none" lIns="107950" rIns="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12A150"/>
                </a:solidFill>
                <a:latin typeface="League Spartan SemiBold"/>
                <a:ea typeface="League Spartan SemiBold"/>
                <a:cs typeface="League Spartan SemiBold"/>
              </a:rPr>
              <a:t>ENERGY PROJECTS</a:t>
            </a:r>
          </a:p>
        </p:txBody>
      </p:sp>
      <p:sp>
        <p:nvSpPr>
          <p:cNvPr id="46" name="Oval 45"/>
          <p:cNvSpPr/>
          <p:nvPr/>
        </p:nvSpPr>
        <p:spPr>
          <a:xfrm>
            <a:off x="2619178" y="2384425"/>
            <a:ext cx="57150" cy="57150"/>
          </a:xfrm>
          <a:prstGeom prst="ellipse">
            <a:avLst/>
          </a:prstGeom>
          <a:solidFill>
            <a:srgbClr val="7A3D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19178" y="2349500"/>
            <a:ext cx="1173162" cy="69850"/>
          </a:xfrm>
          <a:prstGeom prst="rect">
            <a:avLst/>
          </a:prstGeom>
          <a:noFill/>
        </p:spPr>
        <p:txBody>
          <a:bodyPr wrap="none" lIns="107950" rIns="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7A3DB8"/>
                </a:solidFill>
                <a:latin typeface="League Spartan SemiBold"/>
                <a:ea typeface="League Spartan SemiBold"/>
                <a:cs typeface="League Spartan SemiBold"/>
              </a:rPr>
              <a:t>TOOL UTILITY PROJECTS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733550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66800" y="412462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66800" y="408334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Established as a cleanroom specialist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733550" y="4659808"/>
            <a:ext cx="66675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557338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549400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1995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507259" y="48439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840509" y="503763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840509" y="499635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(EPCC) ST Microelectronics, Class 10K cleanroom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840509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331047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323109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2000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80969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614219" y="412462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614219" y="408334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(PCC) Western Digital PJ, Class 10 cleanroom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614219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104756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96819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2008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54672" y="48439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387922" y="503763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387922" y="499635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D&amp;B) MEMC Ipoh, Class 1 cleanroom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387922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878459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870522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2009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828381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161631" y="3176289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161631" y="3135014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(PCC) MRT Project tunnel station M&amp;E</a:t>
            </a:r>
          </a:p>
        </p:txBody>
      </p:sp>
      <p:sp>
        <p:nvSpPr>
          <p:cNvPr id="75" name="Oval 74"/>
          <p:cNvSpPr/>
          <p:nvPr/>
        </p:nvSpPr>
        <p:spPr>
          <a:xfrm>
            <a:off x="4161631" y="3473348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61631" y="3432073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(EPC) Infineon MKZ, Class 1K cleanroom</a:t>
            </a:r>
          </a:p>
        </p:txBody>
      </p:sp>
      <p:sp>
        <p:nvSpPr>
          <p:cNvPr id="77" name="Oval 76"/>
          <p:cNvSpPr/>
          <p:nvPr/>
        </p:nvSpPr>
        <p:spPr>
          <a:xfrm>
            <a:off x="4161631" y="3770414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61631" y="3729139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(EPCC) SilTerra FAB</a:t>
            </a:r>
          </a:p>
        </p:txBody>
      </p:sp>
      <p:sp>
        <p:nvSpPr>
          <p:cNvPr id="79" name="Oval 78"/>
          <p:cNvSpPr/>
          <p:nvPr/>
        </p:nvSpPr>
        <p:spPr>
          <a:xfrm>
            <a:off x="4161631" y="3947516"/>
            <a:ext cx="31750" cy="3175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161631" y="3906241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2A150"/>
                </a:solidFill>
                <a:latin typeface="Urbanist Medium"/>
                <a:ea typeface="Urbanist Medium"/>
                <a:cs typeface="Urbanist Medium"/>
              </a:rPr>
              <a:t>(PCC) Rapid Project Siemens powerplant piping works</a:t>
            </a:r>
          </a:p>
        </p:txBody>
      </p:sp>
      <p:sp>
        <p:nvSpPr>
          <p:cNvPr id="81" name="Oval 80"/>
          <p:cNvSpPr/>
          <p:nvPr/>
        </p:nvSpPr>
        <p:spPr>
          <a:xfrm>
            <a:off x="4161631" y="4244581"/>
            <a:ext cx="31750" cy="3175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161631" y="4203306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2A150"/>
                </a:solidFill>
                <a:latin typeface="Urbanist Medium"/>
                <a:ea typeface="Urbanist Medium"/>
                <a:cs typeface="Urbanist Medium"/>
              </a:rPr>
              <a:t>(BOT) Pagoh Edu Hub DCS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161631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652169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644231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02091" y="48439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4935341" y="5037633"/>
            <a:ext cx="31750" cy="3175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935341" y="499635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2A150"/>
                </a:solidFill>
                <a:latin typeface="Urbanist Medium"/>
                <a:ea typeface="Urbanist Medium"/>
                <a:cs typeface="Urbanist Medium"/>
              </a:rPr>
              <a:t>(GC) KLCC DCC Plant, largest DCC plant in Malaysia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935341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5425878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417941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2016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375800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5709050" y="4244581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709050" y="4203306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(GC) Ain Medicare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709050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199588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91650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2017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149605" y="48439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6482855" y="503763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855" y="4996358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(GC) Vital HC</a:t>
            </a:r>
          </a:p>
        </p:txBody>
      </p:sp>
      <p:sp>
        <p:nvSpPr>
          <p:cNvPr id="101" name="Oval 100"/>
          <p:cNvSpPr/>
          <p:nvPr/>
        </p:nvSpPr>
        <p:spPr>
          <a:xfrm>
            <a:off x="6482855" y="5214741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482855" y="5173466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PCC) Robert Bosch</a:t>
            </a:r>
          </a:p>
        </p:txBody>
      </p:sp>
      <p:sp>
        <p:nvSpPr>
          <p:cNvPr id="103" name="Oval 102"/>
          <p:cNvSpPr/>
          <p:nvPr/>
        </p:nvSpPr>
        <p:spPr>
          <a:xfrm>
            <a:off x="6482855" y="5391842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82855" y="5350567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PCC) P Project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482855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973392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965455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2020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923314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256564" y="3473348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256564" y="3432073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(PCC) Microsoft Data Center</a:t>
            </a:r>
          </a:p>
        </p:txBody>
      </p:sp>
      <p:sp>
        <p:nvSpPr>
          <p:cNvPr id="111" name="Oval 110"/>
          <p:cNvSpPr/>
          <p:nvPr/>
        </p:nvSpPr>
        <p:spPr>
          <a:xfrm>
            <a:off x="7256564" y="3650456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256564" y="3609181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D&amp;B) SilTerra expansion</a:t>
            </a:r>
          </a:p>
        </p:txBody>
      </p:sp>
      <p:sp>
        <p:nvSpPr>
          <p:cNvPr id="113" name="Oval 112"/>
          <p:cNvSpPr/>
          <p:nvPr/>
        </p:nvSpPr>
        <p:spPr>
          <a:xfrm>
            <a:off x="7256564" y="3827564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256564" y="3786289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(EPCM / D&amp;B) Soitec PR1A expansion</a:t>
            </a:r>
          </a:p>
        </p:txBody>
      </p:sp>
      <p:sp>
        <p:nvSpPr>
          <p:cNvPr id="115" name="Oval 114"/>
          <p:cNvSpPr/>
          <p:nvPr/>
        </p:nvSpPr>
        <p:spPr>
          <a:xfrm>
            <a:off x="7256564" y="412462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256564" y="408334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EPCM) Infineon IFKM3 expansion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256564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7747102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739164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2021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8697017" y="48439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030267" y="503763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030267" y="499635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D&amp;B) XFAB 40K expansion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030267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20805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512867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2022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470727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803977" y="412462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803977" y="408334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D&amp;B) Progressive Build P Project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803977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294514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9286577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0244436" y="48439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577686" y="503763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577686" y="4996358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D&amp;B) Hasegawa</a:t>
            </a:r>
          </a:p>
        </p:txBody>
      </p:sp>
      <p:sp>
        <p:nvSpPr>
          <p:cNvPr id="135" name="Oval 134"/>
          <p:cNvSpPr/>
          <p:nvPr/>
        </p:nvSpPr>
        <p:spPr>
          <a:xfrm>
            <a:off x="9577686" y="5214741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577686" y="5173466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(PCC) 160MW hyperscale data centre</a:t>
            </a:r>
          </a:p>
        </p:txBody>
      </p:sp>
      <p:sp>
        <p:nvSpPr>
          <p:cNvPr id="137" name="Oval 136"/>
          <p:cNvSpPr/>
          <p:nvPr/>
        </p:nvSpPr>
        <p:spPr>
          <a:xfrm>
            <a:off x="9577686" y="5511800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577686" y="5470525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(EPCC) ESCM Germany</a:t>
            </a:r>
          </a:p>
        </p:txBody>
      </p:sp>
      <p:sp>
        <p:nvSpPr>
          <p:cNvPr id="139" name="Oval 138"/>
          <p:cNvSpPr/>
          <p:nvPr/>
        </p:nvSpPr>
        <p:spPr>
          <a:xfrm>
            <a:off x="9577686" y="5688908"/>
            <a:ext cx="31750" cy="3175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577686" y="5647633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2A150"/>
                </a:solidFill>
                <a:latin typeface="Urbanist Medium"/>
                <a:ea typeface="Urbanist Medium"/>
                <a:cs typeface="Urbanist Medium"/>
              </a:rPr>
              <a:t>(EPCC) KLCC DCS chiller upgrading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9577686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0068223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060286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2025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1018145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0351395" y="3770414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351395" y="3729139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(D&amp;B) Tata Dholera DF1</a:t>
            </a:r>
          </a:p>
        </p:txBody>
      </p:sp>
      <p:sp>
        <p:nvSpPr>
          <p:cNvPr id="147" name="Oval 146"/>
          <p:cNvSpPr/>
          <p:nvPr/>
        </p:nvSpPr>
        <p:spPr>
          <a:xfrm>
            <a:off x="10351395" y="3947516"/>
            <a:ext cx="31750" cy="31750"/>
          </a:xfrm>
          <a:prstGeom prst="ellipse">
            <a:avLst/>
          </a:prstGeom>
          <a:solidFill>
            <a:srgbClr val="7A3D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0351395" y="3906241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7A3DB8"/>
                </a:solidFill>
                <a:latin typeface="Urbanist Medium"/>
                <a:ea typeface="Urbanist Medium"/>
                <a:cs typeface="Urbanist Medium"/>
              </a:rPr>
              <a:t>(EPCM / HU) Micron MSH</a:t>
            </a:r>
          </a:p>
        </p:txBody>
      </p:sp>
      <p:sp>
        <p:nvSpPr>
          <p:cNvPr id="149" name="Oval 148"/>
          <p:cNvSpPr/>
          <p:nvPr/>
        </p:nvSpPr>
        <p:spPr>
          <a:xfrm>
            <a:off x="10351395" y="4124623"/>
            <a:ext cx="31750" cy="3175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10351395" y="408334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2A150"/>
                </a:solidFill>
                <a:latin typeface="Urbanist Medium"/>
                <a:ea typeface="Urbanist Medium"/>
                <a:cs typeface="Urbanist Medium"/>
              </a:rPr>
              <a:t>(EPCC) GDC Putrajaya chiller upgrading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0351395" y="4659808"/>
            <a:ext cx="66675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841933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0833995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09600" y="6445250"/>
            <a:ext cx="40739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06 / 67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838263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2880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2880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0009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Global Footprint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Seven markets, from the Malaysian headquarters outward.</a:t>
            </a:r>
          </a:p>
        </p:txBody>
      </p:sp>
      <p:pic>
        <p:nvPicPr>
          <p:cNvPr id="10" name="Picture 9" descr="map-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590108"/>
            <a:ext cx="5270500" cy="2871591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1643361" y="4010222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81461" y="4048322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33861" y="4041972"/>
            <a:ext cx="749598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UNITED STATES</a:t>
            </a:r>
          </a:p>
        </p:txBody>
      </p:sp>
      <p:sp>
        <p:nvSpPr>
          <p:cNvPr id="14" name="Oval 13"/>
          <p:cNvSpPr/>
          <p:nvPr/>
        </p:nvSpPr>
        <p:spPr>
          <a:xfrm>
            <a:off x="2881909" y="3437338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20009" y="3475438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13895" y="3367488"/>
            <a:ext cx="423564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IRELAND</a:t>
            </a:r>
          </a:p>
        </p:txBody>
      </p:sp>
      <p:sp>
        <p:nvSpPr>
          <p:cNvPr id="17" name="Oval 16"/>
          <p:cNvSpPr/>
          <p:nvPr/>
        </p:nvSpPr>
        <p:spPr>
          <a:xfrm>
            <a:off x="3169145" y="3234931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207245" y="3273031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13634" y="3203181"/>
            <a:ext cx="411061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SWEDEN</a:t>
            </a:r>
          </a:p>
        </p:txBody>
      </p:sp>
      <p:sp>
        <p:nvSpPr>
          <p:cNvPr id="20" name="Oval 19"/>
          <p:cNvSpPr/>
          <p:nvPr/>
        </p:nvSpPr>
        <p:spPr>
          <a:xfrm>
            <a:off x="3158630" y="3491903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196730" y="3530003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21458" y="3657003"/>
            <a:ext cx="492722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GERMANY</a:t>
            </a:r>
          </a:p>
        </p:txBody>
      </p:sp>
      <p:sp>
        <p:nvSpPr>
          <p:cNvPr id="23" name="Oval 22"/>
          <p:cNvSpPr/>
          <p:nvPr/>
        </p:nvSpPr>
        <p:spPr>
          <a:xfrm>
            <a:off x="4104678" y="4102100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142778" y="4140200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5178" y="4133850"/>
            <a:ext cx="280492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INDIA</a:t>
            </a:r>
          </a:p>
        </p:txBody>
      </p:sp>
      <p:sp>
        <p:nvSpPr>
          <p:cNvPr id="26" name="Oval 25"/>
          <p:cNvSpPr/>
          <p:nvPr/>
        </p:nvSpPr>
        <p:spPr>
          <a:xfrm>
            <a:off x="4499966" y="4127995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538066" y="4166095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90466" y="4045445"/>
            <a:ext cx="498475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9" name="Oval 28"/>
          <p:cNvSpPr/>
          <p:nvPr/>
        </p:nvSpPr>
        <p:spPr>
          <a:xfrm>
            <a:off x="4507808" y="4143775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45908" y="4181875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8308" y="4315225"/>
            <a:ext cx="57825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SINGAPORE</a:t>
            </a:r>
          </a:p>
        </p:txBody>
      </p:sp>
      <p:pic>
        <p:nvPicPr>
          <p:cNvPr id="32" name="Picture 31" descr="d732deedda998cc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3000" y="2318645"/>
            <a:ext cx="292100" cy="14605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629400" y="2293245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1995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7400" y="2299595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Malaysia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7400" y="2482456"/>
            <a:ext cx="4445000" cy="2477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51"/>
              </a:lnSpc>
            </a:pPr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Turnkey design, procurement, construction and commissioning for hi-tech clients. Selangor (HQ), Penang, Johor and Kuching.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23000" y="2838253"/>
            <a:ext cx="53594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2c277a8d47ac42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4259" y="2952553"/>
            <a:ext cx="289582" cy="18256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629400" y="2927153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7400" y="2933503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Sweden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7400" y="3116364"/>
            <a:ext cx="44450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Gigafactory construction for EV battery manufacture, part of Europe’s clean and digital transition.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23000" y="3338709"/>
            <a:ext cx="53594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2" name="Picture 41" descr="c36c0a20ee0fb20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4621" y="3453009"/>
            <a:ext cx="288859" cy="19466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629400" y="3427609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37400" y="3433959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Singapore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7400" y="3616820"/>
            <a:ext cx="44450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Design &amp; build EPCM services to global clients in the semiconductor industry.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23000" y="3839172"/>
            <a:ext cx="53594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d61d50bfbd66426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4259" y="3953472"/>
            <a:ext cx="289582" cy="182562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629400" y="3928072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37400" y="3934422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Germany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37400" y="4117283"/>
            <a:ext cx="44450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EPCC services following the semiconductor industry expansion in Europe.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23000" y="4339628"/>
            <a:ext cx="53594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2" name="Picture 51" descr="480a93db4bbe9fe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4621" y="4453928"/>
            <a:ext cx="288859" cy="194666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29400" y="4428528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37400" y="4434878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India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37400" y="4617739"/>
            <a:ext cx="44450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D&amp;B turnkey delivery for India’s first wafer fab.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23000" y="4840091"/>
            <a:ext cx="53594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7" name="Picture 56" descr="f872ae0da7726dc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24621" y="4954391"/>
            <a:ext cx="288859" cy="194666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6629400" y="4928991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37400" y="4935341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United States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37400" y="5118202"/>
            <a:ext cx="44450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Entry to the US following the localisation of advanced technology facilities.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23000" y="5340547"/>
            <a:ext cx="53594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2" name="Picture 61" descr="b8d461d3ed08853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24621" y="5454847"/>
            <a:ext cx="288859" cy="194666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6629400" y="5429447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37400" y="5435797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Ireland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37400" y="5618658"/>
            <a:ext cx="44450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Incorporated to support a client’s wafer fabrication project.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9600" y="6445250"/>
            <a:ext cx="40511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07 / 67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838161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079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079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1997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Core Values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Six commitments that govern how every project is run. Not words, but working rules.</a:t>
            </a:r>
          </a:p>
        </p:txBody>
      </p:sp>
      <p:pic>
        <p:nvPicPr>
          <p:cNvPr id="10" name="Picture 9" descr="val-safety.jpg"/>
          <p:cNvPicPr>
            <a:picLocks noChangeAspect="1"/>
          </p:cNvPicPr>
          <p:nvPr/>
        </p:nvPicPr>
        <p:blipFill>
          <a:blip r:embed="rId3"/>
          <a:srcRect t="3858" b="3858"/>
          <a:stretch>
            <a:fillRect/>
          </a:stretch>
        </p:blipFill>
        <p:spPr>
          <a:xfrm>
            <a:off x="609600" y="1701800"/>
            <a:ext cx="3522066" cy="135483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3056630"/>
            <a:ext cx="3522066" cy="874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3056630"/>
            <a:ext cx="3522066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550" y="284708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49300" y="2878830"/>
            <a:ext cx="393700" cy="3937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99854683d601e2a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075" y="2983605"/>
            <a:ext cx="184150" cy="1841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727748" y="3088380"/>
            <a:ext cx="276917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>
                    <a:alpha val="13000"/>
                  </a:srgbClr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300" y="3310630"/>
            <a:ext cx="3242666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 spc="-21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Safety First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300" y="3533775"/>
            <a:ext cx="2667000" cy="2524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7"/>
              </a:lnSpc>
            </a:pPr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Our services and works are carried out to the highest standard of safety and ethics.</a:t>
            </a:r>
          </a:p>
        </p:txBody>
      </p:sp>
      <p:pic>
        <p:nvPicPr>
          <p:cNvPr id="19" name="Picture 18" descr="val-quality.jpg"/>
          <p:cNvPicPr>
            <a:picLocks noChangeAspect="1"/>
          </p:cNvPicPr>
          <p:nvPr/>
        </p:nvPicPr>
        <p:blipFill>
          <a:blip r:embed="rId5"/>
          <a:srcRect t="3860" b="3860"/>
          <a:stretch>
            <a:fillRect/>
          </a:stretch>
        </p:blipFill>
        <p:spPr>
          <a:xfrm>
            <a:off x="4334866" y="1701800"/>
            <a:ext cx="3522167" cy="135483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334866" y="3056630"/>
            <a:ext cx="3522167" cy="874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34866" y="3056630"/>
            <a:ext cx="35221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442816" y="284708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74566" y="2878830"/>
            <a:ext cx="393700" cy="3937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6ec4f700394a58e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9341" y="2983605"/>
            <a:ext cx="184150" cy="1841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396162" y="3088380"/>
            <a:ext cx="333870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>
                    <a:alpha val="13000"/>
                  </a:srgbClr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4566" y="3310630"/>
            <a:ext cx="3242767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 spc="-21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Quality Consistency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74566" y="3533775"/>
            <a:ext cx="2667000" cy="2524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7"/>
              </a:lnSpc>
            </a:pPr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We take pride in the quality of solutions delivered, to achieve maximum client satisfaction.</a:t>
            </a:r>
          </a:p>
        </p:txBody>
      </p:sp>
      <p:pic>
        <p:nvPicPr>
          <p:cNvPr id="28" name="Picture 27" descr="val-integrity.jpg"/>
          <p:cNvPicPr>
            <a:picLocks noChangeAspect="1"/>
          </p:cNvPicPr>
          <p:nvPr/>
        </p:nvPicPr>
        <p:blipFill>
          <a:blip r:embed="rId7"/>
          <a:srcRect t="3860" b="3860"/>
          <a:stretch>
            <a:fillRect/>
          </a:stretch>
        </p:blipFill>
        <p:spPr>
          <a:xfrm>
            <a:off x="8060233" y="1701800"/>
            <a:ext cx="3522167" cy="135483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8060233" y="3056630"/>
            <a:ext cx="3522167" cy="874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0233" y="3056630"/>
            <a:ext cx="35221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168183" y="284708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199933" y="2878830"/>
            <a:ext cx="393700" cy="3937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55ebaca750fd997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04708" y="2983605"/>
            <a:ext cx="184150" cy="1841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1111509" y="3088380"/>
            <a:ext cx="343891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>
                    <a:alpha val="13000"/>
                  </a:srgbClr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99933" y="3310630"/>
            <a:ext cx="3242767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 spc="-21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Honesty and Integrity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9933" y="3533775"/>
            <a:ext cx="2667000" cy="2524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7"/>
              </a:lnSpc>
            </a:pPr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Our core code of conduct, fostering trust, accountability, professionalism and ethical practice.</a:t>
            </a:r>
          </a:p>
        </p:txBody>
      </p:sp>
      <p:pic>
        <p:nvPicPr>
          <p:cNvPr id="37" name="Picture 36" descr="val-efficiency.jpg"/>
          <p:cNvPicPr>
            <a:picLocks noChangeAspect="1"/>
          </p:cNvPicPr>
          <p:nvPr/>
        </p:nvPicPr>
        <p:blipFill>
          <a:blip r:embed="rId9"/>
          <a:srcRect t="3858" b="3858"/>
          <a:stretch>
            <a:fillRect/>
          </a:stretch>
        </p:blipFill>
        <p:spPr>
          <a:xfrm>
            <a:off x="609600" y="4121150"/>
            <a:ext cx="3522066" cy="135483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609600" y="5475980"/>
            <a:ext cx="3522066" cy="874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9600" y="5475980"/>
            <a:ext cx="3522066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17550" y="526643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49300" y="5298180"/>
            <a:ext cx="393700" cy="3937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2" name="Picture 41" descr="38706b2873ba3ef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4075" y="5402955"/>
            <a:ext cx="184150" cy="18415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639744" y="5507730"/>
            <a:ext cx="364928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>
                    <a:alpha val="13000"/>
                  </a:srgbClr>
                </a:solidFill>
                <a:latin typeface="Poppins"/>
                <a:ea typeface="Poppins"/>
                <a:cs typeface="Poppins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300" y="5729980"/>
            <a:ext cx="3242666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 spc="-21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Efficiency &amp; Proficiency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300" y="5953125"/>
            <a:ext cx="2667000" cy="2524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7"/>
              </a:lnSpc>
            </a:pPr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Committed to maximising available resources to achieve the best result collectively.</a:t>
            </a:r>
          </a:p>
        </p:txBody>
      </p:sp>
      <p:pic>
        <p:nvPicPr>
          <p:cNvPr id="46" name="Picture 45" descr="value-5.jpg"/>
          <p:cNvPicPr>
            <a:picLocks noChangeAspect="1"/>
          </p:cNvPicPr>
          <p:nvPr/>
        </p:nvPicPr>
        <p:blipFill>
          <a:blip r:embed="rId11"/>
          <a:srcRect t="30332" b="30332"/>
          <a:stretch>
            <a:fillRect/>
          </a:stretch>
        </p:blipFill>
        <p:spPr>
          <a:xfrm>
            <a:off x="4334866" y="4121150"/>
            <a:ext cx="3522167" cy="1354830"/>
          </a:xfrm>
          <a:prstGeom prst="rect">
            <a:avLst/>
          </a:prstGeom>
        </p:spPr>
      </p:pic>
      <p:sp>
        <p:nvSpPr>
          <p:cNvPr id="47" name="Rectangle 46"/>
          <p:cNvSpPr/>
          <p:nvPr/>
        </p:nvSpPr>
        <p:spPr>
          <a:xfrm>
            <a:off x="4334866" y="5475980"/>
            <a:ext cx="3522167" cy="874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34866" y="5475980"/>
            <a:ext cx="35221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442816" y="526643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474566" y="5298180"/>
            <a:ext cx="393700" cy="3937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1" name="Picture 50" descr="ad40577d8b8373a3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9341" y="5402955"/>
            <a:ext cx="184150" cy="18415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7373042" y="5507730"/>
            <a:ext cx="356991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>
                    <a:alpha val="13000"/>
                  </a:srgbClr>
                </a:solidFill>
                <a:latin typeface="Poppins"/>
                <a:ea typeface="Poppins"/>
                <a:cs typeface="Poppins"/>
              </a:rPr>
              <a:t>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74566" y="5729980"/>
            <a:ext cx="3242767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 spc="-21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Engineering Capabilities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4566" y="5953125"/>
            <a:ext cx="2667000" cy="2524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7"/>
              </a:lnSpc>
            </a:pPr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Our way of working revolves around engineering principles, developing precise and sustainable solutions.</a:t>
            </a:r>
          </a:p>
        </p:txBody>
      </p:sp>
      <p:pic>
        <p:nvPicPr>
          <p:cNvPr id="55" name="Picture 54" descr="val-excellence.jpg"/>
          <p:cNvPicPr>
            <a:picLocks noChangeAspect="1"/>
          </p:cNvPicPr>
          <p:nvPr/>
        </p:nvPicPr>
        <p:blipFill>
          <a:blip r:embed="rId13"/>
          <a:srcRect t="3860" b="3860"/>
          <a:stretch>
            <a:fillRect/>
          </a:stretch>
        </p:blipFill>
        <p:spPr>
          <a:xfrm>
            <a:off x="8060233" y="4121150"/>
            <a:ext cx="3522167" cy="1354830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8060233" y="5475980"/>
            <a:ext cx="3522167" cy="874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060233" y="5475980"/>
            <a:ext cx="35221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8168183" y="526643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8199933" y="5298180"/>
            <a:ext cx="393700" cy="3937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0" name="Picture 59" descr="1654ba9e054b8e3c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04708" y="5402955"/>
            <a:ext cx="184150" cy="18415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1102181" y="5507730"/>
            <a:ext cx="353219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>
                    <a:alpha val="13000"/>
                  </a:srgbClr>
                </a:solidFill>
                <a:latin typeface="Poppins"/>
                <a:ea typeface="Poppins"/>
                <a:cs typeface="Poppins"/>
              </a:rPr>
              <a:t>06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99933" y="5729980"/>
            <a:ext cx="3242767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 spc="-21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Pursuit of Excellence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99933" y="5953125"/>
            <a:ext cx="2667000" cy="2524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7"/>
              </a:lnSpc>
            </a:pPr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Devoted to excellence in all our works, providing sustainable solutions to complex challenges.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9600" y="6445250"/>
            <a:ext cx="40719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08 / 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38263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27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27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78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Business Units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delivery capabilities under one group, covering the full chain.</a:t>
            </a:r>
          </a:p>
        </p:txBody>
      </p:sp>
      <p:pic>
        <p:nvPicPr>
          <p:cNvPr id="10" name="Picture 9" descr="bu-epc.jpg"/>
          <p:cNvPicPr>
            <a:picLocks noChangeAspect="1"/>
          </p:cNvPicPr>
          <p:nvPr/>
        </p:nvPicPr>
        <p:blipFill>
          <a:blip r:embed="rId3"/>
          <a:srcRect l="2737" r="2737"/>
          <a:stretch>
            <a:fillRect/>
          </a:stretch>
        </p:blipFill>
        <p:spPr>
          <a:xfrm>
            <a:off x="609600" y="1701800"/>
            <a:ext cx="3539033" cy="2815431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695031"/>
            <a:ext cx="3539033" cy="16549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695031"/>
            <a:ext cx="3539033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802981"/>
            <a:ext cx="3234233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1" i="0" spc="-6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5171281"/>
            <a:ext cx="3234233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IAQ SOLUTIONS SDN BHD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5323681"/>
            <a:ext cx="3234233" cy="37108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22"/>
              </a:lnSpc>
            </a:pPr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Engineering, Procurement and Construction (EPC)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5754688"/>
            <a:ext cx="3234233" cy="4159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EPCC from conception to operation, completion and maintenance. Every stage managed, from initial design through commissioning, so clients in hi-tech industries can bring their visions to life.</a:t>
            </a:r>
          </a:p>
        </p:txBody>
      </p:sp>
      <p:pic>
        <p:nvPicPr>
          <p:cNvPr id="17" name="Picture 16" descr="bu-utilities.jpg"/>
          <p:cNvPicPr>
            <a:picLocks noChangeAspect="1"/>
          </p:cNvPicPr>
          <p:nvPr/>
        </p:nvPicPr>
        <p:blipFill>
          <a:blip r:embed="rId4"/>
          <a:srcRect l="2737" r="2737"/>
          <a:stretch>
            <a:fillRect/>
          </a:stretch>
        </p:blipFill>
        <p:spPr>
          <a:xfrm>
            <a:off x="4326433" y="1701800"/>
            <a:ext cx="3539033" cy="2815431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326433" y="4695031"/>
            <a:ext cx="3539033" cy="16549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26433" y="4695031"/>
            <a:ext cx="3539033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78833" y="4802981"/>
            <a:ext cx="3234233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1" i="0" spc="-6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8833" y="5171281"/>
            <a:ext cx="3234233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IAQ UTILITY SOLUTIONS SDN BHD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8833" y="5323681"/>
            <a:ext cx="3234233" cy="37108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22"/>
              </a:lnSpc>
            </a:pPr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Process Critical Utilities &amp; Total Tool Installation Solutions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8833" y="5754688"/>
            <a:ext cx="3234233" cy="4159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EPCM partner for semiconductor manufacturing: process-critical utility infrastructure and total tool installation, bridging facility readiness and manufacturing start-up to accelerate fab ramp-up.</a:t>
            </a:r>
          </a:p>
        </p:txBody>
      </p:sp>
      <p:pic>
        <p:nvPicPr>
          <p:cNvPr id="24" name="Picture 23" descr="bu-energy.jpg"/>
          <p:cNvPicPr>
            <a:picLocks noChangeAspect="1"/>
          </p:cNvPicPr>
          <p:nvPr/>
        </p:nvPicPr>
        <p:blipFill>
          <a:blip r:embed="rId5"/>
          <a:srcRect l="2737" r="2737"/>
          <a:stretch>
            <a:fillRect/>
          </a:stretch>
        </p:blipFill>
        <p:spPr>
          <a:xfrm>
            <a:off x="8043266" y="1701800"/>
            <a:ext cx="3539033" cy="2815431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8043266" y="4695031"/>
            <a:ext cx="3539033" cy="16549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3266" y="4695031"/>
            <a:ext cx="3539033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95666" y="4802981"/>
            <a:ext cx="3234233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1" i="0" spc="-6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95666" y="5171281"/>
            <a:ext cx="3234233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IAQ ENERGY FACILITY MANAGEMENT SDN BHD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5666" y="5323681"/>
            <a:ext cx="3234233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Energy Management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5666" y="5586813"/>
            <a:ext cx="3234233" cy="4159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Energy management solutions that optimise operations and reduce carbon footprint, keeping facilities running at the highest levels of efficiency and sustainability.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6445250"/>
            <a:ext cx="40729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09 / 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38161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079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079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1997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Delivery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The three models IAQ contracts under, across the full life of a facility.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10972800" cy="12747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1701800"/>
            <a:ext cx="1117600" cy="1274762"/>
          </a:xfrm>
          <a:prstGeom prst="rect">
            <a:avLst/>
          </a:prstGeom>
          <a:solidFill>
            <a:srgbClr val="EC2326">
              <a:alpha val="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2123281"/>
            <a:ext cx="1117600" cy="42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400" b="1" i="0" spc="-84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EPCM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30400" y="1847850"/>
            <a:ext cx="9448800" cy="222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50" b="0" i="0" spc="-25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Engineering, Procurement &amp; Construction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30400" y="2139950"/>
            <a:ext cx="944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Management of engineering, procurement and construction for semiconductor manufacturing, bridging facility readiness and manufacturing start-up to accelerate fab ramp-up.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30400" y="2417762"/>
            <a:ext cx="718445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30400" y="2481262"/>
            <a:ext cx="718445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ENGINEERING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80595" y="2417762"/>
            <a:ext cx="753167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80595" y="2481262"/>
            <a:ext cx="753167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PROCUREMENT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65512" y="2417762"/>
            <a:ext cx="794544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65512" y="2481262"/>
            <a:ext cx="794544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CONSTRUCTION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1806" y="2417762"/>
            <a:ext cx="840778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1806" y="2481262"/>
            <a:ext cx="840778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COMMISSIONING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64334" y="2417762"/>
            <a:ext cx="617836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64334" y="2481262"/>
            <a:ext cx="617836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OPERATION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30400" y="2684462"/>
            <a:ext cx="94488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SilTerra expansion · Soitec PR1A expansion · Infineon IFKM3 expansion · Micron MSH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3388519"/>
            <a:ext cx="10972800" cy="12747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9600" y="3388519"/>
            <a:ext cx="1117600" cy="1274762"/>
          </a:xfrm>
          <a:prstGeom prst="rect">
            <a:avLst/>
          </a:prstGeom>
          <a:solidFill>
            <a:srgbClr val="EC2326">
              <a:alpha val="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3810000"/>
            <a:ext cx="1117600" cy="42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400" b="1" i="0" spc="-84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EPCC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30400" y="3534569"/>
            <a:ext cx="9448800" cy="222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50" b="0" i="0" spc="-25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Engineering, Procurement, Construction &amp; Commissioning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30400" y="3826669"/>
            <a:ext cx="944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Full turnkey delivery from conception to operation, completion and maintenance, with every stage managed from initial design through commissioning.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30400" y="4104481"/>
            <a:ext cx="718445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30400" y="4167981"/>
            <a:ext cx="718445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ENGINEERING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80595" y="4104481"/>
            <a:ext cx="753167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80595" y="4167981"/>
            <a:ext cx="753167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PROCUREMENT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65512" y="4104481"/>
            <a:ext cx="794544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65512" y="4167981"/>
            <a:ext cx="794544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CONSTRUCTION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91806" y="4104481"/>
            <a:ext cx="840778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91806" y="4167981"/>
            <a:ext cx="840778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COMMISSIONING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164334" y="4104481"/>
            <a:ext cx="617836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64334" y="4167981"/>
            <a:ext cx="617836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OPERATION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30400" y="4371181"/>
            <a:ext cx="94488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ST Microelectronics · SilTerra FAB · ESCM Germany · KLCC DCS chiller upgrading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9600" y="5075238"/>
            <a:ext cx="10972800" cy="12747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9600" y="5075238"/>
            <a:ext cx="1117600" cy="1274762"/>
          </a:xfrm>
          <a:prstGeom prst="rect">
            <a:avLst/>
          </a:prstGeom>
          <a:solidFill>
            <a:srgbClr val="EC2326">
              <a:alpha val="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9600" y="5496719"/>
            <a:ext cx="1117600" cy="42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400" b="1" i="0" spc="-84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EFM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30400" y="5221288"/>
            <a:ext cx="9448800" cy="222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50" b="0" i="0" spc="-25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Energy Facility Management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30400" y="5513388"/>
            <a:ext cx="944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Ongoing energy and facility management that optimises operations and reduces carbon footprint, keeping facilities at the highest levels of efficiency.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930400" y="5791200"/>
            <a:ext cx="718445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930400" y="5854700"/>
            <a:ext cx="718445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ENGINEERING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80595" y="5791200"/>
            <a:ext cx="753167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80595" y="5854700"/>
            <a:ext cx="753167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PROCUREMENT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465512" y="5791200"/>
            <a:ext cx="794544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65512" y="5854700"/>
            <a:ext cx="794544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CONSTRUCTION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91806" y="5791200"/>
            <a:ext cx="840778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91806" y="5854700"/>
            <a:ext cx="840778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COMMISSIONING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164334" y="5791200"/>
            <a:ext cx="617836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64334" y="5854700"/>
            <a:ext cx="617836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OPERATION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30400" y="6057900"/>
            <a:ext cx="94488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KLCC DCC Plant · GDC Putrajaya chiller upgrading · Pagoh Edu Hub DCS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6445250"/>
            <a:ext cx="38665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10 / 67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38161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258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258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781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Scope of Services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Eight packages self-performed under one contract, set against the building they run.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3225800" cy="1095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sys-cs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402" y="1989931"/>
            <a:ext cx="1066603" cy="51901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943100" y="1984870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43100" y="2061070"/>
            <a:ext cx="1752600" cy="31998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70"/>
              </a:lnSpc>
            </a:pPr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Civil, Structural &amp; Architectural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2389880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Greenfield and brownfield CSA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2886075"/>
            <a:ext cx="3225800" cy="1095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sys-acm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402" y="3173412"/>
            <a:ext cx="1066603" cy="5207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943100" y="3243364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43100" y="3319564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Air Conditioning System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43100" y="3499841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ACMV, make-up air, recirculation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4070350"/>
            <a:ext cx="3225800" cy="1095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sys-electric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402" y="4381005"/>
            <a:ext cx="1066603" cy="47406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943100" y="4427639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43100" y="4503839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HT &amp; LV Electrical System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43100" y="4684116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Up to 33kV substations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5254625"/>
            <a:ext cx="3225800" cy="1095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04900" y="5624512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905bb009fcc2dd9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3800" y="5694362"/>
            <a:ext cx="177800" cy="177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943100" y="5611914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43100" y="5688114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Fire Protection System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43100" y="5868391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Detection, suppression, compliance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00500" y="1701800"/>
            <a:ext cx="41910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31917" y="3049988"/>
            <a:ext cx="152816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0" i="0" spc="13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ONE MODEL, EIGHT PACKAGES</a:t>
            </a:r>
          </a:p>
        </p:txBody>
      </p:sp>
      <p:pic>
        <p:nvPicPr>
          <p:cNvPr id="33" name="Picture 32" descr="fab-sec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1088" y="3291288"/>
            <a:ext cx="3809825" cy="1231005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445000" y="4700092"/>
            <a:ext cx="3302000" cy="2841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37"/>
              </a:lnSpc>
            </a:pPr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Every package on this page is installed in the same building, by IAQ’s own crews, under one programme.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56600" y="1701800"/>
            <a:ext cx="3225800" cy="1095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6" name="Picture 35" descr="sys-cleanroo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96300" y="2005311"/>
            <a:ext cx="1066698" cy="48825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690100" y="2059089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0100" y="2135289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Cleanroom System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0100" y="2315566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ISO 3 to ISO 8 · Class 1 to Class 100K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56600" y="2886075"/>
            <a:ext cx="3225800" cy="1095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1" name="Picture 40" descr="sys-utilitie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96402" y="3186309"/>
            <a:ext cx="1066603" cy="494906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690100" y="3243364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0100" y="3319564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Process Utilities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0100" y="3499841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Water, chemical, gas and exhaust systems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56600" y="4070350"/>
            <a:ext cx="3225800" cy="1095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851900" y="4440238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49ece152f686524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40800" y="4510088"/>
            <a:ext cx="177800" cy="1778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690100" y="4427639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0100" y="4503839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Facility Monitoring &amp; Control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90100" y="4684116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FMCS, BMS, PA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56600" y="5254625"/>
            <a:ext cx="3225800" cy="1095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2" name="Picture 51" descr="sys-hookup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96402" y="5571528"/>
            <a:ext cx="1066603" cy="461467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690100" y="5611914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90100" y="5688114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Tools Hookup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90100" y="5868391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Progressive tool install and hookup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9600" y="6445250"/>
            <a:ext cx="36334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11 / 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38263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27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27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78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Industry Focus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Seven sectors, one discipline: contamination control under code and class.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infineon-kulim.jpg"/>
          <p:cNvPicPr>
            <a:picLocks noChangeAspect="1"/>
          </p:cNvPicPr>
          <p:nvPr/>
        </p:nvPicPr>
        <p:blipFill>
          <a:blip r:embed="rId3"/>
          <a:srcRect t="14386" b="14386"/>
          <a:stretch>
            <a:fillRect/>
          </a:stretch>
        </p:blipFill>
        <p:spPr>
          <a:xfrm>
            <a:off x="609600" y="1701800"/>
            <a:ext cx="2628900" cy="1256113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09600" y="29579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2d759c1b963bb9b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600" y="3103963"/>
            <a:ext cx="279400" cy="279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6600" y="34976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Semiconductor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600" y="36919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Wafer fab, advanced packaging, test &amp; assembly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90900" y="17018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microsoft-kul03.jpg"/>
          <p:cNvPicPr>
            <a:picLocks noChangeAspect="1"/>
          </p:cNvPicPr>
          <p:nvPr/>
        </p:nvPicPr>
        <p:blipFill>
          <a:blip r:embed="rId5"/>
          <a:srcRect t="14184" b="14184"/>
          <a:stretch>
            <a:fillRect/>
          </a:stretch>
        </p:blipFill>
        <p:spPr>
          <a:xfrm>
            <a:off x="3390900" y="1701800"/>
            <a:ext cx="2628900" cy="1256113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3390900" y="29579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7b5162a93860daa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17900" y="3103963"/>
            <a:ext cx="279400" cy="279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517900" y="34976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Data Centre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17900" y="36919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Hyperscale cooling, security, uptime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17018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northvolt.jpg"/>
          <p:cNvPicPr>
            <a:picLocks noChangeAspect="1"/>
          </p:cNvPicPr>
          <p:nvPr/>
        </p:nvPicPr>
        <p:blipFill>
          <a:blip r:embed="rId7"/>
          <a:srcRect t="14308" b="14308"/>
          <a:stretch>
            <a:fillRect/>
          </a:stretch>
        </p:blipFill>
        <p:spPr>
          <a:xfrm>
            <a:off x="6172200" y="1701800"/>
            <a:ext cx="2628900" cy="1256113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172200" y="29579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5" name="Picture 24" descr="2254e19f3fd52ca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99200" y="3103963"/>
            <a:ext cx="279400" cy="279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299200" y="34976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EV Battery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99200" y="36919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Dry rooms, moisture control, explosion proofing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53500" y="17018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9" name="Picture 28" descr="klcc-dcp.jpg"/>
          <p:cNvPicPr>
            <a:picLocks noChangeAspect="1"/>
          </p:cNvPicPr>
          <p:nvPr/>
        </p:nvPicPr>
        <p:blipFill>
          <a:blip r:embed="rId9"/>
          <a:srcRect t="14308" b="14308"/>
          <a:stretch>
            <a:fillRect/>
          </a:stretch>
        </p:blipFill>
        <p:spPr>
          <a:xfrm>
            <a:off x="8953500" y="1701800"/>
            <a:ext cx="2628900" cy="1256113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8953500" y="29579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42abb2a0250a263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80500" y="3103963"/>
            <a:ext cx="279400" cy="2794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80500" y="34976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District Cooling &amp; Heating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80500" y="36919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Urban energy plant and distribution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600" y="41021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5" name="Picture 34" descr="first-solar.jpg"/>
          <p:cNvPicPr>
            <a:picLocks noChangeAspect="1"/>
          </p:cNvPicPr>
          <p:nvPr/>
        </p:nvPicPr>
        <p:blipFill>
          <a:blip r:embed="rId11"/>
          <a:srcRect t="14400" b="14400"/>
          <a:stretch>
            <a:fillRect/>
          </a:stretch>
        </p:blipFill>
        <p:spPr>
          <a:xfrm>
            <a:off x="609600" y="4102100"/>
            <a:ext cx="2628900" cy="1256113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609600" y="53582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615d111e96fdac7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6600" y="5504263"/>
            <a:ext cx="279400" cy="2794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36600" y="58979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Photovoltaics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6600" y="60922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Cell and module lines, toxic material handling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90900" y="41021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1" name="Picture 40" descr="pharmaniaga.jpg"/>
          <p:cNvPicPr>
            <a:picLocks noChangeAspect="1"/>
          </p:cNvPicPr>
          <p:nvPr/>
        </p:nvPicPr>
        <p:blipFill>
          <a:blip r:embed="rId13"/>
          <a:srcRect t="14164" b="14164"/>
          <a:stretch>
            <a:fillRect/>
          </a:stretch>
        </p:blipFill>
        <p:spPr>
          <a:xfrm>
            <a:off x="3390900" y="4102100"/>
            <a:ext cx="2628900" cy="1256113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3390900" y="53582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2" descr="8ffbfbf647a81329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17900" y="5504263"/>
            <a:ext cx="279400" cy="2794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3517900" y="58979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Pharmaceuticals &amp; Hospitals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17900" y="60922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GMP grades, regulated environments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72200" y="41021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ind-food.jpg"/>
          <p:cNvPicPr>
            <a:picLocks noChangeAspect="1"/>
          </p:cNvPicPr>
          <p:nvPr/>
        </p:nvPicPr>
        <p:blipFill>
          <a:blip r:embed="rId15"/>
          <a:srcRect t="14355" b="14355"/>
          <a:stretch>
            <a:fillRect/>
          </a:stretch>
        </p:blipFill>
        <p:spPr>
          <a:xfrm>
            <a:off x="6172200" y="4102100"/>
            <a:ext cx="2628900" cy="1256113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6172200" y="53582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9" name="Picture 48" descr="733fe00a3df82e6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99200" y="5504263"/>
            <a:ext cx="279400" cy="2794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6299200" y="58979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Food &amp; Beverage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99200" y="60922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Hygienic design, quality and safety standards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953500" y="4102100"/>
            <a:ext cx="2628900" cy="22479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3" name="Picture 52" descr="fd352321f5524ec4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69400" y="4779067"/>
            <a:ext cx="355600" cy="3556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9169400" y="5268017"/>
            <a:ext cx="1132878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Urbanist SemiBold"/>
                <a:ea typeface="Urbanist SemiBold"/>
                <a:cs typeface="Urbanist SemiBold"/>
              </a:rPr>
              <a:t>Your facility next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69400" y="5538489"/>
            <a:ext cx="1482427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Total facility solutions, end to end.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9600" y="6445250"/>
            <a:ext cx="38387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12 / 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38161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090141"/>
            <a:ext cx="78769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5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PART 02 OF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99641"/>
            <a:ext cx="5279428" cy="169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0" b="1" i="0" spc="-475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299816"/>
            <a:ext cx="5279428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0" i="0" spc="-75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Project 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853459"/>
            <a:ext cx="5279428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140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SECTIONS 02.1 TO 02.47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126509"/>
            <a:ext cx="5279428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428525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235+ projects completed across three regions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48210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Over 1.5 million m² of cleanroom built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67895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ISO 3 to ISO 8 · Class 1 to Class 100K</a:t>
            </a:r>
          </a:p>
        </p:txBody>
      </p:sp>
      <p:pic>
        <p:nvPicPr>
          <p:cNvPr id="15" name="Picture 14" descr="refs-cr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4628" y="0"/>
            <a:ext cx="5947372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9600" y="304800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445250"/>
            <a:ext cx="381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13 / 67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298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298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4181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Portfolio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How the reference book breaks down by region, and which sections cover what.</a:t>
            </a:r>
          </a:p>
        </p:txBody>
      </p:sp>
      <p:pic>
        <p:nvPicPr>
          <p:cNvPr id="10" name="Picture 9" descr="map-my-s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100" y="1882625"/>
            <a:ext cx="3395066" cy="251738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580833"/>
            <a:ext cx="3522066" cy="952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580833"/>
            <a:ext cx="3522066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300" y="4720533"/>
            <a:ext cx="324266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02.2 TO 02.4 · 02.8 TO 02.10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300" y="4834833"/>
            <a:ext cx="3242666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300" y="5071669"/>
            <a:ext cx="3242666" cy="2730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00"/>
              </a:lnSpc>
            </a:pPr>
            <a:r>
              <a:rPr sz="80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Semiconductor, data centre, pharmaceutical, photovoltaics, district cooling and energy.</a:t>
            </a:r>
          </a:p>
        </p:txBody>
      </p:sp>
      <p:pic>
        <p:nvPicPr>
          <p:cNvPr id="16" name="Picture 15" descr="map-europ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8366" y="1809445"/>
            <a:ext cx="3395167" cy="2663743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334866" y="4580833"/>
            <a:ext cx="3522167" cy="952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4866" y="4580833"/>
            <a:ext cx="35221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4566" y="4720533"/>
            <a:ext cx="324276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02.5 TO 02.6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4566" y="4834833"/>
            <a:ext cx="3242767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Europe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4566" y="5071669"/>
            <a:ext cx="3242767" cy="2730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00"/>
              </a:lnSpc>
            </a:pPr>
            <a:r>
              <a:rPr sz="80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EV battery gigafactories, wafer fabs and advanced semiconductor in Sweden, Norway, France and Poland.</a:t>
            </a:r>
          </a:p>
        </p:txBody>
      </p:sp>
      <p:pic>
        <p:nvPicPr>
          <p:cNvPr id="22" name="Picture 21" descr="map-china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3733" y="1870680"/>
            <a:ext cx="3395167" cy="2541272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8060233" y="4580833"/>
            <a:ext cx="3522167" cy="952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60233" y="4580833"/>
            <a:ext cx="35221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99933" y="4720533"/>
            <a:ext cx="324276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9933" y="4834833"/>
            <a:ext cx="3242767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9933" y="5071669"/>
            <a:ext cx="3242767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Semiconductor, display, pharmaceutical, automotive and R&amp;D facilities.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5698433"/>
            <a:ext cx="3513633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070"/>
              </a:lnSpc>
            </a:pPr>
            <a:r>
              <a:rPr sz="2300" b="1" i="0" spc="-69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235</a:t>
            </a:r>
            <a:r>
              <a:rPr sz="1300" b="0" i="0" spc="-13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107309"/>
            <a:ext cx="35136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PROJECTS COMPLETED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39133" y="5698433"/>
            <a:ext cx="3513633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070"/>
              </a:lnSpc>
            </a:pPr>
            <a:r>
              <a:rPr sz="2300" b="1" i="0" spc="-69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1.5</a:t>
            </a:r>
            <a:r>
              <a:rPr sz="1300" b="0" i="0" spc="-13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mil m²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39133" y="6107309"/>
            <a:ext cx="35136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 BUILT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68666" y="5698433"/>
            <a:ext cx="3513633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69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68666" y="6107309"/>
            <a:ext cx="35136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CONTRACT MODELS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68666" y="6240659"/>
            <a:ext cx="3513633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GC · EPCC · EPCM · PCC · Tool Hookup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445250"/>
            <a:ext cx="37960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14 / 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441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441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5613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Semiconductor · Malaysia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Wafer fab, advanced packaging, test and assembly. The full reference list follows from 02.11.</a:t>
            </a:r>
          </a:p>
        </p:txBody>
      </p:sp>
      <p:pic>
        <p:nvPicPr>
          <p:cNvPr id="10" name="Picture 9" descr="infineon-kulim.jpg"/>
          <p:cNvPicPr>
            <a:picLocks noChangeAspect="1"/>
          </p:cNvPicPr>
          <p:nvPr/>
        </p:nvPicPr>
        <p:blipFill>
          <a:blip r:embed="rId3"/>
          <a:srcRect t="12732" b="12732"/>
          <a:stretch>
            <a:fillRect/>
          </a:stretch>
        </p:blipFill>
        <p:spPr>
          <a:xfrm>
            <a:off x="609600" y="181044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KULIM, KEDAH · GREENFIELD WAFER FAB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Infineon Kulim Wafer Fab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9566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6391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58814" y="502285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5639" y="507047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General contractor for WP06, KLM3 Expansion, 35,000 m² cleanroom area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for cleanroom and mechanical works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018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4 · 5 · 6 · 7 (CLASS 10 · 100 · 1K · 10K)</a:t>
            </a:r>
          </a:p>
        </p:txBody>
      </p:sp>
      <p:pic>
        <p:nvPicPr>
          <p:cNvPr id="29" name="Picture 28" descr="p-project.jpg"/>
          <p:cNvPicPr>
            <a:picLocks noChangeAspect="1"/>
          </p:cNvPicPr>
          <p:nvPr/>
        </p:nvPicPr>
        <p:blipFill>
          <a:blip r:embed="rId4"/>
          <a:srcRect t="12472" b="12472"/>
          <a:stretch>
            <a:fillRect/>
          </a:stretch>
        </p:blipFill>
        <p:spPr>
          <a:xfrm>
            <a:off x="6235700" y="1810442"/>
            <a:ext cx="5346700" cy="267335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357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57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ADVANCED PACKAGING · 75,000 M²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81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 Project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91275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8100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40523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37348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4914" y="5022850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1739" y="5070475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81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279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Progressive-built EPCM contract model for the client's advanced packaging facility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881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81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279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Design &amp; build GC: CSA, MEP, process utilities, chemical &amp; gases system, waste treatment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81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81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279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4 TO 7 (CLASS 10 TO 10K)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445250"/>
            <a:ext cx="38209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15 / 67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49567" y="6429375"/>
            <a:ext cx="15327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SEMICONDUCTOR · MALAYSIA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173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173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933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Semiconductor ·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Design &amp; build EPCM in Singapore since 2023.</a:t>
            </a:r>
          </a:p>
        </p:txBody>
      </p:sp>
      <p:pic>
        <p:nvPicPr>
          <p:cNvPr id="10" name="Picture 9" descr="teksend.jpg"/>
          <p:cNvPicPr>
            <a:picLocks noChangeAspect="1"/>
          </p:cNvPicPr>
          <p:nvPr/>
        </p:nvPicPr>
        <p:blipFill>
          <a:blip r:embed="rId3"/>
          <a:srcRect t="12773" b="12773"/>
          <a:stretch>
            <a:fillRect/>
          </a:stretch>
        </p:blipFill>
        <p:spPr>
          <a:xfrm>
            <a:off x="609600" y="174059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13942"/>
            <a:ext cx="5346700" cy="18971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139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56634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PHOTOMASK FACILITY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68699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Teksend Photomask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495300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0062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9566" y="495300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6391" y="500062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58814" y="4953000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5639" y="5000625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3213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302250"/>
            <a:ext cx="41021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00"/>
              </a:lnSpc>
            </a:pPr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Addition and alteration to an existing two-storey building with cleanroom facilities and ancillary office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6388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7340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7150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for cleanroom, ACMV, electrical, process utility, BMS, PA, WWT, UPW, tool hookup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" y="59118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60071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01800" y="600075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CLASS 1 TO CLASS 10K</a:t>
            </a:r>
          </a:p>
        </p:txBody>
      </p:sp>
      <p:pic>
        <p:nvPicPr>
          <p:cNvPr id="29" name="Picture 28" descr="micron-msh.jpg"/>
          <p:cNvPicPr>
            <a:picLocks noChangeAspect="1"/>
          </p:cNvPicPr>
          <p:nvPr/>
        </p:nvPicPr>
        <p:blipFill>
          <a:blip r:embed="rId4"/>
          <a:srcRect t="12525" b="12525"/>
          <a:stretch>
            <a:fillRect/>
          </a:stretch>
        </p:blipFill>
        <p:spPr>
          <a:xfrm>
            <a:off x="6235700" y="1740592"/>
            <a:ext cx="5346700" cy="267335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35700" y="4413942"/>
            <a:ext cx="5346700" cy="14979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5700" y="44139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456634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PROGRESSIVE TOOL HOOKUP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8100" y="468699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Micron MSH Tool HU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91275" y="4953000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8100" y="5000625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8100" y="53213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27900" y="53022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2,000 progressive tool hookup services for MSH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88100" y="54991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88100" y="55943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27900" y="55753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Progressive tool hook up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6445250"/>
            <a:ext cx="3839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16 / 67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57791" y="6429375"/>
            <a:ext cx="162450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SEMICONDUCTOR · SINGAPORE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024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024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1441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Data Centre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Hyperscale and colocation, 9.6 MW to 160 MW.</a:t>
            </a:r>
          </a:p>
        </p:txBody>
      </p:sp>
      <p:pic>
        <p:nvPicPr>
          <p:cNvPr id="10" name="Picture 9" descr="hyperscale-dc.jpg"/>
          <p:cNvPicPr>
            <a:picLocks noChangeAspect="1"/>
          </p:cNvPicPr>
          <p:nvPr/>
        </p:nvPicPr>
        <p:blipFill>
          <a:blip r:embed="rId3"/>
          <a:srcRect t="12720" b="12720"/>
          <a:stretch>
            <a:fillRect/>
          </a:stretch>
        </p:blipFill>
        <p:spPr>
          <a:xfrm>
            <a:off x="609600" y="1940223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613573"/>
            <a:ext cx="5346700" cy="14979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613573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765973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CLIENT CONFIDENTIAL · 160 MW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886623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Hyperscale Data Centre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152631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200256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552093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01800" y="5501881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Office, data halls and mechanical utility building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2000" y="5698731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000" y="579398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1800" y="5774931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Construction, completion, testing &amp; commissioning for mechanical packages 1 &amp; 2</a:t>
            </a:r>
          </a:p>
        </p:txBody>
      </p:sp>
      <p:pic>
        <p:nvPicPr>
          <p:cNvPr id="22" name="Picture 21" descr="microsoft-kul03.jpg"/>
          <p:cNvPicPr>
            <a:picLocks noChangeAspect="1"/>
          </p:cNvPicPr>
          <p:nvPr/>
        </p:nvPicPr>
        <p:blipFill>
          <a:blip r:embed="rId4"/>
          <a:srcRect t="12521" b="12521"/>
          <a:stretch>
            <a:fillRect/>
          </a:stretch>
        </p:blipFill>
        <p:spPr>
          <a:xfrm>
            <a:off x="6235700" y="1940223"/>
            <a:ext cx="5346700" cy="267335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613573"/>
            <a:ext cx="5346700" cy="14979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613573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88100" y="4765973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KUL03 PHASE 1 · 9.6 MW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100" y="4886623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Microsoft DTC-KUL 03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91275" y="5152631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8100" y="5200256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35666" y="5152631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32491" y="5200256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8100" y="552093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27900" y="5501881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9.6 MW data centre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8100" y="5698731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8100" y="579398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27900" y="5774931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for CHW and CW piping works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445250"/>
            <a:ext cx="38169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17 / 67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0230" y="6429375"/>
            <a:ext cx="70207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DATA CENTRE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222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222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2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EV Battery · Europe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Dry rooms for the gigafactories: moisture control and contamination control at scale.</a:t>
            </a:r>
          </a:p>
        </p:txBody>
      </p:sp>
      <p:pic>
        <p:nvPicPr>
          <p:cNvPr id="10" name="Picture 9" descr="northvolt.jpg"/>
          <p:cNvPicPr>
            <a:picLocks noChangeAspect="1"/>
          </p:cNvPicPr>
          <p:nvPr/>
        </p:nvPicPr>
        <p:blipFill>
          <a:blip r:embed="rId3"/>
          <a:srcRect t="12651" b="12651"/>
          <a:stretch>
            <a:fillRect/>
          </a:stretch>
        </p:blipFill>
        <p:spPr>
          <a:xfrm>
            <a:off x="609600" y="181044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SKELLEFTEÅ, SWEDEN · 62,000 M²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Northvolt AB Gigafactory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423" y="5022850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1248" y="5070475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18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Europe gigafactory for lithium-ion battery manufacture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20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0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018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dry room architecture works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20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20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ENVIRONMENT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018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DRY ROOM</a:t>
            </a:r>
          </a:p>
        </p:txBody>
      </p:sp>
      <p:pic>
        <p:nvPicPr>
          <p:cNvPr id="27" name="Picture 26" descr="morrow.jpg"/>
          <p:cNvPicPr>
            <a:picLocks noChangeAspect="1"/>
          </p:cNvPicPr>
          <p:nvPr/>
        </p:nvPicPr>
        <p:blipFill>
          <a:blip r:embed="rId4"/>
          <a:srcRect t="12500" b="12500"/>
          <a:stretch>
            <a:fillRect/>
          </a:stretch>
        </p:blipFill>
        <p:spPr>
          <a:xfrm>
            <a:off x="6235700" y="1810442"/>
            <a:ext cx="5346700" cy="267335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62357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357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881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NORWAY · BATTERY COAST · 8,600 M²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81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Morrow Batteries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91275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88100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40523" y="502285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37348" y="507047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76678" y="5022850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73503" y="5070475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81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279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Norway's Battery Coast project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881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881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279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dry room architectural system, ACMV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81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881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ENVIRONMENT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279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DRY ROOM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6445250"/>
            <a:ext cx="38387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18 / 67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31958" y="6429375"/>
            <a:ext cx="115044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EV BATTERY · EUROPE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420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420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540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Semiconductor · Europe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Following the fabs into Europe: advanced-node cleanrooms and progressive hookup.</a:t>
            </a:r>
          </a:p>
        </p:txBody>
      </p:sp>
      <p:pic>
        <p:nvPicPr>
          <p:cNvPr id="10" name="Picture 9" descr="confidential-cmos.jpg"/>
          <p:cNvPicPr>
            <a:picLocks noChangeAspect="1"/>
          </p:cNvPicPr>
          <p:nvPr/>
        </p:nvPicPr>
        <p:blipFill>
          <a:blip r:embed="rId3"/>
          <a:srcRect t="12720" b="12720"/>
          <a:stretch>
            <a:fillRect/>
          </a:stretch>
        </p:blipFill>
        <p:spPr>
          <a:xfrm>
            <a:off x="609600" y="181044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CLIENT CONFIDENTIAL · WAFER FAB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28/22nm CMOS · 16/12nm FinFET Plant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9566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6391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58814" y="502285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5639" y="507047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Design, supply, installation &amp; commissioning of cleanroom facilities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&amp; mechanical general contractor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018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CLASS 1 TO CLASS 10K</a:t>
            </a:r>
          </a:p>
        </p:txBody>
      </p:sp>
      <p:pic>
        <p:nvPicPr>
          <p:cNvPr id="29" name="Picture 28" descr="st-casablanca.jpg"/>
          <p:cNvPicPr>
            <a:picLocks noChangeAspect="1"/>
          </p:cNvPicPr>
          <p:nvPr/>
        </p:nvPicPr>
        <p:blipFill>
          <a:blip r:embed="rId4"/>
          <a:srcRect t="12798" b="12798"/>
          <a:stretch>
            <a:fillRect/>
          </a:stretch>
        </p:blipFill>
        <p:spPr>
          <a:xfrm>
            <a:off x="6235700" y="1810442"/>
            <a:ext cx="5346700" cy="267335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357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57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CASABLANCA, MOROCCO · 60,000 M²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81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STMicroelectronics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91275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8100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40523" y="5022850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37348" y="5070475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61584" y="5022850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58409" y="5070475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81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279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Built-up area up to 60,000 m²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881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81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279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Cleanroom, mechanical, electrical, process utilities and hookup works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81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81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279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445250"/>
            <a:ext cx="3839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19 / 67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52463" y="6429375"/>
            <a:ext cx="142984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SEMICONDUCTOR · EUROPE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222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222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2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Semiconductor &amp; Display · 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EPCC across semiconductor, display and precision manufacturing.</a:t>
            </a:r>
          </a:p>
        </p:txBody>
      </p:sp>
      <p:pic>
        <p:nvPicPr>
          <p:cNvPr id="10" name="Picture 9" descr="ferrotec-hangzhou.jpg"/>
          <p:cNvPicPr>
            <a:picLocks noChangeAspect="1"/>
          </p:cNvPicPr>
          <p:nvPr/>
        </p:nvPicPr>
        <p:blipFill>
          <a:blip r:embed="rId3"/>
          <a:srcRect t="1798" b="1798"/>
          <a:stretch>
            <a:fillRect/>
          </a:stretch>
        </p:blipFill>
        <p:spPr>
          <a:xfrm>
            <a:off x="609600" y="181044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HANGZHOU · 23,400 M²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Ferrotec Semiconductor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9566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6391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58814" y="5022850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5639" y="5070475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Built-up area up to 23,400 m²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for cleanroom, mechanical, electrical and plumbing works and hookup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018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4 · 5 (CLASS 10 &amp; 100)</a:t>
            </a:r>
          </a:p>
        </p:txBody>
      </p:sp>
      <p:pic>
        <p:nvPicPr>
          <p:cNvPr id="29" name="Picture 28" descr="infineon-wuxi.jpg"/>
          <p:cNvPicPr>
            <a:picLocks noChangeAspect="1"/>
          </p:cNvPicPr>
          <p:nvPr/>
        </p:nvPicPr>
        <p:blipFill>
          <a:blip r:embed="rId4"/>
          <a:srcRect t="11489" b="11489"/>
          <a:stretch>
            <a:fillRect/>
          </a:stretch>
        </p:blipFill>
        <p:spPr>
          <a:xfrm>
            <a:off x="6235700" y="1810442"/>
            <a:ext cx="5346700" cy="267335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357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57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WUXI · 8,000 M²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81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Infineon Technologies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91275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8100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35666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32491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4914" y="5022850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1739" y="5070475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81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279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Built-up area up to 8,000 m²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881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81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279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for cleanroom, mechanical, electrical and plumbing works and hookup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81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81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279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445250"/>
            <a:ext cx="40719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20 / 67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50809" y="6429375"/>
            <a:ext cx="33159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CHINA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401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401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5212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Photovoltaics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Solar cell and module manufacturing, including toxic material and waste handling.</a:t>
            </a:r>
          </a:p>
        </p:txBody>
      </p:sp>
      <p:pic>
        <p:nvPicPr>
          <p:cNvPr id="10" name="Picture 9" descr="first-solar.jpg"/>
          <p:cNvPicPr>
            <a:picLocks noChangeAspect="1"/>
          </p:cNvPicPr>
          <p:nvPr/>
        </p:nvPicPr>
        <p:blipFill>
          <a:blip r:embed="rId3"/>
          <a:srcRect t="12747" b="12747"/>
          <a:stretch>
            <a:fillRect/>
          </a:stretch>
        </p:blipFill>
        <p:spPr>
          <a:xfrm>
            <a:off x="609600" y="181044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83792"/>
            <a:ext cx="5346700" cy="1637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KULIM, 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First Solar Malaysia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9566" y="502285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6391" y="507047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45720" y="502285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42545" y="507047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First Solar KMW building in Kulim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645150"/>
            <a:ext cx="41021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00"/>
              </a:lnSpc>
            </a:pPr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for mechanical &amp; electrical, KMW building; CSA and M&amp;E for forming gas plant; M&amp;E for SCO1</a:t>
            </a:r>
          </a:p>
        </p:txBody>
      </p:sp>
      <p:pic>
        <p:nvPicPr>
          <p:cNvPr id="26" name="Picture 25" descr="chint-solar.jpg"/>
          <p:cNvPicPr>
            <a:picLocks noChangeAspect="1"/>
          </p:cNvPicPr>
          <p:nvPr/>
        </p:nvPicPr>
        <p:blipFill>
          <a:blip r:embed="rId4"/>
          <a:srcRect t="10386" b="10386"/>
          <a:stretch>
            <a:fillRect/>
          </a:stretch>
        </p:blipFill>
        <p:spPr>
          <a:xfrm>
            <a:off x="6235700" y="1810442"/>
            <a:ext cx="5346700" cy="267335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2357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57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881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 · 57,000 M²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81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Chint Solar Technology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91275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0523" y="5022850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37348" y="5070475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61584" y="5022850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58409" y="5070475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81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279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Built-up area up to 57,000 m²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81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881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279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system, ACMV, process utilities and tools hookup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881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81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279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8 (CLASS 100K)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445250"/>
            <a:ext cx="38387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21 / 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726242" y="6429375"/>
            <a:ext cx="85615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PHOTOVOLTAICS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420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420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540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Pharmaceutical &amp; Medical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GMP grades and regulated environments, from parenteral facilities to medical device plants.</a:t>
            </a:r>
          </a:p>
        </p:txBody>
      </p:sp>
      <p:pic>
        <p:nvPicPr>
          <p:cNvPr id="10" name="Picture 9" descr="insulet.jpg"/>
          <p:cNvPicPr>
            <a:picLocks noChangeAspect="1"/>
          </p:cNvPicPr>
          <p:nvPr/>
        </p:nvPicPr>
        <p:blipFill>
          <a:blip r:embed="rId3"/>
          <a:srcRect t="12700" b="12700"/>
          <a:stretch>
            <a:fillRect/>
          </a:stretch>
        </p:blipFill>
        <p:spPr>
          <a:xfrm>
            <a:off x="609600" y="181044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GREENFIELD · MEDICAL DEVICE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Insulet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9566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6391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58814" y="502285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5639" y="507047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Electronic medical device manufacturing plant, greenfield project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Design and build mechanical, cleanroom &amp; electrical package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018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8 (CLASS 100K)</a:t>
            </a:r>
          </a:p>
        </p:txBody>
      </p:sp>
      <p:pic>
        <p:nvPicPr>
          <p:cNvPr id="29" name="Picture 28" descr="pharmaniaga.jpg"/>
          <p:cNvPicPr>
            <a:picLocks noChangeAspect="1"/>
          </p:cNvPicPr>
          <p:nvPr/>
        </p:nvPicPr>
        <p:blipFill>
          <a:blip r:embed="rId4"/>
          <a:srcRect t="12500" b="12500"/>
          <a:stretch>
            <a:fillRect/>
          </a:stretch>
        </p:blipFill>
        <p:spPr>
          <a:xfrm>
            <a:off x="6235700" y="1810442"/>
            <a:ext cx="5346700" cy="267335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357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57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PUCHONG, SELANGOR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81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Pharmaniaga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91275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8100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40523" y="502285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37348" y="507047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81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279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Small volume parenteral facility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881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881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279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system, air conditioning and mechanical ventilation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81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881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279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· 7 · 8 (CLASS 100 · 10K · 100K)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6445250"/>
            <a:ext cx="40441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22 / 67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36175" y="6429375"/>
            <a:ext cx="154612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PHARMACEUTICAL &amp; MEDICAL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9419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9419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5395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District Cooling &amp; Energy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Plant, chillers and co-generation for urban and industrial energy.</a:t>
            </a:r>
          </a:p>
        </p:txBody>
      </p:sp>
      <p:pic>
        <p:nvPicPr>
          <p:cNvPr id="10" name="Picture 9" descr="klcc-dcp.jpg"/>
          <p:cNvPicPr>
            <a:picLocks noChangeAspect="1"/>
          </p:cNvPicPr>
          <p:nvPr/>
        </p:nvPicPr>
        <p:blipFill>
          <a:blip r:embed="rId3"/>
          <a:srcRect t="12651" b="12651"/>
          <a:stretch>
            <a:fillRect/>
          </a:stretch>
        </p:blipFill>
        <p:spPr>
          <a:xfrm>
            <a:off x="609600" y="1870373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543723"/>
            <a:ext cx="5346700" cy="16241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543723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96123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GAS DISTRICT COOLING (M) SDN BHD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816773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KLCC District Cooling Plant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82781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130406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86236" y="5082781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83061" y="5130406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2391" y="5082781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19216" y="5130406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45108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444731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LARGEST DISTRICT COOLING CENTRE IN MALAYSIA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615388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710638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691588"/>
            <a:ext cx="41021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00"/>
              </a:lnSpc>
            </a:pPr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ACMV, electrical &amp; instrumentation, fire protection, process utility, plumbing &amp; sanitary, water treatment, CSA</a:t>
            </a:r>
          </a:p>
        </p:txBody>
      </p:sp>
      <p:pic>
        <p:nvPicPr>
          <p:cNvPr id="26" name="Picture 25" descr="gdc-putrajaya.jpg"/>
          <p:cNvPicPr>
            <a:picLocks noChangeAspect="1"/>
          </p:cNvPicPr>
          <p:nvPr/>
        </p:nvPicPr>
        <p:blipFill>
          <a:blip r:embed="rId4"/>
          <a:srcRect t="12773" b="12773"/>
          <a:stretch>
            <a:fillRect/>
          </a:stretch>
        </p:blipFill>
        <p:spPr>
          <a:xfrm>
            <a:off x="6235700" y="1870373"/>
            <a:ext cx="5346700" cy="267335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235700" y="4543723"/>
            <a:ext cx="5346700" cy="1637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5700" y="4543723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88100" y="4696123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PICC PLANT, PUTRAJAYA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8100" y="4816773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GDC Putrajaya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91275" y="5082781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5130406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35666" y="5082781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32491" y="5130406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71820" y="5082781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645" y="5130406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8100" y="545108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27900" y="5432031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For the Putrajaya International Convention Centre (PICC) plant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8100" y="5628881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88100" y="572413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27900" y="5705081"/>
            <a:ext cx="41021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00"/>
              </a:lnSpc>
            </a:pPr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of plant electrification, chiller replacement and associated works at Gas District Cooling Putrajaya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445250"/>
            <a:ext cx="40193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23 / 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08095" y="6429375"/>
            <a:ext cx="157430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DISTRICT COOLING &amp; ENERGY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70186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70186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386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1–2 of 73 from IAQ’s own reference list.</a:t>
            </a:r>
          </a:p>
        </p:txBody>
      </p:sp>
      <p:pic>
        <p:nvPicPr>
          <p:cNvPr id="10" name="Picture 9" descr="p22t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SINGAPORE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Micron F10A &amp; F10NX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030" y="5651500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0855" y="5699125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Interior design &amp; mechanical fit out, F10NX office optimisation</a:t>
            </a:r>
          </a:p>
        </p:txBody>
      </p:sp>
      <p:pic>
        <p:nvPicPr>
          <p:cNvPr id="21" name="Picture 20" descr="p22b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Caterpillar Asia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3975" y="5651500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699125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Three storey office renovation, 7T office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445250"/>
            <a:ext cx="40015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24 / 67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9161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9161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281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3–4 of 73 from IAQ’s own reference list.</a:t>
            </a:r>
          </a:p>
        </p:txBody>
      </p:sp>
      <p:pic>
        <p:nvPicPr>
          <p:cNvPr id="10" name="Picture 9" descr="p23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 Project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Design &amp; build GC, greenfield food flavouring plant, 40,000 m²</a:t>
            </a:r>
          </a:p>
        </p:txBody>
      </p:sp>
      <p:pic>
        <p:nvPicPr>
          <p:cNvPr id="19" name="Picture 18" descr="p24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XFAB Kuching 40K Expansion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532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500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97614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94439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Design and build, wafer fab extension, 30K to 40K capacity, 40,000 m²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 &amp; 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445250"/>
            <a:ext cx="40262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25 / 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8893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8893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13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5–6 of 73 from IAQ’s own reference list.</a:t>
            </a:r>
          </a:p>
        </p:txBody>
      </p:sp>
      <p:pic>
        <p:nvPicPr>
          <p:cNvPr id="10" name="Picture 9" descr="p25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SOITEC PR1A Expansion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EPCM consultant, new greenfield plant, 45,000 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4, 5, 6 &amp; 7</a:t>
            </a:r>
          </a:p>
        </p:txBody>
      </p:sp>
      <p:pic>
        <p:nvPicPr>
          <p:cNvPr id="24" name="Picture 23" descr="p25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Robert Bosch Testing Manufacturing Plant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32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500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GC, greenfield testing and manufacturing plant, 25,000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6, 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40451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26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8754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8754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74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7–8 of 73 from IAQ’s own reference list.</a:t>
            </a:r>
          </a:p>
        </p:txBody>
      </p:sp>
      <p:pic>
        <p:nvPicPr>
          <p:cNvPr id="10" name="Picture 9" descr="p26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Wafer Fab Facility &amp; Expansion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and design &amp; build, FAB1E A/B expansion, new CUB 5,000 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pic>
        <p:nvPicPr>
          <p:cNvPr id="24" name="Picture 23" descr="p26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 Project – MEP Works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275956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282306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SPECIALIST CONTRACTING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Retrofit existing office into mega lab, 7,000 m²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445250"/>
            <a:ext cx="40223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27 / 67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8943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8943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633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9–10 of 73 from IAQ’s own reference list.</a:t>
            </a:r>
          </a:p>
        </p:txBody>
      </p:sp>
      <p:pic>
        <p:nvPicPr>
          <p:cNvPr id="10" name="Picture 9" descr="p27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Texas Instrument, Melaka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Facilitation works for residual management, 32,000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pic>
        <p:nvPicPr>
          <p:cNvPr id="22" name="Picture 21" descr="p27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KUALA LUMPUR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Texas Instrument (M) Sdn Bhd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DLP cleanroom project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40441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28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91516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91516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2716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11–12 of 73 from IAQ’s own reference list.</a:t>
            </a:r>
          </a:p>
        </p:txBody>
      </p:sp>
      <p:pic>
        <p:nvPicPr>
          <p:cNvPr id="10" name="Picture 9" descr="p28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PETALING JAYA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Western Digital (M) Sdn Bhd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63278" y="5391944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0103" y="5439569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Phase 2 and 3 renovation, mechanical, electrical and cleanroom</a:t>
            </a:r>
          </a:p>
        </p:txBody>
      </p:sp>
      <p:pic>
        <p:nvPicPr>
          <p:cNvPr id="23" name="Picture 22" descr="p28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PENANG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WD Media (M) Sdn Bhd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97614" y="5391944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94439" y="5439569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PCC, MA 28 &amp; MA 29, cleanroom, HVAC, FMCS, hookup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 (CLASS 1K)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445250"/>
            <a:ext cx="40451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29 / 67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8943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8943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633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13–14 of 73 from IAQ’s own reference list.</a:t>
            </a:r>
          </a:p>
        </p:txBody>
      </p:sp>
      <p:pic>
        <p:nvPicPr>
          <p:cNvPr id="10" name="Picture 9" descr="p29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JOHOR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STMicroelectronics Sdn Bhd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3 storey production factory, cleanroom and ACMV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(CLASS 10K)</a:t>
            </a:r>
          </a:p>
        </p:txBody>
      </p:sp>
      <p:pic>
        <p:nvPicPr>
          <p:cNvPr id="24" name="Picture 23" descr="p29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MELAKA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Infineon Technologies (M) Sdn Bhd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32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500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EPCM-GMP, Block 8 testing, probe &amp; assembly, 43,000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6, 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40471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30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9131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9131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251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15–16 of 73 from IAQ’s own reference list.</a:t>
            </a:r>
          </a:p>
        </p:txBody>
      </p:sp>
      <p:pic>
        <p:nvPicPr>
          <p:cNvPr id="10" name="Picture 9" descr="p30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MEMC Ipoh Sdn Bhd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77331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74156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Greenfield project, MEP, cleanroom, FMCS, CSA and tools hookup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3 TO 7 (CLASS 1–10K)</a:t>
            </a:r>
          </a:p>
        </p:txBody>
      </p:sp>
      <p:pic>
        <p:nvPicPr>
          <p:cNvPr id="26" name="Picture 25" descr="p30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Flextronic Shah Alam Sdn Bhd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97614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94439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PCC, 33kV substation, mechanical, cleanroom, civil and structural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(CLASS 10K)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445250"/>
            <a:ext cx="381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31 / 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9142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9142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2620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17–18 of 73 from IAQ’s own reference list.</a:t>
            </a:r>
          </a:p>
        </p:txBody>
      </p:sp>
      <p:pic>
        <p:nvPicPr>
          <p:cNvPr id="10" name="Picture 9" descr="p31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AUO Sunpower Melaka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030" y="5391944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0855" y="5439569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48755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45580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Fab 3A solar cell manufacturing, CSA, utilities, HVAC, electrical</a:t>
            </a:r>
          </a:p>
        </p:txBody>
      </p:sp>
      <p:pic>
        <p:nvPicPr>
          <p:cNvPr id="23" name="Picture 22" descr="p33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Vital Healthcare Sdn Bhd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532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500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GC, medical device plant, 33kV substation, MEP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8 (CLASS 100K)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6445250"/>
            <a:ext cx="40193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32 / 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562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562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682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19–20 of 73 from IAQ’s own reference list.</a:t>
            </a:r>
          </a:p>
        </p:txBody>
      </p:sp>
      <p:pic>
        <p:nvPicPr>
          <p:cNvPr id="10" name="Picture 9" descr="p34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Ain Medicare Sdn Bhd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22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90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71514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8339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EPCC, CSA, cleanroom and M&amp;E, pharmaceutical building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8 (CLASS 100K)</a:t>
            </a:r>
          </a:p>
        </p:txBody>
      </p:sp>
      <p:pic>
        <p:nvPicPr>
          <p:cNvPr id="26" name="Picture 25" descr="p35t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Elegant Aura (M) Sdn Bhd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97614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94439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for HVAC and cleanroom system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GMP GRADE 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445250"/>
            <a:ext cx="39945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33 / 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9161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9161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281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21–22 of 73 from IAQ’s own reference list.</a:t>
            </a:r>
          </a:p>
        </p:txBody>
      </p:sp>
      <p:pic>
        <p:nvPicPr>
          <p:cNvPr id="10" name="Picture 9" descr="p35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SINGAPORE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National University of Singapore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M&amp;E and cleanroom, tissue culture laboratory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 &amp; 7</a:t>
            </a:r>
          </a:p>
        </p:txBody>
      </p:sp>
      <p:pic>
        <p:nvPicPr>
          <p:cNvPr id="22" name="Picture 21" descr="p36t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Matrix (M) Sdn Bhd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48366" y="5391944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45191" y="5439569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69427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66252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PCC, CSA, HVAC, electrical, fire protection and process utilities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445250"/>
            <a:ext cx="39777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34 / 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304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304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24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23–24 of 73 from IAQ’s own reference list.</a:t>
            </a:r>
          </a:p>
        </p:txBody>
      </p:sp>
      <p:pic>
        <p:nvPicPr>
          <p:cNvPr id="10" name="Picture 9" descr="p36b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T Hasegawa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030" y="5651500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0855" y="5699125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Spray dryer &amp; microwave tunnel renovation, MDR mechanical, ACMV</a:t>
            </a:r>
          </a:p>
        </p:txBody>
      </p:sp>
      <p:pic>
        <p:nvPicPr>
          <p:cNvPr id="21" name="Picture 20" descr="p37b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KLCC KGP KL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3975" y="565150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69912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48366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45191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8452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134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of two electrical centrifugal chillers, KLCC district cooling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40024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35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36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36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56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25–26 of 73 from IAQ’s own reference list.</a:t>
            </a:r>
          </a:p>
        </p:txBody>
      </p:sp>
      <p:pic>
        <p:nvPicPr>
          <p:cNvPr id="10" name="Picture 9" descr="p38b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Rapid MCD Chemical Plant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Field erection of mechanical piping system</a:t>
            </a:r>
          </a:p>
        </p:txBody>
      </p:sp>
      <p:pic>
        <p:nvPicPr>
          <p:cNvPr id="19" name="Picture 18" descr="p39t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Pagoh Education Hub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3975" y="565150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69912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EPCC, operation and maintenance of DCS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6445250"/>
            <a:ext cx="4021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36 / 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89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89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7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27–28 of 73 from IAQ’s own reference list.</a:t>
            </a:r>
          </a:p>
        </p:txBody>
      </p:sp>
      <p:pic>
        <p:nvPicPr>
          <p:cNvPr id="10" name="Picture 9" descr="p39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Rapid Petronas Pengerang Co-gen Plant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Mechanical erection, BoP piping &amp; WCCT, first co-gen plant in SEA</a:t>
            </a:r>
          </a:p>
        </p:txBody>
      </p:sp>
      <p:pic>
        <p:nvPicPr>
          <p:cNvPr id="19" name="Picture 18" descr="p42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FRANCE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Envision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53223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50048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Cleanroom, dry room architecture works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DRY 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445250"/>
            <a:ext cx="39975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37 / 67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86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86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2064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Europe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29–30 of 73 from IAQ’s own reference list.</a:t>
            </a:r>
          </a:p>
        </p:txBody>
      </p:sp>
      <p:pic>
        <p:nvPicPr>
          <p:cNvPr id="10" name="Picture 9" descr="p43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FRANCE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ACC Phase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Greenfield, 8,000 m² dry room architectural system, 35,000 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DRY ROOM</a:t>
            </a:r>
          </a:p>
        </p:txBody>
      </p:sp>
      <p:pic>
        <p:nvPicPr>
          <p:cNvPr id="24" name="Picture 23" descr="p43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FRANCE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Soitec Semiconductor, Paris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cleanroom and MEP, 11,000 m²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445250"/>
            <a:ext cx="40193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38 / 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285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285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052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Europe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31–32 of 73 from IAQ’s own reference list.</a:t>
            </a:r>
          </a:p>
        </p:txBody>
      </p:sp>
      <p:pic>
        <p:nvPicPr>
          <p:cNvPr id="10" name="Picture 9" descr="p44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FRANCE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Xfab Semiconductor, Paris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Cleanroom, MEP and tools hookup, progressive hookup, 5,000 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pic>
        <p:nvPicPr>
          <p:cNvPr id="24" name="Picture 23" descr="p44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MOROCCO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Nemotek, Rabat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cleanroom and MEP works, 11,000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4020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39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86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86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2064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Europe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33–34 of 73 from IAQ’s own reference list.</a:t>
            </a:r>
          </a:p>
        </p:txBody>
      </p:sp>
      <p:pic>
        <p:nvPicPr>
          <p:cNvPr id="10" name="Picture 9" descr="p45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POLAND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Kimoto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63278" y="5391944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0103" y="5439569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Cleanroom, mechanical &amp; electrical system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pic>
        <p:nvPicPr>
          <p:cNvPr id="26" name="Picture 25" descr="p46t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POLAND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Sumika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53223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50048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89378" y="5391944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203" y="5439569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architecture, mechanical &amp; electrical system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445250"/>
            <a:ext cx="40302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40 / 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275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275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950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35–36 of 73 from IAQ’s own reference list.</a:t>
            </a:r>
          </a:p>
        </p:txBody>
      </p:sp>
      <p:pic>
        <p:nvPicPr>
          <p:cNvPr id="10" name="Picture 9" descr="p48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All-Cent RF Technology (Wuxi)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for MEP works, 25,600 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&amp; 6</a:t>
            </a:r>
          </a:p>
        </p:txBody>
      </p:sp>
      <p:pic>
        <p:nvPicPr>
          <p:cNvPr id="24" name="Picture 23" descr="p49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SMIC, Ningbo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32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500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for MEP works, 22,000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&amp; 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37960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41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285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285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052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37–38 of 73 from IAQ’s own reference list.</a:t>
            </a:r>
          </a:p>
        </p:txBody>
      </p:sp>
      <p:pic>
        <p:nvPicPr>
          <p:cNvPr id="10" name="Picture 9" descr="p50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Kunshan Visionox Display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22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90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71514" y="5391944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8339" y="5439569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cleanroom, MEP and hookup works, 27,000 m²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pic>
        <p:nvPicPr>
          <p:cNvPr id="26" name="Picture 25" descr="p50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GS Magic Drive Inc.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cleanroom and MEP works, 68,000 m²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4, 5, 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6445250"/>
            <a:ext cx="40015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42 / 67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294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294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14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39–40 of 73 from IAQ’s own reference list.</a:t>
            </a:r>
          </a:p>
        </p:txBody>
      </p:sp>
      <p:pic>
        <p:nvPicPr>
          <p:cNvPr id="10" name="Picture 9" descr="p51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STS Microelectronics (Shenzhen)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Class 1K system, 4,800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 (CLASS 1K)</a:t>
            </a:r>
          </a:p>
        </p:txBody>
      </p:sp>
      <p:pic>
        <p:nvPicPr>
          <p:cNvPr id="22" name="Picture 21" descr="p51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Shantou Goworld Display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14,300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39846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43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8893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8893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13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41–42 of 73 from IAQ’s own reference list.</a:t>
            </a:r>
          </a:p>
        </p:txBody>
      </p:sp>
      <p:pic>
        <p:nvPicPr>
          <p:cNvPr id="10" name="Picture 9" descr="p52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CSR Zhuzhou Electric Locomotive Research Institute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22,000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pic>
        <p:nvPicPr>
          <p:cNvPr id="22" name="Picture 21" descr="p52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M-Flex (Suzhou)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25,000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39598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44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36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36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56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43–44 of 73 from IAQ’s own reference list.</a:t>
            </a:r>
          </a:p>
        </p:txBody>
      </p:sp>
      <p:pic>
        <p:nvPicPr>
          <p:cNvPr id="10" name="Picture 9" descr="p53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Maxtor Technology (Suzhou)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95,000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&amp; 6</a:t>
            </a:r>
          </a:p>
        </p:txBody>
      </p:sp>
      <p:pic>
        <p:nvPicPr>
          <p:cNvPr id="22" name="Picture 21" descr="p53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MMI Industries (Wuxi)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7,200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39846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45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768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768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88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45–46 of 73 from IAQ’s own reference list.</a:t>
            </a:r>
          </a:p>
        </p:txBody>
      </p:sp>
      <p:pic>
        <p:nvPicPr>
          <p:cNvPr id="10" name="Picture 9" descr="p54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Snap On Asia Manufacturing (Kunshan)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2266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9091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General contractor, CSA, steel structure and MEP, 4,800 m²</a:t>
            </a:r>
          </a:p>
        </p:txBody>
      </p:sp>
      <p:pic>
        <p:nvPicPr>
          <p:cNvPr id="21" name="Picture 20" descr="p54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Huawei Technologies Co., Ltd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3,400 m²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 &amp; 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445250"/>
            <a:ext cx="40034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46 / 67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629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629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749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47–48 of 73 from IAQ’s own reference list.</a:t>
            </a:r>
          </a:p>
        </p:txBody>
      </p:sp>
      <p:pic>
        <p:nvPicPr>
          <p:cNvPr id="10" name="Picture 9" descr="p55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Suzhou Golden Concord Technology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22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90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cleanroom and MEP works, 38,500 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pic>
        <p:nvPicPr>
          <p:cNvPr id="24" name="Picture 23" descr="p55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Shanghai Roche Pharmaceuticals Ltd.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cleanroom and MEP works, 5,000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B (CLASS 100)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39806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47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818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818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9384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49–50 of 73 from IAQ’s own reference list.</a:t>
            </a:r>
          </a:p>
        </p:txBody>
      </p:sp>
      <p:pic>
        <p:nvPicPr>
          <p:cNvPr id="10" name="Picture 9" descr="p56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Forecyte Bio Limited (Shanghai)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13,800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C &amp; D</a:t>
            </a:r>
          </a:p>
        </p:txBody>
      </p:sp>
      <p:pic>
        <p:nvPicPr>
          <p:cNvPr id="22" name="Picture 21" descr="p56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Suzhou Ascentage Pharma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25,800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C &amp; 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40074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48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26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26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46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51–52 of 73 from IAQ’s own reference list.</a:t>
            </a:r>
          </a:p>
        </p:txBody>
      </p:sp>
      <p:pic>
        <p:nvPicPr>
          <p:cNvPr id="10" name="Picture 9" descr="p57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Jiangsu Genscript Biotech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6,000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C &amp; D</a:t>
            </a:r>
          </a:p>
        </p:txBody>
      </p:sp>
      <p:pic>
        <p:nvPicPr>
          <p:cNvPr id="22" name="Picture 21" descr="p57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Mindray Group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12,000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C &amp; 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40045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49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808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808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928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53–54 of 73 from IAQ’s own reference list.</a:t>
            </a:r>
          </a:p>
        </p:txBody>
      </p:sp>
      <p:pic>
        <p:nvPicPr>
          <p:cNvPr id="10" name="Picture 9" descr="p58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EpimAb Biotechnology Su Zhou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5,200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C &amp; D</a:t>
            </a:r>
          </a:p>
        </p:txBody>
      </p:sp>
      <p:pic>
        <p:nvPicPr>
          <p:cNvPr id="22" name="Picture 21" descr="p58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Longxiang Pharma Science and Technology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46,000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B, C &amp; 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40550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50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07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07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270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55–56 of 73 from IAQ’s own reference list.</a:t>
            </a:r>
          </a:p>
        </p:txBody>
      </p:sp>
      <p:pic>
        <p:nvPicPr>
          <p:cNvPr id="10" name="Picture 9" descr="p59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Sumitomo Medical (Suzhou)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3,000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&amp; 8</a:t>
            </a:r>
          </a:p>
        </p:txBody>
      </p:sp>
      <p:pic>
        <p:nvPicPr>
          <p:cNvPr id="22" name="Picture 21" descr="p59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Suzhou Capsugel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21,500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(CLASS 10K)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38209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51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17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17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372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57–58 of 73 from IAQ’s own reference list.</a:t>
            </a:r>
          </a:p>
        </p:txBody>
      </p:sp>
      <p:pic>
        <p:nvPicPr>
          <p:cNvPr id="10" name="Picture 9" descr="p60t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AW (Suzhou)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Electrical system, 45,000 m²</a:t>
            </a:r>
          </a:p>
        </p:txBody>
      </p:sp>
      <p:pic>
        <p:nvPicPr>
          <p:cNvPr id="19" name="Picture 18" descr="p60b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AAM Automobile (Changshu) Co., Ltd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39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401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369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 for mechanical &amp; electrical system, 18,000 m²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445250"/>
            <a:ext cx="40262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52 / 67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146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146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2661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59–60 of 73 from IAQ’s own reference list.</a:t>
            </a:r>
          </a:p>
        </p:txBody>
      </p:sp>
      <p:pic>
        <p:nvPicPr>
          <p:cNvPr id="10" name="Picture 9" descr="p61t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ZF (China) Investment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Electrical system, 44,000 m²</a:t>
            </a:r>
          </a:p>
        </p:txBody>
      </p:sp>
      <p:pic>
        <p:nvPicPr>
          <p:cNvPr id="19" name="Picture 18" descr="p61b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Umicore Automotive Catalyst (Su Zhou) Co., Ltd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39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401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369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 for mechanical &amp; electrical system, 6,800 m²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445250"/>
            <a:ext cx="40024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53 / 67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8754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8754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74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61–62 of 73 from IAQ’s own reference list.</a:t>
            </a:r>
          </a:p>
        </p:txBody>
      </p:sp>
      <p:pic>
        <p:nvPicPr>
          <p:cNvPr id="10" name="Picture 9" descr="p62t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Mary Kay (China) Cosmetics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0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08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 for mechanical and electrical system, 26,000 m²</a:t>
            </a:r>
          </a:p>
        </p:txBody>
      </p:sp>
      <p:pic>
        <p:nvPicPr>
          <p:cNvPr id="21" name="Picture 20" descr="p62b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Celestica (Dongguan-SSL) Technology Co., Ltd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3975" y="565150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69912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General contractor, 13,000 m²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445250"/>
            <a:ext cx="39846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54 / 67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89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89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7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63–64 of 73 from IAQ’s own reference list.</a:t>
            </a:r>
          </a:p>
        </p:txBody>
      </p:sp>
      <p:pic>
        <p:nvPicPr>
          <p:cNvPr id="10" name="Picture 9" descr="p63t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Intercos Cosmetics (Suzhou)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0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08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 for mechanical and electrical system, 30,000 m²</a:t>
            </a:r>
          </a:p>
        </p:txBody>
      </p:sp>
      <p:pic>
        <p:nvPicPr>
          <p:cNvPr id="21" name="Picture 20" descr="p63b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Voith Fabric (Kunshan) Co., Ltd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39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401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369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 for mechanical and electrical system, 11,000 m²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6445250"/>
            <a:ext cx="40094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55 / 67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699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699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19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65–66 of 73 from IAQ’s own reference list.</a:t>
            </a:r>
          </a:p>
        </p:txBody>
      </p:sp>
      <p:pic>
        <p:nvPicPr>
          <p:cNvPr id="10" name="Picture 9" descr="p64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HVOLT Lithium-ion Battery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Air-conditioning system, 79,000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(CLASS 10K)</a:t>
            </a:r>
          </a:p>
        </p:txBody>
      </p:sp>
      <p:pic>
        <p:nvPicPr>
          <p:cNvPr id="22" name="Picture 21" descr="p65t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Jiang Su Senior Technology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53223" y="5391944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50048" y="5439569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74284" y="5391944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71109" y="5439569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Cleanroom, ACMV, process utilities and tools hookup, 70,000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&amp; 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4028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56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481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481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6012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67–68 of 73 from IAQ’s own reference list.</a:t>
            </a:r>
          </a:p>
        </p:txBody>
      </p:sp>
      <p:pic>
        <p:nvPicPr>
          <p:cNvPr id="10" name="Picture 9" descr="p65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Jin Neng Clean Energy Technology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system, 20,000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8 (CLASS 100K)</a:t>
            </a:r>
          </a:p>
        </p:txBody>
      </p:sp>
      <p:pic>
        <p:nvPicPr>
          <p:cNvPr id="22" name="Picture 21" descr="p66t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Juli New Energy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53223" y="5391944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50048" y="5439569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74284" y="5391944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71109" y="5439569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Cleanroom, ACMV, process utilities and tools hookup, 9,600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 &amp; 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40054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57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68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680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000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69–70 of 73 from IAQ’s own reference list.</a:t>
            </a:r>
          </a:p>
        </p:txBody>
      </p:sp>
      <p:pic>
        <p:nvPicPr>
          <p:cNvPr id="10" name="Picture 9" descr="p66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Baoding Fengfan Storage Battery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system, 4,000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(CLASS 10K)</a:t>
            </a:r>
          </a:p>
        </p:txBody>
      </p:sp>
      <p:pic>
        <p:nvPicPr>
          <p:cNvPr id="22" name="Picture 21" descr="p67t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Unilever R&amp;D Center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40130" y="5391944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36955" y="5439569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Mechanical and electrical system, 37,000 m²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445250"/>
            <a:ext cx="40262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58 / 67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878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878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9981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71–72 of 73 from IAQ’s own reference list.</a:t>
            </a:r>
          </a:p>
        </p:txBody>
      </p:sp>
      <p:pic>
        <p:nvPicPr>
          <p:cNvPr id="10" name="Picture 9" descr="p67b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GE (China) R&amp;D Center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0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08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Mechanical and electrical system, 36,000 m²</a:t>
            </a:r>
          </a:p>
        </p:txBody>
      </p:sp>
      <p:pic>
        <p:nvPicPr>
          <p:cNvPr id="21" name="Picture 20" descr="p68t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Dow Shanghai R&amp;D Center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39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401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369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Mechanical and electrical system, 100,000 m²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6445250"/>
            <a:ext cx="4028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59 / 67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68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680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000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 73 of 73 from IAQ’s own reference list.</a:t>
            </a:r>
          </a:p>
        </p:txBody>
      </p:sp>
      <p:pic>
        <p:nvPicPr>
          <p:cNvPr id="10" name="Picture 9" descr="p68b.jpg"/>
          <p:cNvPicPr>
            <a:picLocks noChangeAspect="1"/>
          </p:cNvPicPr>
          <p:nvPr/>
        </p:nvPicPr>
        <p:blipFill>
          <a:blip r:embed="rId3"/>
          <a:srcRect t="7843" b="7843"/>
          <a:stretch>
            <a:fillRect/>
          </a:stretch>
        </p:blipFill>
        <p:spPr>
          <a:xfrm>
            <a:off x="609600" y="2660650"/>
            <a:ext cx="6477000" cy="2730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086600" y="2660650"/>
            <a:ext cx="4495800" cy="2730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2660650"/>
            <a:ext cx="19050" cy="27305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59650" y="3562648"/>
            <a:ext cx="396875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9650" y="3683298"/>
            <a:ext cx="39687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Rohm and Haas (China) R&amp;D Center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62825" y="3949306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9650" y="3996931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98980" y="3949306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5805" y="3996931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59650" y="4317606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2450" y="4298556"/>
            <a:ext cx="31559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Mechanical and electrical system, 27,000 m²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445250"/>
            <a:ext cx="40739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60 / 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090141"/>
            <a:ext cx="78521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5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PART 03 OF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99641"/>
            <a:ext cx="5279428" cy="169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0" b="1" i="0" spc="-475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299816"/>
            <a:ext cx="5279428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0" i="0" spc="-75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Safety, Quality &amp; ESG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853459"/>
            <a:ext cx="5279428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140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SECTIONS 03.1 TO 03.6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126509"/>
            <a:ext cx="5279428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428525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Highwire Gold safety award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48210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ISO 45001:2018 occupational health &amp; safety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67895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20 tons per annum carbon footprint reduction</a:t>
            </a:r>
          </a:p>
        </p:txBody>
      </p:sp>
      <p:pic>
        <p:nvPicPr>
          <p:cNvPr id="15" name="Picture 14" descr="esg-safe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4628" y="0"/>
            <a:ext cx="5947372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9600" y="304800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445250"/>
            <a:ext cx="3839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61 / 67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030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030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1502" y="414338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ESG Commitments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pillars, applied to operations and to every project we take on.</a:t>
            </a:r>
          </a:p>
        </p:txBody>
      </p:sp>
      <p:pic>
        <p:nvPicPr>
          <p:cNvPr id="10" name="Picture 9" descr="value-2.jpg"/>
          <p:cNvPicPr>
            <a:picLocks noChangeAspect="1"/>
          </p:cNvPicPr>
          <p:nvPr/>
        </p:nvPicPr>
        <p:blipFill>
          <a:blip r:embed="rId3"/>
          <a:srcRect t="4238" b="4238"/>
          <a:stretch>
            <a:fillRect/>
          </a:stretch>
        </p:blipFill>
        <p:spPr>
          <a:xfrm>
            <a:off x="609600" y="1701800"/>
            <a:ext cx="3539033" cy="316746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47063"/>
            <a:ext cx="3539033" cy="1302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47063"/>
            <a:ext cx="3539033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5155013"/>
            <a:ext cx="3234233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1" i="0" spc="-6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5491563"/>
            <a:ext cx="3234233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Environmental Responsibility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5754688"/>
            <a:ext cx="3234233" cy="4159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Minimising environmental footprint through sustainable design and construction. Energy-efficient solutions and eco-friendly technologies, prioritised at design stage.</a:t>
            </a:r>
          </a:p>
        </p:txBody>
      </p:sp>
      <p:pic>
        <p:nvPicPr>
          <p:cNvPr id="16" name="Picture 15" descr="value-3.jpg"/>
          <p:cNvPicPr>
            <a:picLocks noChangeAspect="1"/>
          </p:cNvPicPr>
          <p:nvPr/>
        </p:nvPicPr>
        <p:blipFill>
          <a:blip r:embed="rId4"/>
          <a:srcRect t="5250" b="5250"/>
          <a:stretch>
            <a:fillRect/>
          </a:stretch>
        </p:blipFill>
        <p:spPr>
          <a:xfrm>
            <a:off x="4326433" y="1701800"/>
            <a:ext cx="3539033" cy="3167463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326433" y="5047063"/>
            <a:ext cx="3539033" cy="1302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6433" y="5047063"/>
            <a:ext cx="3539033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8833" y="5155013"/>
            <a:ext cx="3234233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1" i="0" spc="-6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8833" y="5491563"/>
            <a:ext cx="3234233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Social Accountability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8833" y="5754688"/>
            <a:ext cx="3234233" cy="2682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The well-being and safety of employees and communities first. A diverse, inclusive work environment and ethical labour practices.</a:t>
            </a:r>
          </a:p>
        </p:txBody>
      </p:sp>
      <p:pic>
        <p:nvPicPr>
          <p:cNvPr id="22" name="Picture 21" descr="value-4.jpg"/>
          <p:cNvPicPr>
            <a:picLocks noChangeAspect="1"/>
          </p:cNvPicPr>
          <p:nvPr/>
        </p:nvPicPr>
        <p:blipFill>
          <a:blip r:embed="rId5"/>
          <a:srcRect t="4995" b="4995"/>
          <a:stretch>
            <a:fillRect/>
          </a:stretch>
        </p:blipFill>
        <p:spPr>
          <a:xfrm>
            <a:off x="8043266" y="1701800"/>
            <a:ext cx="3539033" cy="3167463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8043266" y="5047063"/>
            <a:ext cx="3539033" cy="1302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43266" y="5047063"/>
            <a:ext cx="3539033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95666" y="5155013"/>
            <a:ext cx="3234233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1" i="0" spc="-6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5666" y="5491563"/>
            <a:ext cx="3234233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Corporate Governance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5666" y="5754688"/>
            <a:ext cx="3234233" cy="4159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Transparency, accountability and ethical decision-making, with the highest standards of compliance, building trust with clients, partners and stakeholders.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6445250"/>
            <a:ext cx="40451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62 / 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9720" y="6429375"/>
            <a:ext cx="12725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SAFETY, QUALITY &amp; ESG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173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173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933" y="414338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Certifications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Every management system independently registered, and every licence current.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82800" y="1701800"/>
            <a:ext cx="2489200" cy="39875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cert-iso90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5581" y="1778000"/>
            <a:ext cx="2323638" cy="329624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197100" y="5156797"/>
            <a:ext cx="2260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ISO 9001:2015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7100" y="5339956"/>
            <a:ext cx="2260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Quality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7100" y="5480450"/>
            <a:ext cx="22606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Intertek · valid to June 2029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51400" y="1701800"/>
            <a:ext cx="2489200" cy="39875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cert-iso1400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9482" y="1778000"/>
            <a:ext cx="2333036" cy="329624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965700" y="5156797"/>
            <a:ext cx="2260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ISO 14001:2015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65700" y="5339956"/>
            <a:ext cx="2260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Environmental Management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65700" y="5480450"/>
            <a:ext cx="22606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Intertek · valid to June 2029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20000" y="1701800"/>
            <a:ext cx="2489200" cy="39875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cert-iso4500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6280" y="1778000"/>
            <a:ext cx="2316639" cy="329624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734300" y="5156797"/>
            <a:ext cx="2260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ISO 45001:2018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34300" y="5339956"/>
            <a:ext cx="2260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Occupational Health &amp; Safety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34300" y="5480450"/>
            <a:ext cx="22606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Intertek · valid to June 2029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5879802"/>
            <a:ext cx="2113261" cy="4701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3900" y="5987752"/>
            <a:ext cx="1884661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C2326"/>
                </a:solidFill>
                <a:latin typeface="Urbanist SemiBold"/>
                <a:ea typeface="Urbanist SemiBold"/>
                <a:cs typeface="Urbanist SemiBold"/>
              </a:rPr>
              <a:t>CIDB Grade G7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3900" y="6132512"/>
            <a:ext cx="1884661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Unlimited tender capacity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24461" y="5879802"/>
            <a:ext cx="2113261" cy="4701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38761" y="5987752"/>
            <a:ext cx="1884661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C2326"/>
                </a:solidFill>
                <a:latin typeface="Urbanist SemiBold"/>
                <a:ea typeface="Urbanist SemiBold"/>
                <a:cs typeface="Urbanist SemiBold"/>
              </a:rPr>
              <a:t>PKK Grade G7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38761" y="6132512"/>
            <a:ext cx="1884661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Government works registration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39322" y="5879802"/>
            <a:ext cx="2113261" cy="4701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53622" y="5987752"/>
            <a:ext cx="1884661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C2326"/>
                </a:solidFill>
                <a:latin typeface="Urbanist SemiBold"/>
                <a:ea typeface="Urbanist SemiBold"/>
                <a:cs typeface="Urbanist SemiBold"/>
              </a:rPr>
              <a:t>Highwire Gold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53622" y="6132512"/>
            <a:ext cx="1884661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Contractor safety performance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54183" y="5879802"/>
            <a:ext cx="2113261" cy="4701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68483" y="5987752"/>
            <a:ext cx="1884661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C2326"/>
                </a:solidFill>
                <a:latin typeface="Urbanist SemiBold"/>
                <a:ea typeface="Urbanist SemiBold"/>
                <a:cs typeface="Urbanist SemiBold"/>
              </a:rPr>
              <a:t>Energy Commission Class 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8483" y="6132512"/>
            <a:ext cx="1884661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Suruhanjaya Tenaga, Malaysia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469044" y="5879802"/>
            <a:ext cx="2113261" cy="4701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8" name="Picture 37" descr="cert-bizsaf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7038" y="5981402"/>
            <a:ext cx="283667" cy="13335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583344" y="5987752"/>
            <a:ext cx="1884661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C2326"/>
                </a:solidFill>
                <a:latin typeface="Urbanist SemiBold"/>
                <a:ea typeface="Urbanist SemiBold"/>
                <a:cs typeface="Urbanist SemiBold"/>
              </a:rPr>
              <a:t>bizSAFE Level 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83344" y="6132512"/>
            <a:ext cx="1884661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WSH Council, Singapore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6445250"/>
            <a:ext cx="4021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63 / 67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09720" y="6429375"/>
            <a:ext cx="12725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SAFETY, QUALITY &amp; ESG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award-mciea.jpg"/>
          <p:cNvPicPr>
            <a:picLocks noChangeAspect="1"/>
          </p:cNvPicPr>
          <p:nvPr/>
        </p:nvPicPr>
        <p:blipFill>
          <a:blip r:embed="rId2"/>
          <a:srcRect t="80" b="80"/>
          <a:stretch>
            <a:fillRect/>
          </a:stretch>
        </p:blipFill>
        <p:spPr>
          <a:xfrm>
            <a:off x="4381500" y="952500"/>
            <a:ext cx="7810500" cy="5105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09600" y="381000"/>
            <a:ext cx="34905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425450"/>
            <a:ext cx="34905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253" y="414338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pic>
        <p:nvPicPr>
          <p:cNvPr id="11" name="Picture 10" descr="iaq-logo-tag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9600" y="1377950"/>
            <a:ext cx="2413000" cy="1952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37"/>
              </a:lnSpc>
            </a:pPr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MALAYSIAN CONSTRUCTION INDUSTRY EXCELLENCE AWARDS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1444625"/>
            <a:ext cx="3175000" cy="1244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0" b="1" i="0" spc="-35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2463108"/>
            <a:ext cx="3175000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0" i="0" spc="-50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Builder of the Year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2912669"/>
            <a:ext cx="29845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3058719"/>
            <a:ext cx="2984500" cy="59303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40"/>
              </a:lnSpc>
            </a:pPr>
            <a:r>
              <a:rPr sz="78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The Construction Industry Development Board’s highest recognition for a contractor. Recipients are judged across company performance, project management, technical expertise, innovation, quality, safety and sustainability.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3828256"/>
            <a:ext cx="2984500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3942556"/>
            <a:ext cx="29845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15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AWARDED 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4044156"/>
            <a:ext cx="298450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 spc="-18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IAQ Solutions Sdn Bhd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4314031"/>
            <a:ext cx="2984500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4428331"/>
            <a:ext cx="29845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15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CONFERRED BY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4529931"/>
            <a:ext cx="298450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 spc="-18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CIDB Malaysia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6445250"/>
            <a:ext cx="40034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64 / 67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09720" y="6429375"/>
            <a:ext cx="12725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SAFETY, QUALITY &amp; ESG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4756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4756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8761" y="414338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Safety &amp; Recognition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How our standards are independently verified and recognised.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983880"/>
            <a:ext cx="6273800" cy="7159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438"/>
              </a:lnSpc>
            </a:pPr>
            <a:r>
              <a:rPr sz="2300" b="0" i="0" spc="-4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Judged on the things</a:t>
            </a:r>
          </a:p>
          <a:p>
            <a:pPr algn="l">
              <a:lnSpc>
                <a:spcPts val="2438"/>
              </a:lnSpc>
            </a:pPr>
            <a:r>
              <a:rPr sz="2300" b="0" i="0" spc="-4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that actually matter.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812555"/>
            <a:ext cx="4310755" cy="33903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20"/>
              </a:lnSpc>
            </a:pPr>
            <a:r>
              <a:rPr sz="950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MCIEA recipients are assessed by CIDB against seven criteria. They are the same ground our clients audit us 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427114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5650" y="3363614"/>
            <a:ext cx="612775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MOSHPA Safety Award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5650" y="3532486"/>
            <a:ext cx="612775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Gold Award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3823894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5650" y="3760394"/>
            <a:ext cx="612775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Highwire safety rating, Gold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5650" y="3929259"/>
            <a:ext cx="612775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Independent contractor audit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4220667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5650" y="4157167"/>
            <a:ext cx="612775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ISO 45001:2018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5650" y="4326039"/>
            <a:ext cx="612775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Occupational health &amp; safety management</a:t>
            </a:r>
          </a:p>
        </p:txBody>
      </p:sp>
      <p:pic>
        <p:nvPicPr>
          <p:cNvPr id="21" name="Picture 20" descr="safety-review.jpg"/>
          <p:cNvPicPr>
            <a:picLocks noChangeAspect="1"/>
          </p:cNvPicPr>
          <p:nvPr/>
        </p:nvPicPr>
        <p:blipFill>
          <a:blip r:embed="rId3"/>
          <a:srcRect t="16985" b="16985"/>
          <a:stretch>
            <a:fillRect/>
          </a:stretch>
        </p:blipFill>
        <p:spPr>
          <a:xfrm>
            <a:off x="7391400" y="1701800"/>
            <a:ext cx="4191000" cy="307717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09600" y="4944072"/>
            <a:ext cx="10972800" cy="1405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9600" y="4944072"/>
            <a:ext cx="109728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100" y="5115522"/>
            <a:ext cx="108118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THE SEVEN CRITERIA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02838" y="5115522"/>
            <a:ext cx="138906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ASSESSED BY CIDB MALAYSIA</a:t>
            </a:r>
          </a:p>
        </p:txBody>
      </p:sp>
      <p:sp>
        <p:nvSpPr>
          <p:cNvPr id="26" name="Oval 25"/>
          <p:cNvSpPr/>
          <p:nvPr/>
        </p:nvSpPr>
        <p:spPr>
          <a:xfrm>
            <a:off x="804862" y="5342534"/>
            <a:ext cx="320675" cy="3206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fd16e9d4b23be9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825" y="5423497"/>
            <a:ext cx="158750" cy="15875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00100" y="5725122"/>
            <a:ext cx="138241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" y="5845772"/>
            <a:ext cx="1382414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19" b="0" i="0" spc="-18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Company performance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" y="6062859"/>
            <a:ext cx="1382414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Standing and delivery record</a:t>
            </a:r>
          </a:p>
        </p:txBody>
      </p:sp>
      <p:sp>
        <p:nvSpPr>
          <p:cNvPr id="31" name="Oval 30"/>
          <p:cNvSpPr/>
          <p:nvPr/>
        </p:nvSpPr>
        <p:spPr>
          <a:xfrm>
            <a:off x="2339677" y="5342534"/>
            <a:ext cx="320675" cy="3206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2" name="Picture 31" descr="cb5e617e4f60592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0639" y="5423497"/>
            <a:ext cx="158750" cy="15875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334914" y="5725122"/>
            <a:ext cx="138251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4914" y="5845772"/>
            <a:ext cx="1382516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19" b="0" i="0" spc="-18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Project management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4914" y="6062859"/>
            <a:ext cx="1382516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Programme, cost and site control</a:t>
            </a:r>
          </a:p>
        </p:txBody>
      </p:sp>
      <p:sp>
        <p:nvSpPr>
          <p:cNvPr id="36" name="Oval 35"/>
          <p:cNvSpPr/>
          <p:nvPr/>
        </p:nvSpPr>
        <p:spPr>
          <a:xfrm>
            <a:off x="3874592" y="5342534"/>
            <a:ext cx="320675" cy="3206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62f8ec05e19f301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55555" y="5423497"/>
            <a:ext cx="158750" cy="15875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3869830" y="5725122"/>
            <a:ext cx="138251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69830" y="5845772"/>
            <a:ext cx="1382516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19" b="0" i="0" spc="-18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Technical expertise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69830" y="6062859"/>
            <a:ext cx="1382516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Engineering depth and method</a:t>
            </a:r>
          </a:p>
        </p:txBody>
      </p:sp>
      <p:sp>
        <p:nvSpPr>
          <p:cNvPr id="41" name="Oval 40"/>
          <p:cNvSpPr/>
          <p:nvPr/>
        </p:nvSpPr>
        <p:spPr>
          <a:xfrm>
            <a:off x="5409508" y="5342534"/>
            <a:ext cx="320675" cy="3206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2" name="Picture 41" descr="93740f9917cf461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90470" y="5423497"/>
            <a:ext cx="158750" cy="15875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5404745" y="5725122"/>
            <a:ext cx="138241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04745" y="5845772"/>
            <a:ext cx="1382414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19" b="0" i="0" spc="-18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Innovation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04745" y="6062859"/>
            <a:ext cx="1382414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New method and technology</a:t>
            </a:r>
          </a:p>
        </p:txBody>
      </p:sp>
      <p:sp>
        <p:nvSpPr>
          <p:cNvPr id="46" name="Oval 45"/>
          <p:cNvSpPr/>
          <p:nvPr/>
        </p:nvSpPr>
        <p:spPr>
          <a:xfrm>
            <a:off x="6944322" y="5342534"/>
            <a:ext cx="320675" cy="3206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8766c1eb082ad46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25284" y="5423497"/>
            <a:ext cx="158750" cy="15875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939559" y="5725122"/>
            <a:ext cx="138251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39559" y="5845772"/>
            <a:ext cx="1382516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19" b="0" i="0" spc="-18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Quality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39559" y="6062859"/>
            <a:ext cx="1382516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Workmanship against the standard</a:t>
            </a:r>
          </a:p>
        </p:txBody>
      </p:sp>
      <p:sp>
        <p:nvSpPr>
          <p:cNvPr id="51" name="Oval 50"/>
          <p:cNvSpPr/>
          <p:nvPr/>
        </p:nvSpPr>
        <p:spPr>
          <a:xfrm>
            <a:off x="8479238" y="5342534"/>
            <a:ext cx="320675" cy="3206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2" name="Picture 51" descr="95c26a6560f2fd3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60200" y="5423497"/>
            <a:ext cx="158750" cy="15875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474475" y="5725122"/>
            <a:ext cx="138251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74475" y="5845772"/>
            <a:ext cx="1382516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19" b="0" i="0" spc="-18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Safety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74475" y="6062859"/>
            <a:ext cx="1382516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Zero-harm practice on every site</a:t>
            </a:r>
          </a:p>
        </p:txBody>
      </p:sp>
      <p:sp>
        <p:nvSpPr>
          <p:cNvPr id="56" name="Oval 55"/>
          <p:cNvSpPr/>
          <p:nvPr/>
        </p:nvSpPr>
        <p:spPr>
          <a:xfrm>
            <a:off x="10014147" y="5342534"/>
            <a:ext cx="320675" cy="3206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7" name="Picture 56" descr="2efb3ecbb35812e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95109" y="5423497"/>
            <a:ext cx="158750" cy="15875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009384" y="5725122"/>
            <a:ext cx="138241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09384" y="5845772"/>
            <a:ext cx="1382414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19" b="0" i="0" spc="-18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Sustainability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09384" y="6062859"/>
            <a:ext cx="1382414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Environmental and social outcome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9600" y="6445250"/>
            <a:ext cx="4028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65 / 67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09822" y="6429375"/>
            <a:ext cx="12725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SAFETY, QUALITY &amp; ESG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81000"/>
            <a:ext cx="34954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425450"/>
            <a:ext cx="34954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48" y="414338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pic>
        <p:nvPicPr>
          <p:cNvPr id="10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Closing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Engineering the facilities advanced industry runs 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3067647"/>
            <a:ext cx="8255000" cy="11259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815"/>
              </a:lnSpc>
            </a:pPr>
            <a:r>
              <a:rPr sz="3600" b="0" i="0" spc="-72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We infuse safety, quality, efficiency and excellence into every project.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341616"/>
            <a:ext cx="4310755" cy="53200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20"/>
              </a:lnSpc>
            </a:pPr>
            <a:r>
              <a:rPr sz="9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From engineering design and project management to construction and maintenance, across semiconductor manufacturing, clean energy and every environment in between. IAQ is your trusted partner for total facility solutions.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445250"/>
            <a:ext cx="40471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66 / 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9720" y="6429375"/>
            <a:ext cx="12725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SAFETY, QUALITY &amp; ESG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81000"/>
            <a:ext cx="35153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425450"/>
            <a:ext cx="35153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03.6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2730" y="414338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pic>
        <p:nvPicPr>
          <p:cNvPr id="10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Contacts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For inquiry and business opportunity.</a:t>
            </a:r>
          </a:p>
        </p:txBody>
      </p:sp>
      <p:pic>
        <p:nvPicPr>
          <p:cNvPr id="14" name="Picture 13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885156"/>
            <a:ext cx="1587500" cy="79375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09600" y="2818606"/>
            <a:ext cx="27940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2958306"/>
            <a:ext cx="2794000" cy="4778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56"/>
              </a:lnSpc>
            </a:pPr>
            <a:r>
              <a:rPr sz="88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Engineering, procurement, construction and energy management for the industries where contamination, uptime and safety decide the outcome. Established 1995.</a:t>
            </a:r>
          </a:p>
        </p:txBody>
      </p:sp>
      <p:pic>
        <p:nvPicPr>
          <p:cNvPr id="17" name="Picture 16" descr="qr-web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684588"/>
            <a:ext cx="939800" cy="939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9600" y="4687888"/>
            <a:ext cx="881856" cy="63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50" b="0" i="0" spc="11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WEBSITE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4770438"/>
            <a:ext cx="881856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iaqtechnology.com.my</a:t>
            </a:r>
          </a:p>
        </p:txBody>
      </p:sp>
      <p:pic>
        <p:nvPicPr>
          <p:cNvPr id="20" name="Picture 19" descr="qr-linked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9100" y="3684588"/>
            <a:ext cx="939800" cy="939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689100" y="4687888"/>
            <a:ext cx="983355" cy="63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50" b="0" i="0" spc="11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LINKEDIN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89100" y="4770438"/>
            <a:ext cx="983355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IAQ Group of Companies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51300" y="2747270"/>
            <a:ext cx="2417166" cy="1276547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51300" y="2747270"/>
            <a:ext cx="2417166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16400" y="2969520"/>
            <a:ext cx="2086966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1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BUSINESS DEVELOPMENT DIRECTOR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16400" y="3191770"/>
            <a:ext cx="2086966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Nelson Tan Wee Keong</a:t>
            </a:r>
          </a:p>
        </p:txBody>
      </p:sp>
      <p:pic>
        <p:nvPicPr>
          <p:cNvPr id="27" name="Picture 26" descr="df3b3bcfaaa03b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6400" y="3497066"/>
            <a:ext cx="107950" cy="10795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406900" y="3492995"/>
            <a:ext cx="189646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nelsontan@iaqtechnology.com.my</a:t>
            </a:r>
          </a:p>
        </p:txBody>
      </p:sp>
      <p:pic>
        <p:nvPicPr>
          <p:cNvPr id="29" name="Picture 28" descr="33901769a84154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16400" y="3695802"/>
            <a:ext cx="107950" cy="10795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406900" y="3691731"/>
            <a:ext cx="189646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+6012-372 7329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08166" y="2747270"/>
            <a:ext cx="2417267" cy="1276547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608166" y="2747270"/>
            <a:ext cx="24172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73266" y="2969520"/>
            <a:ext cx="2087067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1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SENIOR ENGINEER, BUSINESS DEVELOPMENT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73266" y="3191770"/>
            <a:ext cx="2087067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Sunny Lim Qin Xiang</a:t>
            </a:r>
          </a:p>
        </p:txBody>
      </p:sp>
      <p:pic>
        <p:nvPicPr>
          <p:cNvPr id="35" name="Picture 34" descr="df3b3bcfaaa03b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3266" y="3497066"/>
            <a:ext cx="107950" cy="10795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963766" y="3492995"/>
            <a:ext cx="189656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qinxiang.lim@iaqtechnology.com.my</a:t>
            </a:r>
          </a:p>
        </p:txBody>
      </p:sp>
      <p:pic>
        <p:nvPicPr>
          <p:cNvPr id="37" name="Picture 36" descr="33901769a84154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3266" y="3695802"/>
            <a:ext cx="107950" cy="10795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963766" y="3691731"/>
            <a:ext cx="189656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+6016-442 4578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65133" y="2747270"/>
            <a:ext cx="2417166" cy="19050"/>
          </a:xfrm>
          <a:prstGeom prst="rect">
            <a:avLst/>
          </a:prstGeom>
          <a:solidFill>
            <a:srgbClr val="EC2326">
              <a:alpha val="4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575948" y="2747270"/>
            <a:ext cx="6350" cy="1276547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65133" y="4017467"/>
            <a:ext cx="2417166" cy="635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65133" y="2747270"/>
            <a:ext cx="6350" cy="1276547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610158" y="2864745"/>
            <a:ext cx="861022" cy="142875"/>
          </a:xfrm>
          <a:prstGeom prst="rect">
            <a:avLst/>
          </a:prstGeom>
          <a:noFill/>
          <a:ln w="6350">
            <a:solidFill>
              <a:srgbClr val="EC2326">
                <a:alpha val="4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606983" y="2906020"/>
            <a:ext cx="867372" cy="57150"/>
          </a:xfrm>
          <a:prstGeom prst="rect">
            <a:avLst/>
          </a:prstGeom>
          <a:noFill/>
        </p:spPr>
        <p:txBody>
          <a:bodyPr wrap="none" lIns="57150" rIns="57150" tIns="0" bIns="0" anchor="ctr">
            <a:noAutofit/>
          </a:bodyPr>
          <a:lstStyle/>
          <a:p>
            <a:pPr algn="l"/>
            <a:r>
              <a:rPr sz="520" b="0" i="0" spc="10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 BE CONFIRMED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36583" y="2969520"/>
            <a:ext cx="2074266" cy="69850"/>
          </a:xfrm>
          <a:prstGeom prst="rect">
            <a:avLst/>
          </a:prstGeom>
          <a:noFill/>
        </p:spPr>
        <p:txBody>
          <a:bodyPr wrap="none" lIns="0" rIns="762000" tIns="0" bIns="0" anchor="ctr">
            <a:noAutofit/>
          </a:bodyPr>
          <a:lstStyle/>
          <a:p>
            <a:pPr algn="l"/>
            <a:r>
              <a:rPr sz="580" b="0" i="0" spc="115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ROLE TO BE ADVISED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36583" y="3191770"/>
            <a:ext cx="2074266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96A2B2"/>
                </a:solidFill>
                <a:latin typeface="Poppins SemiBold"/>
                <a:ea typeface="Poppins SemiBold"/>
                <a:cs typeface="Poppins SemiBold"/>
              </a:rPr>
              <a:t>Name to be advised</a:t>
            </a:r>
          </a:p>
        </p:txBody>
      </p:sp>
      <p:pic>
        <p:nvPicPr>
          <p:cNvPr id="47" name="Picture 46" descr="92265448a5d11ed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36583" y="3497066"/>
            <a:ext cx="107950" cy="10795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527083" y="3492995"/>
            <a:ext cx="188376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name@iaqtechnology.com.my</a:t>
            </a:r>
          </a:p>
        </p:txBody>
      </p:sp>
      <p:pic>
        <p:nvPicPr>
          <p:cNvPr id="49" name="Picture 48" descr="a1667763ab6ea07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6583" y="3695802"/>
            <a:ext cx="107950" cy="10795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527083" y="3691731"/>
            <a:ext cx="188376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+60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9600" y="5221688"/>
            <a:ext cx="109728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09600" y="5380438"/>
            <a:ext cx="12700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REGISTERED NAME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19300" y="5329638"/>
            <a:ext cx="95631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IAQ Technology International Sdn Bhd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" y="5532336"/>
            <a:ext cx="109728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9600" y="5652986"/>
            <a:ext cx="12700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REGISTRATION NO.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19300" y="5602186"/>
            <a:ext cx="95631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200001031412 (534019-T)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9600" y="5804891"/>
            <a:ext cx="109728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09600" y="5925541"/>
            <a:ext cx="12700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BUSINESS ENQUIRIES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19300" y="5874741"/>
            <a:ext cx="95631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business@iaqtechnology.com.my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6077445"/>
            <a:ext cx="109728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9600" y="6198095"/>
            <a:ext cx="12700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HEAD OFFICE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019300" y="6147295"/>
            <a:ext cx="95631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12, Jalan Sungai Jeluh 32/192, Kawasan Perindustrian Kemuning, Seksyen 32, 40460 Shah Alam, Selangor, Malaysia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6445250"/>
            <a:ext cx="4024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67 / 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09822" y="6429375"/>
            <a:ext cx="12725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SAFETY, QUALITY &amp; ESG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pic>
        <p:nvPicPr>
          <p:cNvPr id="4" name="Picture 3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Master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Every layout in the set. Copy the page you need and type into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16100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3300" y="1758950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Title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2400" y="1784350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Open a deck or a chapter of 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8550" y="1816100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2250" y="1758950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Section divider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1350" y="1784350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Open a new part of the deck.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2099075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3300" y="2041925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Statement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2400" y="2067325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argument, said plainly, with a photograph.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8550" y="2099075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72250" y="2041925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Highlights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350" y="2067325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or four figures that carry the page.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2382044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300" y="2324894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Icon cards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2400" y="2350294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set of capabilities, services or principles.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8550" y="2382044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72250" y="2324894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Comparison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1350" y="2350294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Two or three options read side by side.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2665019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3300" y="2607869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Org chart · reporting tree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2400" y="2633269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Who reports to whom, three levels at most.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8550" y="2665019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250" y="2607869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Org chart · flat team band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1350" y="2633269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team of peers, no hierarchy implied.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2947988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3300" y="2890838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Org chart · group structure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92400" y="2916238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holding company and the businesses under it.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8550" y="2947988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72250" y="2890838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Process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1350" y="2916238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Stages that run in order, start to finish.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3230963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300" y="3173813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Timeline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92400" y="3199213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Dates in order, with what happened at each.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78550" y="3230963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72250" y="3173813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Infographic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61350" y="3199213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visual in the middle, the parts around it.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600" y="3513931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3300" y="3456781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Image and specs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92400" y="3482181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project or product, pictured and specified.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78550" y="3513931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72250" y="3456781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Programme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61350" y="3482181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Work packages against a calendar.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600" y="3796906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3300" y="3739756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Table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92400" y="3765156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Rows and columns, where the detail has to be exact.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78550" y="3796906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72250" y="3739756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Full-bleed image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61350" y="3765156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Let one photograph carry the page.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9600" y="4079875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3300" y="4022725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Closing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92400" y="4048125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End the deck: the ask, and how to reach you.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78550" y="4079875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72250" y="4022725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Agenda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61350" y="4048125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 deck covers, before it covers it.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9600" y="4362850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3300" y="4305700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Quote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92400" y="4331100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Let a client, or the board, say it instead of you.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78550" y="4362850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572250" y="4305700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Before and after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61350" y="4331100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Two states of the same thing, side by side.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9600" y="6445250"/>
            <a:ext cx="13255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68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024000" y="6429375"/>
            <a:ext cx="55830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CONTENTS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81000"/>
            <a:ext cx="23822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425450"/>
            <a:ext cx="23822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9427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pic>
        <p:nvPicPr>
          <p:cNvPr id="10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3119139"/>
            <a:ext cx="109728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16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KICKER · TWO OR THREE WORDS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290589"/>
            <a:ext cx="6985000" cy="10242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i="0" spc="-99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The one line this deck is about, eight words or fewer.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431011"/>
            <a:ext cx="45720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sentence under it saying who it is for and what it covers.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856461"/>
            <a:ext cx="109728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35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PREPARED FOR · CLIENT ·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445250"/>
            <a:ext cx="13275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69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9628" y="6429375"/>
            <a:ext cx="28277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TITLE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04800"/>
            <a:ext cx="25965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349250"/>
            <a:ext cx="25965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0858" y="3381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188566"/>
            <a:ext cx="7949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5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PART 00 OF 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1998066"/>
            <a:ext cx="5279428" cy="169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0" b="1" i="0" spc="-475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398241"/>
            <a:ext cx="5279428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0" i="0" spc="-75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Section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3951884"/>
            <a:ext cx="5279428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140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WHAT THIS PART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4224934"/>
            <a:ext cx="5279428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" y="4383684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A fact worth leading with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4580534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A second fact, the same length</a:t>
            </a:r>
          </a:p>
        </p:txBody>
      </p:sp>
      <p:pic>
        <p:nvPicPr>
          <p:cNvPr id="17" name="Picture 16" descr="refs-cr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4628" y="0"/>
            <a:ext cx="5947372" cy="6858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9600" y="6445250"/>
            <a:ext cx="13315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69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69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8178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651000"/>
            <a:ext cx="6273800" cy="7159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438"/>
              </a:lnSpc>
            </a:pPr>
            <a:r>
              <a:rPr sz="2300" b="0" i="0" spc="-46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The statement, two lines at most, said plainly.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441575"/>
            <a:ext cx="4310755" cy="33903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20"/>
              </a:lnSpc>
            </a:pPr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Two or three sentences carrying the argument. Say what is true, what it is worth, and leave the rest to the next page.</a:t>
            </a:r>
          </a:p>
        </p:txBody>
      </p:sp>
      <p:pic>
        <p:nvPicPr>
          <p:cNvPr id="12" name="Picture 11" descr="glance-cleanroom.jpg"/>
          <p:cNvPicPr>
            <a:picLocks noChangeAspect="1"/>
          </p:cNvPicPr>
          <p:nvPr/>
        </p:nvPicPr>
        <p:blipFill>
          <a:blip r:embed="rId3"/>
          <a:srcRect t="86" b="86"/>
          <a:stretch>
            <a:fillRect/>
          </a:stretch>
        </p:blipFill>
        <p:spPr>
          <a:xfrm>
            <a:off x="7391400" y="1701800"/>
            <a:ext cx="4191000" cy="4648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6445250"/>
            <a:ext cx="11013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71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89075" y="6429375"/>
            <a:ext cx="5933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STATEMENT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5486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5486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6686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2738438" cy="46482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500" y="3592512"/>
            <a:ext cx="23066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500" y="3643312"/>
            <a:ext cx="2306638" cy="6921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704"/>
              </a:lnSpc>
            </a:pPr>
            <a:r>
              <a:rPr sz="3900" b="1" i="0" spc="-156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00</a:t>
            </a:r>
            <a:r>
              <a:rPr sz="1100" b="0" i="0" spc="-156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500" y="4323359"/>
            <a:ext cx="230663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 figure counts, one 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54388" y="1701800"/>
            <a:ext cx="2738438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0288" y="3592512"/>
            <a:ext cx="23066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0288" y="3643312"/>
            <a:ext cx="2306638" cy="6921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704"/>
              </a:lnSpc>
            </a:pPr>
            <a:r>
              <a:rPr sz="3900" b="1" i="0" spc="-156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00</a:t>
            </a:r>
            <a:r>
              <a:rPr sz="1100" b="0" i="0" spc="-156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unit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0288" y="4323359"/>
            <a:ext cx="230663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 figure counts, one 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9175" y="1701800"/>
            <a:ext cx="2738438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5075" y="3592512"/>
            <a:ext cx="23066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5075" y="3643312"/>
            <a:ext cx="2306638" cy="6921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704"/>
              </a:lnSpc>
            </a:pPr>
            <a:r>
              <a:rPr sz="3900" b="1" i="0" spc="-156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00</a:t>
            </a:r>
            <a:r>
              <a:rPr sz="1100" b="0" i="0" spc="-156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5075" y="4323359"/>
            <a:ext cx="230663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 figure counts, one line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43962" y="1701800"/>
            <a:ext cx="2738438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9862" y="3592512"/>
            <a:ext cx="23066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9862" y="3643312"/>
            <a:ext cx="2306638" cy="692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900" b="1" i="0" spc="-156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9862" y="4323359"/>
            <a:ext cx="230663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 figure counts, one 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445250"/>
            <a:ext cx="12898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72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44625" y="6429375"/>
            <a:ext cx="63778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HIGHLIGHTS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747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747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8673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0100" y="265906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03ee66e6a8283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700" y="2760662"/>
            <a:ext cx="203200" cy="20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33500" y="269170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Item 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3500" y="289996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or five words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16464" y="1758950"/>
            <a:ext cx="204686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7200" y="1701800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57700" y="265906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03ee66e6a8283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9300" y="2760662"/>
            <a:ext cx="203200" cy="203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991100" y="269170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Item name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1100" y="289996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or five words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31894" y="1758950"/>
            <a:ext cx="246856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4800" y="1701800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5300" y="265906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03ee66e6a8283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6900" y="2760662"/>
            <a:ext cx="203200" cy="203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648700" y="269170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Item name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8700" y="289996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or five words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2153" y="1758950"/>
            <a:ext cx="254197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600" y="4029075"/>
            <a:ext cx="365760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0100" y="4986338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03ee66e6a8283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700" y="5087938"/>
            <a:ext cx="203200" cy="2032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333500" y="5018983"/>
            <a:ext cx="274320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Item name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3500" y="5227244"/>
            <a:ext cx="27432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or five words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57822" y="4086225"/>
            <a:ext cx="269678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67200" y="4029075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67200" y="4029075"/>
            <a:ext cx="365125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457700" y="498951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03ee66e6a8283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9300" y="5091112"/>
            <a:ext cx="203200" cy="2032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991100" y="502215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Item name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91100" y="523041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or five words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14831" y="4092575"/>
            <a:ext cx="263925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24800" y="4029075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924800" y="4029075"/>
            <a:ext cx="365125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115300" y="498951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4" name="Picture 43" descr="03ee66e6a8283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6900" y="5091112"/>
            <a:ext cx="203200" cy="2032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648700" y="502215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Item name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48700" y="523041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or five words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75308" y="4092575"/>
            <a:ext cx="261042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445250"/>
            <a:ext cx="12789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73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30433" y="6429375"/>
            <a:ext cx="65186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ICON CARDS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945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945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0655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3564433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" y="1905000"/>
            <a:ext cx="31834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OPTION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" y="2082800"/>
            <a:ext cx="3183433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-26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First option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" y="2691708"/>
            <a:ext cx="3183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" y="2437708"/>
            <a:ext cx="31834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saying what it 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" y="288220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" y="283775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point of difference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100" y="311139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" y="306694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second point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" y="3340595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" y="3296145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third point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" y="3569792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" y="3525342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When to choose 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13733" y="1701800"/>
            <a:ext cx="3564433" cy="46482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04233" y="1905000"/>
            <a:ext cx="31834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OPTION 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4233" y="2082800"/>
            <a:ext cx="3183433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-26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Second option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04233" y="2691708"/>
            <a:ext cx="3183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04233" y="2437708"/>
            <a:ext cx="31834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saying what it is.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04233" y="288220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04233" y="283775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A point of difference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04233" y="311139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04233" y="306694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A second point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04233" y="3340595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04233" y="3296145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A third point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04233" y="3569792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04233" y="3525342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When to choose 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17866" y="1701800"/>
            <a:ext cx="3564433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08366" y="1905000"/>
            <a:ext cx="31834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OPTION 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08366" y="2082800"/>
            <a:ext cx="3183433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-26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Third option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08366" y="2691708"/>
            <a:ext cx="3183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08366" y="2437708"/>
            <a:ext cx="31834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saying what it is.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08366" y="288220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08366" y="283775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point of difference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08366" y="311139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08366" y="306694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second point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08366" y="3340595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08366" y="3296145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third point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08366" y="3569792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08366" y="3525342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When to choose 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9600" y="6445250"/>
            <a:ext cx="12094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74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91736" y="6429375"/>
            <a:ext cx="6906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COMPARISON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747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747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8673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2250" y="3175000"/>
            <a:ext cx="1587500" cy="65405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78131" y="3302000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55558" y="3390900"/>
            <a:ext cx="1080789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 or function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3028" y="3587750"/>
            <a:ext cx="122584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they are accountable for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9650" y="3829050"/>
            <a:ext cx="12700" cy="2159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81200" y="4044950"/>
            <a:ext cx="8229600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74850" y="4057650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18050" y="4057650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61250" y="4057650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204450" y="4057650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600" y="4222750"/>
            <a:ext cx="2638425" cy="654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10944" y="4349750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8370" y="4438650"/>
            <a:ext cx="1080789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 or function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65002" y="4635500"/>
            <a:ext cx="32752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87725" y="4222750"/>
            <a:ext cx="2638425" cy="654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89069" y="4349750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6495" y="4438650"/>
            <a:ext cx="1080789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 or function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43127" y="4635500"/>
            <a:ext cx="32752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65850" y="4222750"/>
            <a:ext cx="2638425" cy="654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67194" y="4349750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4620" y="4438650"/>
            <a:ext cx="1080789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 or function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21252" y="4635500"/>
            <a:ext cx="32752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43975" y="4222750"/>
            <a:ext cx="2638425" cy="654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5319" y="4349750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22745" y="4438650"/>
            <a:ext cx="1080789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 or function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99377" y="4635500"/>
            <a:ext cx="32752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445250"/>
            <a:ext cx="12858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75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59581" y="6429375"/>
            <a:ext cx="162272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ORG CHART · REPORTING TREE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925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925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0458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12183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eaec8c1aaf262d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933" y="3609975"/>
            <a:ext cx="266700" cy="2667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86408" y="4111625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3878" y="4244975"/>
            <a:ext cx="38080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1661" y="4486275"/>
            <a:ext cx="6053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they own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05411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07994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eaec8c1aaf262d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6744" y="3609975"/>
            <a:ext cx="266700" cy="2667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782219" y="4111625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9689" y="4244975"/>
            <a:ext cx="38080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97472" y="4486275"/>
            <a:ext cx="6053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they own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1222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03798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eaec8c1aaf262d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2548" y="3609975"/>
            <a:ext cx="266700" cy="2667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978030" y="4111625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05500" y="4244975"/>
            <a:ext cx="38080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93283" y="4486275"/>
            <a:ext cx="6053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they own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97033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99609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eaec8c1aaf262d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8359" y="3609975"/>
            <a:ext cx="266700" cy="2667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173841" y="4111625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01311" y="4244975"/>
            <a:ext cx="38080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89094" y="4486275"/>
            <a:ext cx="6053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they own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92844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95420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6" name="Picture 35" descr="eaec8c1aaf262d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4170" y="3609975"/>
            <a:ext cx="266700" cy="2667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369652" y="4111625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97122" y="4244975"/>
            <a:ext cx="38080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Name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84905" y="4486275"/>
            <a:ext cx="6053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they own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6445250"/>
            <a:ext cx="12640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76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74066" y="6429375"/>
            <a:ext cx="160833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ORG CHART · FLAT TEAM BAND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945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945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0655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09083" y="2937866"/>
            <a:ext cx="1773733" cy="65405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85459" y="3064866"/>
            <a:ext cx="420986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HOLDING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74183" y="3153766"/>
            <a:ext cx="144353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Parent company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4009" y="3350616"/>
            <a:ext cx="76388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Incorporated 0000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9650" y="3591916"/>
            <a:ext cx="12700" cy="2159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81200" y="3807816"/>
            <a:ext cx="8229600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74850" y="3820516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18050" y="3820516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61250" y="3820516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204450" y="3820516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600" y="3985616"/>
            <a:ext cx="2647950" cy="1128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000" y="4138016"/>
            <a:ext cx="23431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COMPANY 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4245966"/>
            <a:ext cx="234315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Business name</a:t>
            </a:r>
          </a:p>
        </p:txBody>
      </p:sp>
      <p:sp>
        <p:nvSpPr>
          <p:cNvPr id="23" name="Oval 22"/>
          <p:cNvSpPr/>
          <p:nvPr/>
        </p:nvSpPr>
        <p:spPr>
          <a:xfrm>
            <a:off x="762000" y="4544416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4499966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25" name="Oval 24"/>
          <p:cNvSpPr/>
          <p:nvPr/>
        </p:nvSpPr>
        <p:spPr>
          <a:xfrm>
            <a:off x="762000" y="4713091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2000" y="4668641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27" name="Oval 26"/>
          <p:cNvSpPr/>
          <p:nvPr/>
        </p:nvSpPr>
        <p:spPr>
          <a:xfrm>
            <a:off x="762000" y="4881759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2000" y="4837309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Where it works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4550" y="3985616"/>
            <a:ext cx="2647950" cy="1128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36950" y="4138016"/>
            <a:ext cx="23431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COMPANY 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36950" y="4245966"/>
            <a:ext cx="234315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Business name</a:t>
            </a:r>
          </a:p>
        </p:txBody>
      </p:sp>
      <p:sp>
        <p:nvSpPr>
          <p:cNvPr id="32" name="Oval 31"/>
          <p:cNvSpPr/>
          <p:nvPr/>
        </p:nvSpPr>
        <p:spPr>
          <a:xfrm>
            <a:off x="3536950" y="4544416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6950" y="4499966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34" name="Oval 33"/>
          <p:cNvSpPr/>
          <p:nvPr/>
        </p:nvSpPr>
        <p:spPr>
          <a:xfrm>
            <a:off x="3536950" y="4713091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36950" y="4668641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36" name="Oval 35"/>
          <p:cNvSpPr/>
          <p:nvPr/>
        </p:nvSpPr>
        <p:spPr>
          <a:xfrm>
            <a:off x="3536950" y="4881759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36950" y="4837309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Where it works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59500" y="3985616"/>
            <a:ext cx="2647950" cy="1128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11900" y="4138016"/>
            <a:ext cx="23431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COMPANY 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11900" y="4245966"/>
            <a:ext cx="234315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Business name</a:t>
            </a:r>
          </a:p>
        </p:txBody>
      </p:sp>
      <p:sp>
        <p:nvSpPr>
          <p:cNvPr id="41" name="Oval 40"/>
          <p:cNvSpPr/>
          <p:nvPr/>
        </p:nvSpPr>
        <p:spPr>
          <a:xfrm>
            <a:off x="6311900" y="4544416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11900" y="4499966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43" name="Oval 42"/>
          <p:cNvSpPr/>
          <p:nvPr/>
        </p:nvSpPr>
        <p:spPr>
          <a:xfrm>
            <a:off x="6311900" y="4713091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11900" y="4668641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45" name="Oval 44"/>
          <p:cNvSpPr/>
          <p:nvPr/>
        </p:nvSpPr>
        <p:spPr>
          <a:xfrm>
            <a:off x="6311900" y="4881759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11900" y="4837309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Where it works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4450" y="3985616"/>
            <a:ext cx="2647950" cy="1128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86850" y="4138016"/>
            <a:ext cx="23431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COMPANY 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86850" y="4245966"/>
            <a:ext cx="234315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Business name</a:t>
            </a:r>
          </a:p>
        </p:txBody>
      </p:sp>
      <p:sp>
        <p:nvSpPr>
          <p:cNvPr id="50" name="Oval 49"/>
          <p:cNvSpPr/>
          <p:nvPr/>
        </p:nvSpPr>
        <p:spPr>
          <a:xfrm>
            <a:off x="9086850" y="4544416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86850" y="4499966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52" name="Oval 51"/>
          <p:cNvSpPr/>
          <p:nvPr/>
        </p:nvSpPr>
        <p:spPr>
          <a:xfrm>
            <a:off x="9086850" y="4713091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86850" y="4668641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does</a:t>
            </a:r>
          </a:p>
        </p:txBody>
      </p:sp>
      <p:sp>
        <p:nvSpPr>
          <p:cNvPr id="54" name="Oval 53"/>
          <p:cNvSpPr/>
          <p:nvPr/>
        </p:nvSpPr>
        <p:spPr>
          <a:xfrm>
            <a:off x="9086850" y="4881759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86850" y="4837309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Where it works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9600" y="6445250"/>
            <a:ext cx="12819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49447" y="6429375"/>
            <a:ext cx="173285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ORG CHART · GROUP STRUCTURE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822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822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9427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109728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1701800"/>
            <a:ext cx="109728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500" y="1953419"/>
            <a:ext cx="16510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PROCESS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2400" y="1924050"/>
            <a:ext cx="7112000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saying what the process is and where it starts.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36083" y="3952678"/>
            <a:ext cx="14528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609033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f708961398c251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9208" y="3822503"/>
            <a:ext cx="209550" cy="20955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1968798" y="3666928"/>
            <a:ext cx="160934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68798" y="3692328"/>
            <a:ext cx="160934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24089" y="4276528"/>
            <a:ext cx="83988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Stage name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31030" y="4538764"/>
            <a:ext cx="8259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or four words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62044" y="3952678"/>
            <a:ext cx="14528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734994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f708961398c251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5169" y="3822503"/>
            <a:ext cx="209550" cy="20955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075608" y="3666928"/>
            <a:ext cx="180080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75608" y="3692328"/>
            <a:ext cx="180080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50050" y="4276528"/>
            <a:ext cx="83988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Stage name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56991" y="4538764"/>
            <a:ext cx="8259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or four words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88005" y="3952678"/>
            <a:ext cx="14528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860948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f708961398c251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1123" y="3822503"/>
            <a:ext cx="209550" cy="209550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6203950" y="3666928"/>
            <a:ext cx="177698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03950" y="3692328"/>
            <a:ext cx="177698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76005" y="4276528"/>
            <a:ext cx="83988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Stage name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82952" y="4538764"/>
            <a:ext cx="8259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or four words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13966" y="3952678"/>
            <a:ext cx="14528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986909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f708961398c251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7084" y="3822503"/>
            <a:ext cx="209550" cy="20955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331200" y="3666928"/>
            <a:ext cx="176409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31200" y="3692328"/>
            <a:ext cx="176409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01966" y="4276528"/>
            <a:ext cx="83988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Stage name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08912" y="4538764"/>
            <a:ext cx="8259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or four words</a:t>
            </a:r>
          </a:p>
        </p:txBody>
      </p:sp>
      <p:sp>
        <p:nvSpPr>
          <p:cNvPr id="42" name="Oval 41"/>
          <p:cNvSpPr/>
          <p:nvPr/>
        </p:nvSpPr>
        <p:spPr>
          <a:xfrm>
            <a:off x="10112870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2" descr="f708961398c251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3045" y="3822503"/>
            <a:ext cx="209550" cy="209550"/>
          </a:xfrm>
          <a:prstGeom prst="rect">
            <a:avLst/>
          </a:prstGeom>
        </p:spPr>
      </p:pic>
      <p:sp>
        <p:nvSpPr>
          <p:cNvPr id="44" name="Rectangle 43"/>
          <p:cNvSpPr/>
          <p:nvPr/>
        </p:nvSpPr>
        <p:spPr>
          <a:xfrm>
            <a:off x="10455377" y="3666928"/>
            <a:ext cx="178200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55377" y="3692328"/>
            <a:ext cx="178200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27927" y="4276528"/>
            <a:ext cx="83988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Stage name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34873" y="4538764"/>
            <a:ext cx="8259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or four words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09600" y="381000"/>
            <a:ext cx="21421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9600" y="425450"/>
            <a:ext cx="21421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5411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52" name="Picture 51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53" name="Rectangle 52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8500" y="2587327"/>
            <a:ext cx="1915122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Event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8500" y="2795588"/>
            <a:ext cx="191512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on what happened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38344" y="2587327"/>
            <a:ext cx="1915217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Event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38344" y="2795588"/>
            <a:ext cx="191521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on what happened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578283" y="2587327"/>
            <a:ext cx="1915217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Event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78283" y="2795588"/>
            <a:ext cx="191521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on what happened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9600" y="4025900"/>
            <a:ext cx="10972800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510011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503661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0000</a:t>
            </a:r>
          </a:p>
        </p:txBody>
      </p:sp>
      <p:sp>
        <p:nvSpPr>
          <p:cNvPr id="65" name="Oval 64"/>
          <p:cNvSpPr/>
          <p:nvPr/>
        </p:nvSpPr>
        <p:spPr>
          <a:xfrm>
            <a:off x="3704533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98183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0000</a:t>
            </a:r>
          </a:p>
        </p:txBody>
      </p:sp>
      <p:sp>
        <p:nvSpPr>
          <p:cNvPr id="67" name="Oval 66"/>
          <p:cNvSpPr/>
          <p:nvPr/>
        </p:nvSpPr>
        <p:spPr>
          <a:xfrm>
            <a:off x="5899048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892698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0000</a:t>
            </a:r>
          </a:p>
        </p:txBody>
      </p:sp>
      <p:sp>
        <p:nvSpPr>
          <p:cNvPr id="69" name="Oval 68"/>
          <p:cNvSpPr/>
          <p:nvPr/>
        </p:nvSpPr>
        <p:spPr>
          <a:xfrm>
            <a:off x="8093672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087322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0000</a:t>
            </a:r>
          </a:p>
        </p:txBody>
      </p:sp>
      <p:sp>
        <p:nvSpPr>
          <p:cNvPr id="71" name="Oval 70"/>
          <p:cNvSpPr/>
          <p:nvPr/>
        </p:nvSpPr>
        <p:spPr>
          <a:xfrm>
            <a:off x="10288194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281844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918422" y="5114627"/>
            <a:ext cx="1915122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Event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18422" y="5322888"/>
            <a:ext cx="191512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on what happened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358361" y="5114627"/>
            <a:ext cx="1915122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Event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58361" y="5322888"/>
            <a:ext cx="191512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on what happened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9600" y="6445250"/>
            <a:ext cx="13047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79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098314" y="6429375"/>
            <a:ext cx="48408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TIMELINE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0" y="685800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09600" y="7239000"/>
            <a:ext cx="23564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9600" y="7283450"/>
            <a:ext cx="23564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46842" y="7272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83" name="Picture 82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7162800"/>
            <a:ext cx="635000" cy="317500"/>
          </a:xfrm>
          <a:prstGeom prst="rect">
            <a:avLst/>
          </a:prstGeom>
        </p:spPr>
      </p:pic>
      <p:sp>
        <p:nvSpPr>
          <p:cNvPr id="84" name="Rectangle 83"/>
          <p:cNvSpPr/>
          <p:nvPr/>
        </p:nvSpPr>
        <p:spPr>
          <a:xfrm>
            <a:off x="609600" y="8296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09600" y="7626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9600" y="7976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09600" y="8559800"/>
            <a:ext cx="3225800" cy="14900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104900" y="9127033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9" name="Picture 88" descr="82ae29156ce4de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3800" y="9215933"/>
            <a:ext cx="177800" cy="177800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943100" y="9114434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943100" y="9190634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943100" y="9370911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09600" y="10138766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1104900" y="10705998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5" name="Picture 94" descr="82ae29156ce4de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3800" y="10794898"/>
            <a:ext cx="177800" cy="17780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943100" y="10693400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943100" y="10769600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943100" y="10949883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09600" y="11717833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104900" y="12285066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1" name="Picture 100" descr="82ae29156ce4de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3800" y="12373966"/>
            <a:ext cx="177800" cy="17780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1943100" y="12272467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943100" y="12348667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943100" y="12528950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000500" y="8559800"/>
            <a:ext cx="41910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405044" y="9986569"/>
            <a:ext cx="138191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0" i="0" spc="13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CAPTION OVER THE VISUAL</a:t>
            </a:r>
          </a:p>
        </p:txBody>
      </p:sp>
      <p:pic>
        <p:nvPicPr>
          <p:cNvPr id="107" name="Picture 106" descr="fab-sec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1088" y="10227869"/>
            <a:ext cx="3809825" cy="1231005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4482408" y="11636673"/>
            <a:ext cx="3227089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under the visual saying what the whole thing adds up to.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356600" y="8559800"/>
            <a:ext cx="3225800" cy="14900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851900" y="9127033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1" name="Picture 110" descr="82ae29156ce4de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0800" y="9215933"/>
            <a:ext cx="177800" cy="1778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9690100" y="9114434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690100" y="9190634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690100" y="9370911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356600" y="10138766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851900" y="10705998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7" name="Picture 116" descr="82ae29156ce4de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0800" y="10794898"/>
            <a:ext cx="177800" cy="177800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9690100" y="10693400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690100" y="10769600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690100" y="10949883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356600" y="11717833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851900" y="12285066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3" name="Picture 122" descr="82ae29156ce4de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0800" y="12373966"/>
            <a:ext cx="177800" cy="177800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690100" y="12272467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690100" y="12348667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690100" y="12528950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09600" y="13303250"/>
            <a:ext cx="13523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80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867130" y="13287375"/>
            <a:ext cx="71516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INFOGRAPHIC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0" y="1371600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609600" y="14097000"/>
            <a:ext cx="23296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9600" y="14141450"/>
            <a:ext cx="23296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44169" y="14130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133" name="Picture 132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14020800"/>
            <a:ext cx="635000" cy="317500"/>
          </a:xfrm>
          <a:prstGeom prst="rect">
            <a:avLst/>
          </a:prstGeom>
        </p:spPr>
      </p:pic>
      <p:sp>
        <p:nvSpPr>
          <p:cNvPr id="134" name="Rectangle 133"/>
          <p:cNvSpPr/>
          <p:nvPr/>
        </p:nvSpPr>
        <p:spPr>
          <a:xfrm>
            <a:off x="609600" y="15154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09600" y="14484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09600" y="14834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09600" y="15417800"/>
            <a:ext cx="65278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8" name="Picture 137" descr="infineon-kulim.jpg"/>
          <p:cNvPicPr>
            <a:picLocks noChangeAspect="1"/>
          </p:cNvPicPr>
          <p:nvPr/>
        </p:nvPicPr>
        <p:blipFill>
          <a:blip r:embed="rId6"/>
          <a:srcRect l="2896" r="2896"/>
          <a:stretch>
            <a:fillRect/>
          </a:stretch>
        </p:blipFill>
        <p:spPr>
          <a:xfrm>
            <a:off x="609600" y="15417800"/>
            <a:ext cx="6527800" cy="4648200"/>
          </a:xfrm>
          <a:prstGeom prst="rect">
            <a:avLst/>
          </a:prstGeom>
        </p:spPr>
      </p:pic>
      <p:sp>
        <p:nvSpPr>
          <p:cNvPr id="139" name="TextBox 138"/>
          <p:cNvSpPr txBox="1"/>
          <p:nvPr/>
        </p:nvSpPr>
        <p:spPr>
          <a:xfrm>
            <a:off x="7391400" y="16848830"/>
            <a:ext cx="41910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LOCATION · WHAT KIND OF FACILITY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391400" y="17020280"/>
            <a:ext cx="41910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4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Project or product name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394575" y="17430452"/>
            <a:ext cx="759917" cy="165100"/>
          </a:xfrm>
          <a:prstGeom prst="rect">
            <a:avLst/>
          </a:prstGeom>
          <a:noFill/>
          <a:ln w="635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391400" y="17478077"/>
            <a:ext cx="766267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SERVICE LINE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8211642" y="17430452"/>
            <a:ext cx="759917" cy="165100"/>
          </a:xfrm>
          <a:prstGeom prst="rect">
            <a:avLst/>
          </a:prstGeom>
          <a:noFill/>
          <a:ln w="635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208467" y="17478077"/>
            <a:ext cx="766267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SERVICE LINE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9028709" y="17430452"/>
            <a:ext cx="759917" cy="165100"/>
          </a:xfrm>
          <a:prstGeom prst="rect">
            <a:avLst/>
          </a:prstGeom>
          <a:noFill/>
          <a:ln w="635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025534" y="17478077"/>
            <a:ext cx="766267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SERVICE LINE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391400" y="17814627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8483600" y="17770177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on what the job was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391400" y="18054638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8483600" y="18010188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was in the contract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391400" y="18294648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483600" y="18250198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Class or grade, if it applies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391400" y="18534659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COMPLETED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483600" y="18490209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Year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09600" y="20161250"/>
            <a:ext cx="11191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81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623156" y="20145375"/>
            <a:ext cx="95914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IMAGE AND SPECS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0" y="2057400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609600" y="20955000"/>
            <a:ext cx="2315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09600" y="20999450"/>
            <a:ext cx="2315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42778" y="20988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161" name="Picture 160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20878800"/>
            <a:ext cx="635000" cy="317500"/>
          </a:xfrm>
          <a:prstGeom prst="rect">
            <a:avLst/>
          </a:prstGeom>
        </p:spPr>
      </p:pic>
      <p:sp>
        <p:nvSpPr>
          <p:cNvPr id="162" name="Rectangle 161"/>
          <p:cNvSpPr/>
          <p:nvPr/>
        </p:nvSpPr>
        <p:spPr>
          <a:xfrm>
            <a:off x="609600" y="22012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609600" y="21342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09600" y="21692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844800" y="22275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301033" y="22275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757266" y="22275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7213498" y="22275800"/>
            <a:ext cx="145633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669833" y="22275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126066" y="22275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09600" y="22517100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09600" y="22646583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2844800" y="22550044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844800" y="22550044"/>
            <a:ext cx="291216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304733" y="22597669"/>
            <a:ext cx="388741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8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Milestone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09600" y="23336942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09600" y="23466425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2844800" y="23369886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4301331" y="23369886"/>
            <a:ext cx="2912167" cy="165100"/>
          </a:xfrm>
          <a:prstGeom prst="rect">
            <a:avLst/>
          </a:prstGeom>
          <a:solidFill>
            <a:srgbClr val="EC2326">
              <a:alpha val="2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609600" y="24156791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609600" y="24286267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844800" y="24189728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5756967" y="24189728"/>
            <a:ext cx="291216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09600" y="24976633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09600" y="25106116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2844800" y="25009577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7213600" y="25009577"/>
            <a:ext cx="291216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609600" y="25796481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09600" y="25925958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2844800" y="25829419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8378228" y="25829419"/>
            <a:ext cx="233025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609600" y="26616323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609600" y="26745806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2844800" y="26649261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9252052" y="26649261"/>
            <a:ext cx="233025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11130064" y="26696886"/>
            <a:ext cx="388741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8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Milestone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609600" y="27019250"/>
            <a:ext cx="1318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82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931627" y="27003375"/>
            <a:ext cx="6506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PROGRAMME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0" y="2743200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609600" y="27813000"/>
            <a:ext cx="23346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609600" y="27857450"/>
            <a:ext cx="23346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15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944664" y="27846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203" name="Picture 202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27736800"/>
            <a:ext cx="635000" cy="317500"/>
          </a:xfrm>
          <a:prstGeom prst="rect">
            <a:avLst/>
          </a:prstGeom>
        </p:spPr>
      </p:pic>
      <p:sp>
        <p:nvSpPr>
          <p:cNvPr id="204" name="Rectangle 203"/>
          <p:cNvSpPr/>
          <p:nvPr/>
        </p:nvSpPr>
        <p:spPr>
          <a:xfrm>
            <a:off x="609600" y="28870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609600" y="28200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609600" y="28550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609600" y="29133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609600" y="29248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COLUMN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2804122" y="29133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2804122" y="29248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COLUMN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4998644" y="29133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998644" y="29248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COLUMN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7193159" y="29133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7193159" y="29248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COLUMN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9387681" y="29133800"/>
            <a:ext cx="2194719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9387681" y="29248100"/>
            <a:ext cx="2194719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COLUMN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609600" y="29438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609600" y="29736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2804122" y="29438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2804122" y="29736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4998644" y="29438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4998644" y="29736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7193159" y="29438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7193159" y="29736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9387681" y="29438600"/>
            <a:ext cx="2194719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9387681" y="297361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609600" y="30162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609600" y="30460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2804122" y="30162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2804122" y="30460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4998644" y="30162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4998644" y="30460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233" name="Rectangle 232"/>
          <p:cNvSpPr/>
          <p:nvPr/>
        </p:nvSpPr>
        <p:spPr>
          <a:xfrm>
            <a:off x="7193159" y="30162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7193159" y="30460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235" name="Rectangle 234"/>
          <p:cNvSpPr/>
          <p:nvPr/>
        </p:nvSpPr>
        <p:spPr>
          <a:xfrm>
            <a:off x="9387681" y="30162500"/>
            <a:ext cx="2194719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9387681" y="304600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609600" y="30886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609600" y="31183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2804122" y="30886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2804122" y="31183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4998644" y="30886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4998644" y="31183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7193159" y="30886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7193159" y="31183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9387681" y="30886400"/>
            <a:ext cx="2194719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9387681" y="311839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609600" y="31610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09600" y="31907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2804122" y="31610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2804122" y="31907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4998644" y="31610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4998644" y="31907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7193159" y="31610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7193159" y="31907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9387681" y="31610300"/>
            <a:ext cx="2194719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9387681" y="319078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609600" y="32334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09600" y="32631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2804122" y="32334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2804122" y="32631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4998644" y="32334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4998644" y="32631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7193159" y="32334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7193159" y="32631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9387681" y="32334200"/>
            <a:ext cx="2194719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9387681" y="326317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609600" y="33058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609600" y="33355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269" name="Rectangle 268"/>
          <p:cNvSpPr/>
          <p:nvPr/>
        </p:nvSpPr>
        <p:spPr>
          <a:xfrm>
            <a:off x="2804122" y="33058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2804122" y="33355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4998644" y="33058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4998644" y="33355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273" name="Rectangle 272"/>
          <p:cNvSpPr/>
          <p:nvPr/>
        </p:nvSpPr>
        <p:spPr>
          <a:xfrm>
            <a:off x="7193159" y="33058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7193159" y="33355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275" name="Rectangle 274"/>
          <p:cNvSpPr/>
          <p:nvPr/>
        </p:nvSpPr>
        <p:spPr>
          <a:xfrm>
            <a:off x="9387681" y="33058100"/>
            <a:ext cx="2194719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9387681" y="333556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609600" y="33877250"/>
            <a:ext cx="1299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83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11270456" y="33861375"/>
            <a:ext cx="3119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TABLE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0" y="3429000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0" y="4094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0" y="4099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0" y="4104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0" y="4109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09600" y="34671000"/>
            <a:ext cx="23544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609600" y="34715450"/>
            <a:ext cx="23544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16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46645" y="3470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pic>
        <p:nvPicPr>
          <p:cNvPr id="287" name="Picture 286" descr="iaq-logo-tag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47400" y="34594800"/>
            <a:ext cx="635000" cy="317500"/>
          </a:xfrm>
          <a:prstGeom prst="rect">
            <a:avLst/>
          </a:prstGeom>
        </p:spPr>
      </p:pic>
      <p:pic>
        <p:nvPicPr>
          <p:cNvPr id="288" name="Picture 287" descr="cover-site.jpg"/>
          <p:cNvPicPr>
            <a:picLocks noChangeAspect="1"/>
          </p:cNvPicPr>
          <p:nvPr/>
        </p:nvPicPr>
        <p:blipFill>
          <a:blip r:embed="rId8"/>
          <a:srcRect t="20848" b="20848"/>
          <a:stretch>
            <a:fillRect/>
          </a:stretch>
        </p:blipFill>
        <p:spPr>
          <a:xfrm>
            <a:off x="0" y="34290000"/>
            <a:ext cx="12192000" cy="6858000"/>
          </a:xfrm>
          <a:prstGeom prst="rect">
            <a:avLst/>
          </a:prstGeom>
        </p:spPr>
      </p:pic>
      <p:sp>
        <p:nvSpPr>
          <p:cNvPr id="289" name="Rectangle 288"/>
          <p:cNvSpPr/>
          <p:nvPr/>
        </p:nvSpPr>
        <p:spPr>
          <a:xfrm>
            <a:off x="0" y="34290000"/>
            <a:ext cx="4826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609600" y="39188034"/>
            <a:ext cx="3810000" cy="7545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592"/>
              </a:lnSpc>
            </a:pPr>
            <a:r>
              <a:rPr sz="2400" b="0" i="0" spc="-60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One line over the photograph.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609600" y="40036750"/>
            <a:ext cx="38100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A sentence under it, if the line needs support. Otherwise leave it out.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609600" y="40735250"/>
            <a:ext cx="12819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84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10590809" y="40719375"/>
            <a:ext cx="99149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FULL-BLEED IMAGE</a:t>
            </a:r>
          </a:p>
        </p:txBody>
      </p:sp>
      <p:sp>
        <p:nvSpPr>
          <p:cNvPr id="294" name="Rectangle 293"/>
          <p:cNvSpPr/>
          <p:nvPr/>
        </p:nvSpPr>
        <p:spPr>
          <a:xfrm>
            <a:off x="0" y="4114800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0" y="47802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0" y="47853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0" y="47904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0" y="47955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609600" y="41529000"/>
            <a:ext cx="23346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0" name="TextBox 299"/>
          <p:cNvSpPr txBox="1"/>
          <p:nvPr/>
        </p:nvSpPr>
        <p:spPr>
          <a:xfrm>
            <a:off x="609600" y="41573450"/>
            <a:ext cx="23346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17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944664" y="41562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pic>
        <p:nvPicPr>
          <p:cNvPr id="302" name="Picture 301" descr="iaq-logo-tag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47400" y="41452800"/>
            <a:ext cx="635000" cy="317500"/>
          </a:xfrm>
          <a:prstGeom prst="rect">
            <a:avLst/>
          </a:prstGeom>
        </p:spPr>
      </p:pic>
      <p:sp>
        <p:nvSpPr>
          <p:cNvPr id="303" name="TextBox 302"/>
          <p:cNvSpPr txBox="1"/>
          <p:nvPr/>
        </p:nvSpPr>
        <p:spPr>
          <a:xfrm>
            <a:off x="609600" y="44162662"/>
            <a:ext cx="6985000" cy="584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300" b="0" i="0" spc="-99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The closing line, six words or fewer.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609600" y="44863048"/>
            <a:ext cx="45720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sentence saying what you want to happen next.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609600" y="45288498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1701800" y="45244048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The detail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609600" y="45528509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1701800" y="45484059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The detail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609600" y="45768520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1701800" y="45724070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The detail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609600" y="46008531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1701800" y="45964081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The detail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609600" y="47593250"/>
            <a:ext cx="13067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85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11111211" y="47577375"/>
            <a:ext cx="47109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CLOSING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0" y="4800600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609600" y="48387000"/>
            <a:ext cx="23535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609600" y="48431450"/>
            <a:ext cx="23535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18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946550" y="48420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319" name="Picture 318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48310800"/>
            <a:ext cx="635000" cy="317500"/>
          </a:xfrm>
          <a:prstGeom prst="rect">
            <a:avLst/>
          </a:prstGeom>
        </p:spPr>
      </p:pic>
      <p:sp>
        <p:nvSpPr>
          <p:cNvPr id="320" name="Rectangle 319"/>
          <p:cNvSpPr/>
          <p:nvPr/>
        </p:nvSpPr>
        <p:spPr>
          <a:xfrm>
            <a:off x="609600" y="49444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609600" y="48774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609600" y="49124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609600" y="49637950"/>
            <a:ext cx="3547466" cy="463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600" b="1" i="0" spc="-104">
                <a:solidFill>
                  <a:srgbClr val="64707A"/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609600" y="50403722"/>
            <a:ext cx="3547466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5" name="TextBox 324"/>
          <p:cNvSpPr txBox="1"/>
          <p:nvPr/>
        </p:nvSpPr>
        <p:spPr>
          <a:xfrm>
            <a:off x="609600" y="50120550"/>
            <a:ext cx="3547466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609600" y="50568822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01.1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977900" y="50524372"/>
            <a:ext cx="3179166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609600" y="5078531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01.2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977900" y="50740869"/>
            <a:ext cx="3179166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609600" y="5100180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01.3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977900" y="50957359"/>
            <a:ext cx="3179166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609600" y="51218306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01.4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977900" y="51173856"/>
            <a:ext cx="3179166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4322166" y="49637950"/>
            <a:ext cx="3547567" cy="463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600" b="1" i="0" spc="-104">
                <a:solidFill>
                  <a:srgbClr val="64707A"/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4322166" y="50403722"/>
            <a:ext cx="3547567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4322166" y="50120550"/>
            <a:ext cx="3547567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4322166" y="50568822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02.1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4690466" y="50524372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4322166" y="5078531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02.2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4690466" y="50740869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4322166" y="5100180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02.3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4690466" y="50957359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4322166" y="51218306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02.4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4690466" y="51173856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8034833" y="49637950"/>
            <a:ext cx="3547567" cy="463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600" b="1" i="0" spc="-104">
                <a:solidFill>
                  <a:srgbClr val="64707A"/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346" name="Rectangle 345"/>
          <p:cNvSpPr/>
          <p:nvPr/>
        </p:nvSpPr>
        <p:spPr>
          <a:xfrm>
            <a:off x="8034833" y="50403722"/>
            <a:ext cx="3547567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8034833" y="50120550"/>
            <a:ext cx="3547567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8034833" y="50568822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03.1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8403133" y="50524372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8034833" y="5078531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03.2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8403133" y="50740869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8034833" y="5100180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03.3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8403133" y="50957359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8034833" y="51218306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03.4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8403133" y="51173856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609600" y="54451250"/>
            <a:ext cx="13255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86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11154969" y="54435375"/>
            <a:ext cx="4274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AGENDA</a:t>
            </a:r>
          </a:p>
        </p:txBody>
      </p:sp>
      <p:sp>
        <p:nvSpPr>
          <p:cNvPr id="358" name="Rectangle 357"/>
          <p:cNvSpPr/>
          <p:nvPr/>
        </p:nvSpPr>
        <p:spPr>
          <a:xfrm>
            <a:off x="0" y="5486400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609600" y="55245000"/>
            <a:ext cx="23544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609600" y="55289450"/>
            <a:ext cx="23544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19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946645" y="55278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362" name="Picture 361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55168800"/>
            <a:ext cx="635000" cy="317500"/>
          </a:xfrm>
          <a:prstGeom prst="rect">
            <a:avLst/>
          </a:prstGeom>
        </p:spPr>
      </p:pic>
      <p:sp>
        <p:nvSpPr>
          <p:cNvPr id="363" name="Rectangle 362"/>
          <p:cNvSpPr/>
          <p:nvPr/>
        </p:nvSpPr>
        <p:spPr>
          <a:xfrm>
            <a:off x="609600" y="56302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09600" y="55632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09600" y="55982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609600" y="57810400"/>
            <a:ext cx="7112000" cy="806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4500" b="1" i="0">
                <a:solidFill>
                  <a:srgbClr val="64707A"/>
                </a:solidFill>
                <a:latin typeface="Poppins"/>
                <a:ea typeface="Poppins"/>
                <a:cs typeface="Poppins"/>
              </a:rPr>
              <a:t>“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609600" y="58547000"/>
            <a:ext cx="7112000" cy="6381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75"/>
              </a:lnSpc>
            </a:pPr>
            <a:r>
              <a:rPr sz="1900" b="0" i="0" spc="-38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The quotation, two lines at most. Cut it back until only the part worth repeating is left.</a:t>
            </a:r>
          </a:p>
        </p:txBody>
      </p:sp>
      <p:sp>
        <p:nvSpPr>
          <p:cNvPr id="368" name="Rectangle 367"/>
          <p:cNvSpPr/>
          <p:nvPr/>
        </p:nvSpPr>
        <p:spPr>
          <a:xfrm>
            <a:off x="609600" y="59347100"/>
            <a:ext cx="7112000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9" name="TextBox 368"/>
          <p:cNvSpPr txBox="1"/>
          <p:nvPr/>
        </p:nvSpPr>
        <p:spPr>
          <a:xfrm>
            <a:off x="609600" y="59486800"/>
            <a:ext cx="71120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Name of the person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609600" y="59658250"/>
            <a:ext cx="71120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 · ORGANISATION</a:t>
            </a:r>
          </a:p>
        </p:txBody>
      </p:sp>
      <p:sp>
        <p:nvSpPr>
          <p:cNvPr id="371" name="Rectangle 370"/>
          <p:cNvSpPr/>
          <p:nvPr/>
        </p:nvSpPr>
        <p:spPr>
          <a:xfrm>
            <a:off x="8026400" y="56565800"/>
            <a:ext cx="35560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2" name="Picture 371" descr="refs-crew.jpg"/>
          <p:cNvPicPr>
            <a:picLocks noChangeAspect="1"/>
          </p:cNvPicPr>
          <p:nvPr/>
        </p:nvPicPr>
        <p:blipFill>
          <a:blip r:embed="rId9"/>
          <a:srcRect l="5883" r="5883"/>
          <a:stretch>
            <a:fillRect/>
          </a:stretch>
        </p:blipFill>
        <p:spPr>
          <a:xfrm>
            <a:off x="8026400" y="56565800"/>
            <a:ext cx="3556000" cy="4648200"/>
          </a:xfrm>
          <a:prstGeom prst="rect">
            <a:avLst/>
          </a:prstGeom>
        </p:spPr>
      </p:pic>
      <p:sp>
        <p:nvSpPr>
          <p:cNvPr id="373" name="TextBox 372"/>
          <p:cNvSpPr txBox="1"/>
          <p:nvPr/>
        </p:nvSpPr>
        <p:spPr>
          <a:xfrm>
            <a:off x="609600" y="61309250"/>
            <a:ext cx="13027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87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11226902" y="61293375"/>
            <a:ext cx="35549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QUOTE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0" y="6172200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609600" y="62103000"/>
            <a:ext cx="25965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7" name="TextBox 376"/>
          <p:cNvSpPr txBox="1"/>
          <p:nvPr/>
        </p:nvSpPr>
        <p:spPr>
          <a:xfrm>
            <a:off x="609600" y="62147450"/>
            <a:ext cx="25965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20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970858" y="62136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379" name="Picture 378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62026800"/>
            <a:ext cx="635000" cy="317500"/>
          </a:xfrm>
          <a:prstGeom prst="rect">
            <a:avLst/>
          </a:prstGeom>
        </p:spPr>
      </p:pic>
      <p:sp>
        <p:nvSpPr>
          <p:cNvPr id="380" name="Rectangle 379"/>
          <p:cNvSpPr/>
          <p:nvPr/>
        </p:nvSpPr>
        <p:spPr>
          <a:xfrm>
            <a:off x="609600" y="63160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1" name="TextBox 380"/>
          <p:cNvSpPr txBox="1"/>
          <p:nvPr/>
        </p:nvSpPr>
        <p:spPr>
          <a:xfrm>
            <a:off x="609600" y="62490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609600" y="62840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609600" y="63423800"/>
            <a:ext cx="5403850" cy="41746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609600" y="63423800"/>
            <a:ext cx="567830" cy="1905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5" name="TextBox 384"/>
          <p:cNvSpPr txBox="1"/>
          <p:nvPr/>
        </p:nvSpPr>
        <p:spPr>
          <a:xfrm>
            <a:off x="609600" y="63480950"/>
            <a:ext cx="567830" cy="76200"/>
          </a:xfrm>
          <a:prstGeom prst="rect">
            <a:avLst/>
          </a:prstGeom>
          <a:noFill/>
        </p:spPr>
        <p:txBody>
          <a:bodyPr wrap="none" lIns="101600" rIns="10160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BEFORE</a:t>
            </a:r>
          </a:p>
        </p:txBody>
      </p:sp>
      <p:pic>
        <p:nvPicPr>
          <p:cNvPr id="386" name="Picture 385" descr="about-facility.jpg"/>
          <p:cNvPicPr>
            <a:picLocks noChangeAspect="1"/>
          </p:cNvPicPr>
          <p:nvPr/>
        </p:nvPicPr>
        <p:blipFill>
          <a:blip r:embed="rId10"/>
          <a:srcRect l="17639" r="17639"/>
          <a:stretch>
            <a:fillRect/>
          </a:stretch>
        </p:blipFill>
        <p:spPr>
          <a:xfrm>
            <a:off x="609600" y="63423800"/>
            <a:ext cx="5403850" cy="4174630"/>
          </a:xfrm>
          <a:prstGeom prst="rect">
            <a:avLst/>
          </a:prstGeom>
        </p:spPr>
      </p:pic>
      <p:sp>
        <p:nvSpPr>
          <p:cNvPr id="387" name="TextBox 386"/>
          <p:cNvSpPr txBox="1"/>
          <p:nvPr/>
        </p:nvSpPr>
        <p:spPr>
          <a:xfrm>
            <a:off x="609600" y="67693680"/>
            <a:ext cx="540385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What it was</a:t>
            </a:r>
          </a:p>
        </p:txBody>
      </p:sp>
      <p:sp>
        <p:nvSpPr>
          <p:cNvPr id="388" name="TextBox 387"/>
          <p:cNvSpPr txBox="1"/>
          <p:nvPr/>
        </p:nvSpPr>
        <p:spPr>
          <a:xfrm>
            <a:off x="609600" y="67937463"/>
            <a:ext cx="5403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or two sentences on the state it started in.</a:t>
            </a:r>
          </a:p>
        </p:txBody>
      </p:sp>
      <p:sp>
        <p:nvSpPr>
          <p:cNvPr id="389" name="Rectangle 388"/>
          <p:cNvSpPr/>
          <p:nvPr/>
        </p:nvSpPr>
        <p:spPr>
          <a:xfrm>
            <a:off x="6178550" y="63423800"/>
            <a:ext cx="5403850" cy="41746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6178550" y="63423800"/>
            <a:ext cx="499370" cy="1905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1" name="TextBox 390"/>
          <p:cNvSpPr txBox="1"/>
          <p:nvPr/>
        </p:nvSpPr>
        <p:spPr>
          <a:xfrm>
            <a:off x="6178550" y="63480950"/>
            <a:ext cx="499370" cy="76200"/>
          </a:xfrm>
          <a:prstGeom prst="rect">
            <a:avLst/>
          </a:prstGeom>
          <a:noFill/>
        </p:spPr>
        <p:txBody>
          <a:bodyPr wrap="none" lIns="101600" rIns="10160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AFTER</a:t>
            </a:r>
          </a:p>
        </p:txBody>
      </p:sp>
      <p:pic>
        <p:nvPicPr>
          <p:cNvPr id="392" name="Picture 391" descr="glance-cleanroom.jpg"/>
          <p:cNvPicPr>
            <a:picLocks noChangeAspect="1"/>
          </p:cNvPicPr>
          <p:nvPr/>
        </p:nvPicPr>
        <p:blipFill>
          <a:blip r:embed="rId11"/>
          <a:srcRect t="15233" b="15233"/>
          <a:stretch>
            <a:fillRect/>
          </a:stretch>
        </p:blipFill>
        <p:spPr>
          <a:xfrm>
            <a:off x="6178550" y="63423800"/>
            <a:ext cx="5403850" cy="4174630"/>
          </a:xfrm>
          <a:prstGeom prst="rect">
            <a:avLst/>
          </a:prstGeom>
        </p:spPr>
      </p:pic>
      <p:sp>
        <p:nvSpPr>
          <p:cNvPr id="393" name="TextBox 392"/>
          <p:cNvSpPr txBox="1"/>
          <p:nvPr/>
        </p:nvSpPr>
        <p:spPr>
          <a:xfrm>
            <a:off x="6178550" y="67693680"/>
            <a:ext cx="540385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What it became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6178550" y="67937463"/>
            <a:ext cx="5403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or two sentences on the state it ended in.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609600" y="68167250"/>
            <a:ext cx="13245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88</a:t>
            </a:r>
          </a:p>
        </p:txBody>
      </p:sp>
      <p:sp>
        <p:nvSpPr>
          <p:cNvPr id="396" name="TextBox 395"/>
          <p:cNvSpPr txBox="1"/>
          <p:nvPr/>
        </p:nvSpPr>
        <p:spPr>
          <a:xfrm>
            <a:off x="10569080" y="68151375"/>
            <a:ext cx="101332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BEFORE AND AFTER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1421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1421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5411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8500" y="2587327"/>
            <a:ext cx="1915122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Event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8500" y="2795588"/>
            <a:ext cx="191512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on what happened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38344" y="2587327"/>
            <a:ext cx="1915217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Event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38344" y="2795588"/>
            <a:ext cx="191521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on what happened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78283" y="2587327"/>
            <a:ext cx="1915217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Event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78283" y="2795588"/>
            <a:ext cx="191521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on what happened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025900"/>
            <a:ext cx="10972800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510011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3661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0000</a:t>
            </a:r>
          </a:p>
        </p:txBody>
      </p:sp>
      <p:sp>
        <p:nvSpPr>
          <p:cNvPr id="19" name="Oval 18"/>
          <p:cNvSpPr/>
          <p:nvPr/>
        </p:nvSpPr>
        <p:spPr>
          <a:xfrm>
            <a:off x="3704533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98183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0000</a:t>
            </a:r>
          </a:p>
        </p:txBody>
      </p:sp>
      <p:sp>
        <p:nvSpPr>
          <p:cNvPr id="21" name="Oval 20"/>
          <p:cNvSpPr/>
          <p:nvPr/>
        </p:nvSpPr>
        <p:spPr>
          <a:xfrm>
            <a:off x="5899048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92698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0000</a:t>
            </a:r>
          </a:p>
        </p:txBody>
      </p:sp>
      <p:sp>
        <p:nvSpPr>
          <p:cNvPr id="23" name="Oval 22"/>
          <p:cNvSpPr/>
          <p:nvPr/>
        </p:nvSpPr>
        <p:spPr>
          <a:xfrm>
            <a:off x="8093672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7322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0000</a:t>
            </a:r>
          </a:p>
        </p:txBody>
      </p:sp>
      <p:sp>
        <p:nvSpPr>
          <p:cNvPr id="25" name="Oval 24"/>
          <p:cNvSpPr/>
          <p:nvPr/>
        </p:nvSpPr>
        <p:spPr>
          <a:xfrm>
            <a:off x="10288194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1844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18422" y="5114627"/>
            <a:ext cx="1915122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Event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18422" y="5322888"/>
            <a:ext cx="191512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on what happened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8361" y="5114627"/>
            <a:ext cx="1915122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Event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58361" y="5322888"/>
            <a:ext cx="191512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on what happened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6445250"/>
            <a:ext cx="13047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98314" y="6429375"/>
            <a:ext cx="48408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TIMELINE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564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564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842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3225800" cy="14900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04900" y="2269033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82ae29156ce4de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800" y="2357933"/>
            <a:ext cx="177800" cy="177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943100" y="2256434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2332634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43100" y="2512911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3280766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4900" y="3847998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82ae29156ce4de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800" y="3936898"/>
            <a:ext cx="177800" cy="1778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943100" y="3835400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43100" y="3911600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43100" y="4091883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4859833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4900" y="5427066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82ae29156ce4de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800" y="5515966"/>
            <a:ext cx="177800" cy="177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943100" y="5414467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43100" y="5490667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43100" y="5670950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00500" y="1701800"/>
            <a:ext cx="41910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05044" y="3128569"/>
            <a:ext cx="138191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0" i="0" spc="13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CAPTION OVER THE VISUAL</a:t>
            </a:r>
          </a:p>
        </p:txBody>
      </p:sp>
      <p:pic>
        <p:nvPicPr>
          <p:cNvPr id="30" name="Picture 29" descr="fab-sec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88" y="3369869"/>
            <a:ext cx="3809825" cy="123100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482408" y="4778673"/>
            <a:ext cx="3227089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under the visual saying what the whole thing adds up to.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56600" y="1701800"/>
            <a:ext cx="3225800" cy="14900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851900" y="2269033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82ae29156ce4de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0800" y="2357933"/>
            <a:ext cx="177800" cy="1778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690100" y="2256434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0100" y="2332634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0100" y="2512911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56600" y="3280766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851900" y="3847998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82ae29156ce4de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0800" y="3936898"/>
            <a:ext cx="177800" cy="1778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90100" y="3835400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90100" y="3911600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0100" y="4091883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56600" y="4859833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851900" y="5427066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6" name="Picture 45" descr="82ae29156ce4de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0800" y="5515966"/>
            <a:ext cx="177800" cy="1778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690100" y="5414467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90100" y="5490667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0100" y="5670950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it covers, four words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600" y="6445250"/>
            <a:ext cx="13523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80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867130" y="6429375"/>
            <a:ext cx="71516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INFOGRAPHIC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296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296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4169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65278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infineon-kulim.jpg"/>
          <p:cNvPicPr>
            <a:picLocks noChangeAspect="1"/>
          </p:cNvPicPr>
          <p:nvPr/>
        </p:nvPicPr>
        <p:blipFill>
          <a:blip r:embed="rId3"/>
          <a:srcRect l="2896" r="2896"/>
          <a:stretch>
            <a:fillRect/>
          </a:stretch>
        </p:blipFill>
        <p:spPr>
          <a:xfrm>
            <a:off x="609600" y="1701800"/>
            <a:ext cx="6527800" cy="4648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91400" y="3132830"/>
            <a:ext cx="41910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LOCATION · WHAT KIND OF FACILITY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1400" y="3304280"/>
            <a:ext cx="41910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4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Project or product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94575" y="3714452"/>
            <a:ext cx="759917" cy="165100"/>
          </a:xfrm>
          <a:prstGeom prst="rect">
            <a:avLst/>
          </a:prstGeom>
          <a:noFill/>
          <a:ln w="635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91400" y="3762077"/>
            <a:ext cx="766267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SERVICE LINE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11642" y="3714452"/>
            <a:ext cx="759917" cy="165100"/>
          </a:xfrm>
          <a:prstGeom prst="rect">
            <a:avLst/>
          </a:prstGeom>
          <a:noFill/>
          <a:ln w="635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8467" y="3762077"/>
            <a:ext cx="766267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SERVICE 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8709" y="3714452"/>
            <a:ext cx="759917" cy="165100"/>
          </a:xfrm>
          <a:prstGeom prst="rect">
            <a:avLst/>
          </a:prstGeom>
          <a:noFill/>
          <a:ln w="635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25534" y="3762077"/>
            <a:ext cx="766267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SERVICE 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91400" y="4098627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83600" y="4054177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sentence on what the job was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91400" y="4338638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3600" y="4294188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was in the contract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1400" y="4578648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83600" y="4534198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Class or grade, if it applies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91400" y="4818659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COMPLETED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83600" y="4774209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Year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6445250"/>
            <a:ext cx="11191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23156" y="6429375"/>
            <a:ext cx="95914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IMAGE AND SPECS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15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15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2778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44800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1033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57266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13498" y="1701800"/>
            <a:ext cx="145633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69833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26066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PERIOD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1943100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2072583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44800" y="1976044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44800" y="1976044"/>
            <a:ext cx="291216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4733" y="2023669"/>
            <a:ext cx="388741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8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Milestone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2762942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2892425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44800" y="2795886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01331" y="2795886"/>
            <a:ext cx="2912167" cy="165100"/>
          </a:xfrm>
          <a:prstGeom prst="rect">
            <a:avLst/>
          </a:prstGeom>
          <a:solidFill>
            <a:srgbClr val="EC2326">
              <a:alpha val="2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3582791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3712267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44800" y="3615728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756967" y="3615728"/>
            <a:ext cx="291216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4402633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4532116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44800" y="4435577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13600" y="4435577"/>
            <a:ext cx="291216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5222481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5351958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44800" y="5255419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378228" y="5255419"/>
            <a:ext cx="233025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6042323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Work package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171806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What is in it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44800" y="6075261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52052" y="6075261"/>
            <a:ext cx="233025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0064" y="6122886"/>
            <a:ext cx="388741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8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Milestone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445250"/>
            <a:ext cx="1318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31627" y="6429375"/>
            <a:ext cx="6506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PROGRAMME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346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346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4664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1816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COLUMN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04122" y="1701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04122" y="1816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COLUMN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98644" y="1701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98644" y="1816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COLUMN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93159" y="1701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93159" y="1816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COLUMN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87681" y="1701800"/>
            <a:ext cx="2194719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87681" y="1816100"/>
            <a:ext cx="2194719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COLUMN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2006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2304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04122" y="2006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04122" y="2304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98644" y="2006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98644" y="2304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93159" y="2006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93159" y="2304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87681" y="2006600"/>
            <a:ext cx="2194719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87681" y="23041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600" y="2730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600" y="3028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4122" y="2730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04122" y="3028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98644" y="2730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98644" y="3028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93159" y="2730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93159" y="3028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87681" y="2730500"/>
            <a:ext cx="2194719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87681" y="30280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3454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9600" y="3751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04122" y="3454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04122" y="3751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98644" y="3454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998644" y="3751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193159" y="3454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93159" y="3751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387681" y="3454400"/>
            <a:ext cx="2194719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87681" y="37519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9600" y="4178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9600" y="4475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04122" y="4178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04122" y="4475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998644" y="4178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998644" y="4475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193159" y="4178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193159" y="4475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387681" y="4178300"/>
            <a:ext cx="2194719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87681" y="44758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4902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9600" y="5199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804122" y="4902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804122" y="5199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998644" y="4902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98644" y="5199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93159" y="4902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93159" y="5199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387681" y="4902200"/>
            <a:ext cx="2194719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87681" y="51997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9600" y="5626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9600" y="5923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Row label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804122" y="5626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804122" y="5923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98644" y="5626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998644" y="5923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193159" y="5626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193159" y="5923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Value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387681" y="5626100"/>
            <a:ext cx="2194719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87681" y="59236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Called out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9600" y="6445250"/>
            <a:ext cx="1299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83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270456" y="6429375"/>
            <a:ext cx="3119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TABLE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81000"/>
            <a:ext cx="23544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425450"/>
            <a:ext cx="23544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645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pic>
        <p:nvPicPr>
          <p:cNvPr id="10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pic>
        <p:nvPicPr>
          <p:cNvPr id="11" name="Picture 10" descr="cover-site.jpg"/>
          <p:cNvPicPr>
            <a:picLocks noChangeAspect="1"/>
          </p:cNvPicPr>
          <p:nvPr/>
        </p:nvPicPr>
        <p:blipFill>
          <a:blip r:embed="rId3"/>
          <a:srcRect t="20848" b="2084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0" y="0"/>
            <a:ext cx="4826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4898034"/>
            <a:ext cx="3810000" cy="7545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592"/>
              </a:lnSpc>
            </a:pPr>
            <a:r>
              <a:rPr sz="2400" b="0" i="0" spc="-60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One line over the photograph.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746750"/>
            <a:ext cx="38100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A sentence under it, if the line needs support. Otherwise leave it out.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445250"/>
            <a:ext cx="12819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84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90809" y="6429375"/>
            <a:ext cx="99149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FULL-BLEED IMAGE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81000"/>
            <a:ext cx="23346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425450"/>
            <a:ext cx="23346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664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pic>
        <p:nvPicPr>
          <p:cNvPr id="10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3014662"/>
            <a:ext cx="6985000" cy="584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300" b="0" i="0" spc="-99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The closing line, six words or fewer.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715048"/>
            <a:ext cx="45720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sentence saying what you want to happen next.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140498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1800" y="4096048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The detail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380509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1800" y="4336059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The detail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4620520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01800" y="4576070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The detail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4860531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LABEL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1800" y="4816081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The detail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445250"/>
            <a:ext cx="13067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85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11211" y="6429375"/>
            <a:ext cx="47109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CLOSING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535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535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550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631950"/>
            <a:ext cx="3547466" cy="463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600" b="1" i="0" spc="-104">
                <a:solidFill>
                  <a:srgbClr val="64707A"/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2397722"/>
            <a:ext cx="3547466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2114550"/>
            <a:ext cx="3547466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2562822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01.1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7900" y="2518372"/>
            <a:ext cx="3179166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277931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01.2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900" y="2734869"/>
            <a:ext cx="3179166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299580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01.3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900" y="2951359"/>
            <a:ext cx="3179166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3212306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01.4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900" y="3167856"/>
            <a:ext cx="3179166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2166" y="1631950"/>
            <a:ext cx="3547567" cy="463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600" b="1" i="0" spc="-104">
                <a:solidFill>
                  <a:srgbClr val="64707A"/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2166" y="2397722"/>
            <a:ext cx="3547567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22166" y="2114550"/>
            <a:ext cx="3547567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2166" y="2562822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90466" y="2518372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2166" y="277931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466" y="2734869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22166" y="299580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90466" y="2951359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22166" y="3212306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90466" y="3167856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34833" y="1631950"/>
            <a:ext cx="3547567" cy="463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600" b="1" i="0" spc="-104">
                <a:solidFill>
                  <a:srgbClr val="64707A"/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34833" y="2397722"/>
            <a:ext cx="3547567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34833" y="2114550"/>
            <a:ext cx="3547567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Part name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34833" y="2562822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03.1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03133" y="2518372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34833" y="277931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03.2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03133" y="2734869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34833" y="299580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03.3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03133" y="2951359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34833" y="3212306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03.4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03133" y="3167856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What this section answers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6445250"/>
            <a:ext cx="13255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86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54969" y="6429375"/>
            <a:ext cx="4274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AGENDA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544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544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645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946400"/>
            <a:ext cx="7112000" cy="806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4500" b="1" i="0">
                <a:solidFill>
                  <a:srgbClr val="64707A"/>
                </a:solidFill>
                <a:latin typeface="Poppins"/>
                <a:ea typeface="Poppins"/>
                <a:cs typeface="Poppins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683000"/>
            <a:ext cx="7112000" cy="6381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75"/>
              </a:lnSpc>
            </a:pPr>
            <a:r>
              <a:rPr sz="1900" b="0" i="0" spc="-38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The quotation, two lines at most. Cut it back until only the part worth repeating is left.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4483100"/>
            <a:ext cx="7112000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4622800"/>
            <a:ext cx="71120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64707A"/>
                </a:solidFill>
                <a:latin typeface="Urbanist SemiBold"/>
                <a:ea typeface="Urbanist SemiBold"/>
                <a:cs typeface="Urbanist SemiBold"/>
              </a:rPr>
              <a:t>Name of the person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794250"/>
            <a:ext cx="71120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ROLE · ORGANISATION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26400" y="1701800"/>
            <a:ext cx="35560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refs-crew.jpg"/>
          <p:cNvPicPr>
            <a:picLocks noChangeAspect="1"/>
          </p:cNvPicPr>
          <p:nvPr/>
        </p:nvPicPr>
        <p:blipFill>
          <a:blip r:embed="rId3"/>
          <a:srcRect l="5883" r="5883"/>
          <a:stretch>
            <a:fillRect/>
          </a:stretch>
        </p:blipFill>
        <p:spPr>
          <a:xfrm>
            <a:off x="8026400" y="1701800"/>
            <a:ext cx="3556000" cy="4648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9600" y="6445250"/>
            <a:ext cx="13027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87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26902" y="6429375"/>
            <a:ext cx="35549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QUOTE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965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965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0858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5403850" cy="41746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1701800"/>
            <a:ext cx="567830" cy="1905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1758950"/>
            <a:ext cx="567830" cy="76200"/>
          </a:xfrm>
          <a:prstGeom prst="rect">
            <a:avLst/>
          </a:prstGeom>
          <a:noFill/>
        </p:spPr>
        <p:txBody>
          <a:bodyPr wrap="none" lIns="101600" rIns="10160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BEFORE</a:t>
            </a:r>
          </a:p>
        </p:txBody>
      </p:sp>
      <p:pic>
        <p:nvPicPr>
          <p:cNvPr id="13" name="Picture 12" descr="about-facility.jpg"/>
          <p:cNvPicPr>
            <a:picLocks noChangeAspect="1"/>
          </p:cNvPicPr>
          <p:nvPr/>
        </p:nvPicPr>
        <p:blipFill>
          <a:blip r:embed="rId3"/>
          <a:srcRect l="17639" r="17639"/>
          <a:stretch>
            <a:fillRect/>
          </a:stretch>
        </p:blipFill>
        <p:spPr>
          <a:xfrm>
            <a:off x="609600" y="1701800"/>
            <a:ext cx="5403850" cy="41746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9600" y="5971680"/>
            <a:ext cx="540385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What it was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215463"/>
            <a:ext cx="5403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or two sentences on the state it started 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8550" y="1701800"/>
            <a:ext cx="5403850" cy="41746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8550" y="1701800"/>
            <a:ext cx="499370" cy="1905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8550" y="1758950"/>
            <a:ext cx="499370" cy="76200"/>
          </a:xfrm>
          <a:prstGeom prst="rect">
            <a:avLst/>
          </a:prstGeom>
          <a:noFill/>
        </p:spPr>
        <p:txBody>
          <a:bodyPr wrap="none" lIns="101600" rIns="10160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AFTER</a:t>
            </a:r>
          </a:p>
        </p:txBody>
      </p:sp>
      <p:pic>
        <p:nvPicPr>
          <p:cNvPr id="19" name="Picture 18" descr="glance-cleanroom.jpg"/>
          <p:cNvPicPr>
            <a:picLocks noChangeAspect="1"/>
          </p:cNvPicPr>
          <p:nvPr/>
        </p:nvPicPr>
        <p:blipFill>
          <a:blip r:embed="rId4"/>
          <a:srcRect t="15233" b="15233"/>
          <a:stretch>
            <a:fillRect/>
          </a:stretch>
        </p:blipFill>
        <p:spPr>
          <a:xfrm>
            <a:off x="6178550" y="1701800"/>
            <a:ext cx="5403850" cy="417463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78550" y="5971680"/>
            <a:ext cx="540385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0" i="0" spc="-22">
                <a:solidFill>
                  <a:srgbClr val="64707A"/>
                </a:solidFill>
                <a:latin typeface="Poppins SemiBold"/>
                <a:ea typeface="Poppins SemiBold"/>
                <a:cs typeface="Poppins SemiBold"/>
              </a:rPr>
              <a:t>What it became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8550" y="6215463"/>
            <a:ext cx="5403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One or two sentences on the state it ended in.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445250"/>
            <a:ext cx="13245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88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69080" y="6429375"/>
            <a:ext cx="101332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BEFORE AND AFTER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IAQ">
      <a:dk1>
        <a:sysClr val="windowText" lastClr="101A2B"/>
      </a:dk1>
      <a:lt1>
        <a:sysClr val="window" lastClr="FFFFFF"/>
      </a:lt1>
      <a:dk2>
        <a:srgbClr val="1E2A3D"/>
      </a:dk2>
      <a:lt2>
        <a:srgbClr val="F6F7F9"/>
      </a:lt2>
      <a:accent1>
        <a:srgbClr val="EC2326"/>
      </a:accent1>
      <a:accent2>
        <a:srgbClr val="101A2B"/>
      </a:accent2>
      <a:accent3>
        <a:srgbClr val="1E2A3D"/>
      </a:accent3>
      <a:accent4>
        <a:srgbClr val="64707A"/>
      </a:accent4>
      <a:accent5>
        <a:srgbClr val="D5DBE2"/>
      </a:accent5>
      <a:accent6>
        <a:srgbClr val="E6EAEF"/>
      </a:accent6>
      <a:hlink>
        <a:srgbClr val="EC2326"/>
      </a:hlink>
      <a:folHlink>
        <a:srgbClr val="64707A"/>
      </a:folHlink>
    </a:clrScheme>
    <a:fontScheme name="IAQ">
      <a:majorFont>
        <a:latin typeface="Poppins Semi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Urbanis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