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fntdata" ContentType="application/x-fontdata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2000" cy="6858000" type="screen4x3"/>
  <p:notesSz cx="6858000" cy="9144000"/>
  <p:embeddedFontLst>
    <p:embeddedFont>
      <p:font typeface="League Spartan" pitchFamily="34" charset="0"/>
      <p:regular r:id="rId48"/>
    </p:embeddedFont>
    <p:embeddedFont>
      <p:font typeface="League Spartan Medium" pitchFamily="34" charset="0"/>
      <p:regular r:id="rId49"/>
    </p:embeddedFont>
    <p:embeddedFont>
      <p:font typeface="League Spartan SemiBold" pitchFamily="34" charset="0"/>
      <p:regular r:id="rId50"/>
    </p:embeddedFont>
    <p:embeddedFont>
      <p:font typeface="Poppins Medium" pitchFamily="34" charset="0"/>
      <p:regular r:id="rId51"/>
    </p:embeddedFont>
    <p:embeddedFont>
      <p:font typeface="Poppins SemiBold" pitchFamily="34" charset="0"/>
      <p:regular r:id="rId52"/>
    </p:embeddedFont>
    <p:embeddedFont>
      <p:font typeface="Poppins" pitchFamily="34" charset="0"/>
      <p:bold r:id="rId53"/>
    </p:embeddedFont>
    <p:embeddedFont>
      <p:font typeface="Urbanist" pitchFamily="34" charset="0"/>
      <p:regular r:id="rId54"/>
    </p:embeddedFont>
    <p:embeddedFont>
      <p:font typeface="Urbanist Medium" pitchFamily="34" charset="0"/>
      <p:regular r:id="rId55"/>
    </p:embeddedFont>
    <p:embeddedFont>
      <p:font typeface="Urbanist SemiBold" pitchFamily="34" charset="0"/>
      <p:regular r:id="rId5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font" Target="fonts/font48.fntdata"/><Relationship Id="rId49" Type="http://schemas.openxmlformats.org/officeDocument/2006/relationships/font" Target="fonts/font49.fntdata"/><Relationship Id="rId50" Type="http://schemas.openxmlformats.org/officeDocument/2006/relationships/font" Target="fonts/font50.fntdata"/><Relationship Id="rId51" Type="http://schemas.openxmlformats.org/officeDocument/2006/relationships/font" Target="fonts/font51.fntdata"/><Relationship Id="rId52" Type="http://schemas.openxmlformats.org/officeDocument/2006/relationships/font" Target="fonts/font52.fntdata"/><Relationship Id="rId53" Type="http://schemas.openxmlformats.org/officeDocument/2006/relationships/font" Target="fonts/font53.fntdata"/><Relationship Id="rId54" Type="http://schemas.openxmlformats.org/officeDocument/2006/relationships/font" Target="fonts/font54.fntdata"/><Relationship Id="rId55" Type="http://schemas.openxmlformats.org/officeDocument/2006/relationships/font" Target="fonts/font55.fntdata"/><Relationship Id="rId56" Type="http://schemas.openxmlformats.org/officeDocument/2006/relationships/font" Target="fonts/font56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8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8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jpg"/><Relationship Id="rId4" Type="http://schemas.openxmlformats.org/officeDocument/2006/relationships/image" Target="../media/image4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jpg"/><Relationship Id="rId4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</a:rPr>
              <a:t>IAQ TECHNOLOGY INTERNATIONAL SDN BHD</a:t>
            </a:r>
          </a:p>
        </p:txBody>
      </p:sp>
      <p:pic>
        <p:nvPicPr>
          <p:cNvPr id="4" name="Picture 3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</a:rPr>
              <a:t>Master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</a:rPr>
              <a:t>Every layout in the set, shown filled and then empty with a line in every box.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16100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3300" y="1758950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</a:rPr>
              <a:t>Title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2400" y="1784350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Open a deck or a chapter of 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8550" y="1816100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2250" y="1758950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</a:rPr>
              <a:t>Section divider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1350" y="1784350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Open a new part of the deck.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2099075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3300" y="2041925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</a:rPr>
              <a:t>Statement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2400" y="2067325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One argument, said plainly, with a photograph.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8550" y="2099075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2250" y="2041925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</a:rPr>
              <a:t>Highlights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1350" y="2067325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Three or four figures that carry the page.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2382044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300" y="2324894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</a:rPr>
              <a:t>Icon cards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2400" y="2350294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A set of capabilities, services or principles.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8550" y="2382044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2250" y="2324894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</a:rPr>
              <a:t>Comparison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1350" y="2350294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Two or three options read side by side.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2665019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3300" y="2607869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</a:rPr>
              <a:t>Org chart · reporting tree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2400" y="2633269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Who reports to whom, three levels at most.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8550" y="2665019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2250" y="2607869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</a:rPr>
              <a:t>Org chart · flat team band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1350" y="2633269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A team of peers, no hierarchy implied.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2947988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</a:rPr>
              <a:t>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3300" y="2890838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</a:rPr>
              <a:t>Org chart · group structure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92400" y="2916238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A holding company and the businesses under it.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8550" y="2947988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72250" y="2890838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</a:rPr>
              <a:t>Process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1350" y="2916238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Stages that run in order, start to finish.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3230963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300" y="3173813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</a:rPr>
              <a:t>Timeline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92400" y="3199213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Dates in order, with what happened at each.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78550" y="3230963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</a:rPr>
              <a:t>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72250" y="3173813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</a:rPr>
              <a:t>Infographic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61350" y="3199213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One visual in the middle, the parts around it.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3513931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</a:rPr>
              <a:t>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3300" y="3456781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</a:rPr>
              <a:t>Image and specs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92400" y="3482181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One project or product, pictured and specified.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78550" y="3513931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</a:rPr>
              <a:t>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72250" y="3456781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</a:rPr>
              <a:t>Programme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61350" y="3482181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Work packages against a calendar.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3796906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</a:rPr>
              <a:t>15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3300" y="3739756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</a:rPr>
              <a:t>Table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92400" y="3765156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Rows and columns, where the detail has to be exact.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78550" y="3796906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</a:rPr>
              <a:t>16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72250" y="3739756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</a:rPr>
              <a:t>Full-bleed image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61350" y="3765156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Let one photograph carry the page.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9600" y="4079875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</a:rPr>
              <a:t>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3300" y="4022725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</a:rPr>
              <a:t>Closing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92400" y="4048125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End the deck: the ask, and how to reach you.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78550" y="4079875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</a:rPr>
              <a:t>18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72250" y="4022725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</a:rPr>
              <a:t>Agenda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61350" y="4048125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What the deck covers, before it covers it.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9600" y="4362850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</a:rP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3300" y="4305700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</a:rPr>
              <a:t>Quote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92400" y="4331100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Let a client, or the board, say it instead of you.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78550" y="4362850"/>
            <a:ext cx="2921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91">
                <a:solidFill>
                  <a:srgbClr val="EC2326"/>
                </a:solidFill>
                <a:latin typeface="League Spartan SemiBold"/>
              </a:rPr>
              <a:t>20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572250" y="4305700"/>
            <a:ext cx="15875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 spc="-17">
                <a:solidFill>
                  <a:srgbClr val="101A2B"/>
                </a:solidFill>
                <a:latin typeface="Poppins SemiBold"/>
              </a:rPr>
              <a:t>Before and after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61350" y="4331100"/>
            <a:ext cx="332105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Two states of the same thing, side by side.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9600" y="6445250"/>
            <a:ext cx="13811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</a:rPr>
              <a:t>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024000" y="6429375"/>
            <a:ext cx="55830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</a:rPr>
              <a:t>CONTENTS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81000"/>
            <a:ext cx="23822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25450"/>
            <a:ext cx="23822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9427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</a:rPr>
              <a:t>IAQ TECHNOLOGY INTERNATIONAL SDN BHD</a:t>
            </a:r>
          </a:p>
        </p:txBody>
      </p:sp>
      <p:pic>
        <p:nvPicPr>
          <p:cNvPr id="10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3023889"/>
            <a:ext cx="109728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168">
                <a:solidFill>
                  <a:srgbClr val="EC2326"/>
                </a:solidFill>
                <a:latin typeface="League Spartan SemiBold"/>
              </a:rPr>
              <a:t>CAPABILITY STATEMENT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195339"/>
            <a:ext cx="6985000" cy="10242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i="0" spc="-99">
                <a:solidFill>
                  <a:srgbClr val="FFFFFF"/>
                </a:solidFill>
                <a:latin typeface="Poppins SemiBold"/>
              </a:rPr>
              <a:t>Engineering the facilities advanced industry runs 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35761"/>
            <a:ext cx="4572000" cy="3429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sz="1000" b="0" i="0">
                <a:solidFill>
                  <a:srgbClr val="E7EBF0"/>
                </a:solidFill>
                <a:latin typeface="Urbanist"/>
              </a:rPr>
              <a:t>Cleanroom critical delivery for semiconductor, data centre, EV battery, pharmaceutical and energy.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951711"/>
            <a:ext cx="109728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35">
                <a:solidFill>
                  <a:srgbClr val="96A2B2"/>
                </a:solidFill>
                <a:latin typeface="League Spartan"/>
              </a:rPr>
              <a:t>PREPARED FOR · CLIENT NAME · OCTOBER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445250"/>
            <a:ext cx="1147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9628" y="6429375"/>
            <a:ext cx="28277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</a:rPr>
              <a:t>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81000"/>
            <a:ext cx="23822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25450"/>
            <a:ext cx="23822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9427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</a:rPr>
              <a:t>IAQ TECHNOLOGY INTERNATIONAL SDN BHD</a:t>
            </a:r>
          </a:p>
        </p:txBody>
      </p:sp>
      <p:pic>
        <p:nvPicPr>
          <p:cNvPr id="10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3119139"/>
            <a:ext cx="10972800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168">
                <a:solidFill>
                  <a:srgbClr val="64707A"/>
                </a:solidFill>
                <a:latin typeface="League Spartan SemiBold"/>
              </a:rPr>
              <a:t>KICKER · TWO OR THREE WORDS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290589"/>
            <a:ext cx="6985000" cy="10242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465"/>
              </a:lnSpc>
            </a:pPr>
            <a:r>
              <a:rPr sz="3300" b="0" i="0" spc="-99">
                <a:solidFill>
                  <a:srgbClr val="FFFFFF"/>
                </a:solidFill>
                <a:latin typeface="Poppins SemiBold"/>
              </a:rPr>
              <a:t>The one line this deck is about, eight words or fewer.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431011"/>
            <a:ext cx="45720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>
                <a:solidFill>
                  <a:srgbClr val="64707A"/>
                </a:solidFill>
                <a:latin typeface="Urbanist"/>
              </a:rPr>
              <a:t>A sentence under it saying who it is for and what it covers.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856461"/>
            <a:ext cx="109728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35">
                <a:solidFill>
                  <a:srgbClr val="64707A"/>
                </a:solidFill>
                <a:latin typeface="League Spartan"/>
              </a:rPr>
              <a:t>PREPARED FOR · CLIENT ·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445250"/>
            <a:ext cx="1352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9527" y="6429375"/>
            <a:ext cx="28277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</a:rPr>
              <a:t>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04800"/>
            <a:ext cx="25965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349250"/>
            <a:ext cx="25965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0858" y="3381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</a:rPr>
              <a:t>PART 02 · PROJECT REFERENCES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188566"/>
            <a:ext cx="78769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56">
                <a:solidFill>
                  <a:srgbClr val="EC2326"/>
                </a:solidFill>
                <a:latin typeface="League Spartan SemiBold"/>
              </a:rPr>
              <a:t>PART 02 OF 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1998066"/>
            <a:ext cx="5279428" cy="169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0" b="1" i="0" spc="-475">
                <a:solidFill>
                  <a:srgbClr val="EC2326"/>
                </a:solidFill>
                <a:latin typeface="Poppin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398241"/>
            <a:ext cx="5279428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0" i="0" spc="-75">
                <a:solidFill>
                  <a:srgbClr val="FFFFFF"/>
                </a:solidFill>
                <a:latin typeface="Poppins SemiBold"/>
              </a:rPr>
              <a:t>Project References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3951884"/>
            <a:ext cx="5279428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140">
                <a:solidFill>
                  <a:srgbClr val="96A2B2"/>
                </a:solidFill>
                <a:latin typeface="League Spartan Medium"/>
              </a:rPr>
              <a:t>SECTIONS 02.1 TO 02.47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4224934"/>
            <a:ext cx="5279428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" y="4383684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</a:rPr>
              <a:t>235+ projects completed across three regions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4580534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</a:rPr>
              <a:t>Over 1.5 million m² of cleanroom built</a:t>
            </a:r>
          </a:p>
        </p:txBody>
      </p:sp>
      <p:pic>
        <p:nvPicPr>
          <p:cNvPr id="17" name="Picture 16" descr="refs-cr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4628" y="0"/>
            <a:ext cx="5947372" cy="6858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9600" y="6445250"/>
            <a:ext cx="13275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04800"/>
            <a:ext cx="25965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349250"/>
            <a:ext cx="25965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0858" y="3381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</a:rPr>
              <a:t>SECTION 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188566"/>
            <a:ext cx="7949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56">
                <a:solidFill>
                  <a:srgbClr val="EC2326"/>
                </a:solidFill>
                <a:latin typeface="League Spartan SemiBold"/>
              </a:rPr>
              <a:t>PART 00 OF 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1998066"/>
            <a:ext cx="5279428" cy="1695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0" b="1" i="0" spc="-475">
                <a:solidFill>
                  <a:srgbClr val="EC2326"/>
                </a:solidFill>
                <a:latin typeface="Poppins"/>
              </a:rPr>
              <a:t>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398241"/>
            <a:ext cx="5279428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000" b="0" i="0" spc="-75">
                <a:solidFill>
                  <a:srgbClr val="FFFFFF"/>
                </a:solidFill>
                <a:latin typeface="Poppins SemiBold"/>
              </a:rPr>
              <a:t>Section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3951884"/>
            <a:ext cx="5279428" cy="82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00" b="0" i="0" spc="140">
                <a:solidFill>
                  <a:srgbClr val="96A2B2"/>
                </a:solidFill>
                <a:latin typeface="League Spartan Medium"/>
              </a:rPr>
              <a:t>WHAT THIS PART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600" y="4224934"/>
            <a:ext cx="5279428" cy="6350"/>
          </a:xfrm>
          <a:prstGeom prst="rect">
            <a:avLst/>
          </a:prstGeom>
          <a:solidFill>
            <a:srgbClr val="FFFFFF">
              <a:alpha val="1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" y="4383684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</a:rPr>
              <a:t>A fact worth leading with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4580534"/>
            <a:ext cx="5279428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 Medium"/>
              </a:rPr>
              <a:t>A second fact, the same length</a:t>
            </a:r>
          </a:p>
        </p:txBody>
      </p:sp>
      <p:pic>
        <p:nvPicPr>
          <p:cNvPr id="17" name="Picture 16" descr="refs-cr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4628" y="0"/>
            <a:ext cx="5947372" cy="6858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9600" y="6445250"/>
            <a:ext cx="13107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69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69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8178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</a:rPr>
              <a:t>Why IAQ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</a:rPr>
              <a:t>The case in one line, and what stands behind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651000"/>
            <a:ext cx="6273800" cy="7159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438"/>
              </a:lnSpc>
            </a:pPr>
            <a:r>
              <a:rPr sz="2300" b="0" i="0" spc="-46">
                <a:solidFill>
                  <a:srgbClr val="101A2B"/>
                </a:solidFill>
                <a:latin typeface="Poppins SemiBold"/>
              </a:rPr>
              <a:t>Thirty-one years of building the rooms that cannot fail.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441575"/>
            <a:ext cx="4310755" cy="53200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20"/>
              </a:lnSpc>
            </a:pPr>
            <a:r>
              <a:rPr sz="950" b="0" i="0">
                <a:solidFill>
                  <a:srgbClr val="1E2A3D"/>
                </a:solidFill>
                <a:latin typeface="Urbanist"/>
              </a:rPr>
              <a:t>Cleanrooms, process utilities and tool hookup for the industries where contamination control, precision and compliance are absolute. Self-performed, under one contract.</a:t>
            </a:r>
          </a:p>
        </p:txBody>
      </p:sp>
      <p:pic>
        <p:nvPicPr>
          <p:cNvPr id="12" name="Picture 11" descr="glance-cleanroom.jpg"/>
          <p:cNvPicPr>
            <a:picLocks noChangeAspect="1"/>
          </p:cNvPicPr>
          <p:nvPr/>
        </p:nvPicPr>
        <p:blipFill>
          <a:blip r:embed="rId3"/>
          <a:srcRect t="86" b="86"/>
          <a:stretch>
            <a:fillRect/>
          </a:stretch>
        </p:blipFill>
        <p:spPr>
          <a:xfrm>
            <a:off x="7391400" y="1701800"/>
            <a:ext cx="4191000" cy="4648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6445250"/>
            <a:ext cx="13354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89075" y="6429375"/>
            <a:ext cx="5933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</a:rPr>
              <a:t>STATEMENT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69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69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8178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</a:rPr>
              <a:t>One line under it saying what the page is for.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651000"/>
            <a:ext cx="6273800" cy="7159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438"/>
              </a:lnSpc>
            </a:pPr>
            <a:r>
              <a:rPr sz="2300" b="0" i="0" spc="-46">
                <a:solidFill>
                  <a:srgbClr val="64707A"/>
                </a:solidFill>
                <a:latin typeface="Poppins SemiBold"/>
              </a:rPr>
              <a:t>The statement, two lines at most, said plainly.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441575"/>
            <a:ext cx="4310755" cy="33903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20"/>
              </a:lnSpc>
            </a:pPr>
            <a:r>
              <a:rPr sz="950" b="0" i="0">
                <a:solidFill>
                  <a:srgbClr val="64707A"/>
                </a:solidFill>
                <a:latin typeface="Urbanist"/>
              </a:rPr>
              <a:t>Two or three sentences carrying the argument. Say what is true, what it is worth, and leave the rest to the next page.</a:t>
            </a:r>
          </a:p>
        </p:txBody>
      </p:sp>
      <p:pic>
        <p:nvPicPr>
          <p:cNvPr id="12" name="Picture 11" descr="glance-cleanroom.jpg"/>
          <p:cNvPicPr>
            <a:picLocks noChangeAspect="1"/>
          </p:cNvPicPr>
          <p:nvPr/>
        </p:nvPicPr>
        <p:blipFill>
          <a:blip r:embed="rId3"/>
          <a:srcRect t="86" b="86"/>
          <a:stretch>
            <a:fillRect/>
          </a:stretch>
        </p:blipFill>
        <p:spPr>
          <a:xfrm>
            <a:off x="7391400" y="1701800"/>
            <a:ext cx="4191000" cy="4648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6445250"/>
            <a:ext cx="1354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</a:rPr>
              <a:t>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88973" y="6429375"/>
            <a:ext cx="59333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</a:rPr>
              <a:t>STATEMENT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5486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5486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6686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</a:rPr>
              <a:t>The year in four numbers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</a:rPr>
              <a:t>Where the work went in 2026.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2738438" cy="46482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500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EC2326"/>
                </a:solidFill>
                <a:latin typeface="League Spartan SemiBold"/>
              </a:rPr>
              <a:t>DELIVERED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500" y="3643312"/>
            <a:ext cx="2306638" cy="6921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704"/>
              </a:lnSpc>
            </a:pPr>
            <a:r>
              <a:rPr sz="3900" b="1" i="0" spc="-156">
                <a:solidFill>
                  <a:srgbClr val="FFFFFF"/>
                </a:solidFill>
                <a:latin typeface="Poppins"/>
              </a:rPr>
              <a:t>235</a:t>
            </a:r>
            <a:r>
              <a:rPr sz="1100" b="0" i="0" spc="-156">
                <a:solidFill>
                  <a:srgbClr val="EC2326"/>
                </a:solidFill>
                <a:latin typeface="Urbanist Medium"/>
              </a:rPr>
              <a:t>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500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E7EBF0"/>
                </a:solidFill>
                <a:latin typeface="Urbanist"/>
              </a:rPr>
              <a:t>Projects completed since 1995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54388" y="1701800"/>
            <a:ext cx="2738438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0288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EC2326"/>
                </a:solidFill>
                <a:latin typeface="League Spartan SemiBold"/>
              </a:rPr>
              <a:t>BUILT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0288" y="3643312"/>
            <a:ext cx="2306638" cy="6921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704"/>
              </a:lnSpc>
            </a:pPr>
            <a:r>
              <a:rPr sz="3900" b="1" i="0" spc="-156">
                <a:solidFill>
                  <a:srgbClr val="101A2B"/>
                </a:solidFill>
                <a:latin typeface="Poppins"/>
              </a:rPr>
              <a:t>1.5</a:t>
            </a:r>
            <a:r>
              <a:rPr sz="1100" b="0" i="0" spc="-156">
                <a:solidFill>
                  <a:srgbClr val="EC2326"/>
                </a:solidFill>
                <a:latin typeface="Urbanist Medium"/>
              </a:rPr>
              <a:t>mil m²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0288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</a:rPr>
              <a:t>Cleanroom built-up area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9175" y="1701800"/>
            <a:ext cx="2738438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5075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EC2326"/>
                </a:solidFill>
                <a:latin typeface="League Spartan SemiBold"/>
              </a:rPr>
              <a:t>PEOPLE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5075" y="3643312"/>
            <a:ext cx="2306638" cy="6921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704"/>
              </a:lnSpc>
            </a:pPr>
            <a:r>
              <a:rPr sz="3900" b="1" i="0" spc="-156">
                <a:solidFill>
                  <a:srgbClr val="101A2B"/>
                </a:solidFill>
                <a:latin typeface="Poppins"/>
              </a:rPr>
              <a:t>530</a:t>
            </a:r>
            <a:r>
              <a:rPr sz="1100" b="0" i="0" spc="-156">
                <a:solidFill>
                  <a:srgbClr val="EC2326"/>
                </a:solidFill>
                <a:latin typeface="Urbanist Medium"/>
              </a:rPr>
              <a:t>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5075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</a:rPr>
              <a:t>Engineers, supervisors and crew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43962" y="1701800"/>
            <a:ext cx="2738438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9862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EC2326"/>
                </a:solidFill>
                <a:latin typeface="League Spartan SemiBold"/>
              </a:rPr>
              <a:t>REACH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9862" y="3643312"/>
            <a:ext cx="2306638" cy="692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900" b="1" i="0" spc="-156">
                <a:solidFill>
                  <a:srgbClr val="101A2B"/>
                </a:solidFill>
                <a:latin typeface="Poppins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9862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</a:rPr>
              <a:t>Offices across three continents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445250"/>
            <a:ext cx="13315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44625" y="6429375"/>
            <a:ext cx="63778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</a:rPr>
              <a:t>HIGHLIGHTS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5486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5486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6686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2738438" cy="46482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500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</a:rPr>
              <a:t>LABEL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500" y="3643312"/>
            <a:ext cx="2306638" cy="6921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704"/>
              </a:lnSpc>
            </a:pPr>
            <a:r>
              <a:rPr sz="3900" b="1" i="0" spc="-156">
                <a:solidFill>
                  <a:srgbClr val="FFFFFF"/>
                </a:solidFill>
                <a:latin typeface="Poppins"/>
              </a:rPr>
              <a:t>00</a:t>
            </a:r>
            <a:r>
              <a:rPr sz="1100" b="0" i="0" spc="-156">
                <a:solidFill>
                  <a:srgbClr val="64707A"/>
                </a:solidFill>
                <a:latin typeface="Urbanist Medium"/>
              </a:rPr>
              <a:t>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500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</a:rPr>
              <a:t>What the figure counts, one 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54388" y="1701800"/>
            <a:ext cx="2738438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0288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</a:rPr>
              <a:t>LABEL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0288" y="3643312"/>
            <a:ext cx="2306638" cy="6921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704"/>
              </a:lnSpc>
            </a:pPr>
            <a:r>
              <a:rPr sz="3900" b="1" i="0" spc="-156">
                <a:solidFill>
                  <a:srgbClr val="101A2B"/>
                </a:solidFill>
                <a:latin typeface="Poppins"/>
              </a:rPr>
              <a:t>00</a:t>
            </a:r>
            <a:r>
              <a:rPr sz="1100" b="0" i="0" spc="-156">
                <a:solidFill>
                  <a:srgbClr val="64707A"/>
                </a:solidFill>
                <a:latin typeface="Urbanist Medium"/>
              </a:rPr>
              <a:t>unit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0288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</a:rPr>
              <a:t>What the figure counts, one 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9175" y="1701800"/>
            <a:ext cx="2738438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5075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</a:rPr>
              <a:t>LABEL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5075" y="3643312"/>
            <a:ext cx="2306638" cy="6921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3704"/>
              </a:lnSpc>
            </a:pPr>
            <a:r>
              <a:rPr sz="3900" b="1" i="0" spc="-156">
                <a:solidFill>
                  <a:srgbClr val="101A2B"/>
                </a:solidFill>
                <a:latin typeface="Poppins"/>
              </a:rPr>
              <a:t>00</a:t>
            </a:r>
            <a:r>
              <a:rPr sz="1100" b="0" i="0" spc="-156">
                <a:solidFill>
                  <a:srgbClr val="64707A"/>
                </a:solidFill>
                <a:latin typeface="Urbanist Medium"/>
              </a:rPr>
              <a:t>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5075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</a:rPr>
              <a:t>What the figure counts, one line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43962" y="1701800"/>
            <a:ext cx="2738438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9862" y="3592512"/>
            <a:ext cx="23066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</a:rPr>
              <a:t>LABEL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9862" y="3643312"/>
            <a:ext cx="2306638" cy="692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900" b="1" i="0" spc="-156">
                <a:solidFill>
                  <a:srgbClr val="101A2B"/>
                </a:solidFill>
                <a:latin typeface="Poppins"/>
              </a:rPr>
              <a:t>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9862" y="4323359"/>
            <a:ext cx="2306638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</a:rPr>
              <a:t>What the figure counts, one 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445250"/>
            <a:ext cx="1352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44523" y="6429375"/>
            <a:ext cx="637781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</a:rPr>
              <a:t>HIGHLIGHTS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747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747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8673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</a:rPr>
              <a:t>What we self-perform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</a:rPr>
              <a:t>Six packages under one contract.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0100" y="265906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700" y="2760662"/>
            <a:ext cx="203200" cy="2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33500" y="269170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101A2B"/>
                </a:solidFill>
                <a:latin typeface="Urbanist SemiBold"/>
              </a:rPr>
              <a:t>Engineering design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3500" y="289996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</a:rPr>
              <a:t>CSA and MEP, to specification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16464" y="1758950"/>
            <a:ext cx="204686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</a:rPr>
              <a:t>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7200" y="1701800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57700" y="265906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a07fcf59285bd02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9300" y="2760662"/>
            <a:ext cx="203200" cy="203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991100" y="269170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101A2B"/>
                </a:solidFill>
                <a:latin typeface="Urbanist SemiBold"/>
              </a:rPr>
              <a:t>Electrical systems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1100" y="289996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</a:rPr>
              <a:t>Up to 33kV substations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31894" y="1758950"/>
            <a:ext cx="246856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</a:rPr>
              <a:t>02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4800" y="1701800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5300" y="265906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47fea6dfa5845a8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6900" y="2760662"/>
            <a:ext cx="203200" cy="203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648700" y="269170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101A2B"/>
                </a:solidFill>
                <a:latin typeface="Urbanist SemiBold"/>
              </a:rPr>
              <a:t>Cleanroom systems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8700" y="289996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</a:rPr>
              <a:t>ISO 3 to ISO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2153" y="1758950"/>
            <a:ext cx="254197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</a:rPr>
              <a:t>03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" y="4029075"/>
            <a:ext cx="365760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0100" y="4986338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ee7661d589fb3b2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700" y="5087938"/>
            <a:ext cx="203200" cy="2032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333500" y="5018983"/>
            <a:ext cx="274320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101A2B"/>
                </a:solidFill>
                <a:latin typeface="Urbanist SemiBold"/>
              </a:rPr>
              <a:t>Commissioning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3500" y="5227244"/>
            <a:ext cx="27432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</a:rPr>
              <a:t>Testing and handover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57822" y="4086225"/>
            <a:ext cx="269678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</a:rPr>
              <a:t>04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67200" y="4029075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67200" y="4029075"/>
            <a:ext cx="365125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457700" y="498951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621574d790f500b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59300" y="5091112"/>
            <a:ext cx="203200" cy="2032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991100" y="502215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101A2B"/>
                </a:solidFill>
                <a:latin typeface="Urbanist SemiBold"/>
              </a:rPr>
              <a:t>Maintenance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91100" y="523041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</a:rPr>
              <a:t>Operate, service, optimise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14831" y="4092575"/>
            <a:ext cx="263925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</a:rPr>
              <a:t>05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24800" y="4029075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924800" y="4029075"/>
            <a:ext cx="365125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115300" y="498951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4" name="Picture 43" descr="c5d582a2d285297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16900" y="5091112"/>
            <a:ext cx="203200" cy="2032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648700" y="502215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101A2B"/>
                </a:solidFill>
                <a:latin typeface="Urbanist SemiBold"/>
              </a:rPr>
              <a:t>Energy management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48700" y="523041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</a:rPr>
              <a:t>Carbon and cost reduction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75308" y="4092575"/>
            <a:ext cx="261042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</a:rPr>
              <a:t>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445250"/>
            <a:ext cx="1353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</a:rPr>
              <a:t>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30534" y="6429375"/>
            <a:ext cx="65186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</a:rPr>
              <a:t>ICON CARDS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747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747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8673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0100" y="265906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700" y="2760662"/>
            <a:ext cx="203200" cy="20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33500" y="269170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</a:rPr>
              <a:t>Item 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3500" y="289996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</a:rPr>
              <a:t>What it covers, four or five words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16464" y="1758950"/>
            <a:ext cx="204686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</a:rPr>
              <a:t>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7200" y="1701800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57700" y="265906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9300" y="2760662"/>
            <a:ext cx="203200" cy="203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991100" y="269170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</a:rPr>
              <a:t>Item name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1100" y="289996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</a:rPr>
              <a:t>What it covers, four or five words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31894" y="1758950"/>
            <a:ext cx="246856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</a:rPr>
              <a:t>02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4800" y="1701800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15300" y="265906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6900" y="2760662"/>
            <a:ext cx="203200" cy="203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648700" y="269170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</a:rPr>
              <a:t>Item name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8700" y="289996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</a:rPr>
              <a:t>What it covers, four or five words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2153" y="1758950"/>
            <a:ext cx="254197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</a:rPr>
              <a:t>03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" y="4029075"/>
            <a:ext cx="365760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0100" y="4986338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700" y="5087938"/>
            <a:ext cx="203200" cy="2032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333500" y="5018983"/>
            <a:ext cx="274320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</a:rPr>
              <a:t>Item name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3500" y="5227244"/>
            <a:ext cx="274320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</a:rPr>
              <a:t>What it covers, four or five words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57822" y="4086225"/>
            <a:ext cx="269678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</a:rPr>
              <a:t>04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67200" y="4029075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67200" y="4029075"/>
            <a:ext cx="365125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457700" y="498951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9300" y="5091112"/>
            <a:ext cx="203200" cy="2032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991100" y="502215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</a:rPr>
              <a:t>Item name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91100" y="523041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</a:rPr>
              <a:t>What it covers, four or five words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14831" y="4092575"/>
            <a:ext cx="263925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</a:rPr>
              <a:t>05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24800" y="4029075"/>
            <a:ext cx="3651250" cy="23209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924800" y="4029075"/>
            <a:ext cx="365125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115300" y="4989512"/>
            <a:ext cx="406400" cy="4064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4" name="Picture 43" descr="03ee66e6a8283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6900" y="5091112"/>
            <a:ext cx="203200" cy="2032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648700" y="5022158"/>
            <a:ext cx="2736850" cy="158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80" b="0" i="0" spc="-11">
                <a:solidFill>
                  <a:srgbClr val="64707A"/>
                </a:solidFill>
                <a:latin typeface="Urbanist SemiBold"/>
              </a:rPr>
              <a:t>Item name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48700" y="5230419"/>
            <a:ext cx="2736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>
                <a:solidFill>
                  <a:srgbClr val="64707A"/>
                </a:solidFill>
                <a:latin typeface="Urbanist"/>
              </a:rPr>
              <a:t>What it covers, four or five words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75308" y="4092575"/>
            <a:ext cx="261042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1" i="0" spc="-68">
                <a:solidFill>
                  <a:srgbClr val="EC2326">
                    <a:alpha val="14000"/>
                  </a:srgbClr>
                </a:solidFill>
                <a:latin typeface="Poppins"/>
              </a:rPr>
              <a:t>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445250"/>
            <a:ext cx="1147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</a:rPr>
              <a:t>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30534" y="6429375"/>
            <a:ext cx="65186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</a:rPr>
              <a:t>ICON CARDS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945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945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655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</a:rPr>
              <a:t>Three ways to contract the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</a:rPr>
              <a:t>The same crews, scoped three ways.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3564433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" y="1905000"/>
            <a:ext cx="31834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EC2326"/>
                </a:solidFill>
                <a:latin typeface="League Spartan SemiBold"/>
              </a:rPr>
              <a:t>MODEL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" y="2082800"/>
            <a:ext cx="3183433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-26">
                <a:solidFill>
                  <a:srgbClr val="101A2B"/>
                </a:solidFill>
                <a:latin typeface="Poppins SemiBold"/>
              </a:rPr>
              <a:t>EPCM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" y="2691708"/>
            <a:ext cx="3183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" y="2437708"/>
            <a:ext cx="31834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</a:rPr>
              <a:t>Management of engineering, procurement and construction.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" y="288220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" y="283775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</a:rPr>
              <a:t>Client holds the trade contracts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100" y="311139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" y="306694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</a:rPr>
              <a:t>IAQ manages delivery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" y="3340595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" y="3296145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</a:rPr>
              <a:t>Fastest route to a fab ramp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" y="3569792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" y="3525342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</a:rPr>
              <a:t>Best where scope is still moving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13733" y="1701800"/>
            <a:ext cx="3564433" cy="46482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04233" y="1905000"/>
            <a:ext cx="31834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EC2326"/>
                </a:solidFill>
                <a:latin typeface="League Spartan SemiBold"/>
              </a:rPr>
              <a:t>MODEL 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4233" y="2082800"/>
            <a:ext cx="3183433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-26">
                <a:solidFill>
                  <a:srgbClr val="FFFFFF"/>
                </a:solidFill>
                <a:latin typeface="Poppins SemiBold"/>
              </a:rPr>
              <a:t>EPCC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04233" y="2691708"/>
            <a:ext cx="3183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04233" y="2437708"/>
            <a:ext cx="31834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</a:rPr>
              <a:t>Full turnkey from conception to operation.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04233" y="288220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04233" y="283775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"/>
              </a:rPr>
              <a:t>IAQ holds every contract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04233" y="311139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04233" y="306694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"/>
              </a:rPr>
              <a:t>One programme, one accountability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04233" y="3340595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04233" y="3296145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"/>
              </a:rPr>
              <a:t>Fixed scope, fixed completion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04233" y="3569792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04233" y="3525342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"/>
              </a:rPr>
              <a:t>Best where the brief is settled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17866" y="1701800"/>
            <a:ext cx="3564433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8366" y="1905000"/>
            <a:ext cx="31834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EC2326"/>
                </a:solidFill>
                <a:latin typeface="League Spartan SemiBold"/>
              </a:rPr>
              <a:t>MODEL 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08366" y="2082800"/>
            <a:ext cx="3183433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-26">
                <a:solidFill>
                  <a:srgbClr val="101A2B"/>
                </a:solidFill>
                <a:latin typeface="Poppins SemiBold"/>
              </a:rPr>
              <a:t>EFM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08366" y="2691708"/>
            <a:ext cx="3183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08366" y="2437708"/>
            <a:ext cx="31834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</a:rPr>
              <a:t>Energy and facility management after handover.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08366" y="288220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08366" y="283775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</a:rPr>
              <a:t>Planned and reactive maintenance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08366" y="311139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08366" y="306694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</a:rPr>
              <a:t>Energy and carbon reduction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08366" y="3340595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08366" y="3296145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</a:rPr>
              <a:t>Operates the asset for its life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08366" y="3569792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08366" y="3525342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</a:rPr>
              <a:t>Best where uptime decides value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600" y="6445250"/>
            <a:ext cx="9138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91736" y="6429375"/>
            <a:ext cx="6906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</a:rPr>
              <a:t>COMPARISON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945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945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655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3564433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" y="1905000"/>
            <a:ext cx="31834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</a:rPr>
              <a:t>OPTION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" y="2082800"/>
            <a:ext cx="3183433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-26">
                <a:solidFill>
                  <a:srgbClr val="64707A"/>
                </a:solidFill>
                <a:latin typeface="Poppins SemiBold"/>
              </a:rPr>
              <a:t>First option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" y="2691708"/>
            <a:ext cx="3183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" y="2437708"/>
            <a:ext cx="31834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</a:rPr>
              <a:t>One sentence saying what it 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" y="288220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" y="283775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</a:rPr>
              <a:t>A point of difference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100" y="311139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" y="306694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</a:rPr>
              <a:t>A second point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" y="3340595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" y="3296145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</a:rPr>
              <a:t>A third point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" y="3569792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100" y="3525342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</a:rPr>
              <a:t>When to choose 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13733" y="1701800"/>
            <a:ext cx="3564433" cy="46482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04233" y="1905000"/>
            <a:ext cx="31834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</a:rPr>
              <a:t>OPTION 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4233" y="2082800"/>
            <a:ext cx="3183433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-26">
                <a:solidFill>
                  <a:srgbClr val="64707A"/>
                </a:solidFill>
                <a:latin typeface="Poppins SemiBold"/>
              </a:rPr>
              <a:t>Second option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04233" y="2691708"/>
            <a:ext cx="3183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04233" y="2437708"/>
            <a:ext cx="31834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</a:rPr>
              <a:t>One sentence saying what it is.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04233" y="288220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04233" y="283775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"/>
              </a:rPr>
              <a:t>A point of difference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04233" y="311139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04233" y="306694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"/>
              </a:rPr>
              <a:t>A second point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04233" y="3340595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04233" y="3296145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"/>
              </a:rPr>
              <a:t>A third point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04233" y="3569792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04233" y="3525342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7EBF0"/>
                </a:solidFill>
                <a:latin typeface="Urbanist"/>
              </a:rPr>
              <a:t>When to choose 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17866" y="1701800"/>
            <a:ext cx="3564433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8366" y="1905000"/>
            <a:ext cx="31834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38">
                <a:solidFill>
                  <a:srgbClr val="64707A"/>
                </a:solidFill>
                <a:latin typeface="League Spartan SemiBold"/>
              </a:rPr>
              <a:t>OPTION 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08366" y="2082800"/>
            <a:ext cx="3183433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300" b="0" i="0" spc="-26">
                <a:solidFill>
                  <a:srgbClr val="64707A"/>
                </a:solidFill>
                <a:latin typeface="Poppins SemiBold"/>
              </a:rPr>
              <a:t>Third option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08366" y="2691708"/>
            <a:ext cx="3183433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08366" y="2437708"/>
            <a:ext cx="3183433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</a:rPr>
              <a:t>One sentence saying what it is.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08366" y="288220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08366" y="283775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</a:rPr>
              <a:t>A point of difference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08366" y="3111398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08366" y="3066948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</a:rPr>
              <a:t>A second point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08366" y="3340595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08366" y="3296145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</a:rPr>
              <a:t>A third point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08366" y="3569792"/>
            <a:ext cx="44450" cy="444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08366" y="3525342"/>
            <a:ext cx="3183433" cy="127000"/>
          </a:xfrm>
          <a:prstGeom prst="rect">
            <a:avLst/>
          </a:prstGeom>
          <a:noFill/>
        </p:spPr>
        <p:txBody>
          <a:bodyPr wrap="none" lIns="139700" rIns="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</a:rPr>
              <a:t>When to choose 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600" y="6445250"/>
            <a:ext cx="11191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</a:rPr>
              <a:t>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91641" y="6429375"/>
            <a:ext cx="6906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</a:rPr>
              <a:t>COMPARISON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747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747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8673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</a:rPr>
              <a:t>How the company is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</a:rPr>
              <a:t>Board, executive and the four lines.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2250" y="3175000"/>
            <a:ext cx="1587500" cy="65405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48452" y="3302000"/>
            <a:ext cx="495002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EC2326"/>
                </a:solidFill>
                <a:latin typeface="League Spartan SemiBold"/>
              </a:rPr>
              <a:t>CHAIRMAN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41366" y="3390900"/>
            <a:ext cx="1109167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FFFFFF"/>
                </a:solidFill>
                <a:latin typeface="Poppins SemiBold"/>
              </a:rPr>
              <a:t>Board of Directors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0259" y="3587750"/>
            <a:ext cx="1031481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96A2B2"/>
                </a:solidFill>
                <a:latin typeface="Urbanist"/>
              </a:rPr>
              <a:t>Governance and strategy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650" y="3829050"/>
            <a:ext cx="12700" cy="2159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81200" y="4044950"/>
            <a:ext cx="82296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748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180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612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2044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600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4680" y="4349750"/>
            <a:ext cx="100816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EC2326"/>
                </a:solidFill>
                <a:latin typeface="League Spartan SemiBold"/>
              </a:rPr>
              <a:t>MANAGING DIRECTOR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1238" y="4438650"/>
            <a:ext cx="615156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101A2B"/>
                </a:solidFill>
                <a:latin typeface="Poppins SemiBold"/>
              </a:rPr>
              <a:t>Group 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6016" y="4635500"/>
            <a:ext cx="96549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</a:rPr>
              <a:t>Operations and delivery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87725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78934" y="4349750"/>
            <a:ext cx="455911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EC2326"/>
                </a:solidFill>
                <a:latin typeface="League Spartan SemiBold"/>
              </a:rPr>
              <a:t>DIRECTOR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5761" y="4438650"/>
            <a:ext cx="74235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101A2B"/>
                </a:solidFill>
                <a:latin typeface="Poppins SemiBold"/>
              </a:rPr>
              <a:t>Engineering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1548" y="4635500"/>
            <a:ext cx="79077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</a:rPr>
              <a:t>Design and method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65850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57059" y="4349750"/>
            <a:ext cx="455911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EC2326"/>
                </a:solidFill>
                <a:latin typeface="League Spartan SemiBold"/>
              </a:rPr>
              <a:t>DIRECTOR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93941" y="4438650"/>
            <a:ext cx="782244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101A2B"/>
                </a:solidFill>
                <a:latin typeface="Poppins SemiBold"/>
              </a:rPr>
              <a:t>Commercial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15563" y="4635500"/>
            <a:ext cx="93890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</a:rPr>
              <a:t>Cost, contracts and risk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43975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35184" y="4349750"/>
            <a:ext cx="455911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EC2326"/>
                </a:solidFill>
                <a:latin typeface="League Spartan SemiBold"/>
              </a:rPr>
              <a:t>DIRECTOR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72548" y="4438650"/>
            <a:ext cx="981272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101A2B"/>
                </a:solidFill>
                <a:latin typeface="Poppins SemiBold"/>
              </a:rPr>
              <a:t>HSE and Quality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48952" y="4635500"/>
            <a:ext cx="82837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</a:rPr>
              <a:t>Standards and audit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445250"/>
            <a:ext cx="1094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</a:rPr>
              <a:t>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59677" y="6429375"/>
            <a:ext cx="162272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</a:rPr>
              <a:t>ORG CHART · REPORTING TREE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747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7473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8673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2250" y="3175000"/>
            <a:ext cx="1587500" cy="65405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78131" y="330200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</a:rPr>
              <a:t>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55558" y="339090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</a:rPr>
              <a:t>Name or function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3028" y="3587750"/>
            <a:ext cx="1225848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</a:rPr>
              <a:t>What they are accountable for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650" y="3829050"/>
            <a:ext cx="12700" cy="2159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81200" y="4044950"/>
            <a:ext cx="82296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748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180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612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204450" y="4057650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600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10944" y="434975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</a:rPr>
              <a:t>ROLE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8370" y="443865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</a:rPr>
              <a:t>Name or function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65002" y="4635500"/>
            <a:ext cx="32752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</a:rPr>
              <a:t>One line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87725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89069" y="434975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</a:rPr>
              <a:t>ROLE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6495" y="443865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</a:rPr>
              <a:t>Name or function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43127" y="4635500"/>
            <a:ext cx="32752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</a:rPr>
              <a:t>One 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65850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67194" y="434975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</a:rPr>
              <a:t>ROLE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4620" y="443865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</a:rPr>
              <a:t>Name or function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21252" y="4635500"/>
            <a:ext cx="32752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</a:rPr>
              <a:t>One line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43975" y="4222750"/>
            <a:ext cx="2638425" cy="654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45319" y="4349750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</a:rPr>
              <a:t>ROLE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22745" y="4438650"/>
            <a:ext cx="1080789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</a:rPr>
              <a:t>Name or function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99377" y="4635500"/>
            <a:ext cx="32752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</a:rPr>
              <a:t>One 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445250"/>
            <a:ext cx="10765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</a:rPr>
              <a:t>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59677" y="6429375"/>
            <a:ext cx="162272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</a:rPr>
              <a:t>ORG CHART · REPORTING TREE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925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925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458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</a:rPr>
              <a:t>The project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</a:rPr>
              <a:t>Who the client deals with, day to day.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12183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f2d304ddcff951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933" y="3609975"/>
            <a:ext cx="266700" cy="2667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56906" y="4111625"/>
            <a:ext cx="894753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EC2326"/>
                </a:solidFill>
                <a:latin typeface="League Spartan SemiBold"/>
              </a:rPr>
              <a:t>PROJECT DIRECTOR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9198" y="4244975"/>
            <a:ext cx="690264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101A2B"/>
                </a:solidFill>
                <a:latin typeface="Poppins SemiBold"/>
              </a:rPr>
              <a:t>Name 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1845" y="4486275"/>
            <a:ext cx="90487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</a:rPr>
              <a:t>Single point of contact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05411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07994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f2d304ddcff951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6744" y="3609975"/>
            <a:ext cx="266700" cy="2667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288805" y="4111625"/>
            <a:ext cx="1222572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EC2326"/>
                </a:solidFill>
                <a:latin typeface="League Spartan SemiBold"/>
              </a:rPr>
              <a:t>CONSTRUCTION MANAGER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5009" y="4244975"/>
            <a:ext cx="690264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101A2B"/>
                </a:solidFill>
                <a:latin typeface="Poppins SemiBold"/>
              </a:rPr>
              <a:t>Name 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8314" y="4486275"/>
            <a:ext cx="84355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</a:rPr>
              <a:t>Site and programme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1222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03798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f2d304ddcff951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2548" y="3609975"/>
            <a:ext cx="266700" cy="2667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728195" y="4111625"/>
            <a:ext cx="735508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EC2326"/>
                </a:solidFill>
                <a:latin typeface="League Spartan SemiBold"/>
              </a:rPr>
              <a:t>LEAD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50820" y="4244975"/>
            <a:ext cx="690264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101A2B"/>
                </a:solidFill>
                <a:latin typeface="Poppins SemiBold"/>
              </a:rPr>
              <a:t>Name here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00516" y="4486275"/>
            <a:ext cx="79077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</a:rPr>
              <a:t>Design and method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97033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99609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f2d304ddcff951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8359" y="3609975"/>
            <a:ext cx="266700" cy="2667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850683" y="4111625"/>
            <a:ext cx="882155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EC2326"/>
                </a:solidFill>
                <a:latin typeface="League Spartan SemiBold"/>
              </a:rPr>
              <a:t>QA / QC MANAGER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46631" y="4244975"/>
            <a:ext cx="690264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101A2B"/>
                </a:solidFill>
                <a:latin typeface="Poppins SemiBold"/>
              </a:rPr>
              <a:t>Name here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34713" y="4486275"/>
            <a:ext cx="91400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</a:rPr>
              <a:t>Inspection and records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92844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95420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6" name="Picture 35" descr="f2d304ddcff951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4170" y="3609975"/>
            <a:ext cx="266700" cy="2667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153256" y="4111625"/>
            <a:ext cx="668636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EC2326"/>
                </a:solidFill>
                <a:latin typeface="League Spartan SemiBold"/>
              </a:rPr>
              <a:t>HSE MANAGER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2436" y="4244975"/>
            <a:ext cx="690264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101A2B"/>
                </a:solidFill>
                <a:latin typeface="Poppins SemiBold"/>
              </a:rPr>
              <a:t>Name here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72884" y="4486275"/>
            <a:ext cx="82936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</a:rPr>
              <a:t>Safety on every shift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6445250"/>
            <a:ext cx="1101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</a:rP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74066" y="6429375"/>
            <a:ext cx="16083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</a:rPr>
              <a:t>ORG CHART · FLAT TEAM BAND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925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925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458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12183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eaec8c1aaf262d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933" y="3609975"/>
            <a:ext cx="266700" cy="2667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86408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</a:rPr>
              <a:t>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3878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</a:rPr>
              <a:t>Name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1661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</a:rPr>
              <a:t>What they own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05411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07994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eaec8c1aaf262d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6744" y="3609975"/>
            <a:ext cx="266700" cy="2667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782219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</a:rPr>
              <a:t>ROLE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9689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</a:rPr>
              <a:t>Name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97472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</a:rPr>
              <a:t>What they own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1222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03798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eaec8c1aaf262d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2548" y="3609975"/>
            <a:ext cx="266700" cy="2667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978030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</a:rPr>
              <a:t>ROLE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05500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</a:rPr>
              <a:t>Name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93283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</a:rPr>
              <a:t>What they own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97033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99609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eaec8c1aaf262d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8359" y="3609975"/>
            <a:ext cx="266700" cy="2667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173841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</a:rPr>
              <a:t>ROLE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01311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</a:rPr>
              <a:t>Name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89094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</a:rPr>
              <a:t>What they own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92844" y="3260725"/>
            <a:ext cx="2189461" cy="1530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195420" y="3451225"/>
            <a:ext cx="584200" cy="5842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6" name="Picture 35" descr="eaec8c1aaf262d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4170" y="3609975"/>
            <a:ext cx="266700" cy="2667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369652" y="4111625"/>
            <a:ext cx="235744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</a:rPr>
              <a:t>ROLE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97122" y="4244975"/>
            <a:ext cx="38080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</a:rPr>
              <a:t>Name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84905" y="4486275"/>
            <a:ext cx="605333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</a:rPr>
              <a:t>What they own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6445250"/>
            <a:ext cx="11202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</a:rPr>
              <a:t>16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73964" y="6429375"/>
            <a:ext cx="16083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</a:rPr>
              <a:t>ORG CHART · FLAT TEAM BAND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945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945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655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</a:rPr>
              <a:t>The 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</a:rPr>
              <a:t>One holding company, four operating businesses.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5756" y="2937866"/>
            <a:ext cx="2680494" cy="65405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85459" y="3064866"/>
            <a:ext cx="420986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EC2326"/>
                </a:solidFill>
                <a:latin typeface="League Spartan SemiBold"/>
              </a:rPr>
              <a:t>HOLDING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20856" y="3153766"/>
            <a:ext cx="2350294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FFFFFF"/>
                </a:solidFill>
                <a:latin typeface="Poppins SemiBold"/>
              </a:rPr>
              <a:t>IAQ Technology International Sdn Bhd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37683" y="3350616"/>
            <a:ext cx="1316634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96A2B2"/>
                </a:solidFill>
                <a:latin typeface="Urbanist"/>
              </a:rPr>
              <a:t>Incorporated 1995 · 200001031412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650" y="3591916"/>
            <a:ext cx="12700" cy="2159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81200" y="3807816"/>
            <a:ext cx="82296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748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180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612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2044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60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00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</a:rPr>
              <a:t>COMPANY 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 spc="-20">
                <a:solidFill>
                  <a:srgbClr val="101A2B"/>
                </a:solidFill>
                <a:latin typeface="Poppins SemiBold"/>
              </a:rPr>
              <a:t>IAQ Solutions</a:t>
            </a:r>
          </a:p>
        </p:txBody>
      </p:sp>
      <p:sp>
        <p:nvSpPr>
          <p:cNvPr id="23" name="Oval 22"/>
          <p:cNvSpPr/>
          <p:nvPr/>
        </p:nvSpPr>
        <p:spPr>
          <a:xfrm>
            <a:off x="76200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Cleanroom systems</a:t>
            </a:r>
          </a:p>
        </p:txBody>
      </p:sp>
      <p:sp>
        <p:nvSpPr>
          <p:cNvPr id="25" name="Oval 24"/>
          <p:cNvSpPr/>
          <p:nvPr/>
        </p:nvSpPr>
        <p:spPr>
          <a:xfrm>
            <a:off x="76200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200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CSA and MEP</a:t>
            </a:r>
          </a:p>
        </p:txBody>
      </p:sp>
      <p:sp>
        <p:nvSpPr>
          <p:cNvPr id="27" name="Oval 26"/>
          <p:cNvSpPr/>
          <p:nvPr/>
        </p:nvSpPr>
        <p:spPr>
          <a:xfrm>
            <a:off x="76200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200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Malaysia and Singapore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455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3695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</a:rPr>
              <a:t>COMPANY 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3695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 spc="-20">
                <a:solidFill>
                  <a:srgbClr val="101A2B"/>
                </a:solidFill>
                <a:latin typeface="Poppins SemiBold"/>
              </a:rPr>
              <a:t>IAQ Utility Solutions</a:t>
            </a:r>
          </a:p>
        </p:txBody>
      </p:sp>
      <p:sp>
        <p:nvSpPr>
          <p:cNvPr id="32" name="Oval 31"/>
          <p:cNvSpPr/>
          <p:nvPr/>
        </p:nvSpPr>
        <p:spPr>
          <a:xfrm>
            <a:off x="353695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695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Process utilities</a:t>
            </a:r>
          </a:p>
        </p:txBody>
      </p:sp>
      <p:sp>
        <p:nvSpPr>
          <p:cNvPr id="34" name="Oval 33"/>
          <p:cNvSpPr/>
          <p:nvPr/>
        </p:nvSpPr>
        <p:spPr>
          <a:xfrm>
            <a:off x="353695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3695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Tool hookup</a:t>
            </a:r>
          </a:p>
        </p:txBody>
      </p:sp>
      <p:sp>
        <p:nvSpPr>
          <p:cNvPr id="36" name="Oval 35"/>
          <p:cNvSpPr/>
          <p:nvPr/>
        </p:nvSpPr>
        <p:spPr>
          <a:xfrm>
            <a:off x="353695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3695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EPCM packages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950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1190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</a:rPr>
              <a:t>COMPANY 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1190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 spc="-20">
                <a:solidFill>
                  <a:srgbClr val="101A2B"/>
                </a:solidFill>
                <a:latin typeface="Poppins SemiBold"/>
              </a:rPr>
              <a:t>IAQ Energy Facility Management</a:t>
            </a:r>
          </a:p>
        </p:txBody>
      </p:sp>
      <p:sp>
        <p:nvSpPr>
          <p:cNvPr id="41" name="Oval 40"/>
          <p:cNvSpPr/>
          <p:nvPr/>
        </p:nvSpPr>
        <p:spPr>
          <a:xfrm>
            <a:off x="631190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1190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District cooling</a:t>
            </a:r>
          </a:p>
        </p:txBody>
      </p:sp>
      <p:sp>
        <p:nvSpPr>
          <p:cNvPr id="43" name="Oval 42"/>
          <p:cNvSpPr/>
          <p:nvPr/>
        </p:nvSpPr>
        <p:spPr>
          <a:xfrm>
            <a:off x="631190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1190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Chiller plants</a:t>
            </a:r>
          </a:p>
        </p:txBody>
      </p:sp>
      <p:sp>
        <p:nvSpPr>
          <p:cNvPr id="45" name="Oval 44"/>
          <p:cNvSpPr/>
          <p:nvPr/>
        </p:nvSpPr>
        <p:spPr>
          <a:xfrm>
            <a:off x="631190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1190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Operate and maintain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445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8685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</a:rPr>
              <a:t>COMPANY 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8685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 spc="-20">
                <a:solidFill>
                  <a:srgbClr val="101A2B"/>
                </a:solidFill>
                <a:latin typeface="Poppins SemiBold"/>
              </a:rPr>
              <a:t>IAQ Europe</a:t>
            </a:r>
          </a:p>
        </p:txBody>
      </p:sp>
      <p:sp>
        <p:nvSpPr>
          <p:cNvPr id="50" name="Oval 49"/>
          <p:cNvSpPr/>
          <p:nvPr/>
        </p:nvSpPr>
        <p:spPr>
          <a:xfrm>
            <a:off x="908685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8685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Gigafactories</a:t>
            </a:r>
          </a:p>
        </p:txBody>
      </p:sp>
      <p:sp>
        <p:nvSpPr>
          <p:cNvPr id="52" name="Oval 51"/>
          <p:cNvSpPr/>
          <p:nvPr/>
        </p:nvSpPr>
        <p:spPr>
          <a:xfrm>
            <a:off x="908685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8685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Wafer fabs</a:t>
            </a:r>
          </a:p>
        </p:txBody>
      </p:sp>
      <p:sp>
        <p:nvSpPr>
          <p:cNvPr id="54" name="Oval 53"/>
          <p:cNvSpPr/>
          <p:nvPr/>
        </p:nvSpPr>
        <p:spPr>
          <a:xfrm>
            <a:off x="908685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8685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Sweden, Germany, France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9600" y="6445250"/>
            <a:ext cx="1097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</a:rPr>
              <a:t>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49447" y="6429375"/>
            <a:ext cx="173285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</a:rPr>
              <a:t>ORG CHART · GROUP STRUCTURE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945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945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655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09083" y="2937866"/>
            <a:ext cx="1773733" cy="65405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85459" y="3064866"/>
            <a:ext cx="420986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00" b="0" i="0" spc="120">
                <a:solidFill>
                  <a:srgbClr val="64707A"/>
                </a:solidFill>
                <a:latin typeface="League Spartan SemiBold"/>
              </a:rPr>
              <a:t>HOLDING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74183" y="3153766"/>
            <a:ext cx="1443533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000" b="0" i="0" spc="-20">
                <a:solidFill>
                  <a:srgbClr val="64707A"/>
                </a:solidFill>
                <a:latin typeface="Poppins SemiBold"/>
              </a:rPr>
              <a:t>Parent company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4009" y="3350616"/>
            <a:ext cx="763886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</a:rPr>
              <a:t>Incorporated 0000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650" y="3591916"/>
            <a:ext cx="12700" cy="2159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81200" y="3807816"/>
            <a:ext cx="82296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748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180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612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204450" y="3820516"/>
            <a:ext cx="1270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60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00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</a:rPr>
              <a:t>COMPANY 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 spc="-20">
                <a:solidFill>
                  <a:srgbClr val="64707A"/>
                </a:solidFill>
                <a:latin typeface="Poppins SemiBold"/>
              </a:rPr>
              <a:t>Business name</a:t>
            </a:r>
          </a:p>
        </p:txBody>
      </p:sp>
      <p:sp>
        <p:nvSpPr>
          <p:cNvPr id="23" name="Oval 22"/>
          <p:cNvSpPr/>
          <p:nvPr/>
        </p:nvSpPr>
        <p:spPr>
          <a:xfrm>
            <a:off x="76200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00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What it does</a:t>
            </a:r>
          </a:p>
        </p:txBody>
      </p:sp>
      <p:sp>
        <p:nvSpPr>
          <p:cNvPr id="25" name="Oval 24"/>
          <p:cNvSpPr/>
          <p:nvPr/>
        </p:nvSpPr>
        <p:spPr>
          <a:xfrm>
            <a:off x="76200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200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What it does</a:t>
            </a:r>
          </a:p>
        </p:txBody>
      </p:sp>
      <p:sp>
        <p:nvSpPr>
          <p:cNvPr id="27" name="Oval 26"/>
          <p:cNvSpPr/>
          <p:nvPr/>
        </p:nvSpPr>
        <p:spPr>
          <a:xfrm>
            <a:off x="76200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200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Where it works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455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3695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</a:rPr>
              <a:t>COMPANY 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3695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 spc="-20">
                <a:solidFill>
                  <a:srgbClr val="64707A"/>
                </a:solidFill>
                <a:latin typeface="Poppins SemiBold"/>
              </a:rPr>
              <a:t>Business name</a:t>
            </a:r>
          </a:p>
        </p:txBody>
      </p:sp>
      <p:sp>
        <p:nvSpPr>
          <p:cNvPr id="32" name="Oval 31"/>
          <p:cNvSpPr/>
          <p:nvPr/>
        </p:nvSpPr>
        <p:spPr>
          <a:xfrm>
            <a:off x="353695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695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What it does</a:t>
            </a:r>
          </a:p>
        </p:txBody>
      </p:sp>
      <p:sp>
        <p:nvSpPr>
          <p:cNvPr id="34" name="Oval 33"/>
          <p:cNvSpPr/>
          <p:nvPr/>
        </p:nvSpPr>
        <p:spPr>
          <a:xfrm>
            <a:off x="353695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3695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What it does</a:t>
            </a:r>
          </a:p>
        </p:txBody>
      </p:sp>
      <p:sp>
        <p:nvSpPr>
          <p:cNvPr id="36" name="Oval 35"/>
          <p:cNvSpPr/>
          <p:nvPr/>
        </p:nvSpPr>
        <p:spPr>
          <a:xfrm>
            <a:off x="353695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3695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Where it works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950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1190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</a:rPr>
              <a:t>COMPANY 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1190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 spc="-20">
                <a:solidFill>
                  <a:srgbClr val="64707A"/>
                </a:solidFill>
                <a:latin typeface="Poppins SemiBold"/>
              </a:rPr>
              <a:t>Business name</a:t>
            </a:r>
          </a:p>
        </p:txBody>
      </p:sp>
      <p:sp>
        <p:nvSpPr>
          <p:cNvPr id="41" name="Oval 40"/>
          <p:cNvSpPr/>
          <p:nvPr/>
        </p:nvSpPr>
        <p:spPr>
          <a:xfrm>
            <a:off x="631190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1190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What it does</a:t>
            </a:r>
          </a:p>
        </p:txBody>
      </p:sp>
      <p:sp>
        <p:nvSpPr>
          <p:cNvPr id="43" name="Oval 42"/>
          <p:cNvSpPr/>
          <p:nvPr/>
        </p:nvSpPr>
        <p:spPr>
          <a:xfrm>
            <a:off x="631190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1190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What it does</a:t>
            </a:r>
          </a:p>
        </p:txBody>
      </p:sp>
      <p:sp>
        <p:nvSpPr>
          <p:cNvPr id="45" name="Oval 44"/>
          <p:cNvSpPr/>
          <p:nvPr/>
        </p:nvSpPr>
        <p:spPr>
          <a:xfrm>
            <a:off x="631190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1190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Where it works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4450" y="3985616"/>
            <a:ext cx="2647950" cy="11283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86850" y="4138016"/>
            <a:ext cx="234315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</a:rPr>
              <a:t>COMPANY 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86850" y="4245966"/>
            <a:ext cx="2343150" cy="177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 spc="-20">
                <a:solidFill>
                  <a:srgbClr val="64707A"/>
                </a:solidFill>
                <a:latin typeface="Poppins SemiBold"/>
              </a:rPr>
              <a:t>Business name</a:t>
            </a:r>
          </a:p>
        </p:txBody>
      </p:sp>
      <p:sp>
        <p:nvSpPr>
          <p:cNvPr id="50" name="Oval 49"/>
          <p:cNvSpPr/>
          <p:nvPr/>
        </p:nvSpPr>
        <p:spPr>
          <a:xfrm>
            <a:off x="9086850" y="4544416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86850" y="4499966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What it does</a:t>
            </a:r>
          </a:p>
        </p:txBody>
      </p:sp>
      <p:sp>
        <p:nvSpPr>
          <p:cNvPr id="52" name="Oval 51"/>
          <p:cNvSpPr/>
          <p:nvPr/>
        </p:nvSpPr>
        <p:spPr>
          <a:xfrm>
            <a:off x="9086850" y="4713091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86850" y="4668641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What it does</a:t>
            </a:r>
          </a:p>
        </p:txBody>
      </p:sp>
      <p:sp>
        <p:nvSpPr>
          <p:cNvPr id="54" name="Oval 53"/>
          <p:cNvSpPr/>
          <p:nvPr/>
        </p:nvSpPr>
        <p:spPr>
          <a:xfrm>
            <a:off x="9086850" y="4881759"/>
            <a:ext cx="38100" cy="38100"/>
          </a:xfrm>
          <a:prstGeom prst="ellipse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86850" y="4837309"/>
            <a:ext cx="2343150" cy="114300"/>
          </a:xfrm>
          <a:prstGeom prst="rect">
            <a:avLst/>
          </a:prstGeom>
          <a:noFill/>
        </p:spPr>
        <p:txBody>
          <a:bodyPr wrap="none" lIns="10160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Where it works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9600" y="6445250"/>
            <a:ext cx="11191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</a:rPr>
              <a:t>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49447" y="6429375"/>
            <a:ext cx="173285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</a:rPr>
              <a:t>ORG CHART · GROUP STRUCTURE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822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822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9427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</a:rPr>
              <a:t>How a package is delivered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</a:rPr>
              <a:t>Five stages, one accountability.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109728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701800"/>
            <a:ext cx="109728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500" y="1953419"/>
            <a:ext cx="1651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</a:rPr>
              <a:t>THE DELIVERY CYCLE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2400" y="1924050"/>
            <a:ext cx="7112000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80" b="0" i="0">
                <a:solidFill>
                  <a:srgbClr val="64707A"/>
                </a:solidFill>
                <a:latin typeface="Urbanist"/>
              </a:rPr>
              <a:t>Every package runs the same five stages, whoever holds the contract.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36083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609033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fb59dede89695b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9208" y="3822503"/>
            <a:ext cx="209550" cy="20955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1968798" y="3666928"/>
            <a:ext cx="160934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68798" y="3692328"/>
            <a:ext cx="160934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97" y="4276528"/>
            <a:ext cx="816572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</a:rPr>
              <a:t>Engineering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48283" y="4538764"/>
            <a:ext cx="991394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</a:rPr>
              <a:t>Design and consultation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62044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734994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b18bc6858a1e70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5169" y="3822503"/>
            <a:ext cx="209550" cy="20955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075608" y="3666928"/>
            <a:ext cx="180080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75608" y="3692328"/>
            <a:ext cx="180080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973" y="4276528"/>
            <a:ext cx="89803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</a:rPr>
              <a:t>Procurement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8206" y="4538764"/>
            <a:ext cx="1083469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</a:rPr>
              <a:t>Sourcing and supply chain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88005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860948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8109bd0175b0f19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1123" y="3822503"/>
            <a:ext cx="209550" cy="209550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6203950" y="3666928"/>
            <a:ext cx="177698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03950" y="3692328"/>
            <a:ext cx="177698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49417" y="4276528"/>
            <a:ext cx="89296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</a:rPr>
              <a:t>Construction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3767" y="4538764"/>
            <a:ext cx="108426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</a:rPr>
              <a:t>Self-performed packages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13966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986909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6565a9b79f15ccc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7084" y="3822503"/>
            <a:ext cx="209550" cy="20955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331200" y="3666928"/>
            <a:ext cx="176409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31200" y="3692328"/>
            <a:ext cx="176409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70145" y="4276528"/>
            <a:ext cx="503536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</a:rPr>
              <a:t>Testing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03928" y="4538764"/>
            <a:ext cx="123597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</a:rPr>
              <a:t>Commissioning and handover</a:t>
            </a:r>
          </a:p>
        </p:txBody>
      </p:sp>
      <p:sp>
        <p:nvSpPr>
          <p:cNvPr id="42" name="Oval 41"/>
          <p:cNvSpPr/>
          <p:nvPr/>
        </p:nvSpPr>
        <p:spPr>
          <a:xfrm>
            <a:off x="10112870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6ad6a97460030d0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43045" y="3822503"/>
            <a:ext cx="209550" cy="209550"/>
          </a:xfrm>
          <a:prstGeom prst="rect">
            <a:avLst/>
          </a:prstGeom>
        </p:spPr>
      </p:pic>
      <p:sp>
        <p:nvSpPr>
          <p:cNvPr id="44" name="Rectangle 43"/>
          <p:cNvSpPr/>
          <p:nvPr/>
        </p:nvSpPr>
        <p:spPr>
          <a:xfrm>
            <a:off x="10455377" y="3666928"/>
            <a:ext cx="178200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55377" y="3692328"/>
            <a:ext cx="178200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92405" y="4276528"/>
            <a:ext cx="910927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101A2B"/>
                </a:solidFill>
                <a:latin typeface="Poppins SemiBold"/>
              </a:rPr>
              <a:t>Maintenance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05194" y="4538764"/>
            <a:ext cx="1085355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</a:rPr>
              <a:t>Operate, service, optimise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445250"/>
            <a:ext cx="11202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</a:rPr>
              <a:t>19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08036" y="6429375"/>
            <a:ext cx="4743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</a:rPr>
              <a:t>PROCESS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822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8227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9427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109728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701800"/>
            <a:ext cx="10972800" cy="1905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500" y="1953419"/>
            <a:ext cx="1651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</a:rPr>
              <a:t>PROCESS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2400" y="1924050"/>
            <a:ext cx="7112000" cy="1333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80" b="0" i="0">
                <a:solidFill>
                  <a:srgbClr val="64707A"/>
                </a:solidFill>
                <a:latin typeface="Urbanist"/>
              </a:rPr>
              <a:t>One sentence saying what the process is and where it starts.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36083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609033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f708961398c251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9208" y="3822503"/>
            <a:ext cx="209550" cy="20955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1968798" y="3666928"/>
            <a:ext cx="160934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68798" y="3692328"/>
            <a:ext cx="160934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24089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</a:rPr>
              <a:t>Stage name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31030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</a:rPr>
              <a:t>Three or four words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62044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734994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f708961398c251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5169" y="3822503"/>
            <a:ext cx="209550" cy="20955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075608" y="3666928"/>
            <a:ext cx="180080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75608" y="3692328"/>
            <a:ext cx="180080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50050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</a:rPr>
              <a:t>Stage name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56991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</a:rPr>
              <a:t>Three or four words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88005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860948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f708961398c251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1123" y="3822503"/>
            <a:ext cx="209550" cy="209550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6203950" y="3666928"/>
            <a:ext cx="177698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03950" y="3692328"/>
            <a:ext cx="177698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76005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</a:rPr>
              <a:t>Stage name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82952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</a:rPr>
              <a:t>Three or four words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13966" y="3952678"/>
            <a:ext cx="1452861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986909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f708961398c251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7084" y="3822503"/>
            <a:ext cx="209550" cy="20955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331200" y="3666928"/>
            <a:ext cx="176409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31200" y="3692328"/>
            <a:ext cx="176409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01966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</a:rPr>
              <a:t>Stage name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08912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</a:rPr>
              <a:t>Three or four words</a:t>
            </a:r>
          </a:p>
        </p:txBody>
      </p:sp>
      <p:sp>
        <p:nvSpPr>
          <p:cNvPr id="42" name="Oval 41"/>
          <p:cNvSpPr/>
          <p:nvPr/>
        </p:nvSpPr>
        <p:spPr>
          <a:xfrm>
            <a:off x="10112870" y="3692328"/>
            <a:ext cx="469900" cy="4699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f708961398c251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3045" y="3822503"/>
            <a:ext cx="209550" cy="209550"/>
          </a:xfrm>
          <a:prstGeom prst="rect">
            <a:avLst/>
          </a:prstGeom>
        </p:spPr>
      </p:pic>
      <p:sp>
        <p:nvSpPr>
          <p:cNvPr id="44" name="Rectangle 43"/>
          <p:cNvSpPr/>
          <p:nvPr/>
        </p:nvSpPr>
        <p:spPr>
          <a:xfrm>
            <a:off x="10455377" y="3666928"/>
            <a:ext cx="178200" cy="123825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55377" y="3692328"/>
            <a:ext cx="178200" cy="76200"/>
          </a:xfrm>
          <a:prstGeom prst="rect">
            <a:avLst/>
          </a:prstGeom>
          <a:noFill/>
        </p:spPr>
        <p:txBody>
          <a:bodyPr wrap="none" lIns="38100" rIns="38100" tIns="0" bIns="0" anchor="ctr">
            <a:noAutofit/>
          </a:bodyPr>
          <a:lstStyle/>
          <a:p>
            <a:pPr algn="ctr"/>
            <a:r>
              <a:rPr sz="620" b="0" i="0" spc="50">
                <a:solidFill>
                  <a:srgbClr val="FFFFFF"/>
                </a:solidFill>
                <a:latin typeface="League Spartan SemiBold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27927" y="4276528"/>
            <a:ext cx="839889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100" b="0" i="0" spc="-22">
                <a:solidFill>
                  <a:srgbClr val="64707A"/>
                </a:solidFill>
                <a:latin typeface="Poppins SemiBold"/>
              </a:rPr>
              <a:t>Stage name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34873" y="4538764"/>
            <a:ext cx="8259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07A"/>
                </a:solidFill>
                <a:latin typeface="Urbanist"/>
              </a:rPr>
              <a:t>Three or four words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445250"/>
            <a:ext cx="1352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</a:rPr>
              <a:t>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08036" y="6429375"/>
            <a:ext cx="47436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</a:rPr>
              <a:t>PROCESS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1421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1421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5411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</a:rPr>
              <a:t>Thirty-one years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</a:rPr>
              <a:t>The turns that made the company.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8500" y="2587327"/>
            <a:ext cx="1915122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101A2B"/>
                </a:solidFill>
                <a:latin typeface="Poppins SemiBold"/>
              </a:rPr>
              <a:t>Founded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8500" y="2795588"/>
            <a:ext cx="191512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</a:rPr>
              <a:t>Incorporated as a cleanroom specialist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38344" y="2587327"/>
            <a:ext cx="1915217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101A2B"/>
                </a:solidFill>
                <a:latin typeface="Poppins SemiBold"/>
              </a:rPr>
              <a:t>Largest DCC plant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38344" y="2795588"/>
            <a:ext cx="191521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</a:rPr>
              <a:t>KLCC district cooling, a national 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78283" y="2587327"/>
            <a:ext cx="1915217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101A2B"/>
                </a:solidFill>
                <a:latin typeface="Poppins SemiBold"/>
              </a:rPr>
              <a:t>Three continents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78283" y="2795588"/>
            <a:ext cx="191521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</a:rPr>
              <a:t>India, the United States and Ireland open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025900"/>
            <a:ext cx="10972800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510011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3661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EC2326"/>
                </a:solidFill>
                <a:latin typeface="League Spartan SemiBold"/>
              </a:rPr>
              <a:t>1995</a:t>
            </a:r>
          </a:p>
        </p:txBody>
      </p:sp>
      <p:sp>
        <p:nvSpPr>
          <p:cNvPr id="19" name="Oval 18"/>
          <p:cNvSpPr/>
          <p:nvPr/>
        </p:nvSpPr>
        <p:spPr>
          <a:xfrm>
            <a:off x="3704533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98183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EC2326"/>
                </a:solidFill>
                <a:latin typeface="League Spartan SemiBold"/>
              </a:rPr>
              <a:t>2008</a:t>
            </a:r>
          </a:p>
        </p:txBody>
      </p:sp>
      <p:sp>
        <p:nvSpPr>
          <p:cNvPr id="21" name="Oval 20"/>
          <p:cNvSpPr/>
          <p:nvPr/>
        </p:nvSpPr>
        <p:spPr>
          <a:xfrm>
            <a:off x="5899048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92698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EC2326"/>
                </a:solidFill>
                <a:latin typeface="League Spartan SemiBold"/>
              </a:rPr>
              <a:t>2016</a:t>
            </a:r>
          </a:p>
        </p:txBody>
      </p:sp>
      <p:sp>
        <p:nvSpPr>
          <p:cNvPr id="23" name="Oval 22"/>
          <p:cNvSpPr/>
          <p:nvPr/>
        </p:nvSpPr>
        <p:spPr>
          <a:xfrm>
            <a:off x="8093672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7322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EC2326"/>
                </a:solidFill>
                <a:latin typeface="League Spartan SemiBold"/>
              </a:rPr>
              <a:t>2021</a:t>
            </a:r>
          </a:p>
        </p:txBody>
      </p:sp>
      <p:sp>
        <p:nvSpPr>
          <p:cNvPr id="25" name="Oval 24"/>
          <p:cNvSpPr/>
          <p:nvPr/>
        </p:nvSpPr>
        <p:spPr>
          <a:xfrm>
            <a:off x="10288194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1844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EC2326"/>
                </a:solidFill>
                <a:latin typeface="League Spartan SemiBold"/>
              </a:rPr>
              <a:t>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18422" y="5114627"/>
            <a:ext cx="1915122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101A2B"/>
                </a:solidFill>
                <a:latin typeface="Poppins SemiBold"/>
              </a:rPr>
              <a:t>Class 10 cleanroom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18422" y="5322888"/>
            <a:ext cx="191512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</a:rPr>
              <a:t>Western Digital PJ, a first in the region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8361" y="5114627"/>
            <a:ext cx="1915122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101A2B"/>
                </a:solidFill>
                <a:latin typeface="Poppins SemiBold"/>
              </a:rPr>
              <a:t>Four fab expansions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58361" y="5322888"/>
            <a:ext cx="191512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</a:rPr>
              <a:t>SilTerra, Soitec, Infineon, Microsoft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445250"/>
            <a:ext cx="11191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</a:rPr>
              <a:t>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98212" y="6429375"/>
            <a:ext cx="48408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</a:rPr>
              <a:t>TIMELINE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1421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14211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5411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</a:rPr>
              <a:t>One line under it saying what the page is for.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8500" y="2587327"/>
            <a:ext cx="1915122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</a:rPr>
              <a:t>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8500" y="2795588"/>
            <a:ext cx="191512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</a:rPr>
              <a:t>One line on what happened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38344" y="2587327"/>
            <a:ext cx="1915217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</a:rPr>
              <a:t>Event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38344" y="2795588"/>
            <a:ext cx="191521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</a:rPr>
              <a:t>One line on what happened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78283" y="2587327"/>
            <a:ext cx="1915217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</a:rPr>
              <a:t>Event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78283" y="2795588"/>
            <a:ext cx="1915217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</a:rPr>
              <a:t>One line on what happened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025900"/>
            <a:ext cx="10972800" cy="12700"/>
          </a:xfrm>
          <a:prstGeom prst="rect">
            <a:avLst/>
          </a:prstGeom>
          <a:solidFill>
            <a:srgbClr val="EC2326">
              <a:alpha val="24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510011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3661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</a:rPr>
              <a:t>0000</a:t>
            </a:r>
          </a:p>
        </p:txBody>
      </p:sp>
      <p:sp>
        <p:nvSpPr>
          <p:cNvPr id="19" name="Oval 18"/>
          <p:cNvSpPr/>
          <p:nvPr/>
        </p:nvSpPr>
        <p:spPr>
          <a:xfrm>
            <a:off x="3704533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98183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</a:rPr>
              <a:t>0000</a:t>
            </a:r>
          </a:p>
        </p:txBody>
      </p:sp>
      <p:sp>
        <p:nvSpPr>
          <p:cNvPr id="21" name="Oval 20"/>
          <p:cNvSpPr/>
          <p:nvPr/>
        </p:nvSpPr>
        <p:spPr>
          <a:xfrm>
            <a:off x="5899048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92698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</a:rPr>
              <a:t>0000</a:t>
            </a:r>
          </a:p>
        </p:txBody>
      </p:sp>
      <p:sp>
        <p:nvSpPr>
          <p:cNvPr id="23" name="Oval 22"/>
          <p:cNvSpPr/>
          <p:nvPr/>
        </p:nvSpPr>
        <p:spPr>
          <a:xfrm>
            <a:off x="8093672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7322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</a:rPr>
              <a:t>0000</a:t>
            </a:r>
          </a:p>
        </p:txBody>
      </p:sp>
      <p:sp>
        <p:nvSpPr>
          <p:cNvPr id="25" name="Oval 24"/>
          <p:cNvSpPr/>
          <p:nvPr/>
        </p:nvSpPr>
        <p:spPr>
          <a:xfrm>
            <a:off x="10288194" y="3829050"/>
            <a:ext cx="393700" cy="393700"/>
          </a:xfrm>
          <a:prstGeom prst="ellipse">
            <a:avLst/>
          </a:prstGeom>
          <a:solidFill>
            <a:srgbClr val="F6F7F9"/>
          </a:solidFill>
          <a:ln w="1270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1844" y="3978275"/>
            <a:ext cx="406400" cy="952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00" b="0" i="0" spc="48">
                <a:solidFill>
                  <a:srgbClr val="64707A"/>
                </a:solidFill>
                <a:latin typeface="League Spartan SemiBold"/>
              </a:rPr>
              <a:t>0000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18422" y="5114627"/>
            <a:ext cx="1915122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</a:rPr>
              <a:t>Event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18422" y="5322888"/>
            <a:ext cx="191512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</a:rPr>
              <a:t>One line on what happened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8361" y="5114627"/>
            <a:ext cx="1915122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950" b="0" i="0" spc="-19">
                <a:solidFill>
                  <a:srgbClr val="64707A"/>
                </a:solidFill>
                <a:latin typeface="Poppins SemiBold"/>
              </a:rPr>
              <a:t>Event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58361" y="5322888"/>
            <a:ext cx="1915122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720" b="0" i="0">
                <a:solidFill>
                  <a:srgbClr val="64707A"/>
                </a:solidFill>
                <a:latin typeface="Urbanist"/>
              </a:rPr>
              <a:t>One line on what happened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445250"/>
            <a:ext cx="13245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</a:rPr>
              <a:t>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98314" y="6429375"/>
            <a:ext cx="48408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</a:rPr>
              <a:t>TIMELINE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564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564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842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</a:rPr>
              <a:t>What goes into the building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</a:rPr>
              <a:t>Six systems, one model, one contract.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3225800" cy="14900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04900" y="2269033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eea576cffb579d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800" y="2357933"/>
            <a:ext cx="177800" cy="177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943100" y="2256434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2332634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</a:rPr>
              <a:t>Structure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43100" y="2512911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Greenfield and brownfield CSA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3280766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4900" y="3847998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e617cb66fdff6d6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3800" y="3936898"/>
            <a:ext cx="177800" cy="1778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943100" y="3835400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43100" y="3911600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</a:rPr>
              <a:t>Electrical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43100" y="4091883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Up to 33kV substations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4859833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4900" y="5427066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9255e802559129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3800" y="5515966"/>
            <a:ext cx="177800" cy="177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943100" y="5414467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43100" y="5490667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</a:rPr>
              <a:t>Cleanroom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43100" y="5670950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ISO 3 to ISO 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00500" y="1701800"/>
            <a:ext cx="41910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33816" y="3049988"/>
            <a:ext cx="132427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0" i="0" spc="130">
                <a:solidFill>
                  <a:srgbClr val="64707A"/>
                </a:solidFill>
                <a:latin typeface="League Spartan SemiBold"/>
              </a:rPr>
              <a:t>ONE MODEL, SIX SYSTEMS</a:t>
            </a:r>
          </a:p>
        </p:txBody>
      </p:sp>
      <p:pic>
        <p:nvPicPr>
          <p:cNvPr id="30" name="Picture 29" descr="fab-s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1088" y="3291288"/>
            <a:ext cx="3809825" cy="123100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445000" y="4700092"/>
            <a:ext cx="3302000" cy="28416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37"/>
              </a:lnSpc>
            </a:pPr>
            <a:r>
              <a:rPr sz="819" b="0" i="0">
                <a:solidFill>
                  <a:srgbClr val="64707A"/>
                </a:solidFill>
                <a:latin typeface="Urbanist"/>
              </a:rPr>
              <a:t>Every system on this page is installed in the same building, by IAQ’s own crews, under one programme.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56600" y="1701800"/>
            <a:ext cx="3225800" cy="14900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851900" y="2269033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9dc1cdc1018a965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40800" y="2357933"/>
            <a:ext cx="177800" cy="1778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690100" y="2256434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0100" y="2332634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</a:rPr>
              <a:t>Process utilities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0100" y="2512911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Water, chemical, gas, exhaust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56600" y="3280766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851900" y="3847998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e45895930d4ba32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40800" y="3936898"/>
            <a:ext cx="177800" cy="1778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90100" y="3835400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</a:rPr>
              <a:t>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90100" y="3911600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</a:rPr>
              <a:t>Monitoring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0100" y="4091883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FMCS, BMS, PA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56600" y="4859833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851900" y="5427066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6" name="Picture 45" descr="1f8802463176fa4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40800" y="5515966"/>
            <a:ext cx="177800" cy="1778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690100" y="5414467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EC2326"/>
                </a:solidFill>
                <a:latin typeface="League Spartan SemiBold"/>
              </a:rPr>
              <a:t>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90100" y="5490667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101A2B"/>
                </a:solidFill>
                <a:latin typeface="Poppins SemiBold"/>
              </a:rPr>
              <a:t>Tool hookup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0100" y="5670950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Progressive install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6445250"/>
            <a:ext cx="1299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</a:rPr>
              <a:t>23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67231" y="6429375"/>
            <a:ext cx="71516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</a:rPr>
              <a:t>INFOGRAPHIC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564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5642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842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3225800" cy="14900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04900" y="2269033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82ae29156ce4de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800" y="2357933"/>
            <a:ext cx="177800" cy="177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943100" y="2256434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2332634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</a:rPr>
              <a:t>Part name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43100" y="2512911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What it covers, four words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3280766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4900" y="3847998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82ae29156ce4de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800" y="3936898"/>
            <a:ext cx="177800" cy="1778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943100" y="3835400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43100" y="3911600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</a:rPr>
              <a:t>Part name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43100" y="4091883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What it covers, four words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4859833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04900" y="5427066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82ae29156ce4de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800" y="5515966"/>
            <a:ext cx="177800" cy="177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943100" y="5414467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43100" y="5490667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</a:rPr>
              <a:t>Part name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43100" y="5670950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What it covers, four words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00500" y="1701800"/>
            <a:ext cx="41910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05044" y="3128569"/>
            <a:ext cx="138191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50" b="0" i="0" spc="130">
                <a:solidFill>
                  <a:srgbClr val="64707A"/>
                </a:solidFill>
                <a:latin typeface="League Spartan SemiBold"/>
              </a:rPr>
              <a:t>CAPTION OVER THE VISUAL</a:t>
            </a:r>
          </a:p>
        </p:txBody>
      </p:sp>
      <p:pic>
        <p:nvPicPr>
          <p:cNvPr id="30" name="Picture 29" descr="fab-sec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1088" y="3369869"/>
            <a:ext cx="3809825" cy="123100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482408" y="4778673"/>
            <a:ext cx="3227089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819" b="0" i="0">
                <a:solidFill>
                  <a:srgbClr val="64707A"/>
                </a:solidFill>
                <a:latin typeface="Urbanist"/>
              </a:rPr>
              <a:t>One sentence under the visual saying what the whole thing adds up to.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56600" y="1701800"/>
            <a:ext cx="3225800" cy="14900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851900" y="2269033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82ae29156ce4de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0800" y="2357933"/>
            <a:ext cx="177800" cy="1778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690100" y="2256434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0100" y="2332634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</a:rPr>
              <a:t>Part name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0100" y="2512911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What it covers, four words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56600" y="3280766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851900" y="3847998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0" name="Picture 39" descr="82ae29156ce4de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0800" y="3936898"/>
            <a:ext cx="177800" cy="1778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90100" y="3835400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</a:rPr>
              <a:t>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90100" y="3911600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</a:rPr>
              <a:t>Part name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0100" y="4091883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What it covers, four words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56600" y="4859833"/>
            <a:ext cx="3225800" cy="14901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851900" y="5427066"/>
            <a:ext cx="355600" cy="355600"/>
          </a:xfrm>
          <a:prstGeom prst="ellipse">
            <a:avLst/>
          </a:prstGeom>
          <a:solidFill>
            <a:srgbClr val="EC2326">
              <a:alpha val="7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6" name="Picture 45" descr="82ae29156ce4de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0800" y="5515966"/>
            <a:ext cx="177800" cy="1778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690100" y="5414467"/>
            <a:ext cx="175260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00" b="0" i="0" spc="120">
                <a:solidFill>
                  <a:srgbClr val="64707A"/>
                </a:solidFill>
                <a:latin typeface="League Spartan SemiBold"/>
              </a:rPr>
              <a:t>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90100" y="5490667"/>
            <a:ext cx="17526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80" b="0" i="0" spc="-20">
                <a:solidFill>
                  <a:srgbClr val="64707A"/>
                </a:solidFill>
                <a:latin typeface="Poppins SemiBold"/>
              </a:rPr>
              <a:t>Part name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0100" y="5670950"/>
            <a:ext cx="1752600" cy="114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20" b="0" i="0">
                <a:solidFill>
                  <a:srgbClr val="64707A"/>
                </a:solidFill>
                <a:latin typeface="Urbanist"/>
              </a:rPr>
              <a:t>What it covers, four words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6445250"/>
            <a:ext cx="12819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</a:rPr>
              <a:t>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67231" y="6429375"/>
            <a:ext cx="71516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</a:rPr>
              <a:t>INFOGRAPHIC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296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296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4169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</a:rPr>
              <a:t>Project reference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</a:rPr>
              <a:t>One project, what it was and what it took.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65278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infineon-kulim.jpg"/>
          <p:cNvPicPr>
            <a:picLocks noChangeAspect="1"/>
          </p:cNvPicPr>
          <p:nvPr/>
        </p:nvPicPr>
        <p:blipFill>
          <a:blip r:embed="rId3"/>
          <a:srcRect l="2896" r="2896"/>
          <a:stretch>
            <a:fillRect/>
          </a:stretch>
        </p:blipFill>
        <p:spPr>
          <a:xfrm>
            <a:off x="609600" y="1701800"/>
            <a:ext cx="6527800" cy="4648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91400" y="3057227"/>
            <a:ext cx="4191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</a:rPr>
              <a:t>KULIM, KEDAH · GREENFIELD WAFER FAB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1400" y="3228677"/>
            <a:ext cx="41910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42">
                <a:solidFill>
                  <a:srgbClr val="101A2B"/>
                </a:solidFill>
                <a:latin typeface="Poppins SemiBold"/>
              </a:rPr>
              <a:t>Infineon Kulim Wafer Fab 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94575" y="3638848"/>
            <a:ext cx="1127620" cy="165100"/>
          </a:xfrm>
          <a:prstGeom prst="rect">
            <a:avLst/>
          </a:prstGeom>
          <a:noFill/>
          <a:ln w="635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91400" y="3686473"/>
            <a:ext cx="1133970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EC2326"/>
                </a:solidFill>
                <a:latin typeface="League Spartan SemiBold"/>
              </a:rPr>
              <a:t>EPCC &amp; DESIGN BUILD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79345" y="3638848"/>
            <a:ext cx="1132681" cy="165100"/>
          </a:xfrm>
          <a:prstGeom prst="rect">
            <a:avLst/>
          </a:prstGeom>
          <a:noFill/>
          <a:ln w="635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76170" y="3686473"/>
            <a:ext cx="113903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EC2326"/>
                </a:solidFill>
                <a:latin typeface="League Spartan SemiBold"/>
              </a:rPr>
              <a:t>CLEANROOM SYSTEMS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69177" y="3638848"/>
            <a:ext cx="1118991" cy="165100"/>
          </a:xfrm>
          <a:prstGeom prst="rect">
            <a:avLst/>
          </a:prstGeom>
          <a:noFill/>
          <a:ln w="635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66002" y="3686473"/>
            <a:ext cx="1125341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EC2326"/>
                </a:solidFill>
                <a:latin typeface="League Spartan SemiBold"/>
              </a:rPr>
              <a:t>ACMV &amp; MECHANICAL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1400" y="4023023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</a:rPr>
              <a:t>DESCRIPTION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83600" y="3978573"/>
            <a:ext cx="3098800" cy="2781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0"/>
              </a:lnSpc>
            </a:pPr>
            <a:r>
              <a:rPr sz="850" b="0" i="0">
                <a:solidFill>
                  <a:srgbClr val="1E2A3D"/>
                </a:solidFill>
                <a:latin typeface="Urbanist"/>
              </a:rPr>
              <a:t>General contractor for WP06, KLM3 Expansion, 36,000 m² cleanroom area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91400" y="4414145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</a:rPr>
              <a:t>SCOPE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3600" y="4369695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E2A3D"/>
                </a:solidFill>
                <a:latin typeface="Urbanist"/>
              </a:rPr>
              <a:t>PCC for cleanroom and mechanical works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1400" y="4654156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</a:rPr>
              <a:t>CLEANROOM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83600" y="4609706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E2A3D"/>
                </a:solidFill>
                <a:latin typeface="Urbanist"/>
              </a:rPr>
              <a:t>ISO 4 to 7 · Class 10 to 100 to 10K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91400" y="4894161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</a:rPr>
              <a:t>COMPLETED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83600" y="4849711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E2A3D"/>
                </a:solidFill>
                <a:latin typeface="Urbanist"/>
              </a:rPr>
              <a:t>2024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6445250"/>
            <a:ext cx="13067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</a:rPr>
              <a:t>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23252" y="6429375"/>
            <a:ext cx="95914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</a:rPr>
              <a:t>IMAGE AND SPECS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2969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2969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4169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65278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infineon-kulim.jpg"/>
          <p:cNvPicPr>
            <a:picLocks noChangeAspect="1"/>
          </p:cNvPicPr>
          <p:nvPr/>
        </p:nvPicPr>
        <p:blipFill>
          <a:blip r:embed="rId3"/>
          <a:srcRect l="2896" r="2896"/>
          <a:stretch>
            <a:fillRect/>
          </a:stretch>
        </p:blipFill>
        <p:spPr>
          <a:xfrm>
            <a:off x="609600" y="1701800"/>
            <a:ext cx="6527800" cy="4648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91400" y="3132830"/>
            <a:ext cx="4191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50" b="0" i="0" spc="143">
                <a:solidFill>
                  <a:srgbClr val="64707A"/>
                </a:solidFill>
                <a:latin typeface="League Spartan SemiBold"/>
              </a:rPr>
              <a:t>LOCATION · WHAT KIND OF FACILITY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1400" y="3304280"/>
            <a:ext cx="41910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42">
                <a:solidFill>
                  <a:srgbClr val="64707A"/>
                </a:solidFill>
                <a:latin typeface="Poppins SemiBold"/>
              </a:rPr>
              <a:t>Project or product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94575" y="3714452"/>
            <a:ext cx="759917" cy="165100"/>
          </a:xfrm>
          <a:prstGeom prst="rect">
            <a:avLst/>
          </a:prstGeom>
          <a:noFill/>
          <a:ln w="635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91400" y="3762077"/>
            <a:ext cx="766267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64707A"/>
                </a:solidFill>
                <a:latin typeface="League Spartan SemiBold"/>
              </a:rPr>
              <a:t>SERVICE LINE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11642" y="3714452"/>
            <a:ext cx="759917" cy="165100"/>
          </a:xfrm>
          <a:prstGeom prst="rect">
            <a:avLst/>
          </a:prstGeom>
          <a:noFill/>
          <a:ln w="635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8467" y="3762077"/>
            <a:ext cx="766267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64707A"/>
                </a:solidFill>
                <a:latin typeface="League Spartan SemiBold"/>
              </a:rPr>
              <a:t>SERVICE 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8709" y="3714452"/>
            <a:ext cx="759917" cy="165100"/>
          </a:xfrm>
          <a:prstGeom prst="rect">
            <a:avLst/>
          </a:prstGeom>
          <a:noFill/>
          <a:ln w="6350">
            <a:solidFill>
              <a:srgbClr val="EC23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25534" y="3762077"/>
            <a:ext cx="766267" cy="69850"/>
          </a:xfrm>
          <a:prstGeom prst="rect">
            <a:avLst/>
          </a:prstGeom>
          <a:noFill/>
        </p:spPr>
        <p:txBody>
          <a:bodyPr wrap="none" lIns="76200" rIns="76200" tIns="0" bIns="0" anchor="ctr">
            <a:noAutofit/>
          </a:bodyPr>
          <a:lstStyle/>
          <a:p>
            <a:pPr algn="l"/>
            <a:r>
              <a:rPr sz="600" b="0" i="0" spc="96">
                <a:solidFill>
                  <a:srgbClr val="64707A"/>
                </a:solidFill>
                <a:latin typeface="League Spartan SemiBold"/>
              </a:rPr>
              <a:t>SERVICE 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1400" y="4098627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</a:rPr>
              <a:t>DESCRIPTION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83600" y="4054177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"/>
              </a:rPr>
              <a:t>One sentence on what the job was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91400" y="4338638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</a:rPr>
              <a:t>SCOPE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83600" y="4294188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"/>
              </a:rPr>
              <a:t>What was in the contract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1400" y="4578648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</a:rPr>
              <a:t>CLEANROOM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83600" y="4534198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"/>
              </a:rPr>
              <a:t>Class or grade, if it applies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91400" y="4818659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64707A"/>
                </a:solidFill>
                <a:latin typeface="League Spartan SemiBold"/>
              </a:rPr>
              <a:t>COMPLETED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83600" y="4774209"/>
            <a:ext cx="3098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"/>
              </a:rPr>
              <a:t>Year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6445250"/>
            <a:ext cx="13255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</a:rPr>
              <a:t>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23156" y="6429375"/>
            <a:ext cx="95914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</a:rPr>
              <a:t>IMAGE AND SPECS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15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15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2778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</a:rPr>
              <a:t>Indicative programme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</a:rPr>
              <a:t>Six quarters, from award to handover.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44800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</a:rPr>
              <a:t>Q1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1033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</a:rPr>
              <a:t>Q2 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57266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</a:rPr>
              <a:t>Q3 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13498" y="1701800"/>
            <a:ext cx="14563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</a:rPr>
              <a:t>Q4 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69833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</a:rPr>
              <a:t>Q1 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26066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</a:rPr>
              <a:t>Q2 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1943100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</a:rPr>
              <a:t>Engineering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2072583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</a:rPr>
              <a:t>CSA and MEP to IFC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44800" y="1976044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44800" y="1976044"/>
            <a:ext cx="291216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73688" y="2023669"/>
            <a:ext cx="319780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80">
                <a:solidFill>
                  <a:srgbClr val="FFFFFF"/>
                </a:solidFill>
                <a:latin typeface="League Spartan SemiBold"/>
              </a:rPr>
              <a:t>8 weeks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2762942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</a:rPr>
              <a:t>Long lead procurement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2892425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</a:rPr>
              <a:t>AHUs, switchgear, chillers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44800" y="2795886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18522" y="2795886"/>
            <a:ext cx="3494983" cy="165100"/>
          </a:xfrm>
          <a:prstGeom prst="rect">
            <a:avLst/>
          </a:prstGeom>
          <a:solidFill>
            <a:srgbClr val="EC2326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3582791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</a:rPr>
              <a:t>Civil and structural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3712267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</a:rPr>
              <a:t>Foundations to envelope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44800" y="3615728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883252" y="3615728"/>
            <a:ext cx="320407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4402633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</a:rPr>
              <a:t>Cleanroom build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4532116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</a:rPr>
              <a:t>Walls, ceilings, flooring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44800" y="4435577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630791" y="4435577"/>
            <a:ext cx="262126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5222481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</a:rPr>
              <a:t>Process utilities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5351958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</a:rPr>
              <a:t>Water, gas, chemical, exhaust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44800" y="5255419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04513" y="5255419"/>
            <a:ext cx="2621261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6042323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</a:rPr>
              <a:t>Testing and handover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171806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</a:rPr>
              <a:t>Classification and C&amp;Q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44800" y="6075261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543853" y="6075261"/>
            <a:ext cx="2038452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2642" y="6122886"/>
            <a:ext cx="386163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80">
                <a:solidFill>
                  <a:srgbClr val="FFFFFF"/>
                </a:solidFill>
                <a:latin typeface="League Spartan SemiBold"/>
              </a:rPr>
              <a:t>Handover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45250"/>
            <a:ext cx="130277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</a:rPr>
              <a:t>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31627" y="6429375"/>
            <a:ext cx="6506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</a:rPr>
              <a:t>PROGRAMME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157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157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2778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</a:rPr>
              <a:t>One line under it saying what the page is for.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44800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</a:rPr>
              <a:t>PERIOD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1033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</a:rPr>
              <a:t>PERIOD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57266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</a:rPr>
              <a:t>PERIOD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13498" y="1701800"/>
            <a:ext cx="145633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</a:rPr>
              <a:t>PERIOD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69833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</a:rPr>
              <a:t>PERIOD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26066" y="1701800"/>
            <a:ext cx="145623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620" b="0" i="0" spc="100">
                <a:solidFill>
                  <a:srgbClr val="64707A"/>
                </a:solidFill>
                <a:latin typeface="League Spartan SemiBold"/>
              </a:rPr>
              <a:t>PERIOD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1943100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</a:rPr>
              <a:t>Work package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2072583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</a:rPr>
              <a:t>What is in 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44800" y="1976044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44800" y="1976044"/>
            <a:ext cx="291216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4733" y="2023669"/>
            <a:ext cx="388741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80">
                <a:solidFill>
                  <a:srgbClr val="FFFFFF"/>
                </a:solidFill>
                <a:latin typeface="League Spartan SemiBold"/>
              </a:rPr>
              <a:t>Milestone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2762942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</a:rPr>
              <a:t>Work package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2892425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</a:rPr>
              <a:t>What is in 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44800" y="2795886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01331" y="2795886"/>
            <a:ext cx="2912167" cy="165100"/>
          </a:xfrm>
          <a:prstGeom prst="rect">
            <a:avLst/>
          </a:prstGeom>
          <a:solidFill>
            <a:srgbClr val="EC2326">
              <a:alpha val="2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3582791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</a:rPr>
              <a:t>Work package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3712267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</a:rPr>
              <a:t>What is in 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44800" y="3615728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756967" y="3615728"/>
            <a:ext cx="291216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4402633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</a:rPr>
              <a:t>Work package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4532116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</a:rPr>
              <a:t>What is in 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44800" y="4435577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13600" y="4435577"/>
            <a:ext cx="2912167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5222481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</a:rPr>
              <a:t>Work package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5351958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</a:rPr>
              <a:t>What is in 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44800" y="5255419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378228" y="5255419"/>
            <a:ext cx="233025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6042323"/>
            <a:ext cx="20955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01A2B"/>
                </a:solidFill>
                <a:latin typeface="Urbanist SemiBold"/>
              </a:rPr>
              <a:t>Work package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6171806"/>
            <a:ext cx="2095500" cy="101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>
                <a:solidFill>
                  <a:srgbClr val="64707A"/>
                </a:solidFill>
                <a:latin typeface="Urbanist"/>
              </a:rPr>
              <a:t>What is in it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44800" y="6075261"/>
            <a:ext cx="8737600" cy="165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52052" y="6075261"/>
            <a:ext cx="2330253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0064" y="6122886"/>
            <a:ext cx="388741" cy="69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580" b="0" i="0" spc="80">
                <a:solidFill>
                  <a:srgbClr val="FFFFFF"/>
                </a:solidFill>
                <a:latin typeface="League Spartan SemiBold"/>
              </a:rPr>
              <a:t>Milestone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445250"/>
            <a:ext cx="13245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</a:rPr>
              <a:t>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31627" y="6429375"/>
            <a:ext cx="6506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</a:rPr>
              <a:t>PROGRAMME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346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346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4664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</a:rPr>
              <a:t>Cleanroom classes we build 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</a:rPr>
              <a:t>What each grade means and where it is used.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</a:rPr>
              <a:t>CLASS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04122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04122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</a:rPr>
              <a:t>ISO GRADE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98644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98644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</a:rPr>
              <a:t>PARTICLES PER M³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93159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93159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</a:rPr>
              <a:t>TYPICAL USE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87681" y="1701800"/>
            <a:ext cx="2194719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87681" y="1816100"/>
            <a:ext cx="2194719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</a:rPr>
              <a:t>DELIVERED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01A2B"/>
                </a:solidFill>
                <a:latin typeface="Urbanist SemiBold"/>
              </a:rPr>
              <a:t>Class 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04122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04122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</a:rPr>
              <a:t>ISO 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98644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98644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</a:rPr>
              <a:t>≤ 1,000 at 0.1 µm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93159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93159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</a:rPr>
              <a:t>Advanced-node lithography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87681" y="2006600"/>
            <a:ext cx="2194719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87681" y="23041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C2326"/>
                </a:solidFill>
                <a:latin typeface="Urbanist SemiBold"/>
              </a:rPr>
              <a:t>Yes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600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01A2B"/>
                </a:solidFill>
                <a:latin typeface="Urbanist SemiBold"/>
              </a:rPr>
              <a:t>Class 10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4122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04122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</a:rPr>
              <a:t>ISO 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98644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98644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</a:rPr>
              <a:t>≤ 10,000 at 0.1 µm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93159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93159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</a:rPr>
              <a:t>Wafer fabrication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87681" y="2730500"/>
            <a:ext cx="2194719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87681" y="30280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C2326"/>
                </a:solidFill>
                <a:latin typeface="Urbanist SemiBold"/>
              </a:rPr>
              <a:t>Yes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600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01A2B"/>
                </a:solidFill>
                <a:latin typeface="Urbanist SemiBold"/>
              </a:rPr>
              <a:t>Class 100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04122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04122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</a:rPr>
              <a:t>ISO 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98644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998644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</a:rPr>
              <a:t>≤ 3,520 at 0.5 µm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193159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93159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</a:rPr>
              <a:t>Photomask, test and assembly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387681" y="3454400"/>
            <a:ext cx="2194719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87681" y="37519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C2326"/>
                </a:solidFill>
                <a:latin typeface="Urbanist SemiBold"/>
              </a:rPr>
              <a:t>Yes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9600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9600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01A2B"/>
                </a:solidFill>
                <a:latin typeface="Urbanist SemiBold"/>
              </a:rPr>
              <a:t>Class 1K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04122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04122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</a:rPr>
              <a:t>ISO 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98644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998644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</a:rPr>
              <a:t>≤ 35,200 at 0.5 µm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193159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193159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</a:rPr>
              <a:t>Medical device, parenteral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387681" y="4178300"/>
            <a:ext cx="2194719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87681" y="44758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C2326"/>
                </a:solidFill>
                <a:latin typeface="Urbanist SemiBold"/>
              </a:rPr>
              <a:t>Yes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9600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01A2B"/>
                </a:solidFill>
                <a:latin typeface="Urbanist SemiBold"/>
              </a:rPr>
              <a:t>Class 10K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804122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804122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</a:rPr>
              <a:t>ISO 7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998644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98644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</a:rPr>
              <a:t>≤ 352,000 at 0.5 µm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93159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93159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</a:rPr>
              <a:t>Pharmaceutical, GMP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387681" y="4902200"/>
            <a:ext cx="2194719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87681" y="51997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C2326"/>
                </a:solidFill>
                <a:latin typeface="Urbanist SemiBold"/>
              </a:rPr>
              <a:t>Yes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9600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9600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01A2B"/>
                </a:solidFill>
                <a:latin typeface="Urbanist SemiBold"/>
              </a:rPr>
              <a:t>Class 100K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804122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804122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</a:rPr>
              <a:t>ISO 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98644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998644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</a:rPr>
              <a:t>≤ 3.5 m at 0.5 µm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193159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93159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1E2A3D"/>
                </a:solidFill>
                <a:latin typeface="Urbanist"/>
              </a:rPr>
              <a:t>Packaging and support areas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387681" y="5626100"/>
            <a:ext cx="2194719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87681" y="59236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EC2326"/>
                </a:solidFill>
                <a:latin typeface="Urbanist SemiBold"/>
              </a:rPr>
              <a:t>Yes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9600" y="6445250"/>
            <a:ext cx="13255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</a:rP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270456" y="6429375"/>
            <a:ext cx="3119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</a:rPr>
              <a:t>TABLE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346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346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4664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</a:rPr>
              <a:t>COLUMN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04122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04122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</a:rPr>
              <a:t>COLUMN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98644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98644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</a:rPr>
              <a:t>COLUMN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93159" y="1701800"/>
            <a:ext cx="2194522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93159" y="1816100"/>
            <a:ext cx="2194522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</a:rPr>
              <a:t>COLUMN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87681" y="1701800"/>
            <a:ext cx="2194719" cy="3048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87681" y="1816100"/>
            <a:ext cx="2194719" cy="762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650" b="0" i="0" spc="117">
                <a:solidFill>
                  <a:srgbClr val="FFFFFF"/>
                </a:solidFill>
                <a:latin typeface="League Spartan SemiBold"/>
              </a:rPr>
              <a:t>COLUMN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</a:rPr>
              <a:t>Row label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04122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04122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</a:rPr>
              <a:t>Value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98644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98644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</a:rPr>
              <a:t>Value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93159" y="20066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93159" y="23041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</a:rPr>
              <a:t>Value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87681" y="2006600"/>
            <a:ext cx="2194719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87681" y="23041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</a:rPr>
              <a:t>Called out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600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</a:rPr>
              <a:t>Row label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4122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04122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</a:rPr>
              <a:t>Value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98644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98644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</a:rPr>
              <a:t>Value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93159" y="27305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93159" y="30280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</a:rPr>
              <a:t>Value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87681" y="2730500"/>
            <a:ext cx="2194719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87681" y="30280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</a:rPr>
              <a:t>Called out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600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</a:rPr>
              <a:t>Row label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04122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04122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</a:rPr>
              <a:t>Value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98644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998644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</a:rPr>
              <a:t>Value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193159" y="34544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93159" y="37519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</a:rPr>
              <a:t>Value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387681" y="3454400"/>
            <a:ext cx="2194719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87681" y="37519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</a:rPr>
              <a:t>Called out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9600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9600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</a:rPr>
              <a:t>Row label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04122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04122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</a:rPr>
              <a:t>Value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98644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998644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</a:rPr>
              <a:t>Value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193159" y="41783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193159" y="44758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</a:rPr>
              <a:t>Value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387681" y="4178300"/>
            <a:ext cx="2194719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87681" y="44758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</a:rPr>
              <a:t>Called out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9600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</a:rPr>
              <a:t>Row label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804122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804122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</a:rPr>
              <a:t>Value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998644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98644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</a:rPr>
              <a:t>Value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93159" y="4902200"/>
            <a:ext cx="2194522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93159" y="51997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</a:rPr>
              <a:t>Value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387681" y="4902200"/>
            <a:ext cx="2194719" cy="723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87681" y="51997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</a:rPr>
              <a:t>Called out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9600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9600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</a:rPr>
              <a:t>Row label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804122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804122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</a:rPr>
              <a:t>Value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98644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998644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</a:rPr>
              <a:t>Value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193159" y="5626100"/>
            <a:ext cx="2194522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93159" y="5923655"/>
            <a:ext cx="2194522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"/>
              </a:rPr>
              <a:t>Value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387681" y="5626100"/>
            <a:ext cx="2194719" cy="7239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87681" y="5923655"/>
            <a:ext cx="2194719" cy="127000"/>
          </a:xfrm>
          <a:prstGeom prst="rect">
            <a:avLst/>
          </a:prstGeom>
          <a:noFill/>
        </p:spPr>
        <p:txBody>
          <a:bodyPr wrap="none" lIns="139700" rIns="139700" tIns="0" bIns="0" anchor="ctr">
            <a:noAutofit/>
          </a:bodyPr>
          <a:lstStyle/>
          <a:p>
            <a:pPr algn="l"/>
            <a:r>
              <a:rPr sz="819" b="0" i="0">
                <a:solidFill>
                  <a:srgbClr val="64707A"/>
                </a:solidFill>
                <a:latin typeface="Urbanist SemiBold"/>
              </a:rPr>
              <a:t>Called out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9600" y="6445250"/>
            <a:ext cx="13275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</a:rP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270456" y="6429375"/>
            <a:ext cx="31194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</a:rPr>
              <a:t>TABLE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81000"/>
            <a:ext cx="23544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25450"/>
            <a:ext cx="23544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645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</a:rPr>
              <a:t>IAQ TECHNOLOGY INTERNATIONAL SDN BHD</a:t>
            </a:r>
          </a:p>
        </p:txBody>
      </p:sp>
      <p:pic>
        <p:nvPicPr>
          <p:cNvPr id="10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pic>
        <p:nvPicPr>
          <p:cNvPr id="11" name="Picture 10" descr="cover-site.jpg"/>
          <p:cNvPicPr>
            <a:picLocks noChangeAspect="1"/>
          </p:cNvPicPr>
          <p:nvPr/>
        </p:nvPicPr>
        <p:blipFill>
          <a:blip r:embed="rId3"/>
          <a:srcRect t="20848" b="2084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0" y="0"/>
            <a:ext cx="4826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4898034"/>
            <a:ext cx="3810000" cy="7545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592"/>
              </a:lnSpc>
            </a:pPr>
            <a:r>
              <a:rPr sz="2400" b="0" i="0" spc="-60">
                <a:solidFill>
                  <a:srgbClr val="FFFFFF"/>
                </a:solidFill>
                <a:latin typeface="Poppins SemiBold"/>
              </a:rPr>
              <a:t>The rooms that cannot fail.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746750"/>
            <a:ext cx="38100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E7EBF0"/>
                </a:solidFill>
                <a:latin typeface="Urbanist"/>
              </a:rPr>
              <a:t>Thirty-one years of cleanroom critical delivery, on three continents.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445250"/>
            <a:ext cx="109436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</a:rPr>
              <a:t>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90905" y="6429375"/>
            <a:ext cx="99149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</a:rPr>
              <a:t>FULL-BLEED IMAGE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81000"/>
            <a:ext cx="23544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25450"/>
            <a:ext cx="23544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645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</a:rPr>
              <a:t>IAQ TECHNOLOGY INTERNATIONAL SDN BHD</a:t>
            </a:r>
          </a:p>
        </p:txBody>
      </p:sp>
      <p:pic>
        <p:nvPicPr>
          <p:cNvPr id="10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pic>
        <p:nvPicPr>
          <p:cNvPr id="11" name="Picture 10" descr="cover-site.jpg"/>
          <p:cNvPicPr>
            <a:picLocks noChangeAspect="1"/>
          </p:cNvPicPr>
          <p:nvPr/>
        </p:nvPicPr>
        <p:blipFill>
          <a:blip r:embed="rId3"/>
          <a:srcRect t="20848" b="2084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0" y="0"/>
            <a:ext cx="4826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4898034"/>
            <a:ext cx="3810000" cy="75455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592"/>
              </a:lnSpc>
            </a:pPr>
            <a:r>
              <a:rPr sz="2400" b="0" i="0" spc="-60">
                <a:solidFill>
                  <a:srgbClr val="FFFFFF"/>
                </a:solidFill>
                <a:latin typeface="Poppins SemiBold"/>
              </a:rPr>
              <a:t>One line over the photograph.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746750"/>
            <a:ext cx="38100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E7EBF0"/>
                </a:solidFill>
                <a:latin typeface="Urbanist"/>
              </a:rPr>
              <a:t>A sentence under it, if the line needs support. Otherwise leave it out.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445250"/>
            <a:ext cx="1299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</a:rPr>
              <a:t>32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90809" y="6429375"/>
            <a:ext cx="99149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</a:rPr>
              <a:t>FULL-BLEED IMAGE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81000"/>
            <a:ext cx="23346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25450"/>
            <a:ext cx="23346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664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</a:rPr>
              <a:t>IAQ TECHNOLOGY INTERNATIONAL SDN BHD</a:t>
            </a:r>
          </a:p>
        </p:txBody>
      </p:sp>
      <p:pic>
        <p:nvPicPr>
          <p:cNvPr id="10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3014662"/>
            <a:ext cx="6985000" cy="584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300" b="0" i="0" spc="-99">
                <a:solidFill>
                  <a:srgbClr val="FFFFFF"/>
                </a:solidFill>
                <a:latin typeface="Poppins SemiBold"/>
              </a:rPr>
              <a:t>Let us look at your facility.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715048"/>
            <a:ext cx="45720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>
                <a:solidFill>
                  <a:srgbClr val="E7EBF0"/>
                </a:solidFill>
                <a:latin typeface="Urbanist"/>
              </a:rPr>
              <a:t>Tell us the class, the programme and the constraint. We will tell you what it takes.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140498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</a:rPr>
              <a:t>ENQUIRIES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1800" y="4096048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"/>
              </a:rPr>
              <a:t>business@iaqtechnology.com.my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380509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</a:rPr>
              <a:t>TELEPHONE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1800" y="4336059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"/>
              </a:rPr>
              <a:t>+603 5131 9999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4620520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</a:rPr>
              <a:t>HEAD OFFICE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01800" y="4576070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"/>
              </a:rPr>
              <a:t>12, Jalan Sungai Jeluh 32/192, Shah Alam, Selangor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4860531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</a:rPr>
              <a:t>ONLINE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1800" y="4816081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"/>
              </a:rPr>
              <a:t>iaqtechnology.com.my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445250"/>
            <a:ext cx="12749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</a:rPr>
              <a:t>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11211" y="6429375"/>
            <a:ext cx="47109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</a:rPr>
              <a:t>CLOSING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48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056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564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7200"/>
            <a:ext cx="1701800" cy="38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381000"/>
            <a:ext cx="233464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425450"/>
            <a:ext cx="233464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664" y="414338"/>
            <a:ext cx="2788742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E7EBF0"/>
                </a:solidFill>
                <a:latin typeface="League Spartan SemiBold"/>
              </a:rPr>
              <a:t>IAQ TECHNOLOGY INTERNATIONAL SDN BHD</a:t>
            </a:r>
          </a:p>
        </p:txBody>
      </p:sp>
      <p:pic>
        <p:nvPicPr>
          <p:cNvPr id="10" name="Picture 9" descr="iaq-logo-tag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3014662"/>
            <a:ext cx="6985000" cy="584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3300" b="0" i="0" spc="-99">
                <a:solidFill>
                  <a:srgbClr val="FFFFFF"/>
                </a:solidFill>
                <a:latin typeface="Poppins SemiBold"/>
              </a:rPr>
              <a:t>The closing line, six words or fewer.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715048"/>
            <a:ext cx="4572000" cy="152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000" b="0" i="0">
                <a:solidFill>
                  <a:srgbClr val="64707A"/>
                </a:solidFill>
                <a:latin typeface="Urbanist"/>
              </a:rPr>
              <a:t>A sentence saying what you want to happen next.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140498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</a:rPr>
              <a:t>LABEL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1800" y="4096048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"/>
              </a:rPr>
              <a:t>The detail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380509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</a:rPr>
              <a:t>LABEL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1800" y="4336059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"/>
              </a:rPr>
              <a:t>The detail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4620520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</a:rPr>
              <a:t>LABEL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01800" y="4576070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"/>
              </a:rPr>
              <a:t>The detail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4860531"/>
            <a:ext cx="9525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12">
                <a:solidFill>
                  <a:srgbClr val="96A2B2"/>
                </a:solidFill>
                <a:latin typeface="League Spartan SemiBold"/>
              </a:rPr>
              <a:t>LABEL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1800" y="4816081"/>
            <a:ext cx="4622800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E7EBF0"/>
                </a:solidFill>
                <a:latin typeface="Urbanist"/>
              </a:rPr>
              <a:t>The detail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445250"/>
            <a:ext cx="12581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 Medium"/>
              </a:rPr>
              <a:t>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11313" y="6429375"/>
            <a:ext cx="471094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96A2B2"/>
                </a:solidFill>
                <a:latin typeface="League Spartan"/>
              </a:rPr>
              <a:t>CLOSING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535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535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550" y="414338"/>
            <a:ext cx="1541564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</a:rPr>
              <a:t>PART 01 · THE COMPANY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</a:rPr>
              <a:t>What follows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</a:rPr>
              <a:t>Three parts, and what each one answers.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631950"/>
            <a:ext cx="3547466" cy="463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600" b="1" i="0" spc="-104">
                <a:solidFill>
                  <a:srgbClr val="EC2326"/>
                </a:solidFill>
                <a:latin typeface="Poppins"/>
              </a:rPr>
              <a:t>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2397722"/>
            <a:ext cx="3547466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2114550"/>
            <a:ext cx="3547466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101A2B"/>
                </a:solidFill>
                <a:latin typeface="Poppins SemiBold"/>
              </a:rPr>
              <a:t>The Company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2562822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EC2326"/>
                </a:solidFill>
                <a:latin typeface="League Spartan SemiBold"/>
              </a:rPr>
              <a:t>01.1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7900" y="2518372"/>
            <a:ext cx="3179166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E2A3D"/>
                </a:solidFill>
                <a:latin typeface="Urbanist Medium"/>
              </a:rPr>
              <a:t>Who we are and what we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277931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EC2326"/>
                </a:solidFill>
                <a:latin typeface="League Spartan SemiBold"/>
              </a:rPr>
              <a:t>01.2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900" y="2734869"/>
            <a:ext cx="3179166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E2A3D"/>
                </a:solidFill>
                <a:latin typeface="Urbanist Medium"/>
              </a:rPr>
              <a:t>The numbers behind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299580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EC2326"/>
                </a:solidFill>
                <a:latin typeface="League Spartan SemiBold"/>
              </a:rPr>
              <a:t>01.3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900" y="2951359"/>
            <a:ext cx="3179166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E2A3D"/>
                </a:solidFill>
                <a:latin typeface="Urbanist Medium"/>
              </a:rPr>
              <a:t>Thirty-one years of milestones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3212306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EC2326"/>
                </a:solidFill>
                <a:latin typeface="League Spartan SemiBold"/>
              </a:rPr>
              <a:t>01.4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900" y="3167856"/>
            <a:ext cx="3179166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E2A3D"/>
                </a:solidFill>
                <a:latin typeface="Urbanist Medium"/>
              </a:rPr>
              <a:t>Where we 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2166" y="1631950"/>
            <a:ext cx="3547567" cy="463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600" b="1" i="0" spc="-104">
                <a:solidFill>
                  <a:srgbClr val="EC2326"/>
                </a:solidFill>
                <a:latin typeface="Poppins"/>
              </a:rPr>
              <a:t>02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2166" y="2397722"/>
            <a:ext cx="3547567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22166" y="2114550"/>
            <a:ext cx="3547567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101A2B"/>
                </a:solidFill>
                <a:latin typeface="Poppins SemiBold"/>
              </a:rPr>
              <a:t>Project References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2166" y="2562822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EC2326"/>
                </a:solidFill>
                <a:latin typeface="League Spartan SemiBold"/>
              </a:rPr>
              <a:t>02.1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90466" y="2518372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E2A3D"/>
                </a:solidFill>
                <a:latin typeface="Urbanist Medium"/>
              </a:rPr>
              <a:t>How the portfolio breaks down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2166" y="277931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EC2326"/>
                </a:solidFill>
                <a:latin typeface="League Spartan SemiBold"/>
              </a:rPr>
              <a:t>02.2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466" y="2734869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E2A3D"/>
                </a:solidFill>
                <a:latin typeface="Urbanist Medium"/>
              </a:rPr>
              <a:t>Semiconductor and display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22166" y="299580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EC2326"/>
                </a:solidFill>
                <a:latin typeface="League Spartan SemiBold"/>
              </a:rPr>
              <a:t>02.3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90466" y="2951359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E2A3D"/>
                </a:solidFill>
                <a:latin typeface="Urbanist Medium"/>
              </a:rPr>
              <a:t>Data centre and EV battery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22166" y="3212306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EC2326"/>
                </a:solidFill>
                <a:latin typeface="League Spartan SemiBold"/>
              </a:rPr>
              <a:t>02.4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90466" y="3167856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E2A3D"/>
                </a:solidFill>
                <a:latin typeface="Urbanist Medium"/>
              </a:rPr>
              <a:t>The full reference list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34833" y="1631950"/>
            <a:ext cx="3547567" cy="463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600" b="1" i="0" spc="-104">
                <a:solidFill>
                  <a:srgbClr val="EC2326"/>
                </a:solidFill>
                <a:latin typeface="Poppins"/>
              </a:rPr>
              <a:t>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34833" y="2397722"/>
            <a:ext cx="3547567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34833" y="2114550"/>
            <a:ext cx="3547567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101A2B"/>
                </a:solidFill>
                <a:latin typeface="Poppins SemiBold"/>
              </a:rPr>
              <a:t>Safety, Quality and ESG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34833" y="2562822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EC2326"/>
                </a:solidFill>
                <a:latin typeface="League Spartan SemiBold"/>
              </a:rPr>
              <a:t>03.1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03133" y="2518372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E2A3D"/>
                </a:solidFill>
                <a:latin typeface="Urbanist Medium"/>
              </a:rPr>
              <a:t>The commitments we hold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34833" y="277931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EC2326"/>
                </a:solidFill>
                <a:latin typeface="League Spartan SemiBold"/>
              </a:rPr>
              <a:t>03.2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03133" y="2734869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E2A3D"/>
                </a:solidFill>
                <a:latin typeface="Urbanist Medium"/>
              </a:rPr>
              <a:t>Certifications and licences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34833" y="299580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EC2326"/>
                </a:solidFill>
                <a:latin typeface="League Spartan SemiBold"/>
              </a:rPr>
              <a:t>03.3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03133" y="2951359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E2A3D"/>
                </a:solidFill>
                <a:latin typeface="Urbanist Medium"/>
              </a:rPr>
              <a:t>Builder of the Year 2024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34833" y="3212306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EC2326"/>
                </a:solidFill>
                <a:latin typeface="League Spartan SemiBold"/>
              </a:rPr>
              <a:t>03.4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03133" y="3167856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1E2A3D"/>
                </a:solidFill>
                <a:latin typeface="Urbanist Medium"/>
              </a:rPr>
              <a:t>How we are assessed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6445250"/>
            <a:ext cx="128289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</a:rPr>
              <a:t>35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54867" y="6429375"/>
            <a:ext cx="4274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</a:rPr>
              <a:t>AGENDA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5350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5350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550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</a:rPr>
              <a:t>One line under it saying what the page is for.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631950"/>
            <a:ext cx="3547466" cy="463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600" b="1" i="0" spc="-104">
                <a:solidFill>
                  <a:srgbClr val="64707A"/>
                </a:solidFill>
                <a:latin typeface="Poppins"/>
              </a:rPr>
              <a:t>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2397722"/>
            <a:ext cx="3547466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2114550"/>
            <a:ext cx="3547466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64707A"/>
                </a:solidFill>
                <a:latin typeface="Poppins SemiBold"/>
              </a:rPr>
              <a:t>Part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2562822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</a:rPr>
              <a:t>01.1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7900" y="2518372"/>
            <a:ext cx="3179166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</a:rPr>
              <a:t>What this section answers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277931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</a:rPr>
              <a:t>01.2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900" y="2734869"/>
            <a:ext cx="3179166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</a:rPr>
              <a:t>What this section answers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299580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</a:rPr>
              <a:t>01.3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900" y="2951359"/>
            <a:ext cx="3179166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</a:rPr>
              <a:t>What this section answers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3212306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</a:rPr>
              <a:t>01.4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900" y="3167856"/>
            <a:ext cx="3179166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</a:rPr>
              <a:t>What this section answers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2166" y="1631950"/>
            <a:ext cx="3547567" cy="463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600" b="1" i="0" spc="-104">
                <a:solidFill>
                  <a:srgbClr val="64707A"/>
                </a:solidFill>
                <a:latin typeface="Poppins"/>
              </a:rPr>
              <a:t>02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2166" y="2397722"/>
            <a:ext cx="3547567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22166" y="2114550"/>
            <a:ext cx="3547567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64707A"/>
                </a:solidFill>
                <a:latin typeface="Poppins SemiBold"/>
              </a:rPr>
              <a:t>Part name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2166" y="2562822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</a:rPr>
              <a:t>02.1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90466" y="2518372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</a:rPr>
              <a:t>What this section answers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2166" y="277931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</a:rPr>
              <a:t>02.2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466" y="2734869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</a:rPr>
              <a:t>What this section answers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22166" y="299580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</a:rPr>
              <a:t>02.3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90466" y="2951359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</a:rPr>
              <a:t>What this section answers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22166" y="3212306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</a:rPr>
              <a:t>02.4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90466" y="3167856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</a:rPr>
              <a:t>What this section answers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34833" y="1631950"/>
            <a:ext cx="3547567" cy="463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2600" b="1" i="0" spc="-104">
                <a:solidFill>
                  <a:srgbClr val="64707A"/>
                </a:solidFill>
                <a:latin typeface="Poppins"/>
              </a:rPr>
              <a:t>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34833" y="2397722"/>
            <a:ext cx="3547567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34833" y="2114550"/>
            <a:ext cx="3547567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200" b="0" i="0" spc="-24">
                <a:solidFill>
                  <a:srgbClr val="64707A"/>
                </a:solidFill>
                <a:latin typeface="Poppins SemiBold"/>
              </a:rPr>
              <a:t>Part name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34833" y="2562822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</a:rPr>
              <a:t>03.1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03133" y="2518372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</a:rPr>
              <a:t>What this section answers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34833" y="277931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</a:rPr>
              <a:t>03.2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03133" y="2734869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</a:rPr>
              <a:t>What this section answers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34833" y="2995809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</a:rPr>
              <a:t>03.3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03133" y="2951359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</a:rPr>
              <a:t>What this section answers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34833" y="3212306"/>
            <a:ext cx="2794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00">
                <a:solidFill>
                  <a:srgbClr val="64707A"/>
                </a:solidFill>
                <a:latin typeface="League Spartan SemiBold"/>
              </a:rPr>
              <a:t>03.4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03133" y="3167856"/>
            <a:ext cx="3179267" cy="127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50" b="0" i="0">
                <a:solidFill>
                  <a:srgbClr val="64707A"/>
                </a:solidFill>
                <a:latin typeface="Urbanist Medium"/>
              </a:rPr>
              <a:t>What this section answers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6445250"/>
            <a:ext cx="130175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</a:rPr>
              <a:t>36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54969" y="6429375"/>
            <a:ext cx="42743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</a:rPr>
              <a:t>AGENDA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544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544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645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</a:rPr>
              <a:t>In their words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</a:rPr>
              <a:t>What the people who hired us say about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946400"/>
            <a:ext cx="7112000" cy="806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4500" b="1" i="0">
                <a:solidFill>
                  <a:srgbClr val="EC2326"/>
                </a:solidFill>
                <a:latin typeface="Poppins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683000"/>
            <a:ext cx="7112000" cy="6381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75"/>
              </a:lnSpc>
            </a:pPr>
            <a:r>
              <a:rPr sz="1900" b="0" i="0" spc="-38">
                <a:solidFill>
                  <a:srgbClr val="101A2B"/>
                </a:solidFill>
                <a:latin typeface="Poppins SemiBold"/>
              </a:rPr>
              <a:t>They self-performed the packages that usually slip. That is the whole reason the fab opened on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4483100"/>
            <a:ext cx="71120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4622800"/>
            <a:ext cx="71120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101A2B"/>
                </a:solidFill>
                <a:latin typeface="Urbanist SemiBold"/>
              </a:rPr>
              <a:t>Name of the person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794250"/>
            <a:ext cx="7112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64707A"/>
                </a:solidFill>
                <a:latin typeface="League Spartan SemiBold"/>
              </a:rPr>
              <a:t>ROLE · CLIENT ORGANISATION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26400" y="1701800"/>
            <a:ext cx="35560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refs-crew.jpg"/>
          <p:cNvPicPr>
            <a:picLocks noChangeAspect="1"/>
          </p:cNvPicPr>
          <p:nvPr/>
        </p:nvPicPr>
        <p:blipFill>
          <a:blip r:embed="rId3"/>
          <a:srcRect l="5883" r="5883"/>
          <a:stretch>
            <a:fillRect/>
          </a:stretch>
        </p:blipFill>
        <p:spPr>
          <a:xfrm>
            <a:off x="8026400" y="1701800"/>
            <a:ext cx="3556000" cy="4648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9600" y="6445250"/>
            <a:ext cx="127692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</a:rPr>
              <a:t>37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26902" y="6429375"/>
            <a:ext cx="35549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</a:rPr>
              <a:t>QUOTE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35445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35445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645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</a:rPr>
              <a:t>One line under it saying what the page is for.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946400"/>
            <a:ext cx="7112000" cy="806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4500" b="1" i="0">
                <a:solidFill>
                  <a:srgbClr val="64707A"/>
                </a:solidFill>
                <a:latin typeface="Poppins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683000"/>
            <a:ext cx="7112000" cy="6381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375"/>
              </a:lnSpc>
            </a:pPr>
            <a:r>
              <a:rPr sz="1900" b="0" i="0" spc="-38">
                <a:solidFill>
                  <a:srgbClr val="64707A"/>
                </a:solidFill>
                <a:latin typeface="Poppins SemiBold"/>
              </a:rPr>
              <a:t>The quotation, two lines at most. Cut it back until only the part worth repeating is left.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4483100"/>
            <a:ext cx="7112000" cy="127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4622800"/>
            <a:ext cx="7112000" cy="139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00" b="0" i="0">
                <a:solidFill>
                  <a:srgbClr val="64707A"/>
                </a:solidFill>
                <a:latin typeface="Urbanist SemiBold"/>
              </a:rPr>
              <a:t>Name of the person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794250"/>
            <a:ext cx="711200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64707A"/>
                </a:solidFill>
                <a:latin typeface="League Spartan SemiBold"/>
              </a:rPr>
              <a:t>ROLE · ORGANISATION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26400" y="1701800"/>
            <a:ext cx="3556000" cy="4648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refs-crew.jpg"/>
          <p:cNvPicPr>
            <a:picLocks noChangeAspect="1"/>
          </p:cNvPicPr>
          <p:nvPr/>
        </p:nvPicPr>
        <p:blipFill>
          <a:blip r:embed="rId3"/>
          <a:srcRect l="5883" r="5883"/>
          <a:stretch>
            <a:fillRect/>
          </a:stretch>
        </p:blipFill>
        <p:spPr>
          <a:xfrm>
            <a:off x="8026400" y="1701800"/>
            <a:ext cx="3556000" cy="4648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9600" y="6445250"/>
            <a:ext cx="12997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</a:rPr>
              <a:t>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26800" y="6429375"/>
            <a:ext cx="355498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</a:rPr>
              <a:t>QUOTE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965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965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858" y="414338"/>
            <a:ext cx="2056505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</a:rPr>
              <a:t>PART 02 · PROJECT REFERENCES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EC2326"/>
                </a:solidFill>
                <a:latin typeface="Poppins SemiBold"/>
              </a:rPr>
              <a:t>What changed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</a:rPr>
              <a:t>The same hall, before handover and in production.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5403850" cy="41746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701800"/>
            <a:ext cx="567830" cy="1905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1758950"/>
            <a:ext cx="567830" cy="76200"/>
          </a:xfrm>
          <a:prstGeom prst="rect">
            <a:avLst/>
          </a:prstGeom>
          <a:noFill/>
        </p:spPr>
        <p:txBody>
          <a:bodyPr wrap="none" lIns="101600" rIns="10160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FFFFFF"/>
                </a:solidFill>
                <a:latin typeface="League Spartan SemiBold"/>
              </a:rPr>
              <a:t>BEFORE</a:t>
            </a:r>
          </a:p>
        </p:txBody>
      </p:sp>
      <p:pic>
        <p:nvPicPr>
          <p:cNvPr id="13" name="Picture 12" descr="about-facility.jpg"/>
          <p:cNvPicPr>
            <a:picLocks noChangeAspect="1"/>
          </p:cNvPicPr>
          <p:nvPr/>
        </p:nvPicPr>
        <p:blipFill>
          <a:blip r:embed="rId3"/>
          <a:srcRect l="17639" r="17639"/>
          <a:stretch>
            <a:fillRect/>
          </a:stretch>
        </p:blipFill>
        <p:spPr>
          <a:xfrm>
            <a:off x="609600" y="1701800"/>
            <a:ext cx="5403850" cy="41746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9600" y="5971680"/>
            <a:ext cx="540385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0" i="0" spc="-22">
                <a:solidFill>
                  <a:srgbClr val="101A2B"/>
                </a:solidFill>
                <a:latin typeface="Poppins SemiBold"/>
              </a:rPr>
              <a:t>Shell and 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215463"/>
            <a:ext cx="5403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</a:rPr>
              <a:t>Structure complete, services roughed in, no classification yet.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8550" y="1701800"/>
            <a:ext cx="5403850" cy="41746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8550" y="1701800"/>
            <a:ext cx="499370" cy="1905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8550" y="1758950"/>
            <a:ext cx="499370" cy="76200"/>
          </a:xfrm>
          <a:prstGeom prst="rect">
            <a:avLst/>
          </a:prstGeom>
          <a:noFill/>
        </p:spPr>
        <p:txBody>
          <a:bodyPr wrap="none" lIns="101600" rIns="10160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FFFFFF"/>
                </a:solidFill>
                <a:latin typeface="League Spartan SemiBold"/>
              </a:rPr>
              <a:t>AFTER</a:t>
            </a:r>
          </a:p>
        </p:txBody>
      </p:sp>
      <p:pic>
        <p:nvPicPr>
          <p:cNvPr id="19" name="Picture 18" descr="glance-cleanroom.jpg"/>
          <p:cNvPicPr>
            <a:picLocks noChangeAspect="1"/>
          </p:cNvPicPr>
          <p:nvPr/>
        </p:nvPicPr>
        <p:blipFill>
          <a:blip r:embed="rId4"/>
          <a:srcRect t="15233" b="15233"/>
          <a:stretch>
            <a:fillRect/>
          </a:stretch>
        </p:blipFill>
        <p:spPr>
          <a:xfrm>
            <a:off x="6178550" y="1701800"/>
            <a:ext cx="5403850" cy="417463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78550" y="5971680"/>
            <a:ext cx="540385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0" i="0" spc="-22">
                <a:solidFill>
                  <a:srgbClr val="101A2B"/>
                </a:solidFill>
                <a:latin typeface="Poppins SemiBold"/>
              </a:rPr>
              <a:t>ISO 5 in production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8550" y="6215463"/>
            <a:ext cx="5403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</a:rPr>
              <a:t>Classified, commissioned and handed over to the client’s team.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445250"/>
            <a:ext cx="130073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</a:rPr>
              <a:t>39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69080" y="6429375"/>
            <a:ext cx="101332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</a:rPr>
              <a:t>BEFORE AND AFTER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381000"/>
            <a:ext cx="259658" cy="1651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25450"/>
            <a:ext cx="259658" cy="82550"/>
          </a:xfrm>
          <a:prstGeom prst="rect">
            <a:avLst/>
          </a:prstGeom>
          <a:noFill/>
        </p:spPr>
        <p:txBody>
          <a:bodyPr wrap="none" lIns="69850" rIns="69850" tIns="0" bIns="0" anchor="ctr">
            <a:noAutofit/>
          </a:bodyPr>
          <a:lstStyle/>
          <a:p>
            <a:pPr algn="l"/>
            <a:r>
              <a:rPr sz="700" b="0" i="0" spc="70">
                <a:solidFill>
                  <a:srgbClr val="FFFFFF"/>
                </a:solidFill>
                <a:latin typeface="League Spartan SemiBold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858" y="414338"/>
            <a:ext cx="957859" cy="889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780" b="0" i="0" spc="186">
                <a:solidFill>
                  <a:srgbClr val="101A2B"/>
                </a:solidFill>
                <a:latin typeface="League Spartan SemiBold"/>
              </a:rPr>
              <a:t>SECTION NAME</a:t>
            </a:r>
          </a:p>
        </p:txBody>
      </p:sp>
      <p:pic>
        <p:nvPicPr>
          <p:cNvPr id="6" name="Picture 5" descr="iaq-logo-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7400" y="304800"/>
            <a:ext cx="635000" cy="317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438872"/>
            <a:ext cx="10972800" cy="6350"/>
          </a:xfrm>
          <a:prstGeom prst="rect">
            <a:avLst/>
          </a:prstGeom>
          <a:solidFill>
            <a:srgbClr val="D5DBE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76835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700" b="0" i="0" spc="-34">
                <a:solidFill>
                  <a:srgbClr val="64707A"/>
                </a:solidFill>
                <a:latin typeface="Poppins SemiBold"/>
              </a:rPr>
              <a:t>Page title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118197"/>
            <a:ext cx="6985000" cy="1460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950" b="0" i="0">
                <a:solidFill>
                  <a:srgbClr val="64707A"/>
                </a:solidFill>
                <a:latin typeface="Urbanist"/>
              </a:rPr>
              <a:t>One line under it saying what the page is for.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701800"/>
            <a:ext cx="5403850" cy="41746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701800"/>
            <a:ext cx="567830" cy="190500"/>
          </a:xfrm>
          <a:prstGeom prst="rect">
            <a:avLst/>
          </a:prstGeom>
          <a:solidFill>
            <a:srgbClr val="101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1758950"/>
            <a:ext cx="567830" cy="76200"/>
          </a:xfrm>
          <a:prstGeom prst="rect">
            <a:avLst/>
          </a:prstGeom>
          <a:noFill/>
        </p:spPr>
        <p:txBody>
          <a:bodyPr wrap="none" lIns="101600" rIns="10160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FFFFFF"/>
                </a:solidFill>
                <a:latin typeface="League Spartan SemiBold"/>
              </a:rPr>
              <a:t>BEFORE</a:t>
            </a:r>
          </a:p>
        </p:txBody>
      </p:sp>
      <p:pic>
        <p:nvPicPr>
          <p:cNvPr id="13" name="Picture 12" descr="about-facility.jpg"/>
          <p:cNvPicPr>
            <a:picLocks noChangeAspect="1"/>
          </p:cNvPicPr>
          <p:nvPr/>
        </p:nvPicPr>
        <p:blipFill>
          <a:blip r:embed="rId3"/>
          <a:srcRect l="17639" r="17639"/>
          <a:stretch>
            <a:fillRect/>
          </a:stretch>
        </p:blipFill>
        <p:spPr>
          <a:xfrm>
            <a:off x="609600" y="1701800"/>
            <a:ext cx="5403850" cy="41746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9600" y="5971680"/>
            <a:ext cx="540385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0" i="0" spc="-22">
                <a:solidFill>
                  <a:srgbClr val="64707A"/>
                </a:solidFill>
                <a:latin typeface="Poppins SemiBold"/>
              </a:rPr>
              <a:t>What it was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215463"/>
            <a:ext cx="5403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</a:rPr>
              <a:t>One or two sentences on the state it started 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8550" y="1701800"/>
            <a:ext cx="5403850" cy="41746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8550" y="1701800"/>
            <a:ext cx="499370" cy="190500"/>
          </a:xfrm>
          <a:prstGeom prst="rect">
            <a:avLst/>
          </a:prstGeom>
          <a:solidFill>
            <a:srgbClr val="EC23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8550" y="1758950"/>
            <a:ext cx="499370" cy="76200"/>
          </a:xfrm>
          <a:prstGeom prst="rect">
            <a:avLst/>
          </a:prstGeom>
          <a:noFill/>
        </p:spPr>
        <p:txBody>
          <a:bodyPr wrap="none" lIns="101600" rIns="101600" tIns="0" bIns="0" anchor="ctr">
            <a:noAutofit/>
          </a:bodyPr>
          <a:lstStyle/>
          <a:p>
            <a:pPr algn="l"/>
            <a:r>
              <a:rPr sz="620" b="0" i="0" spc="125">
                <a:solidFill>
                  <a:srgbClr val="FFFFFF"/>
                </a:solidFill>
                <a:latin typeface="League Spartan SemiBold"/>
              </a:rPr>
              <a:t>AFTER</a:t>
            </a:r>
          </a:p>
        </p:txBody>
      </p:sp>
      <p:pic>
        <p:nvPicPr>
          <p:cNvPr id="19" name="Picture 18" descr="glance-cleanroom.jpg"/>
          <p:cNvPicPr>
            <a:picLocks noChangeAspect="1"/>
          </p:cNvPicPr>
          <p:nvPr/>
        </p:nvPicPr>
        <p:blipFill>
          <a:blip r:embed="rId4"/>
          <a:srcRect t="15233" b="15233"/>
          <a:stretch>
            <a:fillRect/>
          </a:stretch>
        </p:blipFill>
        <p:spPr>
          <a:xfrm>
            <a:off x="6178550" y="1701800"/>
            <a:ext cx="5403850" cy="417463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78550" y="5971680"/>
            <a:ext cx="5403850" cy="196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1100" b="0" i="0" spc="-22">
                <a:solidFill>
                  <a:srgbClr val="64707A"/>
                </a:solidFill>
                <a:latin typeface="Poppins SemiBold"/>
              </a:rPr>
              <a:t>What it became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8550" y="6215463"/>
            <a:ext cx="5403850" cy="120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800" b="0" i="0">
                <a:solidFill>
                  <a:srgbClr val="64707A"/>
                </a:solidFill>
                <a:latin typeface="Urbanist"/>
              </a:rPr>
              <a:t>One or two sentences on the state it ended in.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445250"/>
            <a:ext cx="13107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 Medium"/>
              </a:rPr>
              <a:t>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69080" y="6429375"/>
            <a:ext cx="1013320" cy="76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/>
            <a:r>
              <a:rPr sz="680" b="0" i="0" spc="148">
                <a:solidFill>
                  <a:srgbClr val="64707A"/>
                </a:solidFill>
                <a:latin typeface="League Spartan"/>
              </a:rPr>
              <a:t>BEFORE AND AFTER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