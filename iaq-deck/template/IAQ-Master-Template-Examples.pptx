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embeddedFontLst>
    <p:embeddedFont>
      <p:font typeface="League Spartan" pitchFamily="34" charset="0"/>
      <p:regular r:id="rId42"/>
    </p:embeddedFont>
    <p:embeddedFont>
      <p:font typeface="League Spartan Medium" pitchFamily="34" charset="0"/>
      <p:regular r:id="rId43"/>
    </p:embeddedFont>
    <p:embeddedFont>
      <p:font typeface="League Spartan SemiBold" pitchFamily="34" charset="0"/>
      <p:regular r:id="rId44"/>
    </p:embeddedFont>
    <p:embeddedFont>
      <p:font typeface="Poppins Medium" pitchFamily="34" charset="0"/>
      <p:regular r:id="rId45"/>
    </p:embeddedFont>
    <p:embeddedFont>
      <p:font typeface="Poppins SemiBold" pitchFamily="34" charset="0"/>
      <p:regular r:id="rId46"/>
    </p:embeddedFont>
    <p:embeddedFont>
      <p:font typeface="Poppins" pitchFamily="34" charset="0"/>
      <p:bold r:id="rId47"/>
    </p:embeddedFont>
    <p:embeddedFont>
      <p:font typeface="Urbanist" pitchFamily="34" charset="0"/>
      <p:regular r:id="rId48"/>
    </p:embeddedFont>
    <p:embeddedFont>
      <p:font typeface="Urbanist Medium" pitchFamily="34" charset="0"/>
      <p:regular r:id="rId49"/>
    </p:embeddedFont>
    <p:embeddedFont>
      <p:font typeface="Urbanist SemiBold" pitchFamily="34" charset="0"/>
      <p:regular r:id="rId5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font" Target="fonts/font5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Master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Seventeen layouts to build a new slide from. Each one is shown filled, then empty with a line in every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30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40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deck or a chapter of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55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Section divider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135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new part of the deck.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30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240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argument, said plainly, with a photograph.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55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35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figures that carry the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30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Icon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set of capabilities, services or principles.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55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35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options read side by side.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0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reporting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240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reports to whom, three levels at most.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55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flat team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35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team of peers, no hierarchy implied.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30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group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240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holding company and the businesses under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55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225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35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Stages that run in order, start to finish.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Timeline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240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Dates in order, with what happened at each.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855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Infographic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135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visual in the middle, the parts around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Image and specs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240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project or product, pictured and specified.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855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225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Programme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135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 packages against a calendar.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Rows and columns, where the detail has to be exact.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855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Full-bleed image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135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one photograph carry the page.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330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End the deck: the ask, and how to reach you.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6445250"/>
            <a:ext cx="13811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2388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CAPABILITY STATEMENT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19533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Engineering the facilities advanced industry runs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35761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Cleanroom critical delivery for semiconductor, data centre, EV battery, pharmaceutical and energy.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95171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PREPARED FOR · CLIENT NAME · OCTOBER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527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10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Why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case in one line, and what stands behind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Thirty-one years of building the rooms that cannot fail.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Cleanrooms, process utilities and tool hookup for the industries where contamination control, precision and compliance are absolute. Self-performed, under one contract.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35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5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8973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The year in four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the work went in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100" b="0" i="0" spc="-156">
                <a:solidFill>
                  <a:srgbClr val="EC2326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Projects completed since 1995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100" b="0" i="0" spc="-156">
                <a:solidFill>
                  <a:srgbClr val="EC2326"/>
                </a:solidFill>
                <a:latin typeface="Urbanist Medium"/>
                <a:ea typeface="Urbanist Medium"/>
                <a:cs typeface="Urbanist Medium"/>
              </a:rPr>
              <a:t>mil 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Cleanroom built-up area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1100" b="0" i="0" spc="-156">
                <a:solidFill>
                  <a:srgbClr val="EC2326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Engineers, supervisors and crew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REACH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Offices across three continents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31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625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What we self-perform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packages under one contract.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Engineering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CSA and MEP, to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07fcf59285bd0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Electrical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47fea6dfa5845a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Cleanroom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e7661d589fb3b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Commissioning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Testing and handover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1574d790f500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Maintenance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c5d582a2d28529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Energy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Carbon and cost reduction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53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Three ways to contract the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same crews, scoped three ways.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MODEL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EPCM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Client holds the trade contracts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IAQ manages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Fastest route to a fab ramp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Best where scope is still moving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MODEL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EPCC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from conception to operation.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IAQ holds every contract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One programme, one accountability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Fixed scope, fixed completion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Best where the brief is settled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MODEL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and facility management after handover.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Planned and reactive maintenance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Energy and carbon reduction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Operates the asset for its life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Best where uptime decides 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9138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641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How the company is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Board, executive and the four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8452" y="3302000"/>
            <a:ext cx="495002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CHAIRMAN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41366" y="3390900"/>
            <a:ext cx="1109167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Board of Directors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259" y="3587750"/>
            <a:ext cx="103148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Governance and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4680" y="4349750"/>
            <a:ext cx="100816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MANAGING DIRECTOR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1238" y="4438650"/>
            <a:ext cx="615156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Group 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6016" y="4635500"/>
            <a:ext cx="96549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Operations and delivery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8934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5761" y="4438650"/>
            <a:ext cx="74235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1548" y="4635500"/>
            <a:ext cx="79077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and method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7059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DIRECTOR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3941" y="4438650"/>
            <a:ext cx="78224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Commercial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5563" y="4635500"/>
            <a:ext cx="93890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Cost, contracts and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35184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DIRECTOR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72548" y="4438650"/>
            <a:ext cx="981272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HSE and 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48952" y="4635500"/>
            <a:ext cx="82837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Standards and audit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677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076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677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The project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the client deals with, day to 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6906" y="4111625"/>
            <a:ext cx="89475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PROJECT DIRECTOR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198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Name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1845" y="4486275"/>
            <a:ext cx="90487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Single point of contact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805" y="4111625"/>
            <a:ext cx="1222572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CONSTRUCTION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5009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Name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8314" y="4486275"/>
            <a:ext cx="8435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Site and programme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28195" y="4111625"/>
            <a:ext cx="735508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LEAD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50820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Name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00516" y="4486275"/>
            <a:ext cx="79077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and method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50683" y="4111625"/>
            <a:ext cx="882155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QA / QC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46631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Name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4713" y="4486275"/>
            <a:ext cx="9140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Inspection and records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153256" y="4111625"/>
            <a:ext cx="66863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HSE MANAGER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2436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Name here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72884" y="4486275"/>
            <a:ext cx="8293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Safety on every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101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4066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The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holding company, four operating businesses.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5756" y="2937866"/>
            <a:ext cx="2680494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0856" y="3153766"/>
            <a:ext cx="235029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Technology International Sdn Bhd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7683" y="3350616"/>
            <a:ext cx="13166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Incorporated 1995 · 200001031412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COMPANY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IAQ Solutions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Cleanroom systems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CSA and MEP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Malaysia and Singapore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COMPANY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IAQ Utility Solutions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Process utilities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Tool hookup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packages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COMPANY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IAQ Energy Facility Management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District cooling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Chiller plants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 and maintain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COMPANY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IAQ Europe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Gigafactories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Sweden, Germany, France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097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How a package is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Five stages, one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package runs the same five stages, whoever holds the contract.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b59dede89695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97" y="4276528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8283" y="4538764"/>
            <a:ext cx="99139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and consultation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b18bc6858a1e7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973" y="4276528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8206" y="4538764"/>
            <a:ext cx="108346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and supply chain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8109bd0175b0f1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9417" y="4276528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3767" y="4538764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565a9b79f15cc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0145" y="4276528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3928" y="4538764"/>
            <a:ext cx="123597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and handover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6ad6a97460030d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92405" y="4276528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5194" y="4538764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8036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8036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Thirty-one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turns that made the company.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as a cleanroom specialist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Largest DCC 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KLCC district cooling, a national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Three continents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India, the United States and Ireland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Class 10 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Western Digital PJ, a first in the region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Four fab expansions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SilTerra, Soitec, Infineon, Microsoft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212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What goes into the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systems, one model, one contract.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ea576cffb579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617cb66fdff6d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Electrical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9255e802559129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Cleanroom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33816" y="3049988"/>
            <a:ext cx="132427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ONE MODEL, SIX SYSTEMS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system on this page is installed in the same building, by IAQ’s own crews, under one programme.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9dc1cdc1018a965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utilities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gas, exhaust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e45895930d4ba32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Monitoring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1f8802463176fa4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 hookup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install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28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Project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project, what it was and what it took.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057227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228677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638848"/>
            <a:ext cx="1127620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686473"/>
            <a:ext cx="1133970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9345" y="3638848"/>
            <a:ext cx="1132681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6170" y="3686473"/>
            <a:ext cx="11390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69177" y="3638848"/>
            <a:ext cx="1118991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6002" y="3686473"/>
            <a:ext cx="112534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23023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3978573"/>
            <a:ext cx="3098800" cy="2781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0"/>
              </a:lnSpc>
            </a:pPr>
            <a:r>
              <a:rPr sz="8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General contractor for WP06, KLM3 Expansion, 36,000 m² cleanroom area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414145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369695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PCC for cleanroom and mechanical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654156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609706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4 to 7 · Class 10 to 100 to 10K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9416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849711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306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156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Indicative 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quarters, from award to handover.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Q1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Q2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Q3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Q4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Q1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Q2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Engineering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CSA and MEP to IFC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3688" y="2023669"/>
            <a:ext cx="31978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8 weeks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Long lead procurement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AHUs, switchgear, chillers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18522" y="2795886"/>
            <a:ext cx="3494983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Civil and structural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Foundations to envelope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83252" y="3615728"/>
            <a:ext cx="3204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Cleanroom build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Walls, ceilings, flooring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30791" y="4435577"/>
            <a:ext cx="26212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Process utilities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gas, chemical, exhaust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04513" y="5255419"/>
            <a:ext cx="26212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Testing and handover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Classification and C&amp;Q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43853" y="6075261"/>
            <a:ext cx="20384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2642" y="6122886"/>
            <a:ext cx="38616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Handover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302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Cleanroom classes we build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each grade means and where it is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ISO 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PARTICLES PER M³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TYPICAL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1,000 at 0.1 µm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Advanced-node lithography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10,000 at 0.1 µm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Wafer fabrication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3,520 at 0.5 µm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Photomask, test and assembly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35,200 at 0.5 µm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Medical device, parenteral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10K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352,000 at 0.5 µm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Pharmaceutical, GMP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Class 100K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ISO 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≤ 3.5 m at 0.5 µm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Packaging and support areas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Yes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rooms that cannot fail.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Thirty-one years of cleanroom critical delivery, on three continents.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809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Let us look at your facility.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Tell us the class, the programme and the constraint. We will tell you what it takes.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ENQUIRIES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business@iaqtechnology.com.my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TELEPHONE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+603 5131 9999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12, Jalan Sungai Jeluh 32/192, Shah Alam, Selangor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iaqtechnology.com.my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27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211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2581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