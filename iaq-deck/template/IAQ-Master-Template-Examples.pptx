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4x3"/>
  <p:notesSz cx="6858000" cy="9144000"/>
  <p:embeddedFontLst>
    <p:embeddedFont>
      <p:font typeface="League Spartan" pitchFamily="34" charset="0"/>
      <p:regular r:id="rId48"/>
    </p:embeddedFont>
    <p:embeddedFont>
      <p:font typeface="League Spartan Medium" pitchFamily="34" charset="0"/>
      <p:regular r:id="rId49"/>
    </p:embeddedFont>
    <p:embeddedFont>
      <p:font typeface="League Spartan SemiBold" pitchFamily="34" charset="0"/>
      <p:regular r:id="rId50"/>
    </p:embeddedFont>
    <p:embeddedFont>
      <p:font typeface="Poppins Medium" pitchFamily="34" charset="0"/>
      <p:regular r:id="rId51"/>
    </p:embeddedFont>
    <p:embeddedFont>
      <p:font typeface="Poppins SemiBold" pitchFamily="34" charset="0"/>
      <p:regular r:id="rId52"/>
    </p:embeddedFont>
    <p:embeddedFont>
      <p:font typeface="Poppins" pitchFamily="34" charset="0"/>
      <p:bold r:id="rId53"/>
    </p:embeddedFont>
    <p:embeddedFont>
      <p:font typeface="Urbanist" pitchFamily="34" charset="0"/>
      <p:regular r:id="rId54"/>
    </p:embeddedFont>
    <p:embeddedFont>
      <p:font typeface="Urbanist Medium" pitchFamily="34" charset="0"/>
      <p:regular r:id="rId55"/>
    </p:embeddedFont>
    <p:embeddedFont>
      <p:font typeface="Urbanist SemiBold" pitchFamily="34" charset="0"/>
      <p:regular r:id="rId5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font" Target="fonts/font48.fntdata"/><Relationship Id="rId49" Type="http://schemas.openxmlformats.org/officeDocument/2006/relationships/font" Target="fonts/font49.fntdata"/><Relationship Id="rId50" Type="http://schemas.openxmlformats.org/officeDocument/2006/relationships/font" Target="fonts/font50.fntdata"/><Relationship Id="rId51" Type="http://schemas.openxmlformats.org/officeDocument/2006/relationships/font" Target="fonts/font51.fntdata"/><Relationship Id="rId52" Type="http://schemas.openxmlformats.org/officeDocument/2006/relationships/font" Target="fonts/font52.fntdata"/><Relationship Id="rId53" Type="http://schemas.openxmlformats.org/officeDocument/2006/relationships/font" Target="fonts/font53.fntdata"/><Relationship Id="rId54" Type="http://schemas.openxmlformats.org/officeDocument/2006/relationships/font" Target="fonts/font54.fntdata"/><Relationship Id="rId55" Type="http://schemas.openxmlformats.org/officeDocument/2006/relationships/font" Target="fonts/font55.fntdata"/><Relationship Id="rId56" Type="http://schemas.openxmlformats.org/officeDocument/2006/relationships/font" Target="fonts/font5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jpg"/><Relationship Id="rId4" Type="http://schemas.openxmlformats.org/officeDocument/2006/relationships/image" Target="../media/image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pic>
        <p:nvPicPr>
          <p:cNvPr id="4" name="Picture 3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Master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Seventeen layouts to build a new slide from. Each one is shown filled, then empty with a line in every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1610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300" y="175895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2400" y="178435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Open a deck or a chapter of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8550" y="181610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175895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Section divider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1350" y="178435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Open a new part of the deck.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0990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300" y="20419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2400" y="20673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argument, said plainly, with a photograph.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550" y="20990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0419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350" y="20673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or four figures that carry the page.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382044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300" y="2324894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Icon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2400" y="2350294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set of capabilities, services or principles.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8550" y="2382044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2324894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1350" y="2350294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Two or three options read side by side.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2665019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300" y="2607869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Org chart · reporting 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2400" y="2633269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Who reports to whom, three levels at most.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8550" y="2665019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2607869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Org chart · flat team band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1350" y="2633269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team of peers, no hierarchy implied.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2947988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300" y="2890838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Org chart · group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2400" y="2916238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holding company and the businesses under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8550" y="2947988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250" y="2890838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1350" y="2916238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Stages that run in order, start to finish.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3230963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" y="3173813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Timeline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2400" y="3199213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Dates in order, with what happened at each.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8550" y="3230963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2250" y="3173813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Infographic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1350" y="3199213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visual in the middle, the parts around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3513931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300" y="3456781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Image and specs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2400" y="3482181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project or product, pictured and specified.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8550" y="3513931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2250" y="3456781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Programme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1350" y="3482181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Work packages against a calendar.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3796906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300" y="3739756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2400" y="3765156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Rows and columns, where the detail has to be exact.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8550" y="3796906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72250" y="3739756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Full-bleed image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1350" y="3765156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Let one photograph carry the page.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40798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3300" y="40227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Closing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92400" y="40481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End the deck: the ask, and how to reach you.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8550" y="40798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72250" y="40227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Agenda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1350" y="40481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 deck covers, before it covers 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" y="436285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3300" y="430570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Quote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92400" y="433110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Let a client, or the board, say it instead of you.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550" y="436285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72250" y="430570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Before and after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61350" y="433110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Two states of the same thing, side by side.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6445250"/>
            <a:ext cx="13811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24000" y="6429375"/>
            <a:ext cx="5583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CONTENTS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427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023889"/>
            <a:ext cx="109728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6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CAPABILITY STATEMENT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195339"/>
            <a:ext cx="6985000" cy="1024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i="0" spc="-99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Engineering the facilities advanced industry runs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35761"/>
            <a:ext cx="457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Cleanroom critical delivery for semiconductor, data centre, EV battery, pharmaceutical and energy.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951711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35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PREPARED FOR · CLIENT NAME ·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45250"/>
            <a:ext cx="1147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9628" y="6429375"/>
            <a:ext cx="28277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427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119139"/>
            <a:ext cx="109728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6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KICKER · TWO OR THREE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290589"/>
            <a:ext cx="6985000" cy="1024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i="0" spc="-99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The one line this deck is about, eight words or fewer.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31011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sentence under it saying who it is for and what it covers.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856461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35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PREPARED FOR · CLIENT ·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45250"/>
            <a:ext cx="1352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9527" y="6429375"/>
            <a:ext cx="28277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48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492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858" y="3381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188566"/>
            <a:ext cx="7876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PART 02 OF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998066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98241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Project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51884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SECTIONS 02.1 TO 02.47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224934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38368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235+ projects completed across three 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8053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Over 1.5 million m² of cleanroom built</a:t>
            </a:r>
          </a:p>
        </p:txBody>
      </p:sp>
      <p:pic>
        <p:nvPicPr>
          <p:cNvPr id="17" name="Picture 16" descr="refs-c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445250"/>
            <a:ext cx="1327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48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492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858" y="3381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188566"/>
            <a:ext cx="794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PART 00 OF 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998066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98241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Section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51884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WHAT THIS PART COVERS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224934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38368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A fact worth leading with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8053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A second fact, the same length</a:t>
            </a:r>
          </a:p>
        </p:txBody>
      </p:sp>
      <p:pic>
        <p:nvPicPr>
          <p:cNvPr id="17" name="Picture 16" descr="refs-c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445250"/>
            <a:ext cx="13107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6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6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178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Why IAQ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case in one line, and what stands behind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51000"/>
            <a:ext cx="6273800" cy="7159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Thirty-one years of building the rooms that cannot fail.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41575"/>
            <a:ext cx="4310755" cy="5320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Cleanrooms, process utilities and tool hookup for the industries where contamination control, precision and compliance are absolute. Self-performed, under one contract.</a:t>
            </a:r>
          </a:p>
        </p:txBody>
      </p:sp>
      <p:pic>
        <p:nvPicPr>
          <p:cNvPr id="12" name="Picture 11" descr="glance-cleanroom.jpg"/>
          <p:cNvPicPr>
            <a:picLocks noChangeAspect="1"/>
          </p:cNvPicPr>
          <p:nvPr/>
        </p:nvPicPr>
        <p:blipFill>
          <a:blip r:embed="rId3"/>
          <a:srcRect t="86" b="86"/>
          <a:stretch>
            <a:fillRect/>
          </a:stretch>
        </p:blipFill>
        <p:spPr>
          <a:xfrm>
            <a:off x="7391400" y="1701800"/>
            <a:ext cx="4191000" cy="4648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445250"/>
            <a:ext cx="13354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9075" y="6429375"/>
            <a:ext cx="5933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6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6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17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51000"/>
            <a:ext cx="6273800" cy="7159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The statement, two lines at most, said plainly.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41575"/>
            <a:ext cx="4310755" cy="3390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Two or three sentences carrying the argument. Say what is true, what it is worth, and leave the rest to the next page.</a:t>
            </a:r>
          </a:p>
        </p:txBody>
      </p:sp>
      <p:pic>
        <p:nvPicPr>
          <p:cNvPr id="12" name="Picture 11" descr="glance-cleanroom.jpg"/>
          <p:cNvPicPr>
            <a:picLocks noChangeAspect="1"/>
          </p:cNvPicPr>
          <p:nvPr/>
        </p:nvPicPr>
        <p:blipFill>
          <a:blip r:embed="rId3"/>
          <a:srcRect t="86" b="86"/>
          <a:stretch>
            <a:fillRect/>
          </a:stretch>
        </p:blipFill>
        <p:spPr>
          <a:xfrm>
            <a:off x="7391400" y="1701800"/>
            <a:ext cx="4191000" cy="4648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445250"/>
            <a:ext cx="135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8973" y="6429375"/>
            <a:ext cx="5933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548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548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6686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The year in four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Where the work went in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738438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235</a:t>
            </a:r>
            <a:r>
              <a:rPr sz="1100" b="0" i="0" spc="-156">
                <a:solidFill>
                  <a:srgbClr val="EC2326"/>
                </a:solidFill>
                <a:latin typeface="Urbanist Medium"/>
                <a:ea typeface="Urbanist Medium"/>
                <a:cs typeface="Urbanist Medium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Projects completed since 1995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4388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0288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0288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1.5</a:t>
            </a:r>
            <a:r>
              <a:rPr sz="1100" b="0" i="0" spc="-156">
                <a:solidFill>
                  <a:srgbClr val="EC2326"/>
                </a:solidFill>
                <a:latin typeface="Urbanist Medium"/>
                <a:ea typeface="Urbanist Medium"/>
                <a:cs typeface="Urbanist Medium"/>
              </a:rPr>
              <a:t>mil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0288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Cleanroom built-up area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175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075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075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530</a:t>
            </a:r>
            <a:r>
              <a:rPr sz="1100" b="0" i="0" spc="-156">
                <a:solidFill>
                  <a:srgbClr val="EC2326"/>
                </a:solidFill>
                <a:latin typeface="Urbanist Medium"/>
                <a:ea typeface="Urbanist Medium"/>
                <a:cs typeface="Urbanist Medium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075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Engineers, supervisors and crew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43962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9862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9862" y="3643312"/>
            <a:ext cx="2306638" cy="692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900" b="1" i="0" spc="-156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9862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Offices across three continents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445250"/>
            <a:ext cx="1331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44625" y="6429375"/>
            <a:ext cx="63778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HIGHLIGHTS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548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548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6686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738438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 figure counts, one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4388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0288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0288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0288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 figure counts, one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175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075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075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075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 figure counts, one 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43962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9862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9862" y="3643312"/>
            <a:ext cx="2306638" cy="692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900" b="1" i="0" spc="-156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9862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 figure counts, one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445250"/>
            <a:ext cx="1352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44523" y="6429375"/>
            <a:ext cx="63778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HIGHLIGHTS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673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What we self-perform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Six packages under one contract.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760662"/>
            <a:ext cx="203200" cy="2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5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Engineering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CSA and MEP, to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6464" y="1758950"/>
            <a:ext cx="20468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77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07fcf59285bd0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00" y="2760662"/>
            <a:ext cx="203200" cy="20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911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Electrical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Up to 33kV substations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1894" y="1758950"/>
            <a:ext cx="24685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53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47fea6dfa5845a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900" y="2760662"/>
            <a:ext cx="2032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87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Cleanroom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87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ISO 3 to ISO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153" y="1758950"/>
            <a:ext cx="254197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029075"/>
            <a:ext cx="365760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100" y="4986338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ee7661d589fb3b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87938"/>
            <a:ext cx="203200" cy="203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33500" y="5018983"/>
            <a:ext cx="27432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Commissioning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3500" y="5227244"/>
            <a:ext cx="27432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Testing and handover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7822" y="4086225"/>
            <a:ext cx="269678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72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72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577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621574d790f500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9300" y="5091112"/>
            <a:ext cx="203200" cy="203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911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Maintenance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11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Operate, service, optimise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4831" y="4092575"/>
            <a:ext cx="263925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248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248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153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c5d582a2d28529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900" y="5091112"/>
            <a:ext cx="203200" cy="203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487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Energy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87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Carbon and cost reduction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75308" y="4092575"/>
            <a:ext cx="261042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1353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30534" y="6429375"/>
            <a:ext cx="65186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ICON CARDS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673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760662"/>
            <a:ext cx="203200" cy="2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5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Item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or five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6464" y="1758950"/>
            <a:ext cx="20468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77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2760662"/>
            <a:ext cx="203200" cy="20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911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Item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or five 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1894" y="1758950"/>
            <a:ext cx="24685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53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2760662"/>
            <a:ext cx="2032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87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Item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87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or five words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153" y="1758950"/>
            <a:ext cx="254197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029075"/>
            <a:ext cx="365760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100" y="4986338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5087938"/>
            <a:ext cx="203200" cy="203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33500" y="5018983"/>
            <a:ext cx="27432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Item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3500" y="5227244"/>
            <a:ext cx="27432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or five 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7822" y="4086225"/>
            <a:ext cx="269678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72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72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577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5091112"/>
            <a:ext cx="203200" cy="203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911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Item 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11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or five words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4831" y="4092575"/>
            <a:ext cx="263925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248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248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153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091112"/>
            <a:ext cx="203200" cy="203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487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Item 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87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or five words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75308" y="4092575"/>
            <a:ext cx="261042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1147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30534" y="6429375"/>
            <a:ext cx="65186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ICON CARDS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655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Three ways to contract the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same crews, scoped three ways.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MODEL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EPCM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Management of engineering, procurement and construction.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Client holds the trade contracts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IAQ manages delivery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Fastest route to a fab ramp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Best where scope is still moving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3733" y="1701800"/>
            <a:ext cx="3564433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4233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MODEL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4233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EPCC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4233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4233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Full turnkey from conception to operation.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4233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233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IAQ holds every contract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4233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4233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One programme, one accountability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4233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4233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Fixed scope, fixed completion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4233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4233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Best where the brief is settled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7866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8366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MODEL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366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EFM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8366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8366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Energy and facility management after handover.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8366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8366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Planned and reactive maintenance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8366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8366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Energy and carbon reduction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8366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8366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Operates the asset for its life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8366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8366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Best where uptime decides 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445250"/>
            <a:ext cx="9138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1736" y="6429375"/>
            <a:ext cx="6906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65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OPTION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First 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sentence saying what it 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point of difference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second 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third 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When to choose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3733" y="1701800"/>
            <a:ext cx="3564433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4233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OPTION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4233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Second option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4233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4233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sentence saying what it is.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4233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233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A point of difference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4233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4233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A second 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4233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4233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A third 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4233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4233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When to choose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7866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8366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OPTION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366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Third option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8366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8366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sentence saying what it 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8366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8366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point of difference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8366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8366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second 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8366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8366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third point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8366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8366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When to choose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445250"/>
            <a:ext cx="11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1641" y="6429375"/>
            <a:ext cx="6906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673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How the company is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Board, executive and the four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2250" y="3175000"/>
            <a:ext cx="1587500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8452" y="3302000"/>
            <a:ext cx="495002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CHAIRMAN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1366" y="3390900"/>
            <a:ext cx="1109167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Board of Directors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259" y="3587750"/>
            <a:ext cx="103148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Governance and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650" y="3829050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1200" y="4044950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48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0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2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044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4680" y="4349750"/>
            <a:ext cx="100816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MANAGING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1238" y="4438650"/>
            <a:ext cx="615156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Group 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6016" y="4635500"/>
            <a:ext cx="96549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Operations and delivery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772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8934" y="4349750"/>
            <a:ext cx="45591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DIRECTOR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5761" y="4438650"/>
            <a:ext cx="74235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1548" y="4635500"/>
            <a:ext cx="79077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Design and method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585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7059" y="4349750"/>
            <a:ext cx="45591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DIRECTOR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3941" y="4438650"/>
            <a:ext cx="78224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Commercial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5563" y="4635500"/>
            <a:ext cx="93890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Cost, contracts and 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4397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35184" y="4349750"/>
            <a:ext cx="45591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DIRECTOR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2548" y="4438650"/>
            <a:ext cx="981272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HSE and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952" y="4635500"/>
            <a:ext cx="82837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Standards and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45250"/>
            <a:ext cx="1094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9677" y="6429375"/>
            <a:ext cx="162272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ORG CHART · REPORTING TREE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673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2250" y="3175000"/>
            <a:ext cx="1587500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8131" y="330200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5558" y="339090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 or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3028" y="3587750"/>
            <a:ext cx="122584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they are accountable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650" y="3829050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1200" y="4044950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48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0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2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044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10944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8370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 or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5002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772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9069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6495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 or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127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585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7194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4620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 or function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1252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4397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5319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2745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 or function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9377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45250"/>
            <a:ext cx="10765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9677" y="6429375"/>
            <a:ext cx="162272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ORG CHART · REPORTING TREE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2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2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458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The 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Who the client deals with, day to 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2183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2d304ddcff951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33" y="3609975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56906" y="4111625"/>
            <a:ext cx="894753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PROJECT DIRECTOR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9198" y="4244975"/>
            <a:ext cx="69026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Name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1845" y="4486275"/>
            <a:ext cx="90487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Single point of contact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5411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7994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2d304ddcff951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744" y="3609975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88805" y="4111625"/>
            <a:ext cx="1222572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CONSTRUCTION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5009" y="4244975"/>
            <a:ext cx="69026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Name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8314" y="4486275"/>
            <a:ext cx="84355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Site and programme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222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03798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2d304ddcff951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548" y="3609975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28195" y="4111625"/>
            <a:ext cx="735508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LEAD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0820" y="4244975"/>
            <a:ext cx="69026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Name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0516" y="4486275"/>
            <a:ext cx="79077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Design and method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97033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99609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f2d304ddcff951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359" y="3609975"/>
            <a:ext cx="266700" cy="2667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50683" y="4111625"/>
            <a:ext cx="882155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QA / QC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6631" y="4244975"/>
            <a:ext cx="69026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Name 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4713" y="4486275"/>
            <a:ext cx="91400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Inspection and records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92844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95420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f2d304ddcff951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170" y="3609975"/>
            <a:ext cx="266700" cy="2667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153256" y="4111625"/>
            <a:ext cx="668636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HSE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2436" y="4244975"/>
            <a:ext cx="69026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Name here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2884" y="4486275"/>
            <a:ext cx="82936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Safety on every shift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445250"/>
            <a:ext cx="1101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4066" y="6429375"/>
            <a:ext cx="1608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ORG CHART · FLAT TEAM BAND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2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2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45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2183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33" y="3609975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86408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3878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1661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they 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5411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7994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744" y="3609975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82219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9689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7472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they 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222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03798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548" y="3609975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8030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0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3283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they 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97033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99609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359" y="3609975"/>
            <a:ext cx="266700" cy="2667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3841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311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9094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they 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92844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95420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170" y="3609975"/>
            <a:ext cx="266700" cy="2667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369652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97122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4905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they 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445250"/>
            <a:ext cx="1120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3964" y="6429375"/>
            <a:ext cx="1608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ORG CHART · FLAT TEAM BAND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655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The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holding company, four operating businesses.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5756" y="2937866"/>
            <a:ext cx="2680494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5459" y="3064866"/>
            <a:ext cx="420986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HOLDING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0856" y="3153766"/>
            <a:ext cx="23502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IAQ Technology International Sdn Bhd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7683" y="3350616"/>
            <a:ext cx="131663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Incorporated 1995 · 200001031412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650" y="3591916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1200" y="3807816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48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0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2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044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COMPANY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IAQ Solutions</a:t>
            </a:r>
          </a:p>
        </p:txBody>
      </p:sp>
      <p:sp>
        <p:nvSpPr>
          <p:cNvPr id="23" name="Oval 22"/>
          <p:cNvSpPr/>
          <p:nvPr/>
        </p:nvSpPr>
        <p:spPr>
          <a:xfrm>
            <a:off x="7620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Cleanroom systems</a:t>
            </a:r>
          </a:p>
        </p:txBody>
      </p:sp>
      <p:sp>
        <p:nvSpPr>
          <p:cNvPr id="25" name="Oval 24"/>
          <p:cNvSpPr/>
          <p:nvPr/>
        </p:nvSpPr>
        <p:spPr>
          <a:xfrm>
            <a:off x="7620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CSA and MEP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Malaysia and Singapore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45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69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COMPANY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69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IAQ Utility Solutions</a:t>
            </a:r>
          </a:p>
        </p:txBody>
      </p:sp>
      <p:sp>
        <p:nvSpPr>
          <p:cNvPr id="32" name="Oval 31"/>
          <p:cNvSpPr/>
          <p:nvPr/>
        </p:nvSpPr>
        <p:spPr>
          <a:xfrm>
            <a:off x="35369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69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Process utilities</a:t>
            </a:r>
          </a:p>
        </p:txBody>
      </p:sp>
      <p:sp>
        <p:nvSpPr>
          <p:cNvPr id="34" name="Oval 33"/>
          <p:cNvSpPr/>
          <p:nvPr/>
        </p:nvSpPr>
        <p:spPr>
          <a:xfrm>
            <a:off x="35369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69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Tool hookup</a:t>
            </a:r>
          </a:p>
        </p:txBody>
      </p:sp>
      <p:sp>
        <p:nvSpPr>
          <p:cNvPr id="36" name="Oval 35"/>
          <p:cNvSpPr/>
          <p:nvPr/>
        </p:nvSpPr>
        <p:spPr>
          <a:xfrm>
            <a:off x="35369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69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EPCM packages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5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19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COMPANY 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19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IAQ Energy Facility Management</a:t>
            </a:r>
          </a:p>
        </p:txBody>
      </p:sp>
      <p:sp>
        <p:nvSpPr>
          <p:cNvPr id="41" name="Oval 40"/>
          <p:cNvSpPr/>
          <p:nvPr/>
        </p:nvSpPr>
        <p:spPr>
          <a:xfrm>
            <a:off x="63119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19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District cooling</a:t>
            </a:r>
          </a:p>
        </p:txBody>
      </p:sp>
      <p:sp>
        <p:nvSpPr>
          <p:cNvPr id="43" name="Oval 42"/>
          <p:cNvSpPr/>
          <p:nvPr/>
        </p:nvSpPr>
        <p:spPr>
          <a:xfrm>
            <a:off x="63119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19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Chiller plants</a:t>
            </a:r>
          </a:p>
        </p:txBody>
      </p:sp>
      <p:sp>
        <p:nvSpPr>
          <p:cNvPr id="45" name="Oval 44"/>
          <p:cNvSpPr/>
          <p:nvPr/>
        </p:nvSpPr>
        <p:spPr>
          <a:xfrm>
            <a:off x="63119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19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Operate and maintain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44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868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COMPANY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68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IAQ Europe</a:t>
            </a:r>
          </a:p>
        </p:txBody>
      </p:sp>
      <p:sp>
        <p:nvSpPr>
          <p:cNvPr id="50" name="Oval 49"/>
          <p:cNvSpPr/>
          <p:nvPr/>
        </p:nvSpPr>
        <p:spPr>
          <a:xfrm>
            <a:off x="90868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868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Gigafactories</a:t>
            </a:r>
          </a:p>
        </p:txBody>
      </p:sp>
      <p:sp>
        <p:nvSpPr>
          <p:cNvPr id="52" name="Oval 51"/>
          <p:cNvSpPr/>
          <p:nvPr/>
        </p:nvSpPr>
        <p:spPr>
          <a:xfrm>
            <a:off x="90868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68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Wafer fabs</a:t>
            </a:r>
          </a:p>
        </p:txBody>
      </p:sp>
      <p:sp>
        <p:nvSpPr>
          <p:cNvPr id="54" name="Oval 53"/>
          <p:cNvSpPr/>
          <p:nvPr/>
        </p:nvSpPr>
        <p:spPr>
          <a:xfrm>
            <a:off x="90868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68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Sweden, Germany, France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445250"/>
            <a:ext cx="1097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9447" y="6429375"/>
            <a:ext cx="17328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ORG CHART · GROUP STRUCTURE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65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9083" y="2937866"/>
            <a:ext cx="1773733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5459" y="3064866"/>
            <a:ext cx="420986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HOLDING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4183" y="3153766"/>
            <a:ext cx="14435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Parent company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4009" y="3350616"/>
            <a:ext cx="76388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Incorporated 0000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650" y="3591916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1200" y="3807816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48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0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2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044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COMPANY 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Business name</a:t>
            </a:r>
          </a:p>
        </p:txBody>
      </p:sp>
      <p:sp>
        <p:nvSpPr>
          <p:cNvPr id="23" name="Oval 22"/>
          <p:cNvSpPr/>
          <p:nvPr/>
        </p:nvSpPr>
        <p:spPr>
          <a:xfrm>
            <a:off x="7620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does</a:t>
            </a:r>
          </a:p>
        </p:txBody>
      </p:sp>
      <p:sp>
        <p:nvSpPr>
          <p:cNvPr id="25" name="Oval 24"/>
          <p:cNvSpPr/>
          <p:nvPr/>
        </p:nvSpPr>
        <p:spPr>
          <a:xfrm>
            <a:off x="7620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does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Where it 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45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69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COMPANY 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69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Business name</a:t>
            </a:r>
          </a:p>
        </p:txBody>
      </p:sp>
      <p:sp>
        <p:nvSpPr>
          <p:cNvPr id="32" name="Oval 31"/>
          <p:cNvSpPr/>
          <p:nvPr/>
        </p:nvSpPr>
        <p:spPr>
          <a:xfrm>
            <a:off x="35369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69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does</a:t>
            </a:r>
          </a:p>
        </p:txBody>
      </p:sp>
      <p:sp>
        <p:nvSpPr>
          <p:cNvPr id="34" name="Oval 33"/>
          <p:cNvSpPr/>
          <p:nvPr/>
        </p:nvSpPr>
        <p:spPr>
          <a:xfrm>
            <a:off x="35369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69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does</a:t>
            </a:r>
          </a:p>
        </p:txBody>
      </p:sp>
      <p:sp>
        <p:nvSpPr>
          <p:cNvPr id="36" name="Oval 35"/>
          <p:cNvSpPr/>
          <p:nvPr/>
        </p:nvSpPr>
        <p:spPr>
          <a:xfrm>
            <a:off x="35369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69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Where it works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5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19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COMPANY 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19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Business name</a:t>
            </a:r>
          </a:p>
        </p:txBody>
      </p:sp>
      <p:sp>
        <p:nvSpPr>
          <p:cNvPr id="41" name="Oval 40"/>
          <p:cNvSpPr/>
          <p:nvPr/>
        </p:nvSpPr>
        <p:spPr>
          <a:xfrm>
            <a:off x="63119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19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does</a:t>
            </a:r>
          </a:p>
        </p:txBody>
      </p:sp>
      <p:sp>
        <p:nvSpPr>
          <p:cNvPr id="43" name="Oval 42"/>
          <p:cNvSpPr/>
          <p:nvPr/>
        </p:nvSpPr>
        <p:spPr>
          <a:xfrm>
            <a:off x="63119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19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does</a:t>
            </a:r>
          </a:p>
        </p:txBody>
      </p:sp>
      <p:sp>
        <p:nvSpPr>
          <p:cNvPr id="45" name="Oval 44"/>
          <p:cNvSpPr/>
          <p:nvPr/>
        </p:nvSpPr>
        <p:spPr>
          <a:xfrm>
            <a:off x="63119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19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Where it works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44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868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COMPANY 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68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Business name</a:t>
            </a:r>
          </a:p>
        </p:txBody>
      </p:sp>
      <p:sp>
        <p:nvSpPr>
          <p:cNvPr id="50" name="Oval 49"/>
          <p:cNvSpPr/>
          <p:nvPr/>
        </p:nvSpPr>
        <p:spPr>
          <a:xfrm>
            <a:off x="90868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868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does</a:t>
            </a:r>
          </a:p>
        </p:txBody>
      </p:sp>
      <p:sp>
        <p:nvSpPr>
          <p:cNvPr id="52" name="Oval 51"/>
          <p:cNvSpPr/>
          <p:nvPr/>
        </p:nvSpPr>
        <p:spPr>
          <a:xfrm>
            <a:off x="90868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68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does</a:t>
            </a:r>
          </a:p>
        </p:txBody>
      </p:sp>
      <p:sp>
        <p:nvSpPr>
          <p:cNvPr id="54" name="Oval 53"/>
          <p:cNvSpPr/>
          <p:nvPr/>
        </p:nvSpPr>
        <p:spPr>
          <a:xfrm>
            <a:off x="90868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68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Where it works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445250"/>
            <a:ext cx="11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9447" y="6429375"/>
            <a:ext cx="17328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ORG CHART · GROUP 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427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How a package is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Five stages, one accountability.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10972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00" y="1953419"/>
            <a:ext cx="165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THE DELIVERY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2400" y="1924050"/>
            <a:ext cx="711200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Every package runs the same five stages, whoever holds the contract.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6083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09033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b59dede89695b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208" y="3822503"/>
            <a:ext cx="209550" cy="209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968798" y="3666928"/>
            <a:ext cx="160934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8798" y="3692328"/>
            <a:ext cx="160934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97" y="4276528"/>
            <a:ext cx="816572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8283" y="4538764"/>
            <a:ext cx="99139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Design and consultation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2044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34994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b18bc6858a1e7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169" y="3822503"/>
            <a:ext cx="209550" cy="2095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75608" y="3666928"/>
            <a:ext cx="18008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5608" y="3692328"/>
            <a:ext cx="18008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973" y="4276528"/>
            <a:ext cx="89803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Procurement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8206" y="4538764"/>
            <a:ext cx="108346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Sourcing and supply chain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8005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60948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8109bd0175b0f1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123" y="3822503"/>
            <a:ext cx="209550" cy="209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203950" y="3666928"/>
            <a:ext cx="177698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3950" y="3692328"/>
            <a:ext cx="177698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9417" y="4276528"/>
            <a:ext cx="89296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3767" y="4538764"/>
            <a:ext cx="108426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Self-performed packages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3966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6909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6565a9b79f15cc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084" y="3822503"/>
            <a:ext cx="209550" cy="20955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331200" y="3666928"/>
            <a:ext cx="176409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1200" y="3692328"/>
            <a:ext cx="176409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0145" y="4276528"/>
            <a:ext cx="503536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3928" y="4538764"/>
            <a:ext cx="123597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Commissioning and handover</a:t>
            </a:r>
          </a:p>
        </p:txBody>
      </p:sp>
      <p:sp>
        <p:nvSpPr>
          <p:cNvPr id="42" name="Oval 41"/>
          <p:cNvSpPr/>
          <p:nvPr/>
        </p:nvSpPr>
        <p:spPr>
          <a:xfrm>
            <a:off x="10112870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6ad6a97460030d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3045" y="3822503"/>
            <a:ext cx="209550" cy="20955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455377" y="3666928"/>
            <a:ext cx="17820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55377" y="3692328"/>
            <a:ext cx="17820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2405" y="4276528"/>
            <a:ext cx="910927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Maintenance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05194" y="4538764"/>
            <a:ext cx="108535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Operate, service, optimise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1120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8036" y="6429375"/>
            <a:ext cx="4743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427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10972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00" y="1953419"/>
            <a:ext cx="165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PROCESS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2400" y="1924050"/>
            <a:ext cx="711200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sentence saying what the process is and where it starts.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6083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09033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208" y="3822503"/>
            <a:ext cx="209550" cy="209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968798" y="3666928"/>
            <a:ext cx="160934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8798" y="3692328"/>
            <a:ext cx="160934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4089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Stage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1030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or four words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2044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34994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69" y="3822503"/>
            <a:ext cx="209550" cy="2095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75608" y="3666928"/>
            <a:ext cx="18008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5608" y="3692328"/>
            <a:ext cx="18008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0050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Stage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991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or four 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8005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60948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23" y="3822503"/>
            <a:ext cx="209550" cy="209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203950" y="3666928"/>
            <a:ext cx="177698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3950" y="3692328"/>
            <a:ext cx="177698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6005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Stage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2952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or four words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3966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6909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084" y="3822503"/>
            <a:ext cx="209550" cy="20955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331200" y="3666928"/>
            <a:ext cx="176409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1200" y="3692328"/>
            <a:ext cx="176409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1966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Stage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08912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or four words</a:t>
            </a:r>
          </a:p>
        </p:txBody>
      </p:sp>
      <p:sp>
        <p:nvSpPr>
          <p:cNvPr id="42" name="Oval 41"/>
          <p:cNvSpPr/>
          <p:nvPr/>
        </p:nvSpPr>
        <p:spPr>
          <a:xfrm>
            <a:off x="10112870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045" y="3822503"/>
            <a:ext cx="209550" cy="20955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455377" y="3666928"/>
            <a:ext cx="17820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55377" y="3692328"/>
            <a:ext cx="17820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7927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Stage name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4873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or four words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1352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8036" y="6429375"/>
            <a:ext cx="4743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1421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1421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5411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Thirty-one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turns that made the company.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25873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Founded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27955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Incorporated as a cleanroom specialist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344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Largest DCC plant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344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KLCC district cooling, a national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8283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Three continents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8283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India, the United States and Ireland open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025900"/>
            <a:ext cx="1097280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10011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3661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1995</a:t>
            </a:r>
          </a:p>
        </p:txBody>
      </p:sp>
      <p:sp>
        <p:nvSpPr>
          <p:cNvPr id="19" name="Oval 18"/>
          <p:cNvSpPr/>
          <p:nvPr/>
        </p:nvSpPr>
        <p:spPr>
          <a:xfrm>
            <a:off x="3704533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8183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2008</a:t>
            </a:r>
          </a:p>
        </p:txBody>
      </p:sp>
      <p:sp>
        <p:nvSpPr>
          <p:cNvPr id="21" name="Oval 20"/>
          <p:cNvSpPr/>
          <p:nvPr/>
        </p:nvSpPr>
        <p:spPr>
          <a:xfrm>
            <a:off x="5899048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2698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2016</a:t>
            </a:r>
          </a:p>
        </p:txBody>
      </p:sp>
      <p:sp>
        <p:nvSpPr>
          <p:cNvPr id="23" name="Oval 22"/>
          <p:cNvSpPr/>
          <p:nvPr/>
        </p:nvSpPr>
        <p:spPr>
          <a:xfrm>
            <a:off x="8093672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7322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2021</a:t>
            </a:r>
          </a:p>
        </p:txBody>
      </p:sp>
      <p:sp>
        <p:nvSpPr>
          <p:cNvPr id="25" name="Oval 24"/>
          <p:cNvSpPr/>
          <p:nvPr/>
        </p:nvSpPr>
        <p:spPr>
          <a:xfrm>
            <a:off x="10288194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1844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8422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Class 10 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8422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Western Digital PJ, a first in the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8361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Four fab expansions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8361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SilTerra, Soitec, Infineon, Microsoft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45250"/>
            <a:ext cx="11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8212" y="6429375"/>
            <a:ext cx="48408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TIMELINE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1421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1421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5411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25873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27955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on 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344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344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on what happened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8283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8283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on what happened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025900"/>
            <a:ext cx="1097280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10011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3661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0000</a:t>
            </a:r>
          </a:p>
        </p:txBody>
      </p:sp>
      <p:sp>
        <p:nvSpPr>
          <p:cNvPr id="19" name="Oval 18"/>
          <p:cNvSpPr/>
          <p:nvPr/>
        </p:nvSpPr>
        <p:spPr>
          <a:xfrm>
            <a:off x="3704533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8183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0000</a:t>
            </a:r>
          </a:p>
        </p:txBody>
      </p:sp>
      <p:sp>
        <p:nvSpPr>
          <p:cNvPr id="21" name="Oval 20"/>
          <p:cNvSpPr/>
          <p:nvPr/>
        </p:nvSpPr>
        <p:spPr>
          <a:xfrm>
            <a:off x="5899048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2698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0000</a:t>
            </a:r>
          </a:p>
        </p:txBody>
      </p:sp>
      <p:sp>
        <p:nvSpPr>
          <p:cNvPr id="23" name="Oval 22"/>
          <p:cNvSpPr/>
          <p:nvPr/>
        </p:nvSpPr>
        <p:spPr>
          <a:xfrm>
            <a:off x="8093672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7322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0000</a:t>
            </a:r>
          </a:p>
        </p:txBody>
      </p:sp>
      <p:sp>
        <p:nvSpPr>
          <p:cNvPr id="25" name="Oval 24"/>
          <p:cNvSpPr/>
          <p:nvPr/>
        </p:nvSpPr>
        <p:spPr>
          <a:xfrm>
            <a:off x="10288194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1844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8422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8422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on what happened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8361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8361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on what happened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45250"/>
            <a:ext cx="13245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8314" y="6429375"/>
            <a:ext cx="48408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TIMELINE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64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64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842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What goes into the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Six systems, one model, one contract.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4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ea576cffb579d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357933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3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3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Greenfield and brownfield CSA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4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617cb66fdff6d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3936898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43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3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Electrical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3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Up to 33kV substations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4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9255e802559129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5515966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43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3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Cleanroom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3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ISO 3 to ISO 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0500" y="1701800"/>
            <a:ext cx="4191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33816" y="3049988"/>
            <a:ext cx="132427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0" i="0" spc="13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ONE MODEL, SIX SYSTEMS</a:t>
            </a:r>
          </a:p>
        </p:txBody>
      </p:sp>
      <p:pic>
        <p:nvPicPr>
          <p:cNvPr id="30" name="Picture 29" descr="fab-s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88" y="3291288"/>
            <a:ext cx="3809825" cy="12310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45000" y="4700092"/>
            <a:ext cx="3302000" cy="2841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37"/>
              </a:lnSpc>
            </a:pPr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Every system on this page is installed in the same building, by IAQ’s own crews, under one programme.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6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51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9dc1cdc1018a96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0800" y="2357933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90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0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Process utilities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0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Water, chemical, gas, exhaust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6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51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e45895930d4ba3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0800" y="3936898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90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0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Monitoring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0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FMCS, BMS, 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6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51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1f8802463176fa4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0800" y="5515966"/>
            <a:ext cx="177800" cy="177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90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0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Tool hookup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0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Progressive install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445250"/>
            <a:ext cx="129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67231" y="6429375"/>
            <a:ext cx="71516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INFOGRAPHIC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64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64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842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4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357933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3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3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words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4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3936898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43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3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3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words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4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5515966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43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3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3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0500" y="1701800"/>
            <a:ext cx="4191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5044" y="3128569"/>
            <a:ext cx="138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0" i="0" spc="13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CAPTION OVER THE VISUAL</a:t>
            </a:r>
          </a:p>
        </p:txBody>
      </p:sp>
      <p:pic>
        <p:nvPicPr>
          <p:cNvPr id="30" name="Picture 29" descr="fab-s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88" y="3369869"/>
            <a:ext cx="3809825" cy="12310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82408" y="4778673"/>
            <a:ext cx="3227089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sentence under the visual saying what the whole thing adds up 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6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51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2357933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90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0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0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words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6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51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3936898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90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0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0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words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6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51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5515966"/>
            <a:ext cx="177800" cy="177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90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0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0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it covers, four words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445250"/>
            <a:ext cx="128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67231" y="6429375"/>
            <a:ext cx="71516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INFOGRAPHIC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29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29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16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Project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project, what it was and what it took.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6527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fineon-kulim.jpg"/>
          <p:cNvPicPr>
            <a:picLocks noChangeAspect="1"/>
          </p:cNvPicPr>
          <p:nvPr/>
        </p:nvPicPr>
        <p:blipFill>
          <a:blip r:embed="rId3"/>
          <a:srcRect l="2896" r="2896"/>
          <a:stretch>
            <a:fillRect/>
          </a:stretch>
        </p:blipFill>
        <p:spPr>
          <a:xfrm>
            <a:off x="609600" y="1701800"/>
            <a:ext cx="6527800" cy="4648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91400" y="3057227"/>
            <a:ext cx="419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KULIM, KEDAH · GREENFIELD WAFER FAB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1400" y="3228677"/>
            <a:ext cx="41910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4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Infineon Kulim Wafer Fab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4575" y="3638848"/>
            <a:ext cx="1127620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1400" y="3686473"/>
            <a:ext cx="1133970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9345" y="3638848"/>
            <a:ext cx="1132681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6170" y="3686473"/>
            <a:ext cx="11390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69177" y="3638848"/>
            <a:ext cx="1118991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6002" y="3686473"/>
            <a:ext cx="112534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400" y="4023023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3600" y="3978573"/>
            <a:ext cx="3098800" cy="27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0"/>
              </a:lnSpc>
            </a:pPr>
            <a:r>
              <a:rPr sz="850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General contractor for WP06, KLM3 Expansion, 36,000 m² cleanroom area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400" y="4414145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3600" y="4369695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PCC for cleanroom and mechanical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1400" y="4654156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3600" y="4609706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ISO 4 to 7 · Class 10 to 100 to 10K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400" y="4894161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3600" y="4849711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45250"/>
            <a:ext cx="13067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3252" y="6429375"/>
            <a:ext cx="9591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IMAGE AND SPECS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29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29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169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6527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fineon-kulim.jpg"/>
          <p:cNvPicPr>
            <a:picLocks noChangeAspect="1"/>
          </p:cNvPicPr>
          <p:nvPr/>
        </p:nvPicPr>
        <p:blipFill>
          <a:blip r:embed="rId3"/>
          <a:srcRect l="2896" r="2896"/>
          <a:stretch>
            <a:fillRect/>
          </a:stretch>
        </p:blipFill>
        <p:spPr>
          <a:xfrm>
            <a:off x="609600" y="1701800"/>
            <a:ext cx="6527800" cy="4648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91400" y="3132830"/>
            <a:ext cx="419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LOCATION · WHAT KIND OF FACILITY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1400" y="3304280"/>
            <a:ext cx="41910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42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Project or product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4575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1400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SERVICE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642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8467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SERVICE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8709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534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SERVICE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400" y="4098627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3600" y="4054177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sentence on what the job was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400" y="433863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3600" y="429418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was in the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1400" y="457864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3600" y="453419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Class or grade, if it applies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400" y="481865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3600" y="4774209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45250"/>
            <a:ext cx="13255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3156" y="6429375"/>
            <a:ext cx="9591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IMAGE AND SPECS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15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15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78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Indicative 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Six quarters, from award to handover.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800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Q1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0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Q2 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72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Q3 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3498" y="1701800"/>
            <a:ext cx="1456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Q4 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98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Q1 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60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Q2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943100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Engineering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072583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CSA and MEP to IFC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4800" y="1976044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4800" y="1976044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3688" y="2023669"/>
            <a:ext cx="31978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8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762942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Long lead procurement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892425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AHUs, switchgear, chillers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4800" y="2795886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18522" y="2795886"/>
            <a:ext cx="3494983" cy="165100"/>
          </a:xfrm>
          <a:prstGeom prst="rect">
            <a:avLst/>
          </a:prstGeom>
          <a:solidFill>
            <a:srgbClr val="EC2326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58279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Civil and structural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712267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Foundations to envelope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4800" y="3615728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83252" y="3615728"/>
            <a:ext cx="320407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440263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Cleanroom 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53211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Walls, ceilings, flooring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4800" y="4435577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30791" y="4435577"/>
            <a:ext cx="262126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22248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Process utilities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5351958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Water, gas, chemical, exhaust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44800" y="5255419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04513" y="5255419"/>
            <a:ext cx="262126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04232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Testing and handover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17180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Classification and C&amp;Q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44800" y="6075261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43853" y="6075261"/>
            <a:ext cx="203845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2642" y="6122886"/>
            <a:ext cx="386163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Handover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1302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31627" y="6429375"/>
            <a:ext cx="6506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PROGRAMME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15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15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7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800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0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72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3498" y="1701800"/>
            <a:ext cx="1456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98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60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943100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Work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072583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is in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4800" y="1976044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4800" y="1976044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4733" y="2023669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Milestone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762942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Work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892425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is in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4800" y="2795886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1331" y="2795886"/>
            <a:ext cx="2912167" cy="165100"/>
          </a:xfrm>
          <a:prstGeom prst="rect">
            <a:avLst/>
          </a:prstGeom>
          <a:solidFill>
            <a:srgbClr val="EC2326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58279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Work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712267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is in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4800" y="3615728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56967" y="3615728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440263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Work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53211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is in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4800" y="4435577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13600" y="4435577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22248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Work 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5351958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is in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44800" y="5255419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78228" y="5255419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04232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Work package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17180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is in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44800" y="6075261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52052" y="6075261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0064" y="6122886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Milestone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13245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31627" y="6429375"/>
            <a:ext cx="6506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PROGRAMME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664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Cleanroom classes we build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each grade means and where it is 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4122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4122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ISO GRADE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8644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644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PARTICLES PER M³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93159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3159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TYPICAL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7681" y="1701800"/>
            <a:ext cx="2194719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7681" y="1816100"/>
            <a:ext cx="2194719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DELIVERED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Class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4122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4122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ISO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8644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8644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≤ 1,000 at 0.1 µm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3159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3159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Advanced-node lithography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87681" y="20066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7681" y="23041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Class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4122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04122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ISO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8644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8644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≤ 10,000 at 0.1 µm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93159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93159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Wafer fabrication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87681" y="27305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7681" y="30280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Class 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4122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04122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ISO 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98644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98644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≤ 3,520 at 0.5 µm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93159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3159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Photomask, test and assembly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87681" y="34544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87681" y="37519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Class 1K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04122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04122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ISO 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98644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98644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≤ 35,200 at 0.5 µm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93159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93159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Medical device, parenteral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87681" y="41783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87681" y="44758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9600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Class 10K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4122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04122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ISO 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98644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98644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≤ 352,000 at 0.5 µm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93159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93159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Pharmaceutical, GMP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87681" y="49022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87681" y="51997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9600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Class 100K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04122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04122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ISO 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98644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98644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≤ 3.5 m at 0.5 µm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93159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93159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Packaging and support areas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87681" y="56261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87681" y="59236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Yes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" y="6445250"/>
            <a:ext cx="13255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70456" y="6429375"/>
            <a:ext cx="311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664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COLUMN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4122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4122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COLUMN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8644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644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COLUMN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93159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3159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COLUMN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7681" y="1701800"/>
            <a:ext cx="2194719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7681" y="1816100"/>
            <a:ext cx="2194719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COLUMN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Row label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4122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4122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8644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8644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3159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3159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87681" y="20066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7681" y="23041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Called 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Row label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4122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04122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8644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8644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93159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93159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87681" y="27305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7681" y="30280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Called 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Row label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4122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04122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98644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98644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93159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3159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87681" y="34544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87681" y="37519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Called out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Row label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04122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04122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98644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98644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93159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93159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87681" y="41783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87681" y="44758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Called out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9600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Row label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4122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04122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98644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98644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93159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93159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87681" y="49022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87681" y="51997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Called out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9600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Row label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04122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04122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98644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98644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93159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93159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87681" y="56261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87681" y="59236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Called out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" y="6445250"/>
            <a:ext cx="1327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70456" y="6429375"/>
            <a:ext cx="311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645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pic>
        <p:nvPicPr>
          <p:cNvPr id="11" name="Picture 10" descr="cover-site.jpg"/>
          <p:cNvPicPr>
            <a:picLocks noChangeAspect="1"/>
          </p:cNvPicPr>
          <p:nvPr/>
        </p:nvPicPr>
        <p:blipFill>
          <a:blip r:embed="rId3"/>
          <a:srcRect t="20848" b="208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898034"/>
            <a:ext cx="3810000" cy="7545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92"/>
              </a:lnSpc>
            </a:pPr>
            <a:r>
              <a:rPr sz="2400" b="0" i="0" spc="-6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The rooms that cannot fail.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746750"/>
            <a:ext cx="3810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Thirty-one years of cleanroom critical delivery, on three continents.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45250"/>
            <a:ext cx="1094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0905" y="6429375"/>
            <a:ext cx="9914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FULL-BLEED IMAGE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645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pic>
        <p:nvPicPr>
          <p:cNvPr id="11" name="Picture 10" descr="cover-site.jpg"/>
          <p:cNvPicPr>
            <a:picLocks noChangeAspect="1"/>
          </p:cNvPicPr>
          <p:nvPr/>
        </p:nvPicPr>
        <p:blipFill>
          <a:blip r:embed="rId3"/>
          <a:srcRect t="20848" b="208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898034"/>
            <a:ext cx="3810000" cy="7545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92"/>
              </a:lnSpc>
            </a:pPr>
            <a:r>
              <a:rPr sz="2400" b="0" i="0" spc="-6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One line over the photograph.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746750"/>
            <a:ext cx="3810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A sentence under it, if the line needs support. Otherwise leave it 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45250"/>
            <a:ext cx="129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0809" y="6429375"/>
            <a:ext cx="9914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FULL-BLEED IMAGE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664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014662"/>
            <a:ext cx="6985000" cy="584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300" b="0" i="0" spc="-99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Let us look at your facility.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15048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Tell us the class, the programme and the constraint. We will tell you what it takes.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4049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ENQUIRIES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1800" y="4096048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business@iaqtechnology.com.my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8050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TELEPHONE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1800" y="4336059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+603 5131 9999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620520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HEAD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1800" y="4576070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12, Jalan Sungai Jeluh 32/192, Shah Alam, Selangor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860531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1800" y="4816081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iaqtechnology.com.my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45250"/>
            <a:ext cx="1274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1211" y="6429375"/>
            <a:ext cx="4710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CLOSING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664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014662"/>
            <a:ext cx="6985000" cy="584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300" b="0" i="0" spc="-99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The closing line, six words or fewer.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15048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sentence saying what you want to happen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4049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1800" y="4096048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The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8050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1800" y="4336059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The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620520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1800" y="4576070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The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860531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1800" y="4816081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The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45250"/>
            <a:ext cx="12581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1313" y="6429375"/>
            <a:ext cx="4710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CLOSING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3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3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550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What follows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parts, and what each one answers.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31950"/>
            <a:ext cx="3547466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397722"/>
            <a:ext cx="3547466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114550"/>
            <a:ext cx="3547466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The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00" y="2518372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Who we are and what we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00" y="273486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The numbers behind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01.3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900" y="295135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Thirty-one years of milestones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900" y="3167856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Where we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2166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166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2166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Project 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166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466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How the portfolio breaks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166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466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Semiconductor and 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2166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02.3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466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Data centre and EV battery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2166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02.4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466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The full reference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4833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833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4833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Safety, Quality and ESG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4833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03.1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133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The commitments we 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4833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03.2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133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Certifications and licences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4833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03.3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133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Builder of the Year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4833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03.4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133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How we are assessed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6445250"/>
            <a:ext cx="12828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4867" y="6429375"/>
            <a:ext cx="4274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AGENDA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3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3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550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31950"/>
            <a:ext cx="3547466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397722"/>
            <a:ext cx="3547466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114550"/>
            <a:ext cx="3547466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00" y="2518372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00" y="273486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01.3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900" y="295135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900" y="3167856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2166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166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2166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166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466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166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466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2166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02.3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466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2166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02.4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466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4833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833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4833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Part 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4833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03.1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133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4833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03.2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133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4833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03.3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133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4833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03.4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133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What this section answers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6445250"/>
            <a:ext cx="13017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4969" y="6429375"/>
            <a:ext cx="4274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AGENDA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645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In their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What the people who hired us say about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46400"/>
            <a:ext cx="7112000" cy="806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50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683000"/>
            <a:ext cx="7112000" cy="6381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75"/>
              </a:lnSpc>
            </a:pPr>
            <a:r>
              <a:rPr sz="1900" b="0" i="0" spc="-38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They self-performed the packages that usually slip. That is the whole reason the fab opened on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4483100"/>
            <a:ext cx="71120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622800"/>
            <a:ext cx="7112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Name of the person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794250"/>
            <a:ext cx="7112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 · CLIENT ORGANISATION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6400" y="1701800"/>
            <a:ext cx="3556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refs-crew.jpg"/>
          <p:cNvPicPr>
            <a:picLocks noChangeAspect="1"/>
          </p:cNvPicPr>
          <p:nvPr/>
        </p:nvPicPr>
        <p:blipFill>
          <a:blip r:embed="rId3"/>
          <a:srcRect l="5883" r="5883"/>
          <a:stretch>
            <a:fillRect/>
          </a:stretch>
        </p:blipFill>
        <p:spPr>
          <a:xfrm>
            <a:off x="8026400" y="1701800"/>
            <a:ext cx="3556000" cy="4648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6445250"/>
            <a:ext cx="12769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6902" y="6429375"/>
            <a:ext cx="3554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QUOTE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64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46400"/>
            <a:ext cx="7112000" cy="806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500" b="1" i="0">
                <a:solidFill>
                  <a:srgbClr val="64707A"/>
                </a:solidFill>
                <a:latin typeface="Poppins"/>
                <a:ea typeface="Poppins"/>
                <a:cs typeface="Poppin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683000"/>
            <a:ext cx="7112000" cy="6381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75"/>
              </a:lnSpc>
            </a:pPr>
            <a:r>
              <a:rPr sz="1900" b="0" i="0" spc="-38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The quotation, two lines at most. Cut it back until only the part worth repeating is left.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4483100"/>
            <a:ext cx="71120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622800"/>
            <a:ext cx="7112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4707A"/>
                </a:solidFill>
                <a:latin typeface="Urbanist SemiBold"/>
                <a:ea typeface="Urbanist SemiBold"/>
                <a:cs typeface="Urbanist SemiBold"/>
              </a:rPr>
              <a:t>Name of the person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794250"/>
            <a:ext cx="7112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ROLE · ORGANISATION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6400" y="1701800"/>
            <a:ext cx="3556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refs-crew.jpg"/>
          <p:cNvPicPr>
            <a:picLocks noChangeAspect="1"/>
          </p:cNvPicPr>
          <p:nvPr/>
        </p:nvPicPr>
        <p:blipFill>
          <a:blip r:embed="rId3"/>
          <a:srcRect l="5883" r="5883"/>
          <a:stretch>
            <a:fillRect/>
          </a:stretch>
        </p:blipFill>
        <p:spPr>
          <a:xfrm>
            <a:off x="8026400" y="1701800"/>
            <a:ext cx="3556000" cy="4648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6445250"/>
            <a:ext cx="129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6800" y="6429375"/>
            <a:ext cx="3554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QUOTE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85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same hall, before handover and in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567830" cy="1905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758950"/>
            <a:ext cx="56783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BEFORE</a:t>
            </a:r>
          </a:p>
        </p:txBody>
      </p:sp>
      <p:pic>
        <p:nvPicPr>
          <p:cNvPr id="13" name="Picture 12" descr="about-facility.jpg"/>
          <p:cNvPicPr>
            <a:picLocks noChangeAspect="1"/>
          </p:cNvPicPr>
          <p:nvPr/>
        </p:nvPicPr>
        <p:blipFill>
          <a:blip r:embed="rId3"/>
          <a:srcRect l="17639" r="17639"/>
          <a:stretch>
            <a:fillRect/>
          </a:stretch>
        </p:blipFill>
        <p:spPr>
          <a:xfrm>
            <a:off x="609600" y="1701800"/>
            <a:ext cx="5403850" cy="41746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Shell and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Structure complete, services roughed in, no classification yet.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55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8550" y="1701800"/>
            <a:ext cx="499370" cy="1905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8550" y="1758950"/>
            <a:ext cx="49937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AFTER</a:t>
            </a:r>
          </a:p>
        </p:txBody>
      </p:sp>
      <p:pic>
        <p:nvPicPr>
          <p:cNvPr id="19" name="Picture 18" descr="glance-cleanroom.jpg"/>
          <p:cNvPicPr>
            <a:picLocks noChangeAspect="1"/>
          </p:cNvPicPr>
          <p:nvPr/>
        </p:nvPicPr>
        <p:blipFill>
          <a:blip r:embed="rId4"/>
          <a:srcRect t="15233" b="15233"/>
          <a:stretch>
            <a:fillRect/>
          </a:stretch>
        </p:blipFill>
        <p:spPr>
          <a:xfrm>
            <a:off x="6178550" y="1701800"/>
            <a:ext cx="5403850" cy="417463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855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ISO 5 in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855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Classified, commissioned and handed over to the client’s team.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5250"/>
            <a:ext cx="13007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9080" y="6429375"/>
            <a:ext cx="10133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BEFORE AND AFTER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85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567830" cy="1905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758950"/>
            <a:ext cx="56783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BEFORE</a:t>
            </a:r>
          </a:p>
        </p:txBody>
      </p:sp>
      <p:pic>
        <p:nvPicPr>
          <p:cNvPr id="13" name="Picture 12" descr="about-facility.jpg"/>
          <p:cNvPicPr>
            <a:picLocks noChangeAspect="1"/>
          </p:cNvPicPr>
          <p:nvPr/>
        </p:nvPicPr>
        <p:blipFill>
          <a:blip r:embed="rId3"/>
          <a:srcRect l="17639" r="17639"/>
          <a:stretch>
            <a:fillRect/>
          </a:stretch>
        </p:blipFill>
        <p:spPr>
          <a:xfrm>
            <a:off x="609600" y="1701800"/>
            <a:ext cx="5403850" cy="41746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What it was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or two sentences on the state it started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55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8550" y="1701800"/>
            <a:ext cx="499370" cy="1905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8550" y="1758950"/>
            <a:ext cx="49937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AFTER</a:t>
            </a:r>
          </a:p>
        </p:txBody>
      </p:sp>
      <p:pic>
        <p:nvPicPr>
          <p:cNvPr id="19" name="Picture 18" descr="glance-cleanroom.jpg"/>
          <p:cNvPicPr>
            <a:picLocks noChangeAspect="1"/>
          </p:cNvPicPr>
          <p:nvPr/>
        </p:nvPicPr>
        <p:blipFill>
          <a:blip r:embed="rId4"/>
          <a:srcRect t="15233" b="15233"/>
          <a:stretch>
            <a:fillRect/>
          </a:stretch>
        </p:blipFill>
        <p:spPr>
          <a:xfrm>
            <a:off x="6178550" y="1701800"/>
            <a:ext cx="5403850" cy="417463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855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  <a:ea typeface="Poppins SemiBold"/>
                <a:cs typeface="Poppins SemiBold"/>
              </a:rPr>
              <a:t>What it became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855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One or two sentences on the state it ended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5250"/>
            <a:ext cx="13107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9080" y="6429375"/>
            <a:ext cx="10133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BEFORE AND 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