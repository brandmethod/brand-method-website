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fntdata" ContentType="application/x-fontdata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embeddedFontLst>
    <p:embeddedFont>
      <p:font typeface="League Spartan" pitchFamily="34" charset="0"/>
      <p:regular r:id="rId28"/>
    </p:embeddedFont>
    <p:embeddedFont>
      <p:font typeface="League Spartan Medium" pitchFamily="34" charset="0"/>
      <p:regular r:id="rId29"/>
    </p:embeddedFont>
    <p:embeddedFont>
      <p:font typeface="League Spartan SemiBold" pitchFamily="34" charset="0"/>
      <p:regular r:id="rId30"/>
    </p:embeddedFont>
    <p:embeddedFont>
      <p:font typeface="Poppins Medium" pitchFamily="34" charset="0"/>
      <p:regular r:id="rId31"/>
    </p:embeddedFont>
    <p:embeddedFont>
      <p:font typeface="Poppins SemiBold" pitchFamily="34" charset="0"/>
      <p:regular r:id="rId32"/>
    </p:embeddedFont>
    <p:embeddedFont>
      <p:font typeface="Poppins" pitchFamily="34" charset="0"/>
      <p:bold r:id="rId33"/>
    </p:embeddedFont>
    <p:embeddedFont>
      <p:font typeface="Urbanist" pitchFamily="34" charset="0"/>
      <p:regular r:id="rId34"/>
    </p:embeddedFont>
    <p:embeddedFont>
      <p:font typeface="Urbanist Medium" pitchFamily="34" charset="0"/>
      <p:regular r:id="rId35"/>
    </p:embeddedFont>
    <p:embeddedFont>
      <p:font typeface="Urbanist SemiBold" pitchFamily="34" charset="0"/>
      <p:regular r:id="rId3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Relationship Id="rId31" Type="http://schemas.openxmlformats.org/officeDocument/2006/relationships/font" Target="fonts/font31.fntdata"/><Relationship Id="rId32" Type="http://schemas.openxmlformats.org/officeDocument/2006/relationships/font" Target="fonts/font32.fntdata"/><Relationship Id="rId33" Type="http://schemas.openxmlformats.org/officeDocument/2006/relationships/font" Target="fonts/font33.fntdata"/><Relationship Id="rId34" Type="http://schemas.openxmlformats.org/officeDocument/2006/relationships/font" Target="fonts/font34.fntdata"/><Relationship Id="rId35" Type="http://schemas.openxmlformats.org/officeDocument/2006/relationships/font" Target="fonts/font35.fntdata"/><Relationship Id="rId36" Type="http://schemas.openxmlformats.org/officeDocument/2006/relationships/font" Target="fonts/font3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4" name="Picture 3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Master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Seventeen layouts to build a new slide from. Copy the page you need and type into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1610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300" y="175895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2400" y="178435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Open a deck or a chapter of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8550" y="181610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175895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Section divider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1350" y="178435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Open a new part of the deck.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0990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300" y="20419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Statement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2400" y="20673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argument, said plainly, with a photograph.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550" y="20990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2250" y="20419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Highlights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350" y="20673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figures that carry the page.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382044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300" y="2324894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Icon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2400" y="2350294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set of capabilities, services or principles.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8550" y="2382044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2324894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Comparison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1350" y="2350294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Two or three options read side by side.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665019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3300" y="2607869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Org chart · reporting tree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2400" y="2633269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reports to whom, three levels at most.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550" y="2665019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2607869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Org chart · flat team band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1350" y="2633269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team of peers, no hierarchy implied.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2947988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3300" y="2890838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Org chart · group 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2400" y="2916238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holding company and the businesses under 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550" y="2947988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72250" y="2890838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1350" y="2916238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Stages that run in order, start to finish.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3230963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300" y="3173813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Timeline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2400" y="3199213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Dates in order, with what happened at each.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8550" y="3230963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2250" y="3173813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Infographic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1350" y="3199213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visual in the middle, the parts around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3513931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300" y="3456781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Image and specs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92400" y="3482181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project or product, pictured and specified.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8550" y="3513931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72250" y="3456781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Programme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1350" y="3482181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Work packages against a calendar.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3796906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300" y="3739756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92400" y="3765156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Rows and columns, where the detail has to be exact.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8550" y="3796906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72250" y="3739756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Full-bleed image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1350" y="3765156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Let one photograph carry the page.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40798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3300" y="40227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Closing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92400" y="40481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End the deck: the ask, and how to reach you.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78550" y="40798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72250" y="40227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Agenda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1350" y="40481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deck covers, before it covers it.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436285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3300" y="430570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Quote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92400" y="433110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Let a client, or the board, say it instead of you.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78550" y="436285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72250" y="430570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Before and after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1350" y="433110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Two states of the same thing, side by side.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9600" y="6445250"/>
            <a:ext cx="13811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24000" y="6429375"/>
            <a:ext cx="558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CONTENTS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9427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119139"/>
            <a:ext cx="109728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6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KICKER · TWO OR THREE 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290589"/>
            <a:ext cx="6985000" cy="10242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one line this deck is about, eight words or fewer.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31011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sentence under it saying who it is for and what it covers.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856461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35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PREPARED FOR · CLIENT ·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147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9628" y="6429375"/>
            <a:ext cx="28277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048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3492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858" y="3381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88566"/>
            <a:ext cx="794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00 OF 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998066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398241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Section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51884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WHAT THIS PART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224934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38368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A fact worth leading with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58053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A second fact, the same length</a:t>
            </a:r>
          </a:p>
        </p:txBody>
      </p:sp>
      <p:pic>
        <p:nvPicPr>
          <p:cNvPr id="17" name="Picture 16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6445250"/>
            <a:ext cx="1352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6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6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1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The statement, two lines at most, said plainly.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41575"/>
            <a:ext cx="4310755" cy="339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Two or three sentences carrying the argument. Say what is true, what it is worth, and leave the rest to the next page.</a:t>
            </a:r>
          </a:p>
        </p:txBody>
      </p:sp>
      <p:pic>
        <p:nvPicPr>
          <p:cNvPr id="12" name="Picture 11" descr="glance-cleanroom.jpg"/>
          <p:cNvPicPr>
            <a:picLocks noChangeAspect="1"/>
          </p:cNvPicPr>
          <p:nvPr/>
        </p:nvPicPr>
        <p:blipFill>
          <a:blip r:embed="rId3"/>
          <a:srcRect t="86" b="86"/>
          <a:stretch>
            <a:fillRect/>
          </a:stretch>
        </p:blipFill>
        <p:spPr>
          <a:xfrm>
            <a:off x="7391400" y="1701800"/>
            <a:ext cx="4191000" cy="4648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6445250"/>
            <a:ext cx="1327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9075" y="6429375"/>
            <a:ext cx="5933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STATEMENT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54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54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6686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738438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500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4388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288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0288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unit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0288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9175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075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075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5075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43962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9862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9862" y="3643312"/>
            <a:ext cx="2306638" cy="692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9862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445250"/>
            <a:ext cx="1310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4523" y="6429375"/>
            <a:ext cx="6377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HIGHLIGHTS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01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2760662"/>
            <a:ext cx="203200" cy="2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35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6464" y="1758950"/>
            <a:ext cx="20468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2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577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2760662"/>
            <a:ext cx="203200" cy="203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911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11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1894" y="1758950"/>
            <a:ext cx="24685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48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53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900" y="2760662"/>
            <a:ext cx="203200" cy="203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487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87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153" y="1758950"/>
            <a:ext cx="254197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4029075"/>
            <a:ext cx="365760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100" y="4986338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5087938"/>
            <a:ext cx="203200" cy="203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33500" y="5018983"/>
            <a:ext cx="27432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3500" y="5227244"/>
            <a:ext cx="27432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7822" y="4086225"/>
            <a:ext cx="269678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72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672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577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5091112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9911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911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4831" y="4092575"/>
            <a:ext cx="263925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248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248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1153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900" y="5091112"/>
            <a:ext cx="203200" cy="2032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6487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87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75308" y="4092575"/>
            <a:ext cx="261042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1335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30534" y="6429375"/>
            <a:ext cx="6518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ICON CARDS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First option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3733" y="1701800"/>
            <a:ext cx="3564433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4233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4233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Second option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04233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4233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04233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4233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04233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04233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4233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4233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04233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4233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17866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8366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8366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Third option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08366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08366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08366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08366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8366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08366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08366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08366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08366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08366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445250"/>
            <a:ext cx="135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91736" y="6429375"/>
            <a:ext cx="6906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COMPARISON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2250" y="3175000"/>
            <a:ext cx="1587500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78131" y="330200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5558" y="339090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3028" y="3587750"/>
            <a:ext cx="122584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are accountable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829050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4044950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1094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837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500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772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906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649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312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6585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719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462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125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4397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531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274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9937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45250"/>
            <a:ext cx="1331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59581" y="6429375"/>
            <a:ext cx="16227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REPORTING TREE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2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2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45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2183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933" y="3609975"/>
            <a:ext cx="266700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86408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3878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1661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5411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07994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44" y="3609975"/>
            <a:ext cx="266700" cy="266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82219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9689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7472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1222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03798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2548" y="3609975"/>
            <a:ext cx="266700" cy="2667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78030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3283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97033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9609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359" y="3609975"/>
            <a:ext cx="266700" cy="2667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73841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1311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9094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92844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95420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4170" y="3609975"/>
            <a:ext cx="266700" cy="2667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369652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97122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4905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445250"/>
            <a:ext cx="1352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3964" y="6429375"/>
            <a:ext cx="1608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FLAT TEAM BAND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09083" y="2937866"/>
            <a:ext cx="1773733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85459" y="3064866"/>
            <a:ext cx="42098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HOLDING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4183" y="3153766"/>
            <a:ext cx="144353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Parent company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4009" y="3350616"/>
            <a:ext cx="76388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Incorporated 0000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591916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3807816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23" name="Oval 22"/>
          <p:cNvSpPr/>
          <p:nvPr/>
        </p:nvSpPr>
        <p:spPr>
          <a:xfrm>
            <a:off x="7620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25" name="Oval 24"/>
          <p:cNvSpPr/>
          <p:nvPr/>
        </p:nvSpPr>
        <p:spPr>
          <a:xfrm>
            <a:off x="7620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27" name="Oval 26"/>
          <p:cNvSpPr/>
          <p:nvPr/>
        </p:nvSpPr>
        <p:spPr>
          <a:xfrm>
            <a:off x="7620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45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69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69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32" name="Oval 31"/>
          <p:cNvSpPr/>
          <p:nvPr/>
        </p:nvSpPr>
        <p:spPr>
          <a:xfrm>
            <a:off x="35369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69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34" name="Oval 33"/>
          <p:cNvSpPr/>
          <p:nvPr/>
        </p:nvSpPr>
        <p:spPr>
          <a:xfrm>
            <a:off x="35369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369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36" name="Oval 35"/>
          <p:cNvSpPr/>
          <p:nvPr/>
        </p:nvSpPr>
        <p:spPr>
          <a:xfrm>
            <a:off x="35369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369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5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19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19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41" name="Oval 40"/>
          <p:cNvSpPr/>
          <p:nvPr/>
        </p:nvSpPr>
        <p:spPr>
          <a:xfrm>
            <a:off x="63119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19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43" name="Oval 42"/>
          <p:cNvSpPr/>
          <p:nvPr/>
        </p:nvSpPr>
        <p:spPr>
          <a:xfrm>
            <a:off x="63119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119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45" name="Oval 44"/>
          <p:cNvSpPr/>
          <p:nvPr/>
        </p:nvSpPr>
        <p:spPr>
          <a:xfrm>
            <a:off x="63119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119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44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868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868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50" name="Oval 49"/>
          <p:cNvSpPr/>
          <p:nvPr/>
        </p:nvSpPr>
        <p:spPr>
          <a:xfrm>
            <a:off x="90868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868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52" name="Oval 51"/>
          <p:cNvSpPr/>
          <p:nvPr/>
        </p:nvSpPr>
        <p:spPr>
          <a:xfrm>
            <a:off x="90868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868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54" name="Oval 53"/>
          <p:cNvSpPr/>
          <p:nvPr/>
        </p:nvSpPr>
        <p:spPr>
          <a:xfrm>
            <a:off x="90868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68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1353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9447" y="6429375"/>
            <a:ext cx="17328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GROUP STRUCTURE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9427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0972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500" y="1953419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PROCESS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400" y="1924050"/>
            <a:ext cx="711200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the process is and where it starts.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36083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9033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208" y="3822503"/>
            <a:ext cx="209550" cy="2095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1968798" y="3666928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8798" y="3692328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4089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1030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2044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34994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69" y="3822503"/>
            <a:ext cx="209550" cy="20955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75608" y="3666928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75608" y="3692328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0050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6991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8005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60948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123" y="3822503"/>
            <a:ext cx="209550" cy="20955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203950" y="3666928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3950" y="3692328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6005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295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13966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86909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7084" y="3822503"/>
            <a:ext cx="209550" cy="20955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331200" y="3666928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1200" y="3692328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1966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0891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42" name="Oval 41"/>
          <p:cNvSpPr/>
          <p:nvPr/>
        </p:nvSpPr>
        <p:spPr>
          <a:xfrm>
            <a:off x="10112870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3045" y="3822503"/>
            <a:ext cx="209550" cy="20955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10455377" y="3666928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55377" y="3692328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27927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34873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1147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07934" y="6429375"/>
            <a:ext cx="4743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PROCESS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1421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1421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5411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25873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" y="27955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8344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344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78283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78283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025900"/>
            <a:ext cx="1097280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0011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3661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19" name="Oval 18"/>
          <p:cNvSpPr/>
          <p:nvPr/>
        </p:nvSpPr>
        <p:spPr>
          <a:xfrm>
            <a:off x="3704533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98183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1" name="Oval 20"/>
          <p:cNvSpPr/>
          <p:nvPr/>
        </p:nvSpPr>
        <p:spPr>
          <a:xfrm>
            <a:off x="5899048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2698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3" name="Oval 22"/>
          <p:cNvSpPr/>
          <p:nvPr/>
        </p:nvSpPr>
        <p:spPr>
          <a:xfrm>
            <a:off x="8093672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7322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5" name="Oval 24"/>
          <p:cNvSpPr/>
          <p:nvPr/>
        </p:nvSpPr>
        <p:spPr>
          <a:xfrm>
            <a:off x="10288194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1844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8422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8422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8361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8361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45250"/>
            <a:ext cx="9138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8314" y="6429375"/>
            <a:ext cx="48408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TIMELINE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64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64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842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4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2357933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43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3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4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3936898"/>
            <a:ext cx="177800" cy="177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43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43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3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4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5515966"/>
            <a:ext cx="177800" cy="177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943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3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3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00500" y="1701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05044" y="3128569"/>
            <a:ext cx="138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CAPTION OVER THE VISUAL</a:t>
            </a:r>
          </a:p>
        </p:txBody>
      </p:sp>
      <p:pic>
        <p:nvPicPr>
          <p:cNvPr id="30" name="Picture 29" descr="fab-se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88" y="3369869"/>
            <a:ext cx="3809825" cy="12310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482408" y="4778673"/>
            <a:ext cx="3227089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under the visual saying what the whole thing adds up to.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56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1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2357933"/>
            <a:ext cx="177800" cy="177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90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0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0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56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51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3936898"/>
            <a:ext cx="177800" cy="1778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90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0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0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56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851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5515966"/>
            <a:ext cx="177800" cy="177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690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0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0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6445250"/>
            <a:ext cx="11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67231" y="6429375"/>
            <a:ext cx="7151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INFOGRAPHIC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29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29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169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6527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infineon-kulim.jpg"/>
          <p:cNvPicPr>
            <a:picLocks noChangeAspect="1"/>
          </p:cNvPicPr>
          <p:nvPr/>
        </p:nvPicPr>
        <p:blipFill>
          <a:blip r:embed="rId3"/>
          <a:srcRect l="2896" r="2896"/>
          <a:stretch>
            <a:fillRect/>
          </a:stretch>
        </p:blipFill>
        <p:spPr>
          <a:xfrm>
            <a:off x="609600" y="1701800"/>
            <a:ext cx="6527800" cy="4648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91400" y="3132830"/>
            <a:ext cx="419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LOCATION · WHAT KIND OF FACILITY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1400" y="3304280"/>
            <a:ext cx="41910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4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Project or product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4575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91400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1642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8467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8709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534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1400" y="4098627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3600" y="4054177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on what the job was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1400" y="433863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3600" y="429418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was in the contract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457864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3600" y="453419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Class or grade, if it applies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481865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3600" y="4774209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1094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23252" y="6429375"/>
            <a:ext cx="9591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IMAGE AND SPECS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15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15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27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800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10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572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3498" y="1701800"/>
            <a:ext cx="1456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98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60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1943100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072583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44800" y="1976044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44800" y="1976044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4733" y="2023669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2762942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892425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4800" y="2795886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01331" y="2795886"/>
            <a:ext cx="2912167" cy="165100"/>
          </a:xfrm>
          <a:prstGeom prst="rect">
            <a:avLst/>
          </a:prstGeom>
          <a:solidFill>
            <a:srgbClr val="EC2326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58279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712267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44800" y="3615728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56967" y="3615728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40263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453211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44800" y="4435577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13600" y="4435577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22248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5351958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44800" y="5255419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78228" y="5255419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604232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17180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44800" y="6075261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52052" y="6075261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0064" y="6122886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1076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31627" y="6429375"/>
            <a:ext cx="6506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PROGRAMME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664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4122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4122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8644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8644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93159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3159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7681" y="1701800"/>
            <a:ext cx="2194719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7681" y="1816100"/>
            <a:ext cx="2194719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4122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04122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98644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8644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93159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93159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87681" y="20066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7681" y="23041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4122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04122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98644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98644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93159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93159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87681" y="27305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87681" y="30280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4122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04122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8644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98644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93159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93159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87681" y="34544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87681" y="37519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9600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4122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04122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98644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98644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93159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93159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87681" y="41783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87681" y="44758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4122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04122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98644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98644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93159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93159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87681" y="49022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87681" y="51997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9600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04122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804122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98644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998644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93159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93159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87681" y="56261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87681" y="59236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445250"/>
            <a:ext cx="1101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270456" y="6429375"/>
            <a:ext cx="311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TABLE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645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pic>
        <p:nvPicPr>
          <p:cNvPr id="11" name="Picture 10" descr="cover-site.jpg"/>
          <p:cNvPicPr>
            <a:picLocks noChangeAspect="1"/>
          </p:cNvPicPr>
          <p:nvPr/>
        </p:nvPicPr>
        <p:blipFill>
          <a:blip r:embed="rId3"/>
          <a:srcRect t="20848" b="2084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4826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898034"/>
            <a:ext cx="3810000" cy="7545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592"/>
              </a:lnSpc>
            </a:pPr>
            <a:r>
              <a:rPr sz="2400" b="0" i="0" spc="-6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One line over the photograph.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746750"/>
            <a:ext cx="3810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sentence under it, if the line needs support. Otherwise leave it out.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120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0905" y="6429375"/>
            <a:ext cx="9914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FULL-BLEED IMAGE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664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014662"/>
            <a:ext cx="6985000" cy="584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closing line, six words or fewer.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715048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sentence saying what you want to happen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14049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1800" y="4096048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8050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1800" y="4336059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620520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1800" y="4576070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860531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4816081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445250"/>
            <a:ext cx="1097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1313" y="6429375"/>
            <a:ext cx="4710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CLOSING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3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3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550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31950"/>
            <a:ext cx="3547466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397722"/>
            <a:ext cx="3547466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114550"/>
            <a:ext cx="3547466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7900" y="2518372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900" y="273486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900" y="295135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900" y="3167856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2166" y="1631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2166" y="2397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2166" y="2114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2166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466" y="2518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2166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466" y="2734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2166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466" y="2951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2166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466" y="3167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34833" y="1631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34833" y="2397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4833" y="2114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4833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03133" y="2518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4833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03133" y="2734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833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03133" y="2951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34833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3133" y="3167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445250"/>
            <a:ext cx="11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4969" y="6429375"/>
            <a:ext cx="4274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AGENDA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64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946400"/>
            <a:ext cx="7112000" cy="806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500" b="1" i="0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683000"/>
            <a:ext cx="7112000" cy="6381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75"/>
              </a:lnSpc>
            </a:pPr>
            <a:r>
              <a:rPr sz="1900" b="0" i="0" spc="-38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The quotation, two lines at most. Cut it back until only the part worth repeating is left.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4483100"/>
            <a:ext cx="71120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622800"/>
            <a:ext cx="7112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Name of the person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94250"/>
            <a:ext cx="7112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 · ORGANISATION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26400" y="1701800"/>
            <a:ext cx="3556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refs-crew.jpg"/>
          <p:cNvPicPr>
            <a:picLocks noChangeAspect="1"/>
          </p:cNvPicPr>
          <p:nvPr/>
        </p:nvPicPr>
        <p:blipFill>
          <a:blip r:embed="rId3"/>
          <a:srcRect l="5883" r="5883"/>
          <a:stretch>
            <a:fillRect/>
          </a:stretch>
        </p:blipFill>
        <p:spPr>
          <a:xfrm>
            <a:off x="8026400" y="1701800"/>
            <a:ext cx="3556000" cy="4648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9600" y="6445250"/>
            <a:ext cx="1120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26902" y="6429375"/>
            <a:ext cx="3554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QUOTE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85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567830" cy="1905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1758950"/>
            <a:ext cx="56783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BEFORE</a:t>
            </a:r>
          </a:p>
        </p:txBody>
      </p:sp>
      <p:pic>
        <p:nvPicPr>
          <p:cNvPr id="13" name="Picture 12" descr="about-facility.jpg"/>
          <p:cNvPicPr>
            <a:picLocks noChangeAspect="1"/>
          </p:cNvPicPr>
          <p:nvPr/>
        </p:nvPicPr>
        <p:blipFill>
          <a:blip r:embed="rId3"/>
          <a:srcRect l="17639" r="17639"/>
          <a:stretch>
            <a:fillRect/>
          </a:stretch>
        </p:blipFill>
        <p:spPr>
          <a:xfrm>
            <a:off x="609600" y="1701800"/>
            <a:ext cx="5403850" cy="41746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5971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What it was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215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or two sentences on the state it started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8550" y="1701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8550" y="1701800"/>
            <a:ext cx="499370" cy="1905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8550" y="1758950"/>
            <a:ext cx="49937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AFTER</a:t>
            </a:r>
          </a:p>
        </p:txBody>
      </p:sp>
      <p:pic>
        <p:nvPicPr>
          <p:cNvPr id="19" name="Picture 18" descr="glance-cleanroom.jpg"/>
          <p:cNvPicPr>
            <a:picLocks noChangeAspect="1"/>
          </p:cNvPicPr>
          <p:nvPr/>
        </p:nvPicPr>
        <p:blipFill>
          <a:blip r:embed="rId4"/>
          <a:srcRect t="15233" b="15233"/>
          <a:stretch>
            <a:fillRect/>
          </a:stretch>
        </p:blipFill>
        <p:spPr>
          <a:xfrm>
            <a:off x="6178550" y="1701800"/>
            <a:ext cx="5403850" cy="417463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78550" y="5971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What it became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8550" y="6215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or two sentences on the state it ended 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445250"/>
            <a:ext cx="1352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9080" y="6429375"/>
            <a:ext cx="10133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BEFORE AND AFTER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