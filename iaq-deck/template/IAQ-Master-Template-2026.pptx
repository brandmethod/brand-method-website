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embeddedFontLst>
    <p:embeddedFont>
      <p:font typeface="League Spartan" pitchFamily="34" charset="0"/>
      <p:regular r:id="rId28"/>
    </p:embeddedFont>
    <p:embeddedFont>
      <p:font typeface="League Spartan Medium" pitchFamily="34" charset="0"/>
      <p:regular r:id="rId29"/>
    </p:embeddedFont>
    <p:embeddedFont>
      <p:font typeface="League Spartan SemiBold" pitchFamily="34" charset="0"/>
      <p:regular r:id="rId30"/>
    </p:embeddedFont>
    <p:embeddedFont>
      <p:font typeface="Poppins Medium" pitchFamily="34" charset="0"/>
      <p:regular r:id="rId31"/>
    </p:embeddedFont>
    <p:embeddedFont>
      <p:font typeface="Poppins SemiBold" pitchFamily="34" charset="0"/>
      <p:regular r:id="rId32"/>
    </p:embeddedFont>
    <p:embeddedFont>
      <p:font typeface="Poppins" pitchFamily="34" charset="0"/>
      <p:bold r:id="rId33"/>
    </p:embeddedFont>
    <p:embeddedFont>
      <p:font typeface="Urbanist" pitchFamily="34" charset="0"/>
      <p:regular r:id="rId34"/>
    </p:embeddedFont>
    <p:embeddedFont>
      <p:font typeface="Urbanist Medium" pitchFamily="34" charset="0"/>
      <p:regular r:id="rId35"/>
    </p:embeddedFont>
    <p:embeddedFont>
      <p:font typeface="Urbanist SemiBold" pitchFamily="34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font" Target="fonts/font28.fntdata"/><Relationship Id="rId29" Type="http://schemas.openxmlformats.org/officeDocument/2006/relationships/font" Target="fonts/font29.fntdata"/><Relationship Id="rId30" Type="http://schemas.openxmlformats.org/officeDocument/2006/relationships/font" Target="fonts/font30.fntdata"/><Relationship Id="rId31" Type="http://schemas.openxmlformats.org/officeDocument/2006/relationships/font" Target="fonts/font31.fntdata"/><Relationship Id="rId32" Type="http://schemas.openxmlformats.org/officeDocument/2006/relationships/font" Target="fonts/font32.fntdata"/><Relationship Id="rId33" Type="http://schemas.openxmlformats.org/officeDocument/2006/relationships/font" Target="fonts/font33.fntdata"/><Relationship Id="rId34" Type="http://schemas.openxmlformats.org/officeDocument/2006/relationships/font" Target="fonts/font34.fntdata"/><Relationship Id="rId35" Type="http://schemas.openxmlformats.org/officeDocument/2006/relationships/font" Target="fonts/font35.fntdata"/><Relationship Id="rId36" Type="http://schemas.openxmlformats.org/officeDocument/2006/relationships/font" Target="fonts/font3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4" name="Picture 3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EC2326"/>
                </a:solidFill>
                <a:latin typeface="Poppins SemiBold"/>
              </a:rPr>
              <a:t>Master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Every layout in the set. Copy the page you need and type into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81610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3300" y="1758950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2400" y="1784350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Open a deck or a chapter of one.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8550" y="181610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1758950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Section divider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1350" y="1784350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Open a new part of the deck.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2099075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300" y="2041925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Statement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2400" y="2067325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One argument, said plainly, with a photograph.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8550" y="2099075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2041925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Highlights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350" y="2067325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Three or four figures that carry the page.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2382044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300" y="2324894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Icon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2400" y="2350294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A set of capabilities, services or principles.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8550" y="2382044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0" y="2324894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1350" y="2350294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Two or three options read side by side.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2665019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300" y="2607869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Org chart · reporting tree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2400" y="2633269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Who reports to whom, three levels at most.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8550" y="2665019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2607869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Org chart · flat team band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1350" y="2633269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A team of peers, no hierarchy implied.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2947988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300" y="2890838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Org chart · group 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2400" y="2916238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A holding company and the businesses under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8550" y="2947988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72250" y="2890838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Process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1350" y="2916238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Stages that run in order, start to finish.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3230963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300" y="3173813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Timeline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2400" y="3199213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Dates in order, with what happened at each.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8550" y="3230963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2250" y="3173813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Infographic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1350" y="3199213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One visual in the middle, the parts around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" y="3513931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300" y="3456781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Image and specs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2400" y="3482181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One project or product, pictured and specified.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8550" y="3513931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2250" y="3456781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Programme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1350" y="3482181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Work packages against a calendar.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3796906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300" y="3739756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Table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92400" y="3765156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Rows and columns, where the detail has to be exact.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8550" y="3796906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72250" y="3739756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Full-bleed image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1350" y="3765156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Let one photograph carry the page.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4079875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3300" y="4022725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Closing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92400" y="4048125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End the deck: the ask, and how to reach you.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8550" y="4079875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72250" y="4022725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Agenda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61350" y="4048125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the deck covers, before it covers it.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600" y="436285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3300" y="4305700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Quote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92400" y="4331100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Let a client, or the board, say it instead of you.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78550" y="4362850"/>
            <a:ext cx="2921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91">
                <a:solidFill>
                  <a:srgbClr val="EC2326"/>
                </a:solidFill>
                <a:latin typeface="League Spartan SemiBold"/>
              </a:rPr>
              <a:t>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72250" y="4305700"/>
            <a:ext cx="15875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 spc="-17">
                <a:solidFill>
                  <a:srgbClr val="101A2B"/>
                </a:solidFill>
                <a:latin typeface="Poppins SemiBold"/>
              </a:rPr>
              <a:t>Before and after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61350" y="4331100"/>
            <a:ext cx="332105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Two states of the same thing, side by side.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600" y="6445250"/>
            <a:ext cx="13811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24000" y="6429375"/>
            <a:ext cx="55830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CONTENTS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23822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23822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9427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119139"/>
            <a:ext cx="10972800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68">
                <a:solidFill>
                  <a:srgbClr val="64707A"/>
                </a:solidFill>
                <a:latin typeface="League Spartan SemiBold"/>
              </a:rPr>
              <a:t>KICKER · TWO OR THREE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290589"/>
            <a:ext cx="6985000" cy="10242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465"/>
              </a:lnSpc>
            </a:pPr>
            <a:r>
              <a:rPr sz="3300" b="0" i="0" spc="-99">
                <a:solidFill>
                  <a:srgbClr val="FFFFFF"/>
                </a:solidFill>
                <a:latin typeface="Poppins SemiBold"/>
              </a:rPr>
              <a:t>The one line this deck is about, eight words or fewer.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31011"/>
            <a:ext cx="45720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64707A"/>
                </a:solidFill>
                <a:latin typeface="Urbanist"/>
              </a:rPr>
              <a:t>A sentence under it saying who it is for and what it covers.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856461"/>
            <a:ext cx="109728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35">
                <a:solidFill>
                  <a:srgbClr val="64707A"/>
                </a:solidFill>
                <a:latin typeface="League Spartan"/>
              </a:rPr>
              <a:t>PREPARED FOR · CLIENT ·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445250"/>
            <a:ext cx="1147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9628" y="6429375"/>
            <a:ext cx="28277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04800"/>
            <a:ext cx="2596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349250"/>
            <a:ext cx="2596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0858" y="3381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SECTION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188566"/>
            <a:ext cx="7949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56">
                <a:solidFill>
                  <a:srgbClr val="EC2326"/>
                </a:solidFill>
                <a:latin typeface="League Spartan SemiBold"/>
              </a:rPr>
              <a:t>PART 00 OF 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998066"/>
            <a:ext cx="5279428" cy="1695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0" b="1" i="0" spc="-475">
                <a:solidFill>
                  <a:srgbClr val="EC2326"/>
                </a:solidFill>
                <a:latin typeface="Poppins"/>
              </a:rPr>
              <a:t>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398241"/>
            <a:ext cx="5279428" cy="533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000" b="0" i="0" spc="-75">
                <a:solidFill>
                  <a:srgbClr val="FFFFFF"/>
                </a:solidFill>
                <a:latin typeface="Poppins SemiBold"/>
              </a:rPr>
              <a:t>Section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951884"/>
            <a:ext cx="5279428" cy="82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00" b="0" i="0" spc="140">
                <a:solidFill>
                  <a:srgbClr val="96A2B2"/>
                </a:solidFill>
                <a:latin typeface="League Spartan Medium"/>
              </a:rPr>
              <a:t>WHAT THIS PART COVERS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4224934"/>
            <a:ext cx="5279428" cy="635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383684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A fact worth leading with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80534"/>
            <a:ext cx="5279428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 Medium"/>
              </a:rPr>
              <a:t>A second fact, the same length</a:t>
            </a:r>
          </a:p>
        </p:txBody>
      </p:sp>
      <p:pic>
        <p:nvPicPr>
          <p:cNvPr id="17" name="Picture 16" descr="refs-cr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28" y="0"/>
            <a:ext cx="5947372" cy="685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445250"/>
            <a:ext cx="1352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69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69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17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51000"/>
            <a:ext cx="6273800" cy="71596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438"/>
              </a:lnSpc>
            </a:pPr>
            <a:r>
              <a:rPr sz="2300" b="0" i="0" spc="-46">
                <a:solidFill>
                  <a:srgbClr val="64707A"/>
                </a:solidFill>
                <a:latin typeface="Poppins SemiBold"/>
              </a:rPr>
              <a:t>The statement, two lines at most, said plainly.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441575"/>
            <a:ext cx="4310755" cy="33903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20"/>
              </a:lnSpc>
            </a:pPr>
            <a:r>
              <a:rPr sz="950" b="0" i="0">
                <a:solidFill>
                  <a:srgbClr val="64707A"/>
                </a:solidFill>
                <a:latin typeface="Urbanist"/>
              </a:rPr>
              <a:t>Two or three sentences carrying the argument. Say what is true, what it is worth, and leave the rest to the next page.</a:t>
            </a:r>
          </a:p>
        </p:txBody>
      </p:sp>
      <p:pic>
        <p:nvPicPr>
          <p:cNvPr id="12" name="Picture 11" descr="glance-cleanroom.jpg"/>
          <p:cNvPicPr>
            <a:picLocks noChangeAspect="1"/>
          </p:cNvPicPr>
          <p:nvPr/>
        </p:nvPicPr>
        <p:blipFill>
          <a:blip r:embed="rId3"/>
          <a:srcRect t="86" b="86"/>
          <a:stretch>
            <a:fillRect/>
          </a:stretch>
        </p:blipFill>
        <p:spPr>
          <a:xfrm>
            <a:off x="7391400" y="1701800"/>
            <a:ext cx="4191000" cy="4648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6445250"/>
            <a:ext cx="13275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89075" y="6429375"/>
            <a:ext cx="59333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5486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5486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6686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2738438" cy="4648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500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500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FFFFFF"/>
                </a:solidFill>
                <a:latin typeface="Poppins"/>
              </a:rPr>
              <a:t>00</a:t>
            </a:r>
            <a:r>
              <a:rPr sz="1100" b="0" i="0" spc="-156">
                <a:solidFill>
                  <a:srgbClr val="64707A"/>
                </a:solidFill>
                <a:latin typeface="Urbanist Medium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500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What the figure counts, one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4388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0288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0288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101A2B"/>
                </a:solidFill>
                <a:latin typeface="Poppins"/>
              </a:rPr>
              <a:t>00</a:t>
            </a:r>
            <a:r>
              <a:rPr sz="1100" b="0" i="0" spc="-156">
                <a:solidFill>
                  <a:srgbClr val="64707A"/>
                </a:solidFill>
                <a:latin typeface="Urbanist Medium"/>
              </a:rPr>
              <a:t>unit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0288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What the figure counts, one 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175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5075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5075" y="3643312"/>
            <a:ext cx="2306638" cy="6921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3704"/>
              </a:lnSpc>
            </a:pPr>
            <a:r>
              <a:rPr sz="3900" b="1" i="0" spc="-156">
                <a:solidFill>
                  <a:srgbClr val="101A2B"/>
                </a:solidFill>
                <a:latin typeface="Poppins"/>
              </a:rPr>
              <a:t>00</a:t>
            </a:r>
            <a:r>
              <a:rPr sz="1100" b="0" i="0" spc="-156">
                <a:solidFill>
                  <a:srgbClr val="64707A"/>
                </a:solidFill>
                <a:latin typeface="Urbanist Medium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5075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What the figure counts, one 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43962" y="1701800"/>
            <a:ext cx="2738438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9862" y="3592512"/>
            <a:ext cx="23066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9862" y="3643312"/>
            <a:ext cx="2306638" cy="692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900" b="1" i="0" spc="-156">
                <a:solidFill>
                  <a:srgbClr val="101A2B"/>
                </a:solidFill>
                <a:latin typeface="Poppins"/>
              </a:rPr>
              <a:t>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9862" y="4323359"/>
            <a:ext cx="2306638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What the figure counts, one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6445250"/>
            <a:ext cx="13107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44523" y="6429375"/>
            <a:ext cx="637781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HIGHLIGHTS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747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747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673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01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760662"/>
            <a:ext cx="203200" cy="2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335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6464" y="1758950"/>
            <a:ext cx="204686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577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2760662"/>
            <a:ext cx="203200" cy="203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911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11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1894" y="1758950"/>
            <a:ext cx="246856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4800" y="1701800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15300" y="265906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2760662"/>
            <a:ext cx="203200" cy="203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648700" y="269170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8700" y="289996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2153" y="1758950"/>
            <a:ext cx="254197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4029075"/>
            <a:ext cx="365760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0100" y="4986338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5087938"/>
            <a:ext cx="203200" cy="2032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33500" y="5018983"/>
            <a:ext cx="274320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3500" y="5227244"/>
            <a:ext cx="274320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57822" y="4086225"/>
            <a:ext cx="269678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67200" y="4029075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67200" y="4029075"/>
            <a:ext cx="36512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57700" y="498951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300" y="5091112"/>
            <a:ext cx="203200" cy="203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991100" y="502215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91100" y="523041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14831" y="4092575"/>
            <a:ext cx="263925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24800" y="4029075"/>
            <a:ext cx="3651250" cy="23209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24800" y="4029075"/>
            <a:ext cx="365125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15300" y="4989512"/>
            <a:ext cx="406400" cy="4064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03ee66e6a82835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6900" y="5091112"/>
            <a:ext cx="203200" cy="2032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648700" y="5022158"/>
            <a:ext cx="2736850" cy="158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80" b="0" i="0" spc="-11">
                <a:solidFill>
                  <a:srgbClr val="64707A"/>
                </a:solidFill>
                <a:latin typeface="Urbanist SemiBold"/>
              </a:rPr>
              <a:t>Item name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8700" y="5230419"/>
            <a:ext cx="2736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>
                <a:solidFill>
                  <a:srgbClr val="64707A"/>
                </a:solidFill>
                <a:latin typeface="Urbanist"/>
              </a:rPr>
              <a:t>What it covers, four or five words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75308" y="4092575"/>
            <a:ext cx="261042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1" i="0" spc="-68">
                <a:solidFill>
                  <a:srgbClr val="EC2326">
                    <a:alpha val="14000"/>
                  </a:srgbClr>
                </a:solidFill>
                <a:latin typeface="Poppins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133547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30534" y="6429375"/>
            <a:ext cx="65186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ICON CARDS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45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45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655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564433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OPTION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64707A"/>
                </a:solidFill>
                <a:latin typeface="Poppins SemiBold"/>
              </a:rPr>
              <a:t>First 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sentence saying what it 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point of difference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second point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third 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When to choose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13733" y="1701800"/>
            <a:ext cx="3564433" cy="46482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4233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OPTION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4233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64707A"/>
                </a:solidFill>
                <a:latin typeface="Poppins SemiBold"/>
              </a:rPr>
              <a:t>Second option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04233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4233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sentence saying what it is.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04233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4233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</a:rPr>
              <a:t>A point of difference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04233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4233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</a:rPr>
              <a:t>A second 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04233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4233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</a:rPr>
              <a:t>A third 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04233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4233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E7EBF0"/>
                </a:solidFill>
                <a:latin typeface="Urbanist"/>
              </a:rPr>
              <a:t>When to choose 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17866" y="1701800"/>
            <a:ext cx="3564433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8366" y="1905000"/>
            <a:ext cx="3183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38">
                <a:solidFill>
                  <a:srgbClr val="64707A"/>
                </a:solidFill>
                <a:latin typeface="League Spartan SemiBold"/>
              </a:rPr>
              <a:t>OPTION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8366" y="2082800"/>
            <a:ext cx="318343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300" b="0" i="0" spc="-26">
                <a:solidFill>
                  <a:srgbClr val="64707A"/>
                </a:solidFill>
                <a:latin typeface="Poppins SemiBold"/>
              </a:rPr>
              <a:t>Third option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8366" y="2691708"/>
            <a:ext cx="3183433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08366" y="2437708"/>
            <a:ext cx="3183433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sentence saying what it is.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08366" y="288220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08366" y="283775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point of difference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08366" y="3111398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8366" y="3066948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second point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08366" y="3340595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8366" y="3296145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A third point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08366" y="3569792"/>
            <a:ext cx="44450" cy="444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08366" y="3525342"/>
            <a:ext cx="3183433" cy="127000"/>
          </a:xfrm>
          <a:prstGeom prst="rect">
            <a:avLst/>
          </a:prstGeom>
          <a:noFill/>
        </p:spPr>
        <p:txBody>
          <a:bodyPr wrap="none" lIns="139700" rIns="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When to choose 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600" y="6445250"/>
            <a:ext cx="1354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91736" y="6429375"/>
            <a:ext cx="6906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747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7473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8673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2250" y="3175000"/>
            <a:ext cx="1587500" cy="65405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8131" y="330200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5558" y="339090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3028" y="3587750"/>
            <a:ext cx="1225848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are accountable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650" y="3829050"/>
            <a:ext cx="12700" cy="2159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1200" y="4044950"/>
            <a:ext cx="82296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748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80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612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04450" y="4057650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10944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8370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5002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7725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9069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6495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3127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5850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7194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4620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21252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43975" y="4222750"/>
            <a:ext cx="2638425" cy="654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5319" y="4349750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2745" y="4438650"/>
            <a:ext cx="1080789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 or function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9377" y="4635500"/>
            <a:ext cx="32752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6445250"/>
            <a:ext cx="13315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9581" y="6429375"/>
            <a:ext cx="162272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ORG CHART · REPORTING TREE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2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2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45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12183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933" y="3609975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86408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3878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1661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5411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07994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744" y="3609975"/>
            <a:ext cx="26670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82219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9689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7472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1222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03798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548" y="3609975"/>
            <a:ext cx="266700" cy="2667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78030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5500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93283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97033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99609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359" y="3609975"/>
            <a:ext cx="266700" cy="2667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3841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01311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89094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92844" y="3260725"/>
            <a:ext cx="2189461" cy="1530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95420" y="3451225"/>
            <a:ext cx="584200" cy="5842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6" name="Picture 35" descr="eaec8c1aaf262d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170" y="3609975"/>
            <a:ext cx="266700" cy="2667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369652" y="4111625"/>
            <a:ext cx="235744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ROLE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97122" y="4244975"/>
            <a:ext cx="38080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Name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84905" y="4486275"/>
            <a:ext cx="605333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What they 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" y="6445250"/>
            <a:ext cx="1352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73964" y="6429375"/>
            <a:ext cx="16083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ORG CHART · FLAT TEAM BAND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45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45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655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09083" y="2937866"/>
            <a:ext cx="1773733" cy="65405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5459" y="3064866"/>
            <a:ext cx="420986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HOLDING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4183" y="3153766"/>
            <a:ext cx="1443533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00" b="0" i="0" spc="-20">
                <a:solidFill>
                  <a:srgbClr val="64707A"/>
                </a:solidFill>
                <a:latin typeface="Poppins SemiBold"/>
              </a:rPr>
              <a:t>Parent company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4009" y="3350616"/>
            <a:ext cx="763886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Incorporated 0000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650" y="3591916"/>
            <a:ext cx="12700" cy="2159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81200" y="3807816"/>
            <a:ext cx="82296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748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180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612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04450" y="3820516"/>
            <a:ext cx="1270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COMPANY 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</a:rPr>
              <a:t>Business name</a:t>
            </a:r>
          </a:p>
        </p:txBody>
      </p:sp>
      <p:sp>
        <p:nvSpPr>
          <p:cNvPr id="23" name="Oval 22"/>
          <p:cNvSpPr/>
          <p:nvPr/>
        </p:nvSpPr>
        <p:spPr>
          <a:xfrm>
            <a:off x="76200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00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25" name="Oval 24"/>
          <p:cNvSpPr/>
          <p:nvPr/>
        </p:nvSpPr>
        <p:spPr>
          <a:xfrm>
            <a:off x="76200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00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27" name="Oval 26"/>
          <p:cNvSpPr/>
          <p:nvPr/>
        </p:nvSpPr>
        <p:spPr>
          <a:xfrm>
            <a:off x="76200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Where it works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455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695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COMPANY 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695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</a:rPr>
              <a:t>Business name</a:t>
            </a:r>
          </a:p>
        </p:txBody>
      </p:sp>
      <p:sp>
        <p:nvSpPr>
          <p:cNvPr id="32" name="Oval 31"/>
          <p:cNvSpPr/>
          <p:nvPr/>
        </p:nvSpPr>
        <p:spPr>
          <a:xfrm>
            <a:off x="353695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695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34" name="Oval 33"/>
          <p:cNvSpPr/>
          <p:nvPr/>
        </p:nvSpPr>
        <p:spPr>
          <a:xfrm>
            <a:off x="353695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3695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36" name="Oval 35"/>
          <p:cNvSpPr/>
          <p:nvPr/>
        </p:nvSpPr>
        <p:spPr>
          <a:xfrm>
            <a:off x="353695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3695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Where it works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5950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190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COMPANY 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190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</a:rPr>
              <a:t>Business name</a:t>
            </a:r>
          </a:p>
        </p:txBody>
      </p:sp>
      <p:sp>
        <p:nvSpPr>
          <p:cNvPr id="41" name="Oval 40"/>
          <p:cNvSpPr/>
          <p:nvPr/>
        </p:nvSpPr>
        <p:spPr>
          <a:xfrm>
            <a:off x="631190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1190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43" name="Oval 42"/>
          <p:cNvSpPr/>
          <p:nvPr/>
        </p:nvSpPr>
        <p:spPr>
          <a:xfrm>
            <a:off x="631190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1190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45" name="Oval 44"/>
          <p:cNvSpPr/>
          <p:nvPr/>
        </p:nvSpPr>
        <p:spPr>
          <a:xfrm>
            <a:off x="631190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1190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Where it works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4450" y="3985616"/>
            <a:ext cx="2647950" cy="1128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86850" y="4138016"/>
            <a:ext cx="234315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COMPANY 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86850" y="4245966"/>
            <a:ext cx="23431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 spc="-20">
                <a:solidFill>
                  <a:srgbClr val="64707A"/>
                </a:solidFill>
                <a:latin typeface="Poppins SemiBold"/>
              </a:rPr>
              <a:t>Business name</a:t>
            </a:r>
          </a:p>
        </p:txBody>
      </p:sp>
      <p:sp>
        <p:nvSpPr>
          <p:cNvPr id="50" name="Oval 49"/>
          <p:cNvSpPr/>
          <p:nvPr/>
        </p:nvSpPr>
        <p:spPr>
          <a:xfrm>
            <a:off x="9086850" y="4544416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86850" y="4499966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52" name="Oval 51"/>
          <p:cNvSpPr/>
          <p:nvPr/>
        </p:nvSpPr>
        <p:spPr>
          <a:xfrm>
            <a:off x="9086850" y="4713091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6850" y="4668641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does</a:t>
            </a:r>
          </a:p>
        </p:txBody>
      </p:sp>
      <p:sp>
        <p:nvSpPr>
          <p:cNvPr id="54" name="Oval 53"/>
          <p:cNvSpPr/>
          <p:nvPr/>
        </p:nvSpPr>
        <p:spPr>
          <a:xfrm>
            <a:off x="9086850" y="4881759"/>
            <a:ext cx="38100" cy="38100"/>
          </a:xfrm>
          <a:prstGeom prst="ellipse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86850" y="4837309"/>
            <a:ext cx="2343150" cy="114300"/>
          </a:xfrm>
          <a:prstGeom prst="rect">
            <a:avLst/>
          </a:prstGeom>
          <a:noFill/>
        </p:spPr>
        <p:txBody>
          <a:bodyPr wrap="none" lIns="10160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Where it works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" y="6445250"/>
            <a:ext cx="1353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49447" y="6429375"/>
            <a:ext cx="173285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ORG CHART · GROUP 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822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8227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9427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109728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701800"/>
            <a:ext cx="10972800" cy="1905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500" y="1953419"/>
            <a:ext cx="165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PROCESS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2400" y="1924050"/>
            <a:ext cx="7112000" cy="133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80" b="0" i="0">
                <a:solidFill>
                  <a:srgbClr val="64707A"/>
                </a:solidFill>
                <a:latin typeface="Urbanist"/>
              </a:rPr>
              <a:t>One sentence saying what the process is and where it starts.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36083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09033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208" y="3822503"/>
            <a:ext cx="209550" cy="20955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968798" y="3666928"/>
            <a:ext cx="160934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8798" y="3692328"/>
            <a:ext cx="160934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4089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1030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2044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734994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5169" y="3822503"/>
            <a:ext cx="209550" cy="2095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75608" y="3666928"/>
            <a:ext cx="18008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75608" y="3692328"/>
            <a:ext cx="18008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0050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56991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8005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860948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123" y="3822503"/>
            <a:ext cx="209550" cy="20955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203950" y="3666928"/>
            <a:ext cx="177698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03950" y="3692328"/>
            <a:ext cx="177698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76005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2952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13966" y="3952678"/>
            <a:ext cx="1452861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6909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7084" y="3822503"/>
            <a:ext cx="209550" cy="20955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8331200" y="3666928"/>
            <a:ext cx="176409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31200" y="3692328"/>
            <a:ext cx="176409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1966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08912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42" name="Oval 41"/>
          <p:cNvSpPr/>
          <p:nvPr/>
        </p:nvSpPr>
        <p:spPr>
          <a:xfrm>
            <a:off x="10112870" y="3692328"/>
            <a:ext cx="469900" cy="4699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Picture 42" descr="f708961398c251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045" y="3822503"/>
            <a:ext cx="209550" cy="20955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0455377" y="3666928"/>
            <a:ext cx="178200" cy="123825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55377" y="3692328"/>
            <a:ext cx="178200" cy="76200"/>
          </a:xfrm>
          <a:prstGeom prst="rect">
            <a:avLst/>
          </a:prstGeom>
          <a:noFill/>
        </p:spPr>
        <p:txBody>
          <a:bodyPr wrap="none" lIns="38100" rIns="38100" tIns="0" bIns="0" anchor="ctr">
            <a:noAutofit/>
          </a:bodyPr>
          <a:lstStyle/>
          <a:p>
            <a:pPr algn="ctr"/>
            <a:r>
              <a:rPr sz="620" b="0" i="0" spc="50">
                <a:solidFill>
                  <a:srgbClr val="FFFFFF"/>
                </a:solidFill>
                <a:latin typeface="League Spartan SemiBold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7927" y="4276528"/>
            <a:ext cx="839889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100" b="0" i="0" spc="-22">
                <a:solidFill>
                  <a:srgbClr val="64707A"/>
                </a:solidFill>
                <a:latin typeface="Poppins SemiBold"/>
              </a:rPr>
              <a:t>Stage name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4873" y="4538764"/>
            <a:ext cx="8259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50" b="0" i="0">
                <a:solidFill>
                  <a:srgbClr val="64707A"/>
                </a:solidFill>
                <a:latin typeface="Urbanist"/>
              </a:rPr>
              <a:t>Three or four words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600" y="6445250"/>
            <a:ext cx="1147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7934" y="6429375"/>
            <a:ext cx="47436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14211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14211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5411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25873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" y="27955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344" y="2587327"/>
            <a:ext cx="1915217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344" y="2795588"/>
            <a:ext cx="191521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8283" y="2587327"/>
            <a:ext cx="1915217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8283" y="2795588"/>
            <a:ext cx="1915217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4025900"/>
            <a:ext cx="10972800" cy="12700"/>
          </a:xfrm>
          <a:prstGeom prst="rect">
            <a:avLst/>
          </a:prstGeom>
          <a:solidFill>
            <a:srgbClr val="EC2326">
              <a:alpha val="24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10011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3661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19" name="Oval 18"/>
          <p:cNvSpPr/>
          <p:nvPr/>
        </p:nvSpPr>
        <p:spPr>
          <a:xfrm>
            <a:off x="3704533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98183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1" name="Oval 20"/>
          <p:cNvSpPr/>
          <p:nvPr/>
        </p:nvSpPr>
        <p:spPr>
          <a:xfrm>
            <a:off x="5899048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2698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3" name="Oval 22"/>
          <p:cNvSpPr/>
          <p:nvPr/>
        </p:nvSpPr>
        <p:spPr>
          <a:xfrm>
            <a:off x="8093672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7322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5" name="Oval 24"/>
          <p:cNvSpPr/>
          <p:nvPr/>
        </p:nvSpPr>
        <p:spPr>
          <a:xfrm>
            <a:off x="10288194" y="3829050"/>
            <a:ext cx="393700" cy="393700"/>
          </a:xfrm>
          <a:prstGeom prst="ellipse">
            <a:avLst/>
          </a:prstGeom>
          <a:solidFill>
            <a:srgbClr val="F6F7F9"/>
          </a:solidFill>
          <a:ln w="1270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1844" y="3978275"/>
            <a:ext cx="406400" cy="95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00" b="0" i="0" spc="48">
                <a:solidFill>
                  <a:srgbClr val="64707A"/>
                </a:solidFill>
                <a:latin typeface="League Spartan SemiBold"/>
              </a:rPr>
              <a:t>0000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18422" y="51146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8422" y="53228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8361" y="5114627"/>
            <a:ext cx="1915122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 i="0" spc="-19">
                <a:solidFill>
                  <a:srgbClr val="64707A"/>
                </a:solidFill>
                <a:latin typeface="Poppins SemiBold"/>
              </a:rPr>
              <a:t>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8361" y="5322888"/>
            <a:ext cx="1915122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720" b="0" i="0">
                <a:solidFill>
                  <a:srgbClr val="64707A"/>
                </a:solidFill>
                <a:latin typeface="Urbanist"/>
              </a:rPr>
              <a:t>One line on what happened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6445250"/>
            <a:ext cx="9138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8314" y="6429375"/>
            <a:ext cx="48408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TIMELINE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5642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5642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842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3225800" cy="1490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4900" y="2269033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357933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43100" y="225643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233263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43100" y="251291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280766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4900" y="384799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3936898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943100" y="383540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3100" y="3911600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3100" y="4091883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4859833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4900" y="5427066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5515966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943100" y="5414467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3100" y="5490667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3100" y="567095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00500" y="1701800"/>
            <a:ext cx="4191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5044" y="3128569"/>
            <a:ext cx="13819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50" b="0" i="0" spc="130">
                <a:solidFill>
                  <a:srgbClr val="64707A"/>
                </a:solidFill>
                <a:latin typeface="League Spartan SemiBold"/>
              </a:rPr>
              <a:t>CAPTION OVER THE VISUAL</a:t>
            </a:r>
          </a:p>
        </p:txBody>
      </p:sp>
      <p:pic>
        <p:nvPicPr>
          <p:cNvPr id="30" name="Picture 29" descr="fab-se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88" y="3369869"/>
            <a:ext cx="3809825" cy="123100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482408" y="4778673"/>
            <a:ext cx="3227089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819" b="0" i="0">
                <a:solidFill>
                  <a:srgbClr val="64707A"/>
                </a:solidFill>
                <a:latin typeface="Urbanist"/>
              </a:rPr>
              <a:t>One sentence under the visual saying what the whole thing adds up 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56600" y="1701800"/>
            <a:ext cx="3225800" cy="14900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51900" y="2269033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2357933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90100" y="2256434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0100" y="2332634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0100" y="2512911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6600" y="3280766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51900" y="3847998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3936898"/>
            <a:ext cx="177800" cy="1778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690100" y="3835400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0100" y="3911600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0100" y="4091883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56600" y="4859833"/>
            <a:ext cx="3225800" cy="14901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51900" y="5427066"/>
            <a:ext cx="355600" cy="355600"/>
          </a:xfrm>
          <a:prstGeom prst="ellipse">
            <a:avLst/>
          </a:prstGeom>
          <a:solidFill>
            <a:srgbClr val="EC2326">
              <a:alpha val="7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82ae29156ce4de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0800" y="5515966"/>
            <a:ext cx="177800" cy="1778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690100" y="5414467"/>
            <a:ext cx="1752600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00" b="0" i="0" spc="120">
                <a:solidFill>
                  <a:srgbClr val="64707A"/>
                </a:solidFill>
                <a:latin typeface="League Spartan SemiBold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0100" y="5490667"/>
            <a:ext cx="1752600" cy="171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80" b="0" i="0" spc="-20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0100" y="5670950"/>
            <a:ext cx="1752600" cy="114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20" b="0" i="0">
                <a:solidFill>
                  <a:srgbClr val="64707A"/>
                </a:solidFill>
                <a:latin typeface="Urbanist"/>
              </a:rPr>
              <a:t>What it covers, four words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9600" y="6445250"/>
            <a:ext cx="1119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67231" y="6429375"/>
            <a:ext cx="71516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INFOGRAPHIC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2969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2969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169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65278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nfineon-kulim.jpg"/>
          <p:cNvPicPr>
            <a:picLocks noChangeAspect="1"/>
          </p:cNvPicPr>
          <p:nvPr/>
        </p:nvPicPr>
        <p:blipFill>
          <a:blip r:embed="rId3"/>
          <a:srcRect l="2896" r="2896"/>
          <a:stretch>
            <a:fillRect/>
          </a:stretch>
        </p:blipFill>
        <p:spPr>
          <a:xfrm>
            <a:off x="609600" y="1701800"/>
            <a:ext cx="6527800" cy="4648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91400" y="3132830"/>
            <a:ext cx="4191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50" b="0" i="0" spc="143">
                <a:solidFill>
                  <a:srgbClr val="64707A"/>
                </a:solidFill>
                <a:latin typeface="League Spartan SemiBold"/>
              </a:rPr>
              <a:t>LOCATION · WHAT KIND OF FACILITY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1400" y="3304280"/>
            <a:ext cx="41910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42">
                <a:solidFill>
                  <a:srgbClr val="64707A"/>
                </a:solidFill>
                <a:latin typeface="Poppins SemiBold"/>
              </a:rPr>
              <a:t>Project or product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94575" y="3714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1400" y="3762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</a:rPr>
              <a:t>SERVICE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11642" y="3714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8467" y="3762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</a:rPr>
              <a:t>SERVICE 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8709" y="3714452"/>
            <a:ext cx="759917" cy="165100"/>
          </a:xfrm>
          <a:prstGeom prst="rect">
            <a:avLst/>
          </a:prstGeom>
          <a:noFill/>
          <a:ln w="6350">
            <a:solidFill>
              <a:srgbClr val="EC232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534" y="3762077"/>
            <a:ext cx="766267" cy="69850"/>
          </a:xfrm>
          <a:prstGeom prst="rect">
            <a:avLst/>
          </a:prstGeom>
          <a:noFill/>
        </p:spPr>
        <p:txBody>
          <a:bodyPr wrap="none" lIns="76200" rIns="76200" tIns="0" bIns="0" anchor="ctr">
            <a:noAutofit/>
          </a:bodyPr>
          <a:lstStyle/>
          <a:p>
            <a:pPr algn="l"/>
            <a:r>
              <a:rPr sz="600" b="0" i="0" spc="96">
                <a:solidFill>
                  <a:srgbClr val="64707A"/>
                </a:solidFill>
                <a:latin typeface="League Spartan SemiBold"/>
              </a:rPr>
              <a:t>SERVICE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1400" y="4098627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3600" y="4054177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One sentence on what the job was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400" y="433863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3600" y="4294188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What was in the 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1400" y="457864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CLEANROOM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3600" y="4534198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Class or grade, if it applies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1400" y="4818659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64707A"/>
                </a:solidFill>
                <a:latin typeface="League Spartan SemiBold"/>
              </a:rPr>
              <a:t>COMPLETED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3600" y="4774209"/>
            <a:ext cx="3098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"/>
              </a:rPr>
              <a:t>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445250"/>
            <a:ext cx="1094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3252" y="6429375"/>
            <a:ext cx="95914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IMAGE AND SPECS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157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157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77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44800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1033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7266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3498" y="1701800"/>
            <a:ext cx="14563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9833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6066" y="1701800"/>
            <a:ext cx="1456233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943100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072583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44800" y="1976044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44800" y="1976044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4733" y="2023669"/>
            <a:ext cx="38874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80">
                <a:solidFill>
                  <a:srgbClr val="FFFFFF"/>
                </a:solidFill>
                <a:latin typeface="League Spartan SemiBold"/>
              </a:rPr>
              <a:t>Milestone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2762942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2892425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44800" y="2795886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01331" y="2795886"/>
            <a:ext cx="2912167" cy="165100"/>
          </a:xfrm>
          <a:prstGeom prst="rect">
            <a:avLst/>
          </a:prstGeom>
          <a:solidFill>
            <a:srgbClr val="EC2326">
              <a:alpha val="22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3582791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3712267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44800" y="3615728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56967" y="3615728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600" y="4402633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4532116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4800" y="4435577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13600" y="4435577"/>
            <a:ext cx="2912167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5222481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5351958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44800" y="5255419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78228" y="5255419"/>
            <a:ext cx="233025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" y="6042323"/>
            <a:ext cx="20955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101A2B"/>
                </a:solidFill>
                <a:latin typeface="Urbanist SemiBold"/>
              </a:rPr>
              <a:t>Work package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600" y="6171806"/>
            <a:ext cx="2095500" cy="101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>
                <a:solidFill>
                  <a:srgbClr val="64707A"/>
                </a:solidFill>
                <a:latin typeface="Urbanist"/>
              </a:rPr>
              <a:t>What is in 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44800" y="6075261"/>
            <a:ext cx="8737600" cy="165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52052" y="6075261"/>
            <a:ext cx="2330253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0064" y="6122886"/>
            <a:ext cx="388741" cy="69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580" b="0" i="0" spc="80">
                <a:solidFill>
                  <a:srgbClr val="FFFFFF"/>
                </a:solidFill>
                <a:latin typeface="League Spartan SemiBold"/>
              </a:rPr>
              <a:t>Milestone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6445250"/>
            <a:ext cx="107652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31627" y="6429375"/>
            <a:ext cx="65067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PROGRAMME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34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34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4664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04122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4122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98644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644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93159" y="1701800"/>
            <a:ext cx="2194522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3159" y="1816100"/>
            <a:ext cx="2194522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87681" y="1701800"/>
            <a:ext cx="2194719" cy="3048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7681" y="1816100"/>
            <a:ext cx="2194719" cy="762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650" b="0" i="0" spc="117">
                <a:solidFill>
                  <a:srgbClr val="FFFFFF"/>
                </a:solidFill>
                <a:latin typeface="League Spartan SemiBold"/>
              </a:rPr>
              <a:t>COLUMN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4122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04122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98644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98644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93159" y="20066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3159" y="23041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87681" y="20066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87681" y="23041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600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4122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04122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98644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98644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93159" y="27305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93159" y="30280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87681" y="27305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87681" y="30280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04122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04122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98644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98644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93159" y="34544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93159" y="37519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87681" y="34544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87681" y="37519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9600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600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04122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04122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98644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98644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93159" y="41783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93159" y="44758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87681" y="41783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87681" y="44758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9600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04122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04122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98644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98644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93159" y="4902200"/>
            <a:ext cx="2194522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93159" y="51997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87681" y="4902200"/>
            <a:ext cx="2194719" cy="723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87681" y="51997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9600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9600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Row label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04122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04122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98644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998644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93159" y="5626100"/>
            <a:ext cx="2194522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93159" y="5923655"/>
            <a:ext cx="2194522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"/>
              </a:rPr>
              <a:t>Value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87681" y="5626100"/>
            <a:ext cx="2194719" cy="7239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87681" y="5923655"/>
            <a:ext cx="2194719" cy="127000"/>
          </a:xfrm>
          <a:prstGeom prst="rect">
            <a:avLst/>
          </a:prstGeom>
          <a:noFill/>
        </p:spPr>
        <p:txBody>
          <a:bodyPr wrap="none" lIns="139700" rIns="139700" tIns="0" bIns="0" anchor="ctr">
            <a:noAutofit/>
          </a:bodyPr>
          <a:lstStyle/>
          <a:p>
            <a:pPr algn="l"/>
            <a:r>
              <a:rPr sz="819" b="0" i="0">
                <a:solidFill>
                  <a:srgbClr val="64707A"/>
                </a:solidFill>
                <a:latin typeface="Urbanist SemiBold"/>
              </a:rPr>
              <a:t>Called out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" y="6445250"/>
            <a:ext cx="1101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270456" y="6429375"/>
            <a:ext cx="31194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TABLE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23544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23544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645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pic>
        <p:nvPicPr>
          <p:cNvPr id="11" name="Picture 10" descr="cover-site.jpg"/>
          <p:cNvPicPr>
            <a:picLocks noChangeAspect="1"/>
          </p:cNvPicPr>
          <p:nvPr/>
        </p:nvPicPr>
        <p:blipFill>
          <a:blip r:embed="rId3"/>
          <a:srcRect t="20848" b="208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4826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898034"/>
            <a:ext cx="3810000" cy="75455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92"/>
              </a:lnSpc>
            </a:pPr>
            <a:r>
              <a:rPr sz="2400" b="0" i="0" spc="-60">
                <a:solidFill>
                  <a:srgbClr val="FFFFFF"/>
                </a:solidFill>
                <a:latin typeface="Poppins SemiBold"/>
              </a:rPr>
              <a:t>One line over the photograph.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746750"/>
            <a:ext cx="38100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E7EBF0"/>
                </a:solidFill>
                <a:latin typeface="Urbanist"/>
              </a:rPr>
              <a:t>A sentence under it, if the line needs support. Otherwise leave it 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445250"/>
            <a:ext cx="11202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90905" y="6429375"/>
            <a:ext cx="991495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FULL-BLEED IMAGE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48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056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564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7200"/>
            <a:ext cx="1701800" cy="38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81000"/>
            <a:ext cx="233464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25450"/>
            <a:ext cx="233464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664" y="414338"/>
            <a:ext cx="2788742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E7EBF0"/>
                </a:solidFill>
                <a:latin typeface="League Spartan SemiBold"/>
              </a:rPr>
              <a:t>IAQ TECHNOLOGY INTERNATIONAL SDN BHD</a:t>
            </a:r>
          </a:p>
        </p:txBody>
      </p:sp>
      <p:pic>
        <p:nvPicPr>
          <p:cNvPr id="10" name="Picture 9" descr="iaq-logo-tag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014662"/>
            <a:ext cx="6985000" cy="584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3300" b="0" i="0" spc="-99">
                <a:solidFill>
                  <a:srgbClr val="FFFFFF"/>
                </a:solidFill>
                <a:latin typeface="Poppins SemiBold"/>
              </a:rPr>
              <a:t>The closing line, six words or fewer.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715048"/>
            <a:ext cx="4572000" cy="152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00" b="0" i="0">
                <a:solidFill>
                  <a:srgbClr val="64707A"/>
                </a:solidFill>
                <a:latin typeface="Urbanist"/>
              </a:rPr>
              <a:t>A sentence saying what you want to happen next.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40498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1800" y="4096048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380509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1800" y="4336059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4620520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1800" y="4576070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860531"/>
            <a:ext cx="9525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12">
                <a:solidFill>
                  <a:srgbClr val="96A2B2"/>
                </a:solidFill>
                <a:latin typeface="League Spartan SemiBold"/>
              </a:rPr>
              <a:t>LABEL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1800" y="4816081"/>
            <a:ext cx="46228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E7EBF0"/>
                </a:solidFill>
                <a:latin typeface="Urbanist"/>
              </a:rPr>
              <a:t>The 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445250"/>
            <a:ext cx="10973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 Medium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1313" y="6429375"/>
            <a:ext cx="471094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96A2B2"/>
                </a:solidFill>
                <a:latin typeface="League Spartan"/>
              </a:rPr>
              <a:t>CLOSING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5350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5350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550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631950"/>
            <a:ext cx="3547466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2397722"/>
            <a:ext cx="3547466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114550"/>
            <a:ext cx="3547466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900" y="2518372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900" y="2734869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900" y="2951359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01.4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900" y="3167856"/>
            <a:ext cx="3179166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2166" y="1631950"/>
            <a:ext cx="3547567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</a:rPr>
              <a:t>02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2166" y="2397722"/>
            <a:ext cx="3547567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2166" y="2114550"/>
            <a:ext cx="3547567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2166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466" y="2518372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2166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466" y="273486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2166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466" y="295135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2166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02.4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466" y="3167856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4833" y="1631950"/>
            <a:ext cx="3547567" cy="463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2600" b="1" i="0" spc="-104">
                <a:solidFill>
                  <a:srgbClr val="64707A"/>
                </a:solidFill>
                <a:latin typeface="Poppins"/>
              </a:rP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34833" y="2397722"/>
            <a:ext cx="3547567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4833" y="2114550"/>
            <a:ext cx="3547567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200" b="0" i="0" spc="-24">
                <a:solidFill>
                  <a:srgbClr val="64707A"/>
                </a:solidFill>
                <a:latin typeface="Poppins SemiBold"/>
              </a:rPr>
              <a:t>Part name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34833" y="2562822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133" y="2518372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4833" y="277931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133" y="273486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4833" y="2995809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133" y="2951359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4833" y="3212306"/>
            <a:ext cx="2794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00">
                <a:solidFill>
                  <a:srgbClr val="64707A"/>
                </a:solidFill>
                <a:latin typeface="League Spartan SemiBold"/>
              </a:rPr>
              <a:t>03.4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133" y="3167856"/>
            <a:ext cx="3179267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50" b="0" i="0">
                <a:solidFill>
                  <a:srgbClr val="64707A"/>
                </a:solidFill>
                <a:latin typeface="Urbanist Medium"/>
              </a:rPr>
              <a:t>What this section answers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6445250"/>
            <a:ext cx="111919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4969" y="6429375"/>
            <a:ext cx="42743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AGENDA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35445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35445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645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946400"/>
            <a:ext cx="7112000" cy="806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4500" b="1" i="0">
                <a:solidFill>
                  <a:srgbClr val="64707A"/>
                </a:solidFill>
                <a:latin typeface="Poppin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683000"/>
            <a:ext cx="7112000" cy="6381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75"/>
              </a:lnSpc>
            </a:pPr>
            <a:r>
              <a:rPr sz="1900" b="0" i="0" spc="-38">
                <a:solidFill>
                  <a:srgbClr val="64707A"/>
                </a:solidFill>
                <a:latin typeface="Poppins SemiBold"/>
              </a:rPr>
              <a:t>The quotation, two lines at most. Cut it back until only the part worth repeating is left.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4483100"/>
            <a:ext cx="7112000" cy="127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4622800"/>
            <a:ext cx="71120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00" b="0" i="0">
                <a:solidFill>
                  <a:srgbClr val="64707A"/>
                </a:solidFill>
                <a:latin typeface="Urbanist SemiBold"/>
              </a:rPr>
              <a:t>Name of the person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794250"/>
            <a:ext cx="711200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64707A"/>
                </a:solidFill>
                <a:latin typeface="League Spartan SemiBold"/>
              </a:rPr>
              <a:t>ROLE · ORGANISATION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6400" y="1701800"/>
            <a:ext cx="3556000" cy="4648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refs-crew.jpg"/>
          <p:cNvPicPr>
            <a:picLocks noChangeAspect="1"/>
          </p:cNvPicPr>
          <p:nvPr/>
        </p:nvPicPr>
        <p:blipFill>
          <a:blip r:embed="rId3"/>
          <a:srcRect l="5883" r="5883"/>
          <a:stretch>
            <a:fillRect/>
          </a:stretch>
        </p:blipFill>
        <p:spPr>
          <a:xfrm>
            <a:off x="8026400" y="1701800"/>
            <a:ext cx="3556000" cy="4648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6445250"/>
            <a:ext cx="11202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26902" y="6429375"/>
            <a:ext cx="355498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QUOTE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81000"/>
            <a:ext cx="259658" cy="1651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25450"/>
            <a:ext cx="259658" cy="82550"/>
          </a:xfrm>
          <a:prstGeom prst="rect">
            <a:avLst/>
          </a:prstGeom>
          <a:noFill/>
        </p:spPr>
        <p:txBody>
          <a:bodyPr wrap="none" lIns="69850" rIns="69850" tIns="0" bIns="0" anchor="ctr">
            <a:noAutofit/>
          </a:bodyPr>
          <a:lstStyle/>
          <a:p>
            <a:pPr algn="l"/>
            <a:r>
              <a:rPr sz="700" b="0" i="0" spc="70">
                <a:solidFill>
                  <a:srgbClr val="FFFFFF"/>
                </a:solidFill>
                <a:latin typeface="League Spartan SemiBold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0858" y="414338"/>
            <a:ext cx="957859" cy="88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780" b="0" i="0" spc="186">
                <a:solidFill>
                  <a:srgbClr val="101A2B"/>
                </a:solidFill>
                <a:latin typeface="League Spartan SemiBold"/>
              </a:rPr>
              <a:t>SECTION NAME</a:t>
            </a:r>
          </a:p>
        </p:txBody>
      </p:sp>
      <p:pic>
        <p:nvPicPr>
          <p:cNvPr id="6" name="Picture 5" descr="iaq-logo-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7400" y="304800"/>
            <a:ext cx="635000" cy="3175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38872"/>
            <a:ext cx="10972800" cy="635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768350"/>
            <a:ext cx="1097280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700" b="0" i="0" spc="-34">
                <a:solidFill>
                  <a:srgbClr val="64707A"/>
                </a:solidFill>
                <a:latin typeface="Poppins SemiBold"/>
              </a:rPr>
              <a:t>Page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8197"/>
            <a:ext cx="6985000" cy="146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0" i="0">
                <a:solidFill>
                  <a:srgbClr val="64707A"/>
                </a:solidFill>
                <a:latin typeface="Urbanist"/>
              </a:rPr>
              <a:t>One line under it saying what the page is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1701800"/>
            <a:ext cx="5403850" cy="41746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1701800"/>
            <a:ext cx="567830" cy="190500"/>
          </a:xfrm>
          <a:prstGeom prst="rect">
            <a:avLst/>
          </a:prstGeom>
          <a:solidFill>
            <a:srgbClr val="101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1758950"/>
            <a:ext cx="567830" cy="76200"/>
          </a:xfrm>
          <a:prstGeom prst="rect">
            <a:avLst/>
          </a:prstGeom>
          <a:noFill/>
        </p:spPr>
        <p:txBody>
          <a:bodyPr wrap="none" lIns="101600" rIns="10160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FFFFFF"/>
                </a:solidFill>
                <a:latin typeface="League Spartan SemiBold"/>
              </a:rPr>
              <a:t>BEFORE</a:t>
            </a:r>
          </a:p>
        </p:txBody>
      </p:sp>
      <p:pic>
        <p:nvPicPr>
          <p:cNvPr id="13" name="Picture 12" descr="about-facility.jpg"/>
          <p:cNvPicPr>
            <a:picLocks noChangeAspect="1"/>
          </p:cNvPicPr>
          <p:nvPr/>
        </p:nvPicPr>
        <p:blipFill>
          <a:blip r:embed="rId3"/>
          <a:srcRect l="17639" r="17639"/>
          <a:stretch>
            <a:fillRect/>
          </a:stretch>
        </p:blipFill>
        <p:spPr>
          <a:xfrm>
            <a:off x="609600" y="1701800"/>
            <a:ext cx="5403850" cy="41746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971680"/>
            <a:ext cx="540385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64707A"/>
                </a:solidFill>
                <a:latin typeface="Poppins SemiBold"/>
              </a:rPr>
              <a:t>What it was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215463"/>
            <a:ext cx="5403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or two sentences on the state it started 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8550" y="1701800"/>
            <a:ext cx="5403850" cy="41746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8550" y="1701800"/>
            <a:ext cx="499370" cy="190500"/>
          </a:xfrm>
          <a:prstGeom prst="rect">
            <a:avLst/>
          </a:prstGeom>
          <a:solidFill>
            <a:srgbClr val="EC232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8550" y="1758950"/>
            <a:ext cx="499370" cy="76200"/>
          </a:xfrm>
          <a:prstGeom prst="rect">
            <a:avLst/>
          </a:prstGeom>
          <a:noFill/>
        </p:spPr>
        <p:txBody>
          <a:bodyPr wrap="none" lIns="101600" rIns="101600" tIns="0" bIns="0" anchor="ctr">
            <a:noAutofit/>
          </a:bodyPr>
          <a:lstStyle/>
          <a:p>
            <a:pPr algn="l"/>
            <a:r>
              <a:rPr sz="620" b="0" i="0" spc="125">
                <a:solidFill>
                  <a:srgbClr val="FFFFFF"/>
                </a:solidFill>
                <a:latin typeface="League Spartan SemiBold"/>
              </a:rPr>
              <a:t>AFTER</a:t>
            </a:r>
          </a:p>
        </p:txBody>
      </p:sp>
      <p:pic>
        <p:nvPicPr>
          <p:cNvPr id="19" name="Picture 18" descr="glance-cleanroom.jpg"/>
          <p:cNvPicPr>
            <a:picLocks noChangeAspect="1"/>
          </p:cNvPicPr>
          <p:nvPr/>
        </p:nvPicPr>
        <p:blipFill>
          <a:blip r:embed="rId4"/>
          <a:srcRect t="15233" b="15233"/>
          <a:stretch>
            <a:fillRect/>
          </a:stretch>
        </p:blipFill>
        <p:spPr>
          <a:xfrm>
            <a:off x="6178550" y="1701800"/>
            <a:ext cx="5403850" cy="417463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78550" y="5971680"/>
            <a:ext cx="5403850" cy="196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100" b="0" i="0" spc="-22">
                <a:solidFill>
                  <a:srgbClr val="64707A"/>
                </a:solidFill>
                <a:latin typeface="Poppins SemiBold"/>
              </a:rPr>
              <a:t>What it became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8550" y="6215463"/>
            <a:ext cx="5403850" cy="120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800" b="0" i="0">
                <a:solidFill>
                  <a:srgbClr val="64707A"/>
                </a:solidFill>
                <a:latin typeface="Urbanist"/>
              </a:rPr>
              <a:t>One or two sentences on the state it ended 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5250"/>
            <a:ext cx="135236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 Medium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9080" y="6429375"/>
            <a:ext cx="1013320" cy="76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680" b="0" i="0" spc="148">
                <a:solidFill>
                  <a:srgbClr val="64707A"/>
                </a:solidFill>
                <a:latin typeface="League Spartan"/>
              </a:rPr>
              <a:t>BEFORE AND 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